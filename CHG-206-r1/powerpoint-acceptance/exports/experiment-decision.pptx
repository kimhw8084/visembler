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0395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</c:v>
                </c:pt>
                <c:pt idx="1">
                  <c:v>21.1</c:v>
                </c:pt>
                <c:pt idx="2">
                  <c:v>21.3</c:v>
                </c:pt>
                <c:pt idx="3">
                  <c:v>22.4</c:v>
                </c:pt>
                <c:pt idx="4">
                  <c:v>21.6</c:v>
                </c:pt>
                <c:pt idx="5">
                  <c:v>23.5</c:v>
                </c:pt>
                <c:pt idx="6">
                  <c:v>21.8</c:v>
                </c:pt>
                <c:pt idx="7">
                  <c:v>24.8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Control</c:v>
                </c:pt>
                <c:pt idx="5">
                  <c:v>Control</c:v>
                </c:pt>
                <c:pt idx="6">
                  <c:v>Treatment</c:v>
                </c:pt>
                <c:pt idx="7">
                  <c:v>Treatment</c:v>
                </c:pt>
                <c:pt idx="8">
                  <c:v>Treatment</c:v>
                </c:pt>
                <c:pt idx="9">
                  <c:v>Treatment</c:v>
                </c:pt>
                <c:pt idx="10">
                  <c:v>Treatment</c:v>
                </c:pt>
                <c:pt idx="11">
                  <c:v>Treatment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20.3</c:v>
                </c:pt>
                <c:pt idx="1">
                  <c:v>20.9</c:v>
                </c:pt>
                <c:pt idx="2">
                  <c:v>21</c:v>
                </c:pt>
                <c:pt idx="3">
                  <c:v>21.8</c:v>
                </c:pt>
                <c:pt idx="4">
                  <c:v>22.1</c:v>
                </c:pt>
                <c:pt idx="5">
                  <c:v>21.3</c:v>
                </c:pt>
                <c:pt idx="6">
                  <c:v>21.1</c:v>
                </c:pt>
                <c:pt idx="7">
                  <c:v>22.4</c:v>
                </c:pt>
                <c:pt idx="8">
                  <c:v>23.5</c:v>
                </c:pt>
                <c:pt idx="9">
                  <c:v>24.8</c:v>
                </c:pt>
                <c:pt idx="10">
                  <c:v>24.1</c:v>
                </c:pt>
                <c:pt idx="11">
                  <c:v>23.6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reminder increased completion, although the week-four uplift is not enough to rule out a novelty effec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reminder increased completion, although the week-four uplift is not enough to rule out a novelty effect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106679" y="304800"/>
            <a:ext cx="8072931" cy="83637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The reminder increased completion, although the week-four uplift is not enough to rule out a novelty effect.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xperiment E-26-041 · eligible new accounts · randomized 1:1 · four weeks · 12,804 assigned · conversion measured within 7 day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xperiment E-26-041 · eligible new accounts · randomized 1:1 · four weeks · 12,804 assigned · conversion measured within 7 days.&quot;,&quot;title&quot;:&quot;Hypothesis and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8286291" y="448666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Experiment E-26-041 · eligible new accounts · randomized 1:1 · four weeks · 12,804 assigned · conversion measured within 7 days.</a:t>
            </a:r>
          </a:p>
        </p:txBody>
      </p:sp>
      <p:sp>
        <p:nvSpPr>
          <p:cNvPr id="4" name="VIZ::Treatment completion KPI" title="Visembler report text roles: metric title, metric value" descr="VisualizerSemantic:{&quot;capability_overrides&quot;:{&quot;target&quot;:25},&quot;composition_role&quot;:&quot;hero_metric&quot;,&quot;delta&quot;:3.7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25,&quot;title&quot;:&quot;Treatment completion&quot;,&quot;type&quot;:&quot;metric&quot;,&quot;unit&quot;:&quot;%&quot;,&quot;value&quot;:24.8,&quot;weight&quot;:1,&quot;z&quot;:3,&quot;x&quot;:900.4800000000001,&quot;y&quot;:189.26,&quot;w&quot;:685.52,&quot;h&quot;:185.0}"/>
          <p:cNvSpPr/>
          <p:nvPr/>
        </p:nvSpPr>
        <p:spPr>
          <a:xfrm>
            <a:off x="6861656" y="1442161"/>
            <a:ext cx="5223661" cy="14096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completion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24.8%</a:t>
            </a:r>
          </a:p>
        </p:txBody>
      </p:sp>
      <p:sp>
        <p:nvSpPr>
          <p:cNvPr id="5" name="VIZ::Completion · control to treatment KPI" title="Visembler report text roles: metric title, comparison value" descr="VisualizerSemantic:{&quot;after&quot;:24.8,&quot;before&quot;:21.8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Completion · control to treatment&quot;,&quot;type&quot;:&quot;comparison&quot;,&quot;unit&quot;:&quot;%&quot;,&quot;weight&quot;:1,&quot;z&quot;:4,&quot;x&quot;:14.0,&quot;y&quot;:183.76,&quot;w&quot;:872.4800000000001,&quot;h&quot;:196.0}"/>
          <p:cNvSpPr/>
          <p:nvPr/>
        </p:nvSpPr>
        <p:spPr>
          <a:xfrm>
            <a:off x="106679" y="1400251"/>
            <a:ext cx="6648296" cy="14935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Completion · control to treatment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21.8% → 24.8%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21],[&quot;W1&quot;,21.1],[&quot;W2&quot;,21.3],[&quot;W2&quot;,22.4],[&quot;W3&quot;,21.6],[&quot;W3&quot;,23.5],[&quot;W4&quot;,21.8],[&quot;W4&quot;,24.8]],&quot;dataset_id&quot;:&quot;dataset-mufvhlz5-5cgkbu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mpletion_3&quot;,&quot;x&quot;:&quot;week_1&quot;,&quot;y&quot;:&quot;complet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21},{&quot;label&quot;:&quot;W1&quot;,&quot;value&quot;:21.1},{&quot;label&quot;:&quot;W2&quot;,&quot;value&quot;:21.3},{&quot;label&quot;:&quot;W2&quot;,&quot;value&quot;:22.4},{&quot;label&quot;:&quot;W3&quot;,&quot;value&quot;:21.6},{&quot;label&quot;:&quot;W3&quot;,&quot;value&quot;:23.5},{&quot;label&quot;:&quot;W4&quot;,&quot;value&quot;:21.8},{&quot;label&quot;:&quot;W4&quot;,&quot;value&quot;:24.8}],&quot;observations&quot;:[{&quot;label&quot;:&quot;W1&quot;,&quot;value&quot;:21},{&quot;label&quot;:&quot;W1&quot;,&quot;value&quot;:21.1},{&quot;label&quot;:&quot;W2&quot;,&quot;value&quot;:21.3},{&quot;label&quot;:&quot;W2&quot;,&quot;value&quot;:22.4},{&quot;label&quot;:&quot;W3&quot;,&quot;value&quot;:21.6},{&quot;label&quot;:&quot;W3&quot;,&quot;value&quot;:23.5},{&quot;label&quot;:&quot;W4&quot;,&quot;value&quot;:21.8},{&quot;label&quot;:&quot;W4&quot;,&quot;value&quot;:24.8}],&quot;x&quot;:811.6593939393938,&quot;y&quot;:413.76,&quot;w&quot;:738.5212121212122,&quot;h&quot;:358.40000000000003}"/>
          <p:cNvGraphicFramePr>
            <a:graphicFrameLocks noGrp="1"/>
          </p:cNvGraphicFramePr>
          <p:nvPr/>
        </p:nvGraphicFramePr>
        <p:xfrm>
          <a:off x="6184843" y="3152851"/>
          <a:ext cx="5627531" cy="273100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20.3],[&quot;Control&quot;,20.9],[&quot;Control&quot;,21],[&quot;Control&quot;,21.8],[&quot;Control&quot;,22.1],[&quot;Control&quot;,21.3],[&quot;Treatment&quot;,21.1],[&quot;Treatment&quot;,22.4],[&quot;Treatment&quot;,23.5],[&quot;Treatment&quot;,24.8],[&quot;Treatment&quot;,24.1],[&quot;Treatment&quot;,23.6]],&quot;dataset_id&quot;:&quot;dataset-mufvho4o-2cmdjs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mpletion_2&quot;,&quot;x&quot;:&quot;complet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20.3},{&quot;label&quot;:&quot;Control&quot;,&quot;value&quot;:20.9},{&quot;label&quot;:&quot;Control&quot;,&quot;value&quot;:21},{&quot;label&quot;:&quot;Control&quot;,&quot;value&quot;:21.8},{&quot;label&quot;:&quot;Control&quot;,&quot;value&quot;:22.1},{&quot;label&quot;:&quot;Control&quot;,&quot;value&quot;:21.3},{&quot;label&quot;:&quot;Treatment&quot;,&quot;value&quot;:21.1},{&quot;label&quot;:&quot;Treatment&quot;,&quot;value&quot;:22.4},{&quot;label&quot;:&quot;Treatment&quot;,&quot;value&quot;:23.5},{&quot;label&quot;:&quot;Treatment&quot;,&quot;value&quot;:24.8},{&quot;label&quot;:&quot;Treatment&quot;,&quot;value&quot;:24.1},{&quot;label&quot;:&quot;Treatment&quot;,&quot;value&quot;:23.6}],&quot;observations&quot;:[{&quot;label&quot;:&quot;Control&quot;,&quot;value&quot;:20.3},{&quot;label&quot;:&quot;Control&quot;,&quot;value&quot;:20.9},{&quot;label&quot;:&quot;Control&quot;,&quot;value&quot;:21},{&quot;label&quot;:&quot;Control&quot;,&quot;value&quot;:21.8},{&quot;label&quot;:&quot;Control&quot;,&quot;value&quot;:22.1},{&quot;label&quot;:&quot;Control&quot;,&quot;value&quot;:21.3},{&quot;label&quot;:&quot;Treatment&quot;,&quot;value&quot;:21.1},{&quot;label&quot;:&quot;Treatment&quot;,&quot;value&quot;:22.4},{&quot;label&quot;:&quot;Treatment&quot;,&quot;value&quot;:23.5},{&quot;label&quot;:&quot;Treatment&quot;,&quot;value&quot;:24.8},{&quot;label&quot;:&quot;Treatment&quot;,&quot;value&quot;:24.1},{&quot;label&quot;:&quot;Treatment&quot;,&quot;value&quot;:23.6}],&quot;x&quot;:424.1454545454546,&quot;y&quot;:780.1600000000001,&quot;w&quot;:751.7090909090908,&quot;h&quot;:364.79999999999995}"/>
          <p:cNvGraphicFramePr>
            <a:graphicFrameLocks noGrp="1"/>
          </p:cNvGraphicFramePr>
          <p:nvPr/>
        </p:nvGraphicFramePr>
        <p:xfrm>
          <a:off x="3231988" y="5944818"/>
          <a:ext cx="5728022" cy="27797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title="Visembler report text roles: text heading, narrative interpretation" descr="VisualizerSemantic:{&quot;body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title&quot;:&quot;Interpretation&quot;,&quot;type&quot;:&quot;text&quot;,&quot;weight&quot;:1,&quot;z&quot;:8,&quot;x&quot;:49.819393939393876,&quot;y&quot;:534.96,&quot;w&quot;:747.8399999999999,&quot;h&quot;:116.0}"/>
          <p:cNvSpPr/>
          <p:nvPr/>
        </p:nvSpPr>
        <p:spPr>
          <a:xfrm>
            <a:off x="379623" y="4076395"/>
            <a:ext cx="5698540" cy="88391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The four-week signal is promising but does not establish persistence. Stop if support-contact change exceeds +0.15 points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Extend to 25% exposure with a support-contact stop&quot;,&quot;status&quot;:&quot;Limited rollout&quot;,&quot;title&quot;:&quot;Recommendation&quot;,&quot;type&quot;:&quot;decision&quot;,&quot;weight&quot;:1,&quot;z&quot;:9,&quot;x&quot;:14.0,&quot;y&quot;:1471.96,&quot;w&quot;:1572.0,&quot;h&quot;:94.0}"/>
          <p:cNvSpPr/>
          <p:nvPr/>
        </p:nvSpPr>
        <p:spPr>
          <a:xfrm>
            <a:off x="106679" y="11216334"/>
            <a:ext cx="11978638" cy="71627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Extend to 25% exposure with a support-contact stop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The four-week signal is promising but does not establish persistence. Stop if support-contact change exceeds +0.15 points.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Limited rollout</a:t>
            </a:r>
          </a:p>
        </p:txBody>
      </p:sp>
      <p:graphicFrame>
        <p:nvGraphicFramePr>
          <p:cNvPr id="11" name="VIZ::Assignment and guardrail evidence" descr="VisualizerSemantic:{&quot;composition_role&quot;:&quot;detailed_evidence&quot;,&quot;customTable&quot;:{&quot;headers&quot;:[&quot;Cohort&quot;,&quot;Assigned&quot;,&quot;Completion&quot;,&quot;Support-contact change&quot;],&quot;rows&quot;:[[&quot;Control&quot;,6402,&quot;21.8%&quot;,&quot;+0.00 pt&quot;],[&quot;Treatment&quot;,6402,&quot;24.8%&quot;,&quot;+0.08 pt&quot;],[&quot;Eligible holdout&quot;,1104,&quot;21.5%&quot;,&quot;No post-assignment exclusion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6402,&quot;21.8%&quot;,&quot;+0.00 pt&quot;],[&quot;Treatment&quot;,6402,&quot;24.8%&quot;,&quot;+0.08 pt&quot;],[&quot;Eligible holdout&quot;,1104,&quot;21.5%&quot;,&quot;No post-assignment exclusion&quot;]],&quot;section_id&quot;:&quot;evidence&quot;,&quot;section_title&quot;:&quot;Experiment evidence&quot;,&quot;showTitle&quot;:true,&quot;title&quot;:&quot;Assignment and guardrail evidence&quot;,&quot;type&quot;:&quot;table&quot;,&quot;weight&quot;:1,&quot;z&quot;:7,&quot;x&quot;:14.0,&quot;y&quot;:1178.96,&quot;w&quot;:1572.0,&quot;h&quot;:259.0}"/>
          <p:cNvGraphicFramePr>
            <a:graphicFrameLocks noGrp="1"/>
          </p:cNvGraphicFramePr>
          <p:nvPr/>
        </p:nvGraphicFramePr>
        <p:xfrm>
          <a:off x="106679" y="8983674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Support-contact change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+0.00 pt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+0.08 pt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Eligible 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post-assignment exclusion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mpletion_3&quot;,&quot;name&quot;:&quot;Completion&quot;,&quot;nullable&quot;:false,&quot;profile&quot;:{&quot;distinct&quot;:8,&quot;missing&quot;:0},&quot;semantic_tags&quot;:[],&quot;type&quot;:&quot;number&quot;,&quot;unit&quot;:&quot;&quot;}],&quot;id&quot;:&quot;dataset-mufvhlz5-5cgkbu&quot;,&quot;metadata&quot;:{&quot;header&quot;:{&quot;confidence&quot;:0.8333333333333334,&quot;present&quot;:true,&quot;source_row&quot;:0}},&quot;name&quot;:&quot;Pasted data&quot;,&quot;revision&quot;:1,&quot;rows&quot;:[[&quot;W1&quot;,&quot;Control&quot;,21],[&quot;W1&quot;,&quot;Treatment&quot;,21.1],[&quot;W2&quot;,&quot;Control&quot;,21.3],[&quot;W2&quot;,&quot;Treatment&quot;,22.4],[&quot;W3&quot;,&quot;Control&quot;,21.6],[&quot;W3&quot;,&quot;Treatment&quot;,23.5],[&quot;W4&quot;,&quot;Control&quot;,21.8],[&quot;W4&quot;,&quot;Treatment&quot;,24.8]],&quot;source&quot;:{&quot;imported_at&quot;:&quot;2026-09-24T18:36:02.561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mpletion_2&quot;,&quot;name&quot;:&quot;Completion&quot;,&quot;nullable&quot;:false,&quot;profile&quot;:{&quot;distinct&quot;:12,&quot;missing&quot;:0},&quot;semantic_tags&quot;:[],&quot;type&quot;:&quot;number&quot;,&quot;unit&quot;:&quot;&quot;}],&quot;id&quot;:&quot;dataset-mufvho4o-2cmdjs&quot;,&quot;metadata&quot;:{&quot;header&quot;:{&quot;confidence&quot;:1,&quot;present&quot;:true,&quot;source_row&quot;:0}},&quot;name&quot;:&quot;Pasted data&quot;,&quot;revision&quot;:1,&quot;rows&quot;:[[&quot;Control&quot;,20.3],[&quot;Control&quot;,20.9],[&quot;Control&quot;,21],[&quot;Control&quot;,21.8],[&quot;Control&quot;,22.1],[&quot;Control&quot;,21.3],[&quot;Treatment&quot;,21.1],[&quot;Treatment&quot;,22.4],[&quot;Treatment&quot;,23.5],[&quot;Treatment&quot;,24.8],[&quot;Treatment&quot;,24.1],[&quot;Treatment&quot;,23.6]],&quot;source&quot;:{&quot;imported_at&quot;:&quot;2026-09-24T18:36:05.352Z&quot;,&quot;kind&quot;:&quot;clipboard&quot;,&quot;label&quot;:&quot;TSV&quot;},&quot;warnings&quot;:[]}],&quot;groups&quot;:{},&quot;items&quot;:[{&quot;body&quot;:&quot;The reminder increased completion, although the week-four uplift is not enough to rule out a novelty effec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reminder increased completion, although the week-four uplift is not enough to rule out a novelty effect.&quot;,&quot;title&quot;:&quot;Executive Statement&quot;,&quot;type&quot;:&quot;text&quot;,&quot;weight&quot;:1,&quot;z&quot;:1},{&quot;body&quot;:&quot;Experiment E-26-041 · eligible new accounts · randomized 1:1 · four weeks · 12,804 assigned · conversion measured within 7 day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xperiment E-26-041 · eligible new accounts · randomized 1:1 · four weeks · 12,804 assigned · conversion measured within 7 days.&quot;,&quot;title&quot;:&quot;Hypothesis and context&quot;,&quot;type&quot;:&quot;text&quot;,&quot;weight&quot;:1,&quot;z&quot;:2},{&quot;capability_overrides&quot;:{&quot;target&quot;:25},&quot;composition_role&quot;:&quot;hero_metric&quot;,&quot;delta&quot;:3.7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25,&quot;title&quot;:&quot;Treatment completion&quot;,&quot;type&quot;:&quot;metric&quot;,&quot;unit&quot;:&quot;%&quot;,&quot;value&quot;:24.8,&quot;weight&quot;:1,&quot;z&quot;:3},{&quot;after&quot;:24.8,&quot;before&quot;:21.8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Completion · control to treatment&quot;,&quot;type&quot;:&quot;comparison&quot;,&quot;unit&quot;:&quot;%&quot;,&quot;weight&quot;:1,&quot;z&quot;:4},{&quot;composition_role&quot;:&quot;supporting_analysis&quot;,&quot;data&quot;:[],&quot;dataset_id&quot;:&quot;dataset-mufvho4o-2cmdjs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mpletion_2&quot;,&quot;x&quot;:&quot;complet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fvhlz5-5cgkbu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mpletion_3&quot;,&quot;x&quot;:&quot;week_1&quot;,&quot;y&quot;:&quot;complet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Assigned&quot;,&quot;Completion&quot;,&quot;Support-contact change&quot;],&quot;rows&quot;:[[&quot;Control&quot;,6402,&quot;21.8%&quot;,&quot;+0.00 pt&quot;],[&quot;Treatment&quot;,6402,&quot;24.8%&quot;,&quot;+0.08 pt&quot;],[&quot;Eligible holdout&quot;,1104,&quot;21.5%&quot;,&quot;No post-assignment exclusion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6402,&quot;21.8%&quot;,&quot;+0.00 pt&quot;],[&quot;Treatment&quot;,6402,&quot;24.8%&quot;,&quot;+0.08 pt&quot;],[&quot;Eligible holdout&quot;,1104,&quot;21.5%&quot;,&quot;No post-assignment exclusion&quot;]],&quot;section_id&quot;:&quot;evidence&quot;,&quot;section_title&quot;:&quot;Experiment evidence&quot;,&quot;showTitle&quot;:true,&quot;title&quot;:&quot;Assignment and guardrail evidence&quot;,&quot;type&quot;:&quot;table&quot;,&quot;weight&quot;:1,&quot;z&quot;:7},{&quot;body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title&quot;:&quot;Interpretation&quot;,&quot;type&quot;:&quot;text&quot;,&quot;weight&quot;:1,&quot;z&quot;:8},{&quot;composition_role&quot;:&quot;decision_risk&quot;,&quot;detail&quot;:&quot;The four-week signal is promising but does not establish persistence. Stop if support-contact change exceeds +0.15 points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Extend to 25% exposure with a support-contact stop&quot;,&quot;status&quot;:&quot;Limited rollout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