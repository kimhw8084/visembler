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117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88.3</c:v>
                </c:pt>
                <c:pt idx="1">
                  <c:v>90.1</c:v>
                </c:pt>
                <c:pt idx="2">
                  <c:v>91.7</c:v>
                </c:pt>
                <c:pt idx="3">
                  <c:v>92.9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Bookings by quarter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by quarter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11.1</c:v>
                </c:pt>
                <c:pt idx="1">
                  <c:v>11.7</c:v>
                </c:pt>
                <c:pt idx="2">
                  <c:v>12.9</c:v>
                </c:pt>
                <c:pt idx="3">
                  <c:v>14.1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tention improved for a second quarter, but the public sector renewal gap still threatens FY26 expans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tention improved for a second quarter, but the public sector renewal gap still threatens FY26 expansion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Retention improved for a second quarter, but the public sector renewal gap still threatens FY26 expansion.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FY26 Q1–Q4 close · enterprise and public sector portfolios · constant-currency bookings · renewal cohort excludes acquired account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FY26 Q1–Q4 close · enterprise and public sector portfolios · constant-currency bookings · renewal cohort excludes acquired accounts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FY26 Q1–Q4 close · enterprise and public sector portfolios · constant-currency bookings · renewal cohort excludes acquired accounts.</a:t>
            </a:r>
          </a:p>
        </p:txBody>
      </p:sp>
      <p:sp>
        <p:nvSpPr>
          <p:cNvPr id="4" name="VIZ::FY26 renewal rate KPI" title="Visembler report text roles: metric title, metric value" descr="VisualizerSemantic:{&quot;capability_overrides&quot;:{&quot;target&quot;:91},&quot;composition_role&quot;:&quot;hero_metric&quot;,&quot;delta&quot;:5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1,&quot;title&quot;:&quot;FY26 renewal rate&quot;,&quot;type&quot;:&quot;metric&quot;,&quot;unit&quot;:&quot;%&quot;,&quot;value&quot;:92.9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FY26 renewal rate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92.9%</a:t>
            </a:r>
          </a:p>
        </p:txBody>
      </p:sp>
      <p:sp>
        <p:nvSpPr>
          <p:cNvPr id="5" name="VIZ::Constant-currency bookings KPI" title="Visembler report text roles: metric title, metric value" descr="VisualizerSemantic:{&quot;capability_overrides&quot;:{&quot;target&quot;:14},&quot;composition_role&quot;:&quot;hero_metric&quot;,&quot;delta&quot;:3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4,&quot;title&quot;:&quot;Constant-currency bookings&quot;,&quot;type&quot;:&quot;metric&quot;,&quot;unit&quot;:&quot;$M&quot;,&quot;value&quot;:14.1,&quot;weight&quot;:1,&quot;z&quot;:4,&quot;x&quot;:14.0,&quot;y&quot;:196.93120000000002,&quot;w&quot;:648.48,&quot;h&quot;:180.0}"/>
          <p:cNvSpPr/>
          <p:nvPr/>
        </p:nvSpPr>
        <p:spPr>
          <a:xfrm>
            <a:off x="106680" y="1500615"/>
            <a:ext cx="4941416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Constant-currency bookings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14.1 $M</a:t>
            </a:r>
          </a:p>
        </p:txBody>
      </p:sp>
      <p:sp>
        <p:nvSpPr>
          <p:cNvPr id="6" name="VIZ::Renewal rate · Q1 to Q4 KPI" title="Visembler report text roles: metric title, comparison value" descr="VisualizerSemantic:{&quot;after&quot;:92.9,&quot;before&quot;:87.9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ate · Q1 to Q4&quot;,&quot;type&quot;:&quot;comparison&quot;,&quot;unit&quot;:&quot;%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Renewal rate · Q1 to Q4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87.9% → 92.9%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FY26 Q1&quot;,88.3],[&quot;FY26 Q2&quot;,90.1],[&quot;FY26 Q3&quot;,91.7],[&quot;FY26 Q4&quot;,92.9]],&quot;dataset_id&quot;:&quot;dataset-mufvf4w9-e6qkvj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FY26 Q1&quot;,&quot;value&quot;:88.3},{&quot;label&quot;:&quot;FY26 Q2&quot;,&quot;value&quot;:90.1},{&quot;label&quot;:&quot;FY26 Q3&quot;,&quot;value&quot;:91.7},{&quot;label&quot;:&quot;FY26 Q4&quot;,&quot;value&quot;:92.9}],&quot;observations&quot;:[{&quot;label&quot;:&quot;FY26 Q1&quot;,&quot;value&quot;:88.3},{&quot;label&quot;:&quot;FY26 Q2&quot;,&quot;value&quot;:90.1},{&quot;label&quot;:&quot;FY26 Q3&quot;,&quot;value&quot;:91.7},{&quot;label&quot;:&quot;FY26 Q4&quot;,&quot;value&quot;:92.9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Two delayed procurement cycles remain unsigned. Keep the current enterprise plan and review those contracts at the next finance checkpoint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public-sector expansion until the renewal gate clears&quot;,&quot;status&quot;:&quot;Watch&quot;,&quot;title&quot;:&quot;Risk Callout&quot;,&quot;type&quot;:&quot;decision&quot;,&quot;weight&quot;:1,&quot;z&quot;:8,&quot;x&quot;:14.0,&quot;y&quot;:1076.1712,&quot;w&quot;:1572.0,&quot;h&quot;:101.52000000000001}"/>
          <p:cNvSpPr/>
          <p:nvPr/>
        </p:nvSpPr>
        <p:spPr>
          <a:xfrm>
            <a:off x="106680" y="820042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Hold public-sector expansion until the renewal gate clears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Two delayed procurement cycles remain unsigned. Keep the current enterprise plan and review those contracts at the next finance checkpoint.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Watch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keep the enterprise hiring plan, but release the public-sector expansion budget only after the named renewals are signed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keep the enterprise hiring plan, but release the public-sector expansion budget only after the named renewals are signed.&quot;,&quot;title&quot;:&quot;Key Takeaway&quot;,&quot;type&quot;:&quot;text&quot;,&quot;weight&quot;:1,&quot;z&quot;:9,&quot;x&quot;:14.0,&quot;y&quot;:1211.6912,&quot;w&quot;:1572.0,&quot;h&quot;:100.80000000000001}"/>
          <p:cNvSpPr/>
          <p:nvPr/>
        </p:nvSpPr>
        <p:spPr>
          <a:xfrm>
            <a:off x="106680" y="923308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keep the enterprise hiring plan, but release the public-sector expansion budget only after the named renewals are signed.</a:t>
            </a:r>
          </a:p>
        </p:txBody>
      </p:sp>
      <p:graphicFrame>
        <p:nvGraphicFramePr>
          <p:cNvPr id="11" name="Chart 10" descr="VisualizerSemantic:{&quot;composition_role&quot;:&quot;primary_analysis&quot;,&quot;data&quot;:[[&quot;FY26 Q1&quot;,11.1],[&quot;FY26 Q2&quot;,11.7],[&quot;FY26 Q3&quot;,12.9],[&quot;FY26 Q4&quot;,14.1]],&quot;dataset_id&quot;:&quot;dataset-mufvf4w9-e6qkvj&quot;,&quot;element&quot;:&quot;Line Chart&quot;,&quot;engine&quot;:&quot;CoreChartEngine&quot;,&quot;groupId&quot;:null,&quot;id&quot;:&quot;c10&quot;,&quot;locked&quot;:false,&quot;mapping&quot;:{&quot;category&quot;:&quot;quarter_1&quot;,&quot;value&quot;:&quot;retention_2&quot;,&quot;x&quot;:&quot;quarter_1&quot;,&quot;y&quot;:&quot;bookings_3&quot;},&quot;message_role&quot;:&quot;Primary Evidence&quot;,&quot;order&quot;:9,&quot;section_id&quot;:&quot;analysis&quot;,&quot;section_title&quot;:&quot;Analysis&quot;,&quot;showTitle&quot;:true,&quot;title&quot;:&quot;Bookings by quarter&quot;,&quot;type&quot;:&quot;chart&quot;,&quot;weight&quot;:1,&quot;z&quot;:10,&quot;rows&quot;:[{&quot;label&quot;:&quot;FY26 Q1&quot;,&quot;value&quot;:11.1},{&quot;label&quot;:&quot;FY26 Q2&quot;,&quot;value&quot;:11.7},{&quot;label&quot;:&quot;FY26 Q3&quot;,&quot;value&quot;:12.9},{&quot;label&quot;:&quot;FY26 Q4&quot;,&quot;value&quot;:14.1}],&quot;observations&quot;:[{&quot;label&quot;:&quot;FY26 Q1&quot;,&quot;value&quot;:11.1},{&quot;label&quot;:&quot;FY26 Q2&quot;,&quot;value&quot;:11.7},{&quot;label&quot;:&quot;FY26 Q3&quot;,&quot;value&quot;:12.9},{&quot;label&quot;:&quot;FY26 Q4&quot;,&quot;value&quot;:14.1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VIZ::Clean Table" descr="VisualizerSemantic:{&quot;composition_role&quot;:&quot;detailed_evidence&quot;,&quot;customTable&quot;:{&quot;headers&quot;:[&quot;Portfolio&quot;,&quot;Renewals&quot;,&quot;Rate&quot;,&quot;Evidence / risk&quot;]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},&quot;element&quot;:&quot;Clean Table&quot;,&quot;engine&quot;:&quot;TableEngine&quot;,&quot;groupId&quot;:null,&quot;id&quot;:&quot;c7&quot;,&quot;locked&quot;:false,&quot;message_role&quot;:&quot;Primary Evidence&quot;,&quot;order&quot;:6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,&quot;section_id&quot;:&quot;evidence&quot;,&quot;section_title&quot;:&quot;Regional evidence&quot;,&quot;title&quot;:&quot;Clean Table&quot;,&quot;type&quot;:&quot;table&quot;,&quot;weight&quot;:1,&quot;z&quot;:7,&quot;x&quot;:14.0,&quot;y&quot;:783.1712,&quot;w&quot;:1572.0,&quot;h&quot;:259.0}"/>
          <p:cNvGraphicFramePr>
            <a:graphicFrameLocks noGrp="1"/>
          </p:cNvGraphicFramePr>
          <p:nvPr/>
        </p:nvGraphicFramePr>
        <p:xfrm>
          <a:off x="106680" y="5967763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Renewals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/ risk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Enterprise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Above 91% guardrail; stable cohort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Public Sector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 contracts delayed; budget gated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Strategic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FY26 Q4 close; largest renewals drive bookings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,{&quot;id&quot;:&quot;bookings_3&quot;,&quot;name&quot;:&quot;Bookings&quot;,&quot;nullable&quot;:false,&quot;profile&quot;:{&quot;distinct&quot;:4,&quot;missing&quot;:0},&quot;semantic_tags&quot;:[],&quot;type&quot;:&quot;number&quot;,&quot;unit&quot;:&quot;&quot;}],&quot;id&quot;:&quot;dataset-mufvf4w9-e6qkvj&quot;,&quot;metadata&quot;:{&quot;header&quot;:{&quot;confidence&quot;:0.8333333333333334,&quot;present&quot;:true,&quot;source_row&quot;:0},&quot;refresh&quot;:{&quot;count&quot;:1,&quot;new_row_count&quot;:4,&quot;previous_revision&quot;:2,&quot;previous_row_count&quot;:4,&quot;schema_signature&quot;:&quot;bookings|quarter|retention&quot;}},&quot;name&quot;:&quot;Pasted data&quot;,&quot;revision&quot;:3,&quot;rows&quot;:[[&quot;FY26 Q1&quot;,88.3,11.1],[&quot;FY26 Q2&quot;,90.1,11.7],[&quot;FY26 Q3&quot;,91.7,12.9],[&quot;FY26 Q4&quot;,92.9,14.1]],&quot;source&quot;:{&quot;imported_at&quot;:&quot;2026-09-24T18:34:16.656Z&quot;,&quot;kind&quot;:&quot;clipboard&quot;,&quot;label&quot;:&quot;TSV&quot;},&quot;warnings&quot;:[]}],&quot;groups&quot;:{},&quot;items&quot;:[{&quot;body&quot;:&quot;Retention improved for a second quarter, but the public sector renewal gap still threatens FY26 expans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tention improved for a second quarter, but the public sector renewal gap still threatens FY26 expansion.&quot;,&quot;title&quot;:&quot;Executive Statement&quot;,&quot;type&quot;:&quot;text&quot;,&quot;weight&quot;:1,&quot;z&quot;:1},{&quot;body&quot;:&quot;FY26 Q1–Q4 close · enterprise and public sector portfolios · constant-currency bookings · renewal cohort excludes acquired account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FY26 Q1–Q4 close · enterprise and public sector portfolios · constant-currency bookings · renewal cohort excludes acquired accounts.&quot;,&quot;title&quot;:&quot;Quarterly context&quot;,&quot;type&quot;:&quot;text&quot;,&quot;weight&quot;:1,&quot;z&quot;:2},{&quot;capability_overrides&quot;:{&quot;target&quot;:91},&quot;composition_role&quot;:&quot;hero_metric&quot;,&quot;delta&quot;:5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1,&quot;title&quot;:&quot;FY26 renewal rate&quot;,&quot;type&quot;:&quot;metric&quot;,&quot;unit&quot;:&quot;%&quot;,&quot;value&quot;:92.9,&quot;weight&quot;:1,&quot;z&quot;:3},{&quot;capability_overrides&quot;:{&quot;target&quot;:14},&quot;composition_role&quot;:&quot;hero_metric&quot;,&quot;delta&quot;:3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4,&quot;title&quot;:&quot;Constant-currency bookings&quot;,&quot;type&quot;:&quot;metric&quot;,&quot;unit&quot;:&quot;$M&quot;,&quot;value&quot;:14.1,&quot;weight&quot;:1,&quot;z&quot;:4},{&quot;after&quot;:92.9,&quot;before&quot;:87.9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ate · Q1 to Q4&quot;,&quot;type&quot;:&quot;comparison&quot;,&quot;unit&quot;:&quot;%&quot;,&quot;weight&quot;:1,&quot;z&quot;:5},{&quot;composition_role&quot;:&quot;primary_analysis&quot;,&quot;data&quot;:[],&quot;dataset_id&quot;:&quot;dataset-mufvf4w9-e6qkvj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Portfolio&quot;,&quot;Renewals&quot;,&quot;Rate&quot;,&quot;Evidence / risk&quot;]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},&quot;element&quot;:&quot;Clean Table&quot;,&quot;engine&quot;:&quot;TableEngine&quot;,&quot;groupId&quot;:null,&quot;id&quot;:&quot;c7&quot;,&quot;locked&quot;:false,&quot;message_role&quot;:&quot;Primary Evidence&quot;,&quot;order&quot;:6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Two delayed procurement cycles remain unsigned. Keep the current enterprise plan and review those contracts at the next finance checkpoint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public-sector expansion until the renewal gate clears&quot;,&quot;status&quot;:&quot;Watch&quot;,&quot;title&quot;:&quot;Risk Callout&quot;,&quot;type&quot;:&quot;decision&quot;,&quot;weight&quot;:1,&quot;z&quot;:8},{&quot;body&quot;:&quot;Next step: keep the enterprise hiring plan, but release the public-sector expansion budget only after the named renewals are signed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keep the enterprise hiring plan, but release the public-sector expansion budget only after the named renewals are signed.&quot;,&quot;title&quot;:&quot;Key Takeaway&quot;,&quot;type&quot;:&quot;text&quot;,&quot;weight&quot;:1,&quot;z&quot;:9},{&quot;composition_role&quot;:&quot;primary_analysis&quot;,&quot;data&quot;:[],&quot;dataset_id&quot;:&quot;dataset-mufvf4w9-e6qkvj&quot;,&quot;element&quot;:&quot;Line Chart&quot;,&quot;engine&quot;:&quot;CoreChartEngine&quot;,&quot;groupId&quot;:null,&quot;id&quot;:&quot;c10&quot;,&quot;locked&quot;:false,&quot;mapping&quot;:{&quot;category&quot;:&quot;quarter_1&quot;,&quot;value&quot;:&quot;retention_2&quot;,&quot;x&quot;:&quot;quarter_1&quot;,&quot;y&quot;:&quot;bookings_3&quot;},&quot;message_role&quot;:&quot;Primary Evidence&quot;,&quot;order&quot;:9,&quot;section_id&quot;:&quot;analysis&quot;,&quot;section_title&quot;:&quot;Analysis&quot;,&quot;showTitle&quot;:true,&quot;title&quot;:&quot;Bookings by quarter&quot;,&quot;type&quot;:&quot;chart&quot;,&quot;weight&quot;:1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