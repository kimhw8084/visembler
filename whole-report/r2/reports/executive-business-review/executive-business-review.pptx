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2488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retention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80" y="304799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7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Quarterly business review · Q1–Q4 · three regions · revenue and retention.</a:t>
            </a:r>
          </a:p>
        </p:txBody>
      </p:sp>
      <p:sp>
        <p:nvSpPr>
          <p:cNvPr id="4" name="VIZ::Retention KPI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202.43120000000002,&quot;w&quot;:447.76,&quot;h&quot;:205.0}"/>
          <p:cNvSpPr/>
          <p:nvPr/>
        </p:nvSpPr>
        <p:spPr>
          <a:xfrm>
            <a:off x="5154777" y="1542525"/>
            <a:ext cx="3411930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Retention</a:t>
            </a:r>
          </a:p>
          <a:p>
            <a:pPr>
              <a:defRPr b="1" sz="2400"/>
            </a:pPr>
            <a:r>
              <a:t>94.6%</a:t>
            </a:r>
          </a:p>
        </p:txBody>
      </p:sp>
      <p:sp>
        <p:nvSpPr>
          <p:cNvPr id="5" name="VIZ::Regional revenue KPI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96.93120000000002,&quot;w&quot;:648.48,&quot;h&quot;:200.0}"/>
          <p:cNvSpPr/>
          <p:nvPr/>
        </p:nvSpPr>
        <p:spPr>
          <a:xfrm>
            <a:off x="106680" y="1500615"/>
            <a:ext cx="4941416" cy="15239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</a:t>
            </a:r>
          </a:p>
          <a:p>
            <a:pPr>
              <a:defRPr b="1" sz="2400"/>
            </a:pPr>
            <a:r>
              <a:t>551</a:t>
            </a:r>
          </a:p>
        </p:txBody>
      </p:sp>
      <p:sp>
        <p:nvSpPr>
          <p:cNvPr id="6" name="VIZ::Quarterly retention KPI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0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Quarterly retention</a:t>
            </a:r>
          </a:p>
          <a:p>
            <a:pPr>
              <a:defRPr b="1" sz="2400"/>
            </a:pPr>
            <a:r>
              <a:t>91.8 → 94.6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7" name="Chart 6" descr="VisualizerSemantic:{&quot;composition_role&quot;:&quot;primary_analysis&quot;,&quot;data&quot;:[[&quot;Q1&quot;,91.8],[&quot;Q2&quot;,93.2],[&quot;Q3&quot;,94.1],[&quot;Q4&quot;,94.6]],&quot;dataset_id&quot;:&quot;dataset-mufqfmko-81hc57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470.30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3583708" y="3405615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Risk Callout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93.9312,&quot;w&quot;:1572.0,&quot;h&quot;:101.52000000000001}"/>
          <p:cNvSpPr/>
          <p:nvPr/>
        </p:nvSpPr>
        <p:spPr>
          <a:xfrm>
            <a:off x="106680" y="8335754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Proceed with monitored revenue recovery</a:t>
            </a:r>
            <a:br/>
            <a:r>
              <a:t>Close the South retention gap before the next review.</a:t>
            </a:r>
            <a:br/>
            <a:r>
              <a:t>Review</a:t>
            </a:r>
          </a:p>
        </p:txBody>
      </p:sp>
      <p:sp>
        <p:nvSpPr>
          <p:cNvPr id="10" name="VIZ::Key Takeaway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29.4512,&quot;w&quot;:1572.0,&quot;h&quot;:100.80000000000001}"/>
          <p:cNvSpPr/>
          <p:nvPr/>
        </p:nvSpPr>
        <p:spPr>
          <a:xfrm>
            <a:off x="106680" y="9368417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close the South retention gap before the next quarterly review.</a:t>
            </a:r>
          </a:p>
        </p:txBody>
      </p:sp>
      <p:graphicFrame>
        <p:nvGraphicFramePr>
          <p:cNvPr id="11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800.9312,&quot;w&quot;:1572.0,&quot;h&quot;:259.0}"/>
          <p:cNvGraphicFramePr>
            <a:graphicFrameLocks noGrp="1"/>
          </p:cNvGraphicFramePr>
          <p:nvPr/>
        </p:nvGraphicFramePr>
        <p:xfrm>
          <a:off x="106680" y="6103095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fqfmko-81hc57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09-24T16:14:31.944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fqfmko-81hc57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