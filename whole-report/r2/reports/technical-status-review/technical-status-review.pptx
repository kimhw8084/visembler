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1010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Yield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 by shift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94.1</c:v>
                </c:pt>
                <c:pt idx="1">
                  <c:v>94.6</c:v>
                </c:pt>
                <c:pt idx="2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Critical measurement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measurement trend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94.1</c:v>
                </c:pt>
                <c:pt idx="1">
                  <c:v>94.6</c:v>
                </c:pt>
                <c:pt idx="2">
                  <c:v>95</c:v>
                </c:pt>
                <c:pt idx="3">
                  <c:v>94.8</c:v>
                </c:pt>
                <c:pt idx="4">
                  <c:v>95.2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71838" y="205252"/>
            <a:ext cx="5436317" cy="62068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Shift B recovered yield after chamber maintenance. Keep the recipe locked through the next paired-lot check and hand off the evidence to Quality and Equipment Engineering.</a:t>
            </a:r>
          </a:p>
        </p:txBody>
      </p:sp>
      <p:sp>
        <p:nvSpPr>
          <p:cNvPr id="3" name="VIZ::Report context" descr="VisualizerSemantic: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5579994" y="330867"/>
            <a:ext cx="2558267" cy="36945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Report context</a:t>
            </a:r>
          </a:p>
          <a:p>
            <a:pPr>
              <a:defRPr sz="1000"/>
            </a:pPr>
            <a:r>
              <a:t>Line 4 · shifts A–C · chamber A controls · capacity release review.</a:t>
            </a:r>
          </a:p>
        </p:txBody>
      </p:sp>
      <p:sp>
        <p:nvSpPr>
          <p:cNvPr id="4" name="VIZ::First pass yield KPI" descr="VisualizerSemantic: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,&quot;x&quot;:14.0,&quot;y&quot;:194.96,&quot;w&quot;:872.4800000000001,&quot;h&quot;:206.0}"/>
          <p:cNvSpPr/>
          <p:nvPr/>
        </p:nvSpPr>
        <p:spPr>
          <a:xfrm>
            <a:off x="71838" y="1000400"/>
            <a:ext cx="4476967" cy="105705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First pass yield</a:t>
            </a:r>
          </a:p>
          <a:p>
            <a:pPr>
              <a:defRPr b="1" sz="2400"/>
            </a:pPr>
            <a:r>
              <a:t>95%</a:t>
            </a:r>
          </a:p>
        </p:txBody>
      </p:sp>
      <p:sp>
        <p:nvSpPr>
          <p:cNvPr id="5" name="VIZ::Unplanned downtime KPI" descr="VisualizerSemantic: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,&quot;x&quot;:900.4800000000001,&quot;y&quot;:194.96,&quot;w&quot;:685.52,&quot;h&quot;:206.0}"/>
          <p:cNvSpPr/>
          <p:nvPr/>
        </p:nvSpPr>
        <p:spPr>
          <a:xfrm>
            <a:off x="4620644" y="1000400"/>
            <a:ext cx="3517617" cy="105705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Unplanned downtime</a:t>
            </a:r>
          </a:p>
          <a:p>
            <a:pPr>
              <a:defRPr b="1" sz="2400"/>
            </a:pPr>
            <a:r>
              <a:t>8.3 h</a:t>
            </a:r>
          </a:p>
        </p:txBody>
      </p:sp>
      <p:graphicFrame>
        <p:nvGraphicFramePr>
          <p:cNvPr id="6" name="Chart 5" descr="VisualizerSemantic:{&quot;composition_role&quot;:&quot;primary_analysis&quot;,&quot;data&quot;:[[&quot;A&quot;,94.1],[&quot;B&quot;,94.6],[&quot;C&quot;,95]],&quot;dataset_id&quot;:&quot;dataset-mufqgb62-vdvgm4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,&quot;rows&quot;:[{&quot;label&quot;:&quot;A&quot;,&quot;value&quot;:94.1},{&quot;label&quot;:&quot;B&quot;,&quot;value&quot;:94.6},{&quot;label&quot;:&quot;C&quot;,&quot;value&quot;:95}],&quot;observations&quot;:[{&quot;label&quot;:&quot;A&quot;,&quot;value&quot;:94.1},{&quot;label&quot;:&quot;B&quot;,&quot;value&quot;:94.6},{&quot;label&quot;:&quot;C&quot;,&quot;value&quot;:95}],&quot;x&quot;:775.8399999999999,&quot;y&quot;:434.96000000000004,&quot;w&quot;:810.1600000000001,&quot;h&quot;:393.16588235294125}"/>
          <p:cNvGraphicFramePr>
            <a:graphicFrameLocks noGrp="1"/>
          </p:cNvGraphicFramePr>
          <p:nvPr/>
        </p:nvGraphicFramePr>
        <p:xfrm>
          <a:off x="3981077" y="2231915"/>
          <a:ext cx="4157184" cy="201745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 descr="VisualizerSemantic:{&quot;composition_role&quot;:&quot;primary_analysis&quot;,&quot;dataset_id&quot;:&quot;dataset-mufqgd9j-ktjbtn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order&quot;:5,&quot;section_id&quot;:&quot;analysis&quot;,&quot;section_title&quot;:&quot;Analysis&quot;,&quot;title&quot;:&quot;Critical measurement trend&quot;,&quot;type&quot;:&quot;engineering&quot;,&quot;upper_limit&quot;:null,&quot;weight&quot;:1,&quot;z&quot;:6,&quot;data&quot;:[[&quot;1&quot;,94.1],[&quot;2&quot;,94.6],[&quot;3&quot;,95],[&quot;4&quot;,94.8],[&quot;5&quot;,95.2]],&quot;row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x&quot;:365.6242424242424,&quot;y&quot;:836.1258823529413,&quot;w&quot;:868.7515151515152,&quot;h&quot;:421.6}"/>
          <p:cNvGraphicFramePr>
            <a:graphicFrameLocks noGrp="1"/>
          </p:cNvGraphicFramePr>
          <p:nvPr/>
        </p:nvGraphicFramePr>
        <p:xfrm>
          <a:off x="1876132" y="4290423"/>
          <a:ext cx="4457835" cy="216336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Body Narrative" descr="VisualizerSemantic: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,&quot;x&quot;:14.0,&quot;y&quot;:573.5429411764707,&quot;w&quot;:747.8399999999999,&quot;h&quot;:116.0}"/>
          <p:cNvSpPr/>
          <p:nvPr/>
        </p:nvSpPr>
        <p:spPr>
          <a:xfrm>
            <a:off x="71838" y="2943028"/>
            <a:ext cx="3837400" cy="59523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Yield recovered from 94.1% on shift A to 95.0% on shift C, while the control sample remains within specification. Keep the recipe locked until the next paired-lot check closes the two open items.</a:t>
            </a:r>
          </a:p>
        </p:txBody>
      </p:sp>
      <p:sp>
        <p:nvSpPr>
          <p:cNvPr id="9" name="VIZ::Process Flow"/>
          <p:cNvSpPr/>
          <p:nvPr/>
        </p:nvSpPr>
        <p:spPr>
          <a:xfrm>
            <a:off x="1997928" y="6628249"/>
            <a:ext cx="4214244" cy="87232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1" name="VIZ::Evidence Card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14.0,&quot;y&quot;:1788.1658823529415,&quot;w&quot;:1572.0,&quot;h&quot;:255.2}"/>
          <p:cNvSpPr/>
          <p:nvPr/>
        </p:nvSpPr>
        <p:spPr>
          <a:xfrm>
            <a:off x="71838" y="9175638"/>
            <a:ext cx="8066423" cy="130951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Evidence Card</a:t>
            </a:r>
          </a:p>
          <a:p>
            <a:pPr>
              <a:defRPr sz="1000"/>
            </a:pPr>
            <a:r>
              <a:t>Measurement system remains within the qualified reference range.</a:t>
            </a:r>
            <a:br/>
            <a:r>
              <a:t>Sample: 30 parts · method: inline metrology · source: shift B inspection.</a:t>
            </a:r>
            <a:br/>
            <a:r>
              <a:t>Verified</a:t>
            </a:r>
          </a:p>
        </p:txBody>
      </p:sp>
      <p:sp>
        <p:nvSpPr>
          <p:cNvPr id="12" name="VIZ::Risk Callout" descr="VisualizerSemantic: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,&quot;x&quot;:14.0,&quot;y&quot;:2077.3658823529413,&quot;w&quot;:1572.0,&quot;h&quot;:94.0}"/>
          <p:cNvSpPr/>
          <p:nvPr/>
        </p:nvSpPr>
        <p:spPr>
          <a:xfrm>
            <a:off x="71838" y="10659613"/>
            <a:ext cx="8066423" cy="48234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Hold added capacity until the paired-lot check closes</a:t>
            </a:r>
            <a:br/>
            <a:r>
              <a:t>Keep the recipe locked and attach the next-shift control evidence.</a:t>
            </a:r>
            <a:br/>
            <a:r>
              <a:t>Review</a:t>
            </a:r>
          </a:p>
        </p:txBody>
      </p:sp>
      <p:sp>
        <p:nvSpPr>
          <p:cNvPr id="13" name="VIZ::Project Card" descr="VisualizerSemantic: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,&quot;x&quot;:14.0,&quot;y&quot;:2205.3658823529413,&quot;w&quot;:1572.0,&quot;h&quot;:156.0}"/>
          <p:cNvSpPr/>
          <p:nvPr/>
        </p:nvSpPr>
        <p:spPr>
          <a:xfrm>
            <a:off x="71838" y="11316421"/>
            <a:ext cx="8066423" cy="80048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Project Card</a:t>
            </a:r>
          </a:p>
          <a:p>
            <a:pPr>
              <a:defRPr sz="1000"/>
            </a:pPr>
            <a:r>
              <a:t>Complete chamber verification and update the runbook.</a:t>
            </a:r>
            <a:br/>
            <a:r>
              <a:t>Owner: Equipment Engineering · due next shift · evidence: paired control lot.</a:t>
            </a:r>
            <a:br/>
            <a:r>
              <a:t>Active</a:t>
            </a:r>
          </a:p>
        </p:txBody>
      </p:sp>
      <p:sp>
        <p:nvSpPr>
          <p:cNvPr id="14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052792" y="6646537"/>
            <a:ext cx="4104516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5" name="VIZ::Process Flow::Detect::node-1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1291.7258823529414,&quot;w&quot;:821.28,&quot;h&quot;:170.0}"/>
          <p:cNvSpPr/>
          <p:nvPr/>
        </p:nvSpPr>
        <p:spPr>
          <a:xfrm>
            <a:off x="2052792" y="6936394"/>
            <a:ext cx="8752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6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3129213" y="6936394"/>
            <a:ext cx="8752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17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4205634" y="6936394"/>
            <a:ext cx="8752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18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5282055" y="6936394"/>
            <a:ext cx="8752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19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2932617" y="7183282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4009038" y="7183282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5085459" y="7183282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VIZ::Clean Table" descr="VisualizerSemantic: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,&quot;x&quot;:14.0,&quot;y&quot;:1469.7258823529414,&quot;w&quot;:1572.0,&quot;h&quot;:300.44}"/>
          <p:cNvGraphicFramePr>
            <a:graphicFrameLocks noGrp="1"/>
          </p:cNvGraphicFramePr>
          <p:nvPr/>
        </p:nvGraphicFramePr>
        <p:xfrm>
          <a:off x="71838" y="7541622"/>
          <a:ext cx="8066423" cy="1541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284"/>
                <a:gridCol w="1613284"/>
                <a:gridCol w="1613284"/>
                <a:gridCol w="1613284"/>
                <a:gridCol w="1613287"/>
              </a:tblGrid>
              <a:tr h="38541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38541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Equipment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38541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38541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MET-02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1&quot;,&quot;name&quot;:&quot;Shift&quot;,&quot;nullable&quot;:false,&quot;profile&quot;:{&quot;distinct&quot;:3,&quot;missing&quot;:0},&quot;semantic_tags&quot;:[],&quot;type&quot;:&quot;categorical&quot;},{&quot;id&quot;:&quot;yield_2&quot;,&quot;name&quot;:&quot;Yield&quot;,&quot;nullable&quot;:false,&quot;profile&quot;:{&quot;distinct&quot;:3,&quot;missing&quot;:0},&quot;semantic_tags&quot;:[&quot;value&quot;],&quot;type&quot;:&quot;number&quot;,&quot;unit&quot;:&quot;&quot;}],&quot;id&quot;:&quot;dataset-mufqgb62-vdvgm4&quot;,&quot;metadata&quot;:{&quot;header&quot;:{&quot;confidence&quot;:1,&quot;present&quot;:true,&quot;source_row&quot;:0}},&quot;name&quot;:&quot;Pasted data&quot;,&quot;revision&quot;:1,&quot;rows&quot;:[[&quot;A&quot;,94.1],[&quot;B&quot;,94.6],[&quot;C&quot;,95]],&quot;source&quot;:{&quot;imported_at&quot;:&quot;2026-09-24T16:15:03.818Z&quot;,&quot;kind&quot;:&quot;clipboard&quot;,&quot;label&quot;:&quot;TSV&quot;},&quot;warnings&quot;:[]},{&quot;fields&quot;:[{&quot;id&quot;:&quot;time_1&quot;,&quot;name&quot;:&quot;Time&quot;,&quot;nullable&quot;:false,&quot;profile&quot;:{&quot;distinct&quot;:5,&quot;missing&quot;:0},&quot;semantic_tags&quot;:[&quot;time&quot;],&quot;type&quot;:&quot;integer&quot;,&quot;unit&quot;:&quot;&quot;},{&quot;id&quot;:&quot;measurement_2&quot;,&quot;name&quot;:&quot;Measurement&quot;,&quot;nullable&quot;:false,&quot;profile&quot;:{&quot;distinct&quot;:5,&quot;missing&quot;:0},&quot;semantic_tags&quot;:[&quot;value&quot;],&quot;type&quot;:&quot;numb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fqgd9j-ktjbtn&quot;,&quot;metadata&quot;:{&quot;header&quot;:{&quot;confidence&quot;:1,&quot;present&quot;:true,&quot;source_row&quot;:0}},&quot;name&quot;:&quot;Pasted data&quot;,&quot;revision&quot;:1,&quot;rows&quot;:[[1,94.1,92,97],[2,94.6,92,97],[3,95,92,97],[4,94.8,92,97],[5,95.2,92,97]],&quot;source&quot;:{&quot;imported_at&quot;:&quot;2026-09-24T16:15:06.535Z&quot;,&quot;kind&quot;:&quot;clipboard&quot;,&quot;label&quot;:&quot;TSV&quot;},&quot;warnings&quot;:[{&quot;code&quot;:&quot;invalid_date&quot;,&quot;field&quot;:&quot;time_1&quot;,&quot;message&quot;:&quot;Time contains an invalid date; the original text was retained.&quot;,&quot;row&quot;:2},{&quot;code&quot;:&quot;invalid_date&quot;,&quot;field&quot;:&quot;time_1&quot;,&quot;message&quot;:&quot;Time contains an invalid date; the original text was retained.&quot;,&quot;row&quot;:3},{&quot;code&quot;:&quot;invalid_date&quot;,&quot;field&quot;:&quot;time_1&quot;,&quot;message&quot;:&quot;Time contains an invalid date; the original text was retained.&quot;,&quot;row&quot;:4},{&quot;code&quot;:&quot;invalid_date&quot;,&quot;field&quot;:&quot;time_1&quot;,&quot;message&quot;:&quot;Time contains an invalid date; the original text was retained.&quot;,&quot;row&quot;:5},{&quot;code&quot;:&quot;invalid_date&quot;,&quot;field&quot;:&quot;time_1&quot;,&quot;message&quot;:&quot;Time contains an invalid date; the original text was retained.&quot;,&quot;row&quot;:6}]}],&quot;groups&quot;:{},&quot;items&quot;:[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},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},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},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},{&quot;composition_role&quot;:&quot;primary_analysis&quot;,&quot;data&quot;:[],&quot;dataset_id&quot;:&quot;dataset-mufqgb62-vdvgm4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},{&quot;composition_role&quot;:&quot;primary_analysis&quot;,&quot;dataset_id&quot;:&quot;dataset-mufqgd9j-ktjbtn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],&quot;order&quot;:5,&quot;section_id&quot;:&quot;analysis&quot;,&quot;section_title&quot;:&quot;Analysis&quot;,&quot;title&quot;:&quot;Critical measurement trend&quot;,&quot;type&quot;:&quot;engineering&quot;,&quot;upper_limit&quot;:null,&quot;weight&quot;:1,&quot;z&quot;:6},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},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},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