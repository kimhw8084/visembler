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6435895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Yield by shift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 by shift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94.1</c:v>
                </c:pt>
                <c:pt idx="1">
                  <c:v>94.6</c:v>
                </c:pt>
                <c:pt idx="2">
                  <c:v>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Critical measurement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measurement trend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94.1</c:v>
                </c:pt>
                <c:pt idx="1">
                  <c:v>94.6</c:v>
                </c:pt>
                <c:pt idx="2">
                  <c:v>95</c:v>
                </c:pt>
                <c:pt idx="3">
                  <c:v>94.8</c:v>
                </c:pt>
                <c:pt idx="4">
                  <c:v>95.2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,&quot;x&quot;:14.0,&quot;y&quot;:34.0,&quot;w&quot;:1572.0,&quot;h&quot;:120.96000000000001}"/>
          <p:cNvSpPr/>
          <p:nvPr/>
        </p:nvSpPr>
        <p:spPr>
          <a:xfrm>
            <a:off x="56314" y="136763"/>
            <a:ext cx="6323266" cy="48655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Shift B recovered yield after chamber maintenance. Keep the recipe locked through the next paired-lot check and hand off the evidence to Quality and Equipment Engineering.</a:t>
            </a:r>
          </a:p>
        </p:txBody>
      </p:sp>
      <p:sp>
        <p:nvSpPr>
          <p:cNvPr id="3" name="VIZ::Report context" descr="VisualizerSemantic: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,&quot;x&quot;:14.0,&quot;y&quot;:168.96,&quot;w&quot;:1572.0,&quot;h&quot;:72.0}"/>
          <p:cNvSpPr/>
          <p:nvPr/>
        </p:nvSpPr>
        <p:spPr>
          <a:xfrm>
            <a:off x="56314" y="679631"/>
            <a:ext cx="6323266" cy="28961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Report context</a:t>
            </a:r>
          </a:p>
          <a:p>
            <a:pPr>
              <a:defRPr sz="1000"/>
            </a:pPr>
            <a:r>
              <a:t>Line 4 · shifts A–C · chamber A controls · capacity release review.</a:t>
            </a:r>
          </a:p>
        </p:txBody>
      </p:sp>
      <p:sp>
        <p:nvSpPr>
          <p:cNvPr id="4" name="VIZ::First pass yield KPI" descr="VisualizerSemantic: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,&quot;x&quot;:14.0,&quot;y&quot;:261.96000000000004,&quot;w&quot;:779.0,&quot;h&quot;:206.0}"/>
          <p:cNvSpPr/>
          <p:nvPr/>
        </p:nvSpPr>
        <p:spPr>
          <a:xfrm>
            <a:off x="56314" y="1053717"/>
            <a:ext cx="3133476" cy="82862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First pass yield</a:t>
            </a:r>
          </a:p>
          <a:p>
            <a:pPr>
              <a:defRPr b="1" sz="2400"/>
            </a:pPr>
            <a:r>
              <a:t>95%</a:t>
            </a:r>
          </a:p>
        </p:txBody>
      </p:sp>
      <p:sp>
        <p:nvSpPr>
          <p:cNvPr id="5" name="VIZ::Unplanned downtime KPI" descr="VisualizerSemantic: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,&quot;x&quot;:807.0,&quot;y&quot;:261.96000000000004,&quot;w&quot;:779.0,&quot;h&quot;:206.0}"/>
          <p:cNvSpPr/>
          <p:nvPr/>
        </p:nvSpPr>
        <p:spPr>
          <a:xfrm>
            <a:off x="3246104" y="1053717"/>
            <a:ext cx="3133476" cy="82862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Unplanned downtime</a:t>
            </a:r>
          </a:p>
          <a:p>
            <a:pPr>
              <a:defRPr b="1" sz="2400"/>
            </a:pPr>
            <a:r>
              <a:t>8.3 h</a:t>
            </a:r>
          </a:p>
        </p:txBody>
      </p:sp>
      <p:graphicFrame>
        <p:nvGraphicFramePr>
          <p:cNvPr id="6" name="Chart 5" descr="VisualizerSemantic:{&quot;composition_role&quot;:&quot;primary_analysis&quot;,&quot;data&quot;:[[&quot;A&quot;,94.1],[&quot;B&quot;,94.6],[&quot;C&quot;,95]],&quot;dataset_id&quot;:&quot;dataset-mufi9fe3-vcgb9c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,&quot;rows&quot;:[{&quot;label&quot;:&quot;A&quot;,&quot;value&quot;:94.1},{&quot;label&quot;:&quot;B&quot;,&quot;value&quot;:94.6},{&quot;label&quot;:&quot;C&quot;,&quot;value&quot;:95}],&quot;observations&quot;:[{&quot;label&quot;:&quot;A&quot;,&quot;value&quot;:94.1},{&quot;label&quot;:&quot;B&quot;,&quot;value&quot;:94.6},{&quot;label&quot;:&quot;C&quot;,&quot;value&quot;:95}],&quot;x&quot;:97.66399999999999,&quot;y&quot;:488.96000000000004,&quot;w&quot;:1404.672,&quot;h&quot;:681.6790588235294}"/>
          <p:cNvGraphicFramePr>
            <a:graphicFrameLocks noGrp="1"/>
          </p:cNvGraphicFramePr>
          <p:nvPr/>
        </p:nvGraphicFramePr>
        <p:xfrm>
          <a:off x="392847" y="1966809"/>
          <a:ext cx="5650200" cy="274200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 descr="VisualizerSemantic:{&quot;composition_role&quot;:&quot;primary_analysis&quot;,&quot;dataset_id&quot;:&quot;dataset-mufi9hhs-1q141u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order&quot;:5,&quot;section_id&quot;:&quot;analysis&quot;,&quot;section_title&quot;:&quot;Analysis&quot;,&quot;title&quot;:&quot;Critical measurement trend&quot;,&quot;type&quot;:&quot;engineering&quot;,&quot;upper_limit&quot;:null,&quot;weight&quot;:1,&quot;z&quot;:6,&quot;data&quot;:[[&quot;1&quot;,94.1],[&quot;2&quot;,94.6],[&quot;3&quot;,95],[&quot;4&quot;,94.8],[&quot;5&quot;,95.2]],&quot;row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x&quot;:97.66399999999999,&quot;y&quot;:1184.6390588235295,&quot;w&quot;:1404.672,&quot;h&quot;:681.6790588235294}"/>
          <p:cNvGraphicFramePr>
            <a:graphicFrameLocks noGrp="1"/>
          </p:cNvGraphicFramePr>
          <p:nvPr/>
        </p:nvGraphicFramePr>
        <p:xfrm>
          <a:off x="392847" y="4765133"/>
          <a:ext cx="5650200" cy="274200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Body Narrative" descr="VisualizerSemantic: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,&quot;x&quot;:14.0,&quot;y&quot;:1880.318117647059,&quot;w&quot;:1572.0,&quot;h&quot;:116.0}"/>
          <p:cNvSpPr/>
          <p:nvPr/>
        </p:nvSpPr>
        <p:spPr>
          <a:xfrm>
            <a:off x="56314" y="7563456"/>
            <a:ext cx="6323266" cy="46660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Body Narrative</a:t>
            </a:r>
          </a:p>
          <a:p>
            <a:pPr>
              <a:defRPr sz="1000"/>
            </a:pPr>
            <a:r>
              <a:t>Yield recovered from 94.1% on shift A to 95.0% on shift C, while the control sample remains within specification. Keep the recipe locked until the next paired-lot check closes the two open items.</a:t>
            </a:r>
          </a:p>
        </p:txBody>
      </p:sp>
      <p:sp>
        <p:nvSpPr>
          <p:cNvPr id="9" name="VIZ::Process Flow::continuation-reference" descr="VisualizerSemantic: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,&quot;x&quot;:389.36,&quot;y&quot;:2017.318117647059,&quot;w&quot;:821.28,&quot;h&quot;:328.512}"/>
          <p:cNvSpPr/>
          <p:nvPr/>
        </p:nvSpPr>
        <p:spPr>
          <a:xfrm>
            <a:off x="1566174" y="8114529"/>
            <a:ext cx="3303544" cy="1321417"/>
          </a:xfrm>
          <a:prstGeom prst="roundRect">
            <a:avLst/>
          </a:prstGeom>
          <a:solidFill>
            <a:srgbClr val="F5F8FC"/>
          </a:solidFill>
          <a:ln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850" b="1">
                <a:solidFill>
                  <a:srgbClr val="233449"/>
                </a:solidFill>
                <a:latin typeface="Arial"/>
              </a:defRPr>
            </a:pPr>
            <a:r>
              <a:t>Diagram continues on slides 2–2</a:t>
            </a:r>
          </a:p>
        </p:txBody>
      </p:sp>
      <p:sp>
        <p:nvSpPr>
          <p:cNvPr id="11" name="VIZ::Evidence Card" descr="VisualizerSemantic: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,&quot;x&quot;:886.655238095238,&quot;y&quot;:2359.830117647059,&quot;w&quot;:699.3447619047619,&quot;h&quot;:255.2}"/>
          <p:cNvSpPr/>
          <p:nvPr/>
        </p:nvSpPr>
        <p:spPr>
          <a:xfrm>
            <a:off x="3566512" y="9492261"/>
            <a:ext cx="2813068" cy="102652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Evidence Card</a:t>
            </a:r>
          </a:p>
          <a:p>
            <a:pPr>
              <a:defRPr sz="1000"/>
            </a:pPr>
            <a:r>
              <a:t>Measurement system remains within the qualified reference range.</a:t>
            </a:r>
            <a:br/>
            <a:r>
              <a:t>Sample: 30 parts · method: inline metrology · source: shift B inspection.</a:t>
            </a:r>
            <a:br/>
            <a:r>
              <a:t>Verified</a:t>
            </a:r>
          </a:p>
        </p:txBody>
      </p:sp>
      <p:sp>
        <p:nvSpPr>
          <p:cNvPr id="12" name="VIZ::Risk Callout" descr="VisualizerSemantic: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,&quot;x&quot;:14.0,&quot;y&quot;:2681.270117647059,&quot;w&quot;:1572.0,&quot;h&quot;:94.0}"/>
          <p:cNvSpPr/>
          <p:nvPr/>
        </p:nvSpPr>
        <p:spPr>
          <a:xfrm>
            <a:off x="56314" y="10785232"/>
            <a:ext cx="6323266" cy="37810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Hold added capacity until the paired-lot check closes</a:t>
            </a:r>
            <a:br/>
            <a:r>
              <a:t>Keep the recipe locked and attach the next-shift control evidence.</a:t>
            </a:r>
            <a:br/>
            <a:r>
              <a:t>Review</a:t>
            </a:r>
          </a:p>
        </p:txBody>
      </p:sp>
      <p:sp>
        <p:nvSpPr>
          <p:cNvPr id="13" name="VIZ::Project Card" descr="VisualizerSemantic: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,&quot;x&quot;:14.0,&quot;y&quot;:2796.270117647059,&quot;w&quot;:1572.0,&quot;h&quot;:220.0}"/>
          <p:cNvSpPr/>
          <p:nvPr/>
        </p:nvSpPr>
        <p:spPr>
          <a:xfrm>
            <a:off x="56314" y="11247812"/>
            <a:ext cx="6323266" cy="88493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Project Card</a:t>
            </a:r>
          </a:p>
          <a:p>
            <a:pPr>
              <a:defRPr sz="1000"/>
            </a:pPr>
            <a:r>
              <a:t>Complete chamber verification and update the runbook.</a:t>
            </a:r>
            <a:br/>
            <a:r>
              <a:t>Owner: Equipment Engineering · due next shift · evidence: paired control lot.</a:t>
            </a:r>
            <a:br/>
            <a:r>
              <a:t>Active</a:t>
            </a:r>
          </a:p>
        </p:txBody>
      </p:sp>
      <p:graphicFrame>
        <p:nvGraphicFramePr>
          <p:cNvPr id="14" name="VIZ::Clean Table" descr="VisualizerSemantic: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,&quot;x&quot;:14.0,&quot;y&quot;:2359.830117647059,&quot;w&quot;:858.655238095238,&quot;h&quot;:300.44}"/>
          <p:cNvGraphicFramePr>
            <a:graphicFrameLocks noGrp="1"/>
          </p:cNvGraphicFramePr>
          <p:nvPr/>
        </p:nvGraphicFramePr>
        <p:xfrm>
          <a:off x="56314" y="9492261"/>
          <a:ext cx="3453884" cy="1208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0776"/>
                <a:gridCol w="690776"/>
                <a:gridCol w="690776"/>
                <a:gridCol w="690776"/>
                <a:gridCol w="690780"/>
              </a:tblGrid>
              <a:tr h="302125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Chamber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302125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Equipment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Open</a:t>
                      </a:r>
                    </a:p>
                  </a:txBody>
                  <a:tcPr/>
                </a:tc>
              </a:tr>
              <a:tr h="302125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Process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</a:tr>
              <a:tr h="302125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MET-02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shift_1&quot;,&quot;name&quot;:&quot;Shift&quot;,&quot;nullable&quot;:false,&quot;profile&quot;:{&quot;distinct&quot;:3,&quot;missing&quot;:0},&quot;semantic_tags&quot;:[],&quot;type&quot;:&quot;categorical&quot;},{&quot;id&quot;:&quot;yield_2&quot;,&quot;name&quot;:&quot;Yield&quot;,&quot;nullable&quot;:false,&quot;profile&quot;:{&quot;distinct&quot;:3,&quot;missing&quot;:0},&quot;semantic_tags&quot;:[&quot;value&quot;],&quot;type&quot;:&quot;number&quot;,&quot;unit&quot;:&quot;&quot;}],&quot;id&quot;:&quot;dataset-mufi9fe3-vcgb9c&quot;,&quot;metadata&quot;:{&quot;header&quot;:{&quot;confidence&quot;:1,&quot;present&quot;:true,&quot;source_row&quot;:0}},&quot;name&quot;:&quot;Pasted data&quot;,&quot;revision&quot;:1,&quot;rows&quot;:[[&quot;A&quot;,94.1],[&quot;B&quot;,94.6],[&quot;C&quot;,95]],&quot;source&quot;:{&quot;imported_at&quot;:&quot;2026-09-24T12:25:45.771Z&quot;,&quot;kind&quot;:&quot;clipboard&quot;,&quot;label&quot;:&quot;TSV&quot;},&quot;warnings&quot;:[]},{&quot;fields&quot;:[{&quot;id&quot;:&quot;time_1&quot;,&quot;name&quot;:&quot;Time&quot;,&quot;nullable&quot;:false,&quot;profile&quot;:{&quot;distinct&quot;:5,&quot;missing&quot;:0},&quot;semantic_tags&quot;:[&quot;time&quot;],&quot;type&quot;:&quot;integer&quot;,&quot;unit&quot;:&quot;&quot;},{&quot;id&quot;:&quot;measurement_2&quot;,&quot;name&quot;:&quot;Measurement&quot;,&quot;nullable&quot;:false,&quot;profile&quot;:{&quot;distinct&quot;:5,&quot;missing&quot;:0},&quot;semantic_tags&quot;:[&quot;value&quot;],&quot;type&quot;:&quot;number&quot;,&quot;unit&quot;:&quot;&quot;},{&quot;id&quot;:&quot;lsl_3&quot;,&quot;name&quot;:&quot;LSL&quot;,&quot;nullable&quot;:false,&quot;profile&quot;:{&quot;distinct&quot;:1,&quot;missing&quot;:0},&quot;semantic_tags&quot;:[&quot;specification_low&quot;],&quot;type&quot;:&quot;integer&quot;,&quot;unit&quot;:&quot;&quot;},{&quot;id&quot;:&quot;usl_4&quot;,&quot;name&quot;:&quot;USL&quot;,&quot;nullable&quot;:false,&quot;profile&quot;:{&quot;distinct&quot;:1,&quot;missing&quot;:0},&quot;semantic_tags&quot;:[&quot;specification_high&quot;],&quot;type&quot;:&quot;integer&quot;,&quot;unit&quot;:&quot;&quot;}],&quot;id&quot;:&quot;dataset-mufi9hhs-1q141u&quot;,&quot;metadata&quot;:{&quot;header&quot;:{&quot;confidence&quot;:1,&quot;present&quot;:true,&quot;source_row&quot;:0}},&quot;name&quot;:&quot;Pasted data&quot;,&quot;revision&quot;:1,&quot;rows&quot;:[[1,94.1,92,97],[2,94.6,92,97],[3,95,92,97],[4,94.8,92,97],[5,95.2,92,97]],&quot;source&quot;:{&quot;imported_at&quot;:&quot;2026-09-24T12:25:48.496Z&quot;,&quot;kind&quot;:&quot;clipboard&quot;,&quot;label&quot;:&quot;TSV&quot;},&quot;warnings&quot;:[{&quot;code&quot;:&quot;invalid_date&quot;,&quot;field&quot;:&quot;time_1&quot;,&quot;message&quot;:&quot;Time contains an invalid date; the original text was retained.&quot;,&quot;row&quot;:2},{&quot;code&quot;:&quot;invalid_date&quot;,&quot;field&quot;:&quot;time_1&quot;,&quot;message&quot;:&quot;Time contains an invalid date; the original text was retained.&quot;,&quot;row&quot;:3},{&quot;code&quot;:&quot;invalid_date&quot;,&quot;field&quot;:&quot;time_1&quot;,&quot;message&quot;:&quot;Time contains an invalid date; the original text was retained.&quot;,&quot;row&quot;:4},{&quot;code&quot;:&quot;invalid_date&quot;,&quot;field&quot;:&quot;time_1&quot;,&quot;message&quot;:&quot;Time contains an invalid date; the original text was retained.&quot;,&quot;row&quot;:5},{&quot;code&quot;:&quot;invalid_date&quot;,&quot;field&quot;:&quot;time_1&quot;,&quot;message&quot;:&quot;Time contains an invalid date; the original text was retained.&quot;,&quot;row&quot;:6}]}],&quot;groups&quot;:{},&quot;items&quot;:[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},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},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},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},{&quot;composition_role&quot;:&quot;primary_analysis&quot;,&quot;data&quot;:[],&quot;dataset_id&quot;:&quot;dataset-mufi9fe3-vcgb9c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},{&quot;composition_role&quot;:&quot;primary_analysis&quot;,&quot;dataset_id&quot;:&quot;dataset-mufi9hhs-1q141u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],&quot;order&quot;:5,&quot;section_id&quot;:&quot;analysis&quot;,&quot;section_title&quot;:&quot;Analysis&quot;,&quot;title&quot;:&quot;Critical measurement trend&quot;,&quot;type&quot;:&quot;engineering&quot;,&quot;upper_limit&quot;:null,&quot;weight&quot;:1,&quot;z&quot;:6},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},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},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},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},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},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}],&quot;layoutPreset&quot;:&quot;technical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512064" y="384048"/>
            <a:ext cx="541176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 · Continued 1/1</a:t>
            </a:r>
          </a:p>
        </p:txBody>
      </p:sp>
      <p:sp>
        <p:nvSpPr>
          <p:cNvPr id="3" name="VIZ::Process Flow::Detect::node-1" descr="VisualizerDiagramNode:{&quot;item_id&quot;:&quot;c8&quot;,&quot;node_index&quot;:0,&quot;label&quot;:&quot;Detect&quot;,&quot;page&quot;:1,&quot;page_count&quot;:1,&quot;direction&quot;:&quot;right&quot;}"/>
          <p:cNvSpPr/>
          <p:nvPr/>
        </p:nvSpPr>
        <p:spPr>
          <a:xfrm>
            <a:off x="512064" y="5967983"/>
            <a:ext cx="1202065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Detect</a:t>
            </a:r>
          </a:p>
        </p:txBody>
      </p:sp>
      <p:sp>
        <p:nvSpPr>
          <p:cNvPr id="4" name="VIZ::Process Flow::Contain::node-2" descr="VisualizerDiagramNode:{&quot;item_id&quot;:&quot;c8&quot;,&quot;node_index&quot;:1,&quot;label&quot;:&quot;Contain&quot;,&quot;page&quot;:1,&quot;page_count&quot;:1,&quot;direction&quot;:&quot;right&quot;}"/>
          <p:cNvSpPr/>
          <p:nvPr/>
        </p:nvSpPr>
        <p:spPr>
          <a:xfrm>
            <a:off x="1915297" y="5967983"/>
            <a:ext cx="1202065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Contain</a:t>
            </a:r>
          </a:p>
        </p:txBody>
      </p:sp>
      <p:sp>
        <p:nvSpPr>
          <p:cNvPr id="5" name="VIZ::Process Flow::Verify::node-3" descr="VisualizerDiagramNode:{&quot;item_id&quot;:&quot;c8&quot;,&quot;node_index&quot;:2,&quot;label&quot;:&quot;Verify&quot;,&quot;page&quot;:1,&quot;page_count&quot;:1,&quot;direction&quot;:&quot;right&quot;}"/>
          <p:cNvSpPr/>
          <p:nvPr/>
        </p:nvSpPr>
        <p:spPr>
          <a:xfrm>
            <a:off x="3318530" y="5967983"/>
            <a:ext cx="1202065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</a:t>
            </a:r>
          </a:p>
        </p:txBody>
      </p:sp>
      <p:sp>
        <p:nvSpPr>
          <p:cNvPr id="6" name="VIZ::Process Flow::Release::node-4" descr="VisualizerDiagramNode:{&quot;item_id&quot;:&quot;c8&quot;,&quot;node_index&quot;:3,&quot;label&quot;:&quot;Release&quot;,&quot;page&quot;:1,&quot;page_count&quot;:1,&quot;direction&quot;:&quot;right&quot;}"/>
          <p:cNvSpPr/>
          <p:nvPr/>
        </p:nvSpPr>
        <p:spPr>
          <a:xfrm>
            <a:off x="4721763" y="5967983"/>
            <a:ext cx="1202065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</a:t>
            </a:r>
          </a:p>
        </p:txBody>
      </p:sp>
      <p:cxnSp>
        <p:nvCxnSpPr>
          <p:cNvPr id="7" name="VIZ::DiagramEdge::Process Flow::1" descr="VisualizerSemanticEdge:{&quot;item_id&quot;:&quot;c8&quot;,&quot;edge_index&quot;:0,&quot;source&quot;:&quot;Detect&quot;,&quot;target&quot;:&quot;Contain&quot;,&quot;continuation&quot;:false}"/>
          <p:cNvCxnSpPr/>
          <p:nvPr/>
        </p:nvCxnSpPr>
        <p:spPr>
          <a:xfrm>
            <a:off x="1718701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VIZ::DiagramEdge::Process Flow::2" descr="VisualizerSemanticEdge:{&quot;item_id&quot;:&quot;c8&quot;,&quot;edge_index&quot;:1,&quot;source&quot;:&quot;Contain&quot;,&quot;target&quot;:&quot;Verify&quot;,&quot;continuation&quot;:false}"/>
          <p:cNvCxnSpPr/>
          <p:nvPr/>
        </p:nvCxnSpPr>
        <p:spPr>
          <a:xfrm>
            <a:off x="3121934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IZ::DiagramEdge::Process Flow::3" descr="VisualizerSemanticEdge:{&quot;item_id&quot;:&quot;c8&quot;,&quot;edge_index&quot;:2,&quot;source&quot;:&quot;Verify&quot;,&quot;target&quot;:&quot;Release&quot;,&quot;continuation&quot;:false}"/>
          <p:cNvCxnSpPr/>
          <p:nvPr/>
        </p:nvCxnSpPr>
        <p:spPr>
          <a:xfrm>
            <a:off x="4525167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