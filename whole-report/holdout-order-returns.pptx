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417186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</c:v>
                </c:pt>
                <c:pt idx="1">
                  <c:v>1395</c:v>
                </c:pt>
                <c:pt idx="2">
                  <c:v>1522</c:v>
                </c:pt>
                <c:pt idx="3">
                  <c:v>1611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38</c:v>
                </c:pt>
                <c:pt idx="2">
                  <c:v>35</c:v>
                </c:pt>
                <c:pt idx="3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572.0,&quot;weight&quot;:1.1,&quot;x&quot;:14.0,&quot;y&quot;:34.0,&quot;z&quot;:9}"/>
          <p:cNvSpPr/>
          <p:nvPr/>
        </p:nvSpPr>
        <p:spPr>
          <a:xfrm>
            <a:off x="64900" y="157615"/>
            <a:ext cx="7287385" cy="50881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Order volume rose while returns fell across the spring launch.</a:t>
            </a:r>
          </a:p>
        </p:txBody>
      </p:sp>
      <p:sp>
        <p:nvSpPr>
          <p:cNvPr id="3" name="VIZ::Body Narrative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1572.0,&quot;weight&quot;:1.1,&quot;x&quot;:14.0,&quot;y&quot;:157.76,&quot;z&quot;:10}"/>
          <p:cNvSpPr/>
          <p:nvPr/>
        </p:nvSpPr>
        <p:spPr>
          <a:xfrm>
            <a:off x="64900" y="731334"/>
            <a:ext cx="7287385" cy="33377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Monthly operating review · Jan–Apr · Source: order and returns ledger.</a:t>
            </a:r>
          </a:p>
        </p:txBody>
      </p:sp>
      <p:sp>
        <p:nvSpPr>
          <p:cNvPr id="4" name="VIZ::April orders KPI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09.58368810217337,&quot;weight&quot;:1.15,&quot;x&quot;:14.0,&quot;y&quot;:250.76,&quot;z&quot;:3}"/>
          <p:cNvSpPr/>
          <p:nvPr/>
        </p:nvSpPr>
        <p:spPr>
          <a:xfrm>
            <a:off x="64900" y="1162458"/>
            <a:ext cx="2362298" cy="8622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April orders</a:t>
            </a:r>
          </a:p>
          <a:p>
            <a:pPr>
              <a:defRPr b="1" sz="2400"/>
            </a:pPr>
            <a:r>
              <a:t>1611</a:t>
            </a:r>
          </a:p>
        </p:txBody>
      </p:sp>
      <p:sp>
        <p:nvSpPr>
          <p:cNvPr id="5" name="VIZ::Order growth since January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09.58368810217337,&quot;weight&quot;:1.15,&quot;x&quot;:537.5836881021734,&quot;y&quot;:250.76,&quot;z&quot;:4}"/>
          <p:cNvSpPr/>
          <p:nvPr/>
        </p:nvSpPr>
        <p:spPr>
          <a:xfrm>
            <a:off x="2492098" y="1162458"/>
            <a:ext cx="2362298" cy="8622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Order growth since January</a:t>
            </a:r>
          </a:p>
          <a:p>
            <a:pPr>
              <a:defRPr b="1" sz="2400"/>
            </a:pPr>
            <a:r>
              <a:t>331 orders</a:t>
            </a:r>
          </a:p>
        </p:txBody>
      </p:sp>
      <p:sp>
        <p:nvSpPr>
          <p:cNvPr id="6" name="VIZ::Monthly returns KPI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524.8326237956531,&quot;weight&quot;:1.15,&quot;x&quot;:1061.1673762043467,&quot;y&quot;:250.76,&quot;z&quot;:5}"/>
          <p:cNvSpPr/>
          <p:nvPr/>
        </p:nvSpPr>
        <p:spPr>
          <a:xfrm>
            <a:off x="4919297" y="1162458"/>
            <a:ext cx="2432988" cy="8761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Monthly returns</a:t>
            </a:r>
          </a:p>
          <a:p>
            <a:pPr>
              <a:defRPr b="1" sz="2400"/>
            </a:pPr>
            <a:r>
              <a:t>42 → 31</a:t>
            </a:r>
          </a:p>
        </p:txBody>
      </p:sp>
      <p:graphicFrame>
        <p:nvGraphicFramePr>
          <p:cNvPr id="7" name="Chart 6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fiasvx-9n4va0&quot;,&quot;drill&quot;:null,&quot;element&quot;:&quot;Line Chart&quot;,&quot;engine&quot;:&quot;CoreChartEngine&quot;,&quot;groupId&quot;:null,&quot;h&quot;:626.704941176470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1291.3919999999998,&quot;weight&quot;:1.8,&quot;x&quot;:154.3040000000001,&quot;y&quot;:460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715313" y="2135964"/>
          <a:ext cx="5986558" cy="29052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Jan&quot;,42],[&quot;Feb&quot;,38],[&quot;Mar&quot;,35],[&quot;Apr&quot;,31]],&quot;dataset_id&quot;:&quot;dataset-mufiasvx-9n4va0&quot;,&quot;drill&quot;:null,&quot;element&quot;:&quot;Line Chart&quot;,&quot;engine&quot;:&quot;CoreChartEngine&quot;,&quot;groupId&quot;:null,&quot;h&quot;:465.88235294117646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960.0,&quot;weight&quot;:1.8,&quot;x&quot;:320.0,&quot;y&quot;:1101.4649411764703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1483437" y="5106106"/>
          <a:ext cx="4450311" cy="215970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1581.347294117647,&quot;z&quot;:11}"/>
          <p:cNvSpPr/>
          <p:nvPr/>
        </p:nvSpPr>
        <p:spPr>
          <a:xfrm>
            <a:off x="64900" y="7330716"/>
            <a:ext cx="7287385" cy="53774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::continuation-reference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73.76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2098.647294117647,&quot;z&quot;:8}"/>
          <p:cNvSpPr/>
          <p:nvPr/>
        </p:nvSpPr>
        <p:spPr>
          <a:xfrm>
            <a:off x="2122242" y="9728785"/>
            <a:ext cx="3172701" cy="1269080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2" name="VIZ::Risk Callout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2393.4072941176473,&quot;z&quot;:7}"/>
          <p:cNvSpPr/>
          <p:nvPr/>
        </p:nvSpPr>
        <p:spPr>
          <a:xfrm>
            <a:off x="64900" y="11095216"/>
            <a:ext cx="7287385" cy="48805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Review rising orders alongside falling returns</a:t>
            </a:r>
            <a:br/>
            <a:r>
              <a:t>Check the fulfillment mix before changing the spring capacity plan.</a:t>
            </a:r>
            <a:br/>
            <a:r>
              <a:t>Review</a:t>
            </a:r>
          </a:p>
        </p:txBody>
      </p:sp>
      <p:sp>
        <p:nvSpPr>
          <p:cNvPr id="13" name="VIZ::Key Takeaway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2519.6872941176475,&quot;z&quot;:12}"/>
          <p:cNvSpPr/>
          <p:nvPr/>
        </p:nvSpPr>
        <p:spPr>
          <a:xfrm>
            <a:off x="64900" y="11680617"/>
            <a:ext cx="7287385" cy="44503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review the return mix before changing fulfillment capacity.</a:t>
            </a:r>
          </a:p>
        </p:txBody>
      </p:sp>
      <p:graphicFrame>
        <p:nvGraphicFramePr>
          <p:cNvPr id="14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366.3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718.347294117647,&quot;z&quot;:6}"/>
          <p:cNvGraphicFramePr>
            <a:graphicFrameLocks noGrp="1"/>
          </p:cNvGraphicFramePr>
          <p:nvPr/>
        </p:nvGraphicFramePr>
        <p:xfrm>
          <a:off x="64900" y="7965812"/>
          <a:ext cx="7287385" cy="1698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128"/>
                <a:gridCol w="2429128"/>
                <a:gridCol w="2429129"/>
              </a:tblGrid>
              <a:tr h="28301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28301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28301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28301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28301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28301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fiasvx-9n4va0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4T12:26:49.917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fiasvx-9n4va0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iasvx-9n4va0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94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00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986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6393058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 · Continued 1/1</a:t>
            </a:r>
          </a:p>
        </p:txBody>
      </p:sp>
      <p:sp>
        <p:nvSpPr>
          <p:cNvPr id="3" name="VIZ::Review path::Track order growth::node-1" descr="VisualizerDiagramNode:{&quot;item_id&quot;:&quot;c8&quot;,&quot;node_index&quot;:0,&quot;label&quot;:&quot;Track order growth&quot;,&quot;page&quot;:1,&quot;page_count&quot;:1,&quot;direction&quot;:&quot;right&quot;}"/>
          <p:cNvSpPr/>
          <p:nvPr/>
        </p:nvSpPr>
        <p:spPr>
          <a:xfrm>
            <a:off x="512064" y="5967983"/>
            <a:ext cx="144738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 order growth</a:t>
            </a:r>
          </a:p>
        </p:txBody>
      </p:sp>
      <p:sp>
        <p:nvSpPr>
          <p:cNvPr id="4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2160620" y="5967983"/>
            <a:ext cx="144738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 return trend</a:t>
            </a:r>
          </a:p>
        </p:txBody>
      </p:sp>
      <p:sp>
        <p:nvSpPr>
          <p:cNvPr id="5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3809176" y="5967983"/>
            <a:ext cx="144738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6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5457732" y="5967983"/>
            <a:ext cx="144738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 capacity</a:t>
            </a:r>
          </a:p>
        </p:txBody>
      </p:sp>
      <p:cxnSp>
        <p:nvCxnSpPr>
          <p:cNvPr id="7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1964024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3612580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26113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