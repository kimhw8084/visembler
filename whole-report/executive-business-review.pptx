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1081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34.0,&quot;w&quot;:1572.0,&quot;h&quot;:122.93120000000002}"/>
          <p:cNvSpPr/>
          <p:nvPr/>
        </p:nvSpPr>
        <p:spPr>
          <a:xfrm>
            <a:off x="106679" y="259080"/>
            <a:ext cx="11978638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4.0,&quot;y&quot;:170.93120000000002,&quot;w&quot;:1572.0,&quot;h&quot;:72.0}"/>
          <p:cNvSpPr/>
          <p:nvPr/>
        </p:nvSpPr>
        <p:spPr>
          <a:xfrm>
            <a:off x="106679" y="1302496"/>
            <a:ext cx="11978638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Quarterly business review · Q1–Q4 · three regions · revenue and retention.</a:t>
            </a:r>
          </a:p>
        </p:txBody>
      </p:sp>
      <p:sp>
        <p:nvSpPr>
          <p:cNvPr id="4" name="VIZ::Retention KPI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14.0,&quot;y&quot;:263.9312,&quot;w&quot;:529.1431086038299,&quot;h&quot;:205.0}"/>
          <p:cNvSpPr/>
          <p:nvPr/>
        </p:nvSpPr>
        <p:spPr>
          <a:xfrm>
            <a:off x="106679" y="2011155"/>
            <a:ext cx="4032070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Retention</a:t>
            </a:r>
          </a:p>
          <a:p>
            <a:pPr>
              <a:defRPr b="1" sz="2400"/>
            </a:pPr>
            <a:r>
              <a:t>94.6%</a:t>
            </a:r>
          </a:p>
        </p:txBody>
      </p:sp>
      <p:sp>
        <p:nvSpPr>
          <p:cNvPr id="5" name="VIZ::Regional revenue KPI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557.1431086038299,&quot;y&quot;:263.9312,&quot;w&quot;:468.005814519707,&quot;h&quot;:200.0}"/>
          <p:cNvSpPr/>
          <p:nvPr/>
        </p:nvSpPr>
        <p:spPr>
          <a:xfrm>
            <a:off x="4245430" y="2011155"/>
            <a:ext cx="3566203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</a:t>
            </a:r>
          </a:p>
          <a:p>
            <a:pPr>
              <a:defRPr b="1" sz="2400"/>
            </a:pPr>
            <a:r>
              <a:t>551</a:t>
            </a:r>
          </a:p>
        </p:txBody>
      </p:sp>
      <p:sp>
        <p:nvSpPr>
          <p:cNvPr id="6" name="VIZ::Quarterly retention KPI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039.1489231235369,&quot;y&quot;:263.9312,&quot;w&quot;:546.8510768764631,&quot;h&quot;:216.0}"/>
          <p:cNvSpPr/>
          <p:nvPr/>
        </p:nvSpPr>
        <p:spPr>
          <a:xfrm>
            <a:off x="7918314" y="2011155"/>
            <a:ext cx="4167004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Quarterly retention</a:t>
            </a:r>
          </a:p>
          <a:p>
            <a:pPr>
              <a:defRPr b="1" sz="2400"/>
            </a:pPr>
            <a:r>
              <a:t>91.8 → 94.6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data&quot;:[[&quot;Q1&quot;,91.8],[&quot;Q2&quot;,93.2],[&quot;Q3&quot;,94.1],[&quot;Q4&quot;,94.6]],&quot;dataset_id&quot;:&quot;dataset-mufi8qq4-g6a9xq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233.60000000000002,&quot;y&quot;:500.9312,&quot;w&quot;:1132.8,&quot;h&quot;:549.7411764705882}"/>
          <p:cNvGraphicFramePr>
            <a:graphicFrameLocks noGrp="1"/>
          </p:cNvGraphicFramePr>
          <p:nvPr/>
        </p:nvGraphicFramePr>
        <p:xfrm>
          <a:off x="1780031" y="3817095"/>
          <a:ext cx="8631935" cy="418902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Risk Callout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351.6723764705882,&quot;w&quot;:1572.0,&quot;h&quot;:101.52000000000001}"/>
          <p:cNvSpPr/>
          <p:nvPr/>
        </p:nvSpPr>
        <p:spPr>
          <a:xfrm>
            <a:off x="106679" y="10299742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Proceed with monitored revenue recovery</a:t>
            </a:r>
            <a:br/>
            <a:r>
              <a:t>Close the South retention gap before the next review.</a:t>
            </a:r>
            <a:br/>
            <a:r>
              <a:t>Review</a:t>
            </a:r>
          </a:p>
        </p:txBody>
      </p:sp>
      <p:sp>
        <p:nvSpPr>
          <p:cNvPr id="10" name="VIZ::Key Takeaway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474.1923764705882,&quot;w&quot;:1572.0,&quot;h&quot;:100.80000000000001}"/>
          <p:cNvSpPr/>
          <p:nvPr/>
        </p:nvSpPr>
        <p:spPr>
          <a:xfrm>
            <a:off x="106679" y="11233344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close the South retention gap before the next quarterly review.</a:t>
            </a:r>
          </a:p>
        </p:txBody>
      </p:sp>
      <p:graphicFrame>
        <p:nvGraphicFramePr>
          <p:cNvPr id="11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071.6723764705882,&quot;w&quot;:1572.0,&quot;h&quot;:259.0}"/>
          <p:cNvGraphicFramePr>
            <a:graphicFrameLocks noGrp="1"/>
          </p:cNvGraphicFramePr>
          <p:nvPr/>
        </p:nvGraphicFramePr>
        <p:xfrm>
          <a:off x="106679" y="8166142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fi8qq4-g6a9xq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4T12:25:13.804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fi8qq4-g6a9xq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