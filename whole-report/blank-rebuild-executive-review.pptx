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151381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descr="VisualizerSemantic: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,&quot;x&quot;:14.0,&quot;y&quot;:34.0,&quot;w&quot;:1572.0,&quot;h&quot;:122.93120000000002}"/>
          <p:cNvSpPr/>
          <p:nvPr/>
        </p:nvSpPr>
        <p:spPr>
          <a:xfrm>
            <a:off x="106679" y="259080"/>
            <a:ext cx="11978638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Hero Title</a:t>
            </a:r>
          </a:p>
          <a:p>
            <a:pPr>
              <a:defRPr sz="1000"/>
            </a:pPr>
            <a:r>
              <a:t>West revenue leads East by 25 units in the regional review.</a:t>
            </a:r>
          </a:p>
        </p:txBody>
      </p:sp>
      <p:sp>
        <p:nvSpPr>
          <p:cNvPr id="3" name="VIZ::Body Narrative" descr="VisualizerSemantic: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,&quot;x&quot;:14.0,&quot;y&quot;:170.93120000000002,&quot;w&quot;:1572.0,&quot;h&quot;:72.0}"/>
          <p:cNvSpPr/>
          <p:nvPr/>
        </p:nvSpPr>
        <p:spPr>
          <a:xfrm>
            <a:off x="106679" y="1302496"/>
            <a:ext cx="11978638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Regional revenue review · East and West · destination source entered into a blank report.</a:t>
            </a:r>
          </a:p>
        </p:txBody>
      </p:sp>
      <p:sp>
        <p:nvSpPr>
          <p:cNvPr id="4" name="VIZ::Regional revenue total KPI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,&quot;x&quot;:14.0,&quot;y&quot;:263.9312,&quot;w&quot;:508.7013247598645,&quot;h&quot;:205.0}"/>
          <p:cNvSpPr/>
          <p:nvPr/>
        </p:nvSpPr>
        <p:spPr>
          <a:xfrm>
            <a:off x="106679" y="2011155"/>
            <a:ext cx="3876303" cy="15620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Regional revenue total</a:t>
            </a:r>
          </a:p>
          <a:p>
            <a:pPr>
              <a:defRPr b="1" sz="2400"/>
            </a:pPr>
            <a:r>
              <a:t>385 units</a:t>
            </a:r>
          </a:p>
        </p:txBody>
      </p:sp>
      <p:sp>
        <p:nvSpPr>
          <p:cNvPr id="5" name="VIZ::West lead over East KPI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,&quot;x&quot;:536.7013247598645,&quot;y&quot;:263.9312,&quot;w&quot;:508.7013247598645,&quot;h&quot;:205.0}"/>
          <p:cNvSpPr/>
          <p:nvPr/>
        </p:nvSpPr>
        <p:spPr>
          <a:xfrm>
            <a:off x="4089663" y="2011155"/>
            <a:ext cx="3876303" cy="15620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West lead over East</a:t>
            </a:r>
          </a:p>
          <a:p>
            <a:pPr>
              <a:defRPr b="1" sz="2400"/>
            </a:pPr>
            <a:r>
              <a:t>25 units</a:t>
            </a:r>
          </a:p>
        </p:txBody>
      </p:sp>
      <p:sp>
        <p:nvSpPr>
          <p:cNvPr id="6" name="VIZ::East to West revenue KPI" descr="VisualizerSemantic: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,&quot;x&quot;:1059.402649519729,&quot;y&quot;:263.9312,&quot;w&quot;:526.597350480271,&quot;h&quot;:216.0}"/>
          <p:cNvSpPr/>
          <p:nvPr/>
        </p:nvSpPr>
        <p:spPr>
          <a:xfrm>
            <a:off x="8072647" y="2011155"/>
            <a:ext cx="4012671" cy="164591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East to West revenue</a:t>
            </a:r>
          </a:p>
          <a:p>
            <a:pPr>
              <a:defRPr b="1" sz="2400"/>
            </a:pPr>
            <a:r>
              <a:t>180 → 205</a:t>
            </a:r>
          </a:p>
          <a:p>
            <a:pPr>
              <a:defRPr sz="900"/>
            </a:pPr>
            <a:r>
              <a:t>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&quot;:[[&quot;East&quot;,180],[&quot;West&quot;,205]],&quot;dataset_id&quot;:&quot;dataset-mufiakwm-s6c2y0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,&quot;observations&quot;:[{&quot;label&quot;:&quot;East&quot;,&quot;value&quot;:180},{&quot;label&quot;:&quot;West&quot;,&quot;value&quot;:205}],&quot;x&quot;:14.0,&quot;y&quot;:500.9312,&quot;w&quot;:779.0,&quot;h&quot;:378.04411764705884}"/>
          <p:cNvGraphicFramePr>
            <a:graphicFrameLocks noGrp="1"/>
          </p:cNvGraphicFramePr>
          <p:nvPr/>
        </p:nvGraphicFramePr>
        <p:xfrm>
          <a:off x="106679" y="3817095"/>
          <a:ext cx="5935979" cy="288069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East&quot;,180],[&quot;West&quot;,205]],&quot;dataset_id&quot;:&quot;dataset-mufiakwm-s6c2y0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,&quot;observations&quot;:[{&quot;label&quot;:&quot;East&quot;,&quot;value&quot;:180},{&quot;label&quot;:&quot;West&quot;,&quot;value&quot;:205}],&quot;x&quot;:807.0,&quot;y&quot;:500.9312,&quot;w&quot;:779.0,&quot;h&quot;:378.04411764705884}"/>
          <p:cNvGraphicFramePr>
            <a:graphicFrameLocks noGrp="1"/>
          </p:cNvGraphicFramePr>
          <p:nvPr/>
        </p:nvGraphicFramePr>
        <p:xfrm>
          <a:off x="6149339" y="3817095"/>
          <a:ext cx="5935979" cy="288069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Body Narrative" descr="VisualizerSemantic: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,&quot;x&quot;:14.0,&quot;y&quot;:892.9753176470588,&quot;w&quot;:1572.0,&quot;h&quot;:116.0}"/>
          <p:cNvSpPr/>
          <p:nvPr/>
        </p:nvSpPr>
        <p:spPr>
          <a:xfrm>
            <a:off x="106679" y="6804471"/>
            <a:ext cx="11978638" cy="88391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The extract totals 385 units. West is 25 units above East; confirm the pattern before changing regional targets.</a:t>
            </a:r>
          </a:p>
        </p:txBody>
      </p:sp>
      <p:sp>
        <p:nvSpPr>
          <p:cNvPr id="11" name="VIZ::Risk Callout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,&quot;x&quot;:14.0,&quot;y&quot;:1272.9753176470588,&quot;w&quot;:1572.0,&quot;h&quot;:101.52000000000001}"/>
          <p:cNvSpPr/>
          <p:nvPr/>
        </p:nvSpPr>
        <p:spPr>
          <a:xfrm>
            <a:off x="106679" y="9700071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Validate the West lead before shifting regional targets</a:t>
            </a:r>
            <a:br/>
            <a:r>
              <a:t>The destination contains two regions; confirm the pattern in the next operating window.</a:t>
            </a:r>
            <a:br/>
            <a:r>
              <a:t>Review</a:t>
            </a:r>
          </a:p>
        </p:txBody>
      </p:sp>
      <p:sp>
        <p:nvSpPr>
          <p:cNvPr id="12" name="VIZ::Key Takeaway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,&quot;x&quot;:14.0,&quot;y&quot;:1395.4953176470588,&quot;w&quot;:1572.0,&quot;h&quot;:100.80000000000001}"/>
          <p:cNvSpPr/>
          <p:nvPr/>
        </p:nvSpPr>
        <p:spPr>
          <a:xfrm>
            <a:off x="106679" y="10633673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validate the West lead in the next operating window before shifting regional targets.</a:t>
            </a:r>
          </a:p>
        </p:txBody>
      </p:sp>
      <p:graphicFrame>
        <p:nvGraphicFramePr>
          <p:cNvPr id="13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,&quot;x&quot;:14.0,&quot;y&quot;:1029.9753176470588,&quot;w&quot;:1572.0,&quot;h&quot;:222.0}"/>
          <p:cNvGraphicFramePr>
            <a:graphicFrameLocks noGrp="1"/>
          </p:cNvGraphicFramePr>
          <p:nvPr/>
        </p:nvGraphicFramePr>
        <p:xfrm>
          <a:off x="106679" y="7848411"/>
          <a:ext cx="11978638" cy="1691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563879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56387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56388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fiakwm-s6c2y0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4T12:26:39.574Z&quot;,&quot;kind&quot;:&quot;clipboard&quot;,&quot;label&quot;:&quot;TSV&quot;},&quot;warnings&quot;:[]}],&quot;groups&quot;:{},&quot;items&quot;:[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iakwm-s6c2y0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iakwm-s6c2y0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},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},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},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},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},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},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