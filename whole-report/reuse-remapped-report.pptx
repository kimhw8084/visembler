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038605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by area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by area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</c:v>
                </c:pt>
                <c:pt idx="1">
                  <c:v>205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comparison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comparison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</c:v>
                </c:pt>
                <c:pt idx="1">
                  <c:v>205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descr="VisualizerSemantic:{&quot;body&quot;:&quot;West revenue leads East by 25 units in the newly selected data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25 units in the newly selected data.&quot;,&quot;title&quot;:&quot;Executive Statement&quot;,&quot;type&quot;:&quot;text&quot;,&quot;weight&quot;:1,&quot;z&quot;:1,&quot;x&quot;:14.0,&quot;y&quot;:34.0,&quot;w&quot;:1572.0,&quot;h&quot;:122.93120000000002}"/>
          <p:cNvSpPr/>
          <p:nvPr/>
        </p:nvSpPr>
        <p:spPr>
          <a:xfrm>
            <a:off x="106680" y="259079"/>
            <a:ext cx="11978638" cy="93673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Executive Statement</a:t>
            </a:r>
          </a:p>
          <a:p>
            <a:pPr>
              <a:defRPr sz="1000"/>
            </a:pPr>
            <a:r>
              <a:t>West revenue leads East by 25 units in the newly selected data.</a:t>
            </a:r>
          </a:p>
        </p:txBody>
      </p:sp>
      <p:sp>
        <p:nvSpPr>
          <p:cNvPr id="3" name="VIZ::Quarterly context" descr="VisualizerSemantic:{&quot;body&quot;:&quot;Regional revenue review · East and West · destination data selected through guided remap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destination data selected through guided remap.&quot;,&quot;title&quot;:&quot;Quarterly context&quot;,&quot;type&quot;:&quot;text&quot;,&quot;weight&quot;:1,&quot;z&quot;:2,&quot;x&quot;:14.0,&quot;y&quot;:170.93120000000002,&quot;w&quot;:1572.0,&quot;h&quot;:72.0}"/>
          <p:cNvSpPr/>
          <p:nvPr/>
        </p:nvSpPr>
        <p:spPr>
          <a:xfrm>
            <a:off x="106680" y="1302495"/>
            <a:ext cx="11978638" cy="54863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Quarterly context</a:t>
            </a:r>
          </a:p>
          <a:p>
            <a:pPr>
              <a:defRPr sz="1000"/>
            </a:pPr>
            <a:r>
              <a:t>Regional revenue review · East and West · destination data selected through guided remap.</a:t>
            </a:r>
          </a:p>
        </p:txBody>
      </p:sp>
      <p:sp>
        <p:nvSpPr>
          <p:cNvPr id="4" name="VIZ::Regional revenue total KPI" descr="VisualizerSemantic:{&quot;composition_role&quot;:&quot;hero_metric&quot;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itle&quot;:&quot;Regional revenue total&quot;,&quot;type&quot;:&quot;metric&quot;,&quot;unit&quot;:&quot;units&quot;,&quot;value&quot;:385,&quot;weight&quot;:1,&quot;z&quot;:3,&quot;x&quot;:14.0,&quot;y&quot;:263.9312,&quot;w&quot;:529.1431086038299,&quot;h&quot;:179.73760000000001}"/>
          <p:cNvSpPr/>
          <p:nvPr/>
        </p:nvSpPr>
        <p:spPr>
          <a:xfrm>
            <a:off x="106680" y="2011155"/>
            <a:ext cx="4032069" cy="13696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Regional revenue total</a:t>
            </a:r>
          </a:p>
          <a:p>
            <a:pPr>
              <a:defRPr b="1" sz="2400"/>
            </a:pPr>
            <a:r>
              <a:t>385 units</a:t>
            </a:r>
          </a:p>
        </p:txBody>
      </p:sp>
      <p:sp>
        <p:nvSpPr>
          <p:cNvPr id="5" name="VIZ::West lead over East KPI" descr="VisualizerSemantic:{&quot;composition_role&quot;:&quot;hero_metric&quot;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itle&quot;:&quot;West lead over East&quot;,&quot;type&quot;:&quot;metric&quot;,&quot;unit&quot;:&quot;units&quot;,&quot;value&quot;:25,&quot;weight&quot;:1,&quot;z&quot;:4,&quot;x&quot;:557.1431086038299,&quot;y&quot;:263.9312,&quot;w&quot;:468.005814519707,&quot;h&quot;:180.0}"/>
          <p:cNvSpPr/>
          <p:nvPr/>
        </p:nvSpPr>
        <p:spPr>
          <a:xfrm>
            <a:off x="4245430" y="2011155"/>
            <a:ext cx="3566203" cy="137159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West lead over East</a:t>
            </a:r>
          </a:p>
          <a:p>
            <a:pPr>
              <a:defRPr b="1" sz="2400"/>
            </a:pPr>
            <a:r>
              <a:t>25 units</a:t>
            </a:r>
          </a:p>
        </p:txBody>
      </p:sp>
      <p:sp>
        <p:nvSpPr>
          <p:cNvPr id="6" name="VIZ::East to West revenue KPI" descr="VisualizerSemantic:{&quot;after&quot;:205,&quot;before&quot;:1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,&quot;x&quot;:1039.1489231235369,&quot;y&quot;:263.9312,&quot;w&quot;:546.8510768764631,&quot;h&quot;:198.24}"/>
          <p:cNvSpPr/>
          <p:nvPr/>
        </p:nvSpPr>
        <p:spPr>
          <a:xfrm>
            <a:off x="7918313" y="2011155"/>
            <a:ext cx="4167004" cy="151058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East to West revenue</a:t>
            </a:r>
          </a:p>
          <a:p>
            <a:pPr>
              <a:defRPr b="1" sz="2400"/>
            </a:pPr>
            <a:r>
              <a:t>180 → 205</a:t>
            </a:r>
          </a:p>
          <a:p>
            <a:pPr>
              <a:defRPr sz="900"/>
            </a:pPr>
            <a:r>
              <a:t>units</a:t>
            </a:r>
          </a:p>
        </p:txBody>
      </p:sp>
      <p:graphicFrame>
        <p:nvGraphicFramePr>
          <p:cNvPr id="7" name="Chart 6" descr="VisualizerSemantic:{&quot;brush&quot;:[0,4],&quot;composition_role&quot;:&quot;supporting_analysis&quot;,&quot;cross&quot;:null,&quot;dataset_id&quot;:&quot;dataset-mufi9wlt-rbe5yq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,&quot;data&quot;:[[&quot;East&quot;,180],[&quot;West&quot;,205]],&quot;rows&quot;:[{&quot;label&quot;:&quot;East&quot;,&quot;value&quot;:180},{&quot;label&quot;:&quot;West&quot;,&quot;value&quot;:205}],&quot;observations&quot;:[{&quot;label&quot;:&quot;East&quot;,&quot;value&quot;:180},{&quot;label&quot;:&quot;West&quot;,&quot;value&quot;:205}],&quot;x&quot;:14.0,&quot;y&quot;:483.1712,&quot;w&quot;:779.0,&quot;h&quot;:378.04411764705884}"/>
          <p:cNvGraphicFramePr>
            <a:graphicFrameLocks noGrp="1"/>
          </p:cNvGraphicFramePr>
          <p:nvPr/>
        </p:nvGraphicFramePr>
        <p:xfrm>
          <a:off x="106680" y="3681764"/>
          <a:ext cx="5935979" cy="288069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 descr="VisualizerSemantic:{&quot;brush&quot;:[0,4],&quot;composition_role&quot;:&quot;supporting_analysis&quot;,&quot;cross&quot;:null,&quot;dataset_id&quot;:&quot;dataset-mufi9wlt-rbe5yq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,&quot;data&quot;:[[&quot;East&quot;,180],[&quot;West&quot;,205]],&quot;rows&quot;:[{&quot;label&quot;:&quot;East&quot;,&quot;value&quot;:180},{&quot;label&quot;:&quot;West&quot;,&quot;value&quot;:205}],&quot;observations&quot;:[{&quot;label&quot;:&quot;East&quot;,&quot;value&quot;:180},{&quot;label&quot;:&quot;West&quot;,&quot;value&quot;:205}],&quot;x&quot;:807.0,&quot;y&quot;:483.1712,&quot;w&quot;:779.0,&quot;h&quot;:378.04411764705884}"/>
          <p:cNvGraphicFramePr>
            <a:graphicFrameLocks noGrp="1"/>
          </p:cNvGraphicFramePr>
          <p:nvPr/>
        </p:nvGraphicFramePr>
        <p:xfrm>
          <a:off x="6149339" y="3681764"/>
          <a:ext cx="5935979" cy="288069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VIZ::Risk Callout" descr="VisualizerSemantic: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,&quot;x&quot;:14.0,&quot;y&quot;:1125.2153176470588,&quot;w&quot;:1572.0,&quot;h&quot;:101.52000000000001}"/>
          <p:cNvSpPr/>
          <p:nvPr/>
        </p:nvSpPr>
        <p:spPr>
          <a:xfrm>
            <a:off x="106680" y="8574139"/>
            <a:ext cx="11978638" cy="77358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Risk Callout</a:t>
            </a:r>
          </a:p>
          <a:p>
            <a:pPr>
              <a:defRPr sz="1000"/>
            </a:pPr>
            <a:r>
              <a:t>Validate the West lead before shifting regional targets</a:t>
            </a:r>
            <a:br/>
            <a:r>
              <a:t>The destination contains two regions; confirm the pattern in the next operating window.</a:t>
            </a:r>
            <a:br/>
            <a:r>
              <a:t>Review</a:t>
            </a:r>
          </a:p>
        </p:txBody>
      </p:sp>
      <p:sp>
        <p:nvSpPr>
          <p:cNvPr id="11" name="VIZ::Key Takeaway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,&quot;x&quot;:14.0,&quot;y&quot;:1247.7353176470588,&quot;w&quot;:1572.0,&quot;h&quot;:100.80000000000001}"/>
          <p:cNvSpPr/>
          <p:nvPr/>
        </p:nvSpPr>
        <p:spPr>
          <a:xfrm>
            <a:off x="106680" y="9507742"/>
            <a:ext cx="11978638" cy="76809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Key Takeaway</a:t>
            </a:r>
          </a:p>
          <a:p>
            <a:pPr>
              <a:defRPr sz="1000"/>
            </a:pPr>
            <a:r>
              <a:t>Next step: validate the West lead in the next operating window before shifting regional targets.</a:t>
            </a:r>
          </a:p>
        </p:txBody>
      </p:sp>
      <p:graphicFrame>
        <p:nvGraphicFramePr>
          <p:cNvPr id="12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180,&quot;Comparison baseline&quot;,&quot;Destination extract&quot;],[&quot;West&quot;,205,&quot;Leads by 25&quot;,&quot;Destination extract&quot;]],&quot;section_id&quot;:&quot;evidence&quot;,&quot;section_title&quot;:&quot;Regional evidence&quot;,&quot;showTitle&quot;:true,&quot;title&quot;:&quot;Regional revenue evidence&quot;,&quot;type&quot;:&quot;table&quot;,&quot;weight&quot;:1,&quot;z&quot;:7,&quot;x&quot;:14.0,&quot;y&quot;:882.2153176470588,&quot;w&quot;:1572.0,&quot;h&quot;:222.0}"/>
          <p:cNvGraphicFramePr>
            <a:graphicFrameLocks noGrp="1"/>
          </p:cNvGraphicFramePr>
          <p:nvPr/>
        </p:nvGraphicFramePr>
        <p:xfrm>
          <a:off x="106680" y="6722479"/>
          <a:ext cx="11978638" cy="1691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1"/>
              </a:tblGrid>
              <a:tr h="563879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563879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  <a:tr h="56388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fi9wlt-rbe5yq&quot;,&quot;metadata&quot;:{&quot;header&quot;:{&quot;confidence&quot;:0.75,&quot;present&quot;:true,&quot;source_row&quot;:0}},&quot;name&quot;:&quot;Pasted data&quot;,&quot;revision&quot;:1,&quot;rows&quot;:[[&quot;East&quot;,180],[&quot;West&quot;,205]],&quot;source&quot;:{&quot;imported_at&quot;:&quot;2026-09-24T12:26:08.081Z&quot;,&quot;kind&quot;:&quot;clipboard&quot;,&quot;label&quot;:&quot;TSV&quot;},&quot;warnings&quot;:[]}],&quot;groups&quot;:{},&quot;items&quot;:[{&quot;body&quot;:&quot;West revenue leads East by 25 units in the newly selected data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25 units in the newly selected data.&quot;,&quot;title&quot;:&quot;Executive Statement&quot;,&quot;type&quot;:&quot;text&quot;,&quot;weight&quot;:1,&quot;z&quot;:1},{&quot;body&quot;:&quot;Regional revenue review · East and West · destination data selected through guided remap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destination data selected through guided remap.&quot;,&quot;title&quot;:&quot;Quarterly context&quot;,&quot;type&quot;:&quot;text&quot;,&quot;weight&quot;:1,&quot;z&quot;:2},{&quot;composition_role&quot;:&quot;hero_metric&quot;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itle&quot;:&quot;Regional revenue total&quot;,&quot;type&quot;:&quot;metric&quot;,&quot;unit&quot;:&quot;units&quot;,&quot;value&quot;:385,&quot;weight&quot;:1,&quot;z&quot;:3},{&quot;composition_role&quot;:&quot;hero_metric&quot;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itle&quot;:&quot;West lead over East&quot;,&quot;type&quot;:&quot;metric&quot;,&quot;unit&quot;:&quot;units&quot;,&quot;value&quot;:25,&quot;weight&quot;:1,&quot;z&quot;:4},{&quot;after&quot;:205,&quot;before&quot;:1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},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180,&quot;Comparison baseline&quot;,&quot;Destination extract&quot;],[&quot;West&quot;,205,&quot;Leads by 25&quot;,&quot;Destination extract&quot;]],&quot;section_id&quot;:&quot;evidence&quot;,&quot;section_title&quot;:&quot;Regional evidence&quot;,&quot;showTitle&quot;:true,&quot;title&quot;:&quot;Regional revenue evidence&quot;,&quot;type&quot;:&quot;table&quot;,&quot;weight&quot;:1,&quot;z&quot;:7},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},{&quot;brush&quot;:[0,4],&quot;composition_role&quot;:&quot;supporting_analysis&quot;,&quot;cross&quot;:null,&quot;dataset_id&quot;:&quot;dataset-mufi9wlt-rbe5yq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},{&quot;brush&quot;:[0,4],&quot;composition_role&quot;:&quot;supporting_analysis&quot;,&quot;cross&quot;:null,&quot;dataset_id&quot;:&quot;dataset-mufi9wlt-rbe5yq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