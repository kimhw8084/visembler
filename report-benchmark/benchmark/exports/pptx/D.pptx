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923696" cy="12191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>
                <a:latin typeface="Arial"/>
              </a:defRPr>
            </a:pPr>
            <a:r>
              <a:t>Critical measurement trend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Measurement</c:v>
                </c:pt>
              </c:strCache>
            </c:strRef>
          </c:tx>
          <c:spPr>
            <a:ln>
              <a:solidFill>
                <a:srgbClr val="1769D1"/>
              </a:solidFill>
            </a:ln>
          </c:spPr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94.1</c:v>
                </c:pt>
                <c:pt idx="1">
                  <c:v>94.6</c:v>
                </c:pt>
                <c:pt idx="2">
                  <c:v>95.0</c:v>
                </c:pt>
                <c:pt idx="3">
                  <c:v>94.8</c:v>
                </c:pt>
                <c:pt idx="4">
                  <c:v>95.2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95.25500000000001"/>
          <c:min val="94.04499999999999"/>
        </c:scaling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>
                <a:latin typeface="Arial"/>
              </a:defRPr>
            </a:pPr>
            <a:r>
              <a:t>Yield by shift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Yield</c:v>
                </c:pt>
              </c:strCache>
            </c:strRef>
          </c:tx>
          <c:spPr>
            <a:ln>
              <a:solidFill>
                <a:srgbClr val="1769D1"/>
              </a:solidFill>
            </a:ln>
          </c:spPr>
          <c:cat>
            <c:strRef>
              <c:f>Sheet1!$A$2:$A$19</c:f>
              <c:strCache>
                <c:ptCount val="18"/>
                <c:pt idx="0">
                  <c:v>Shift 01</c:v>
                </c:pt>
                <c:pt idx="1">
                  <c:v>Shift 02</c:v>
                </c:pt>
                <c:pt idx="2">
                  <c:v>Shift 03</c:v>
                </c:pt>
                <c:pt idx="3">
                  <c:v>Shift 04</c:v>
                </c:pt>
                <c:pt idx="4">
                  <c:v>Shift 05</c:v>
                </c:pt>
                <c:pt idx="5">
                  <c:v>Shift 06</c:v>
                </c:pt>
                <c:pt idx="6">
                  <c:v>Shift 07</c:v>
                </c:pt>
                <c:pt idx="7">
                  <c:v>Shift 08</c:v>
                </c:pt>
                <c:pt idx="8">
                  <c:v>Shift 09</c:v>
                </c:pt>
                <c:pt idx="9">
                  <c:v>Shift 10</c:v>
                </c:pt>
                <c:pt idx="10">
                  <c:v>Shift 11</c:v>
                </c:pt>
                <c:pt idx="11">
                  <c:v>Shift 12</c:v>
                </c:pt>
                <c:pt idx="12">
                  <c:v>Shift 13</c:v>
                </c:pt>
                <c:pt idx="13">
                  <c:v>Shift 14</c:v>
                </c:pt>
                <c:pt idx="14">
                  <c:v>Shift 15</c:v>
                </c:pt>
                <c:pt idx="15">
                  <c:v>Shift 16</c:v>
                </c:pt>
                <c:pt idx="16">
                  <c:v>Shift 17</c:v>
                </c:pt>
                <c:pt idx="17">
                  <c:v>Shift 18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94.1</c:v>
                </c:pt>
                <c:pt idx="1">
                  <c:v>94.153</c:v>
                </c:pt>
                <c:pt idx="2">
                  <c:v>94.206</c:v>
                </c:pt>
                <c:pt idx="3">
                  <c:v>94.259</c:v>
                </c:pt>
                <c:pt idx="4">
                  <c:v>94.312</c:v>
                </c:pt>
                <c:pt idx="5">
                  <c:v>94.365</c:v>
                </c:pt>
                <c:pt idx="6">
                  <c:v>94.418</c:v>
                </c:pt>
                <c:pt idx="7">
                  <c:v>94.471</c:v>
                </c:pt>
                <c:pt idx="8">
                  <c:v>94.524</c:v>
                </c:pt>
                <c:pt idx="9">
                  <c:v>94.576</c:v>
                </c:pt>
                <c:pt idx="10">
                  <c:v>94.629</c:v>
                </c:pt>
                <c:pt idx="11">
                  <c:v>94.682</c:v>
                </c:pt>
                <c:pt idx="12">
                  <c:v>94.735</c:v>
                </c:pt>
                <c:pt idx="13">
                  <c:v>94.788</c:v>
                </c:pt>
                <c:pt idx="14">
                  <c:v>94.841</c:v>
                </c:pt>
                <c:pt idx="15">
                  <c:v>94.894</c:v>
                </c:pt>
                <c:pt idx="16">
                  <c:v>94.947</c:v>
                </c:pt>
                <c:pt idx="17">
                  <c:v>95.0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one"/>
        <c:txPr>
          <a:bodyPr rot="-1200000"/>
          <a:lstStyle/>
          <a:p>
            <a:pPr>
              <a:defRPr sz="750"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tickLblSkip val="3"/>
        <c:noMultiLvlLbl val="0"/>
      </c:catAx>
      <c:valAx>
        <c:axId val="2140495176"/>
        <c:scaling>
          <c:max val="95.045"/>
          <c:min val="94.05499999999999"/>
        </c:scaling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>
              <a:latin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4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Executive Statement" title="Visembler report text roles: text heading, report headline" descr="VisualizerSemantic:{&quot;body&quot;:&quot;Shift B recovered yield after chamber maintenance. Keep the recipe locked through the next paired-lot check and hand off the evidence to Quality and Equipment Engineering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Operating summary&quot;,&quot;text&quot;:&quot;Shift B recovered yield after chamber maintenance. Keep the recipe locked through the next paired-lot check and hand off the evidence to Quality and Equipment Engineering.&quot;,&quot;title&quot;:&quot;Executive Statement&quot;,&quot;type&quot;:&quot;text&quot;,&quot;weight&quot;:1,&quot;z&quot;:1,&quot;x&quot;:14.0,&quot;y&quot;:40.0,&quot;w&quot;:1059.44,&quot;h&quot;:120.96000000000001}"/>
          <p:cNvSpPr/>
          <p:nvPr/>
        </p:nvSpPr>
        <p:spPr>
          <a:xfrm>
            <a:off x="78082" y="223092"/>
            <a:ext cx="5908825" cy="674631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950" b="1" i="0">
                <a:solidFill>
                  <a:srgbClr val="1C2B3E"/>
                </a:solidFill>
                <a:latin typeface="Arial"/>
              </a:rPr>
              <a:t>Executive Statement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300" b="1" i="0">
                <a:solidFill>
                  <a:srgbClr val="172B43"/>
                </a:solidFill>
                <a:latin typeface="Arial Narrow"/>
              </a:rPr>
              <a:t>Shift B recovered yield after chamber maintenance. Keep the recipe locked through the next paired-lot check and hand off the evidence to Quality and Equipment Engineering.</a:t>
            </a:r>
          </a:p>
        </p:txBody>
      </p:sp>
      <p:sp>
        <p:nvSpPr>
          <p:cNvPr id="3" name="VIZ::Report context" title="Visembler report text roles: text heading, context subhead" descr="VisualizerSemantic:{&quot;body&quot;:&quot;Line 4 · shifts A–C · chamber A controls · capacity release review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Operating summary&quot;,&quot;text&quot;:&quot;Line 4 · shifts A–C · chamber A controls · capacity release review.&quot;,&quot;title&quot;:&quot;Report context&quot;,&quot;type&quot;:&quot;text&quot;,&quot;weight&quot;:1,&quot;z&quot;:2,&quot;x&quot;:1087.44,&quot;y&quot;:64.48,&quot;w&quot;:498.56,&quot;h&quot;:72.0}"/>
          <p:cNvSpPr/>
          <p:nvPr/>
        </p:nvSpPr>
        <p:spPr>
          <a:xfrm>
            <a:off x="6064990" y="359624"/>
            <a:ext cx="2780623" cy="401566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950" b="1" i="0">
                <a:solidFill>
                  <a:srgbClr val="1C2B3E"/>
                </a:solidFill>
                <a:latin typeface="Arial"/>
              </a:rPr>
              <a:t>Report context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374A60"/>
                </a:solidFill>
                <a:latin typeface="Arial Narrow"/>
              </a:rPr>
              <a:t>Line 4 · shifts A–C · chamber A controls · capacity release review.</a:t>
            </a:r>
          </a:p>
        </p:txBody>
      </p:sp>
      <p:sp>
        <p:nvSpPr>
          <p:cNvPr id="4" name="VIZ::First pass yield KPI" title="Visembler report text roles: metric title, metric value" descr="VisualizerSemantic:{&quot;capability_overrides&quot;:{&quot;target&quot;:96},&quot;composition_role&quot;:&quot;hero_metric&quot;,&quot;delta&quot;:0.9,&quot;element&quot;:&quot;Hero KPI&quot;,&quot;engine&quot;:&quot;MetricEngine&quot;,&quot;groupId&quot;:null,&quot;id&quot;:&quot;c3&quot;,&quot;locked&quot;:false,&quot;message_role&quot;:&quot;Supporting Evidence&quot;,&quot;order&quot;:2,&quot;section_id&quot;:&quot;performance&quot;,&quot;section_title&quot;:&quot;Performance&quot;,&quot;showTitle&quot;:true,&quot;target&quot;:96,&quot;title&quot;:&quot;First pass yield&quot;,&quot;type&quot;:&quot;metric&quot;,&quot;unit&quot;:&quot;%&quot;,&quot;value&quot;:95,&quot;weight&quot;:1,&quot;z&quot;:3,&quot;x&quot;:14.0,&quot;y&quot;:1986.671811764706,&quot;w&quot;:872.4800000000001,&quot;h&quot;:185.0}"/>
          <p:cNvSpPr/>
          <p:nvPr/>
        </p:nvSpPr>
        <p:spPr>
          <a:xfrm>
            <a:off x="78082" y="11080283"/>
            <a:ext cx="4866091" cy="1031802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First pass yield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95%</a:t>
            </a:r>
          </a:p>
        </p:txBody>
      </p:sp>
      <p:sp>
        <p:nvSpPr>
          <p:cNvPr id="5" name="VIZ::Unplanned downtime KPI" title="Visembler report text roles: metric title, metric value" descr="VisualizerSemantic:{&quot;capability_overrides&quot;:{&quot;target&quot;:6},&quot;composition_role&quot;:&quot;hero_metric&quot;,&quot;delta&quot;:-1.7,&quot;element&quot;:&quot;Hero KPI&quot;,&quot;engine&quot;:&quot;MetricEngine&quot;,&quot;groupId&quot;:null,&quot;id&quot;:&quot;c4&quot;,&quot;locked&quot;:false,&quot;message_role&quot;:&quot;Supporting Evidence&quot;,&quot;order&quot;:3,&quot;section_id&quot;:&quot;performance&quot;,&quot;section_title&quot;:&quot;Performance&quot;,&quot;showTitle&quot;:true,&quot;target&quot;:6,&quot;title&quot;:&quot;Unplanned downtime&quot;,&quot;type&quot;:&quot;metric&quot;,&quot;unit&quot;:&quot;h&quot;,&quot;value&quot;:8.3,&quot;weight&quot;:1,&quot;z&quot;:4,&quot;x&quot;:900.4800000000001,&quot;y&quot;:1986.671811764706,&quot;w&quot;:685.52,&quot;h&quot;:185.0}"/>
          <p:cNvSpPr/>
          <p:nvPr/>
        </p:nvSpPr>
        <p:spPr>
          <a:xfrm>
            <a:off x="5022256" y="11080283"/>
            <a:ext cx="3823357" cy="1031802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Unplanned downtime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8.3 h</a:t>
            </a:r>
          </a:p>
        </p:txBody>
      </p:sp>
      <p:graphicFrame>
        <p:nvGraphicFramePr>
          <p:cNvPr id="14" name="VIZ::Yield by shift" descr="VisualizerSemantic:{&quot;chart_studio&quot;:{&quot;adapter&quot;:{&quot;authority&quot;:&quot;Visembler canonical chart renderer&quot;,&quot;name&quot;:&quot;Visembler SVG Chart Adapter&quot;,&quot;offline&quot;:true,&quot;renderer&quot;:&quot;svg&quot;,&quot;version&quot;:2},&quot;analysis_error&quot;:null,&quot;analysis_kind&quot;:null,&quot;analysis_semantics&quot;:null,&quot;annotations&quot;:[],&quot;authoritative_analysis&quot;:null,&quot;axes&quot;:{&quot;secondaryY&quot;:{&quot;auto&quot;:true,&quot;enabled&quot;:false,&quot;format&quot;:&quot;auto&quot;,&quot;max&quot;:null,&quot;min&quot;:null,&quot;precision&quot;:null,&quot;prefix&quot;:&quot;&quot;,&quot;series&quot;:[],&quot;suffix&quot;:&quot;&quot;,&quot;tickCount&quot;:5,&quot;title&quot;:&quot;&quot;,&quot;unit&quot;:&quot;&quot;},&quot;x&quot;:{&quot;auto&quot;:true,&quot;format&quot;:&quot;auto&quot;,&quot;grid&quot;:true,&quot;labelInterval&quot;:3,&quot;labelPresentationIntent&quot;:{&quot;fields&quot;:[&quot;interval&quot;,&quot;rotation&quot;],&quot;mode&quot;:&quot;authored&quot;},&quot;max&quot;:null,&quot;min&quot;:null,&quot;position&quot;:&quot;bottom&quot;,&quot;precision&quot;:null,&quot;rotation&quot;:20,&quot;scale&quot;:&quot;auto&quot;,&quot;show&quot;:true,&quot;tickCount&quot;:6,&quot;title&quot;:&quot;&quot;,&quot;zeroBaseline&quot;:false},&quot;y&quot;:{&quot;auto&quot;:true,&quot;format&quot;:&quot;auto&quot;,&quot;grid&quot;:true,&quot;labelInterval&quot;:null,&quot;max&quot;:null,&quot;min&quot;:null,&quot;position&quot;:&quot;left&quot;,&quot;precision&quot;:null,&quot;prefix&quot;:&quot;&quot;,&quot;rotation&quot;:0,&quot;scale&quot;:&quot;linear&quot;,&quot;show&quot;:true,&quot;suffix&quot;:&quot;&quot;,&quot;tickCount&quot;:5,&quot;title&quot;:&quot;&quot;,&quot;unit&quot;:&quot;&quot;,&quot;zeroBaseline&quot;:false}},&quot;chart_type&quot;:&quot;Line Chart&quot;,&quot;dataset&quot;:{&quot;fields&quot;:[{&quot;id&quot;:&quot;shift_1&quot;,&quot;name&quot;:&quot;Shift&quot;,&quot;nullable&quot;:false,&quot;profile&quot;:{&quot;distinct&quot;:18,&quot;missing&quot;:0,&quot;type_override&quot;:true},&quot;semantic_tags&quot;:[],&quot;type&quot;:&quot;categorical&quot;},{&quot;id&quot;:&quot;yield_2&quot;,&quot;name&quot;:&quot;Yield&quot;,&quot;nullable&quot;:false,&quot;profile&quot;:{&quot;distinct&quot;:18,&quot;missing&quot;:0},&quot;semantic_tags&quot;:[&quot;value&quot;],&quot;type&quot;:&quot;number&quot;,&quot;unit&quot;:&quot;&quot;}],&quot;id&quot;:&quot;dataset-muplaba0-8kufil&quot;,&quot;metadata&quot;:{&quot;header&quot;:{&quot;confidence&quot;:1,&quot;present&quot;:true,&quot;source_row&quot;:0}},&quot;name&quot;:&quot;Pasted data&quot;,&quot;revision&quot;:7,&quot;rows&quot;:[[&quot;Shift 01&quot;,94.1],[&quot;Shift 02&quot;,94.153],[&quot;Shift 03&quot;,94.206],[&quot;Shift 04&quot;,94.259],[&quot;Shift 05&quot;,94.312],[&quot;Shift 06&quot;,94.365],[&quot;Shift 07&quot;,94.418],[&quot;Shift 08&quot;,94.471],[&quot;Shift 09&quot;,94.524],[&quot;Shift 10&quot;,94.576],[&quot;Shift 11&quot;,94.629],[&quot;Shift 12&quot;,94.682],[&quot;Shift 13&quot;,94.735],[&quot;Shift 14&quot;,94.788],[&quot;Shift 15&quot;,94.841],[&quot;Shift 16&quot;,94.894],[&quot;Shift 17&quot;,94.947],[&quot;Shift 18&quot;,95]],&quot;source&quot;:{&quot;imported_at&quot;:&quot;2026-10-01T14:04:11.475Z&quot;,&quot;kind&quot;:&quot;clipboard&quot;,&quot;label&quot;:&quot;TSV&quot;},&quot;warnings&quot;:[]},&quot;dataset_id&quot;:&quot;dataset-muplaba0-8kufil&quot;,&quot;engineering&quot;:{&quot;L&quot;:3,&quot;h&quot;:5,&quot;k&quot;:0.5,&quot;lambda&quot;:0.2,&quot;lsl&quot;:null,&quot;sigma&quot;:null,&quot;target&quot;:null,&quot;usl&quot;:null},&quot;fab&quot;:{&quot;aggregation&quot;:&quot;mean&quot;},&quot;interaction&quot;:{&quot;brush&quot;:false,&quot;crossFilter&quot;:false,&quot;crosshair&quot;:false,&quot;legendFilter&quot;:true,&quot;pan&quot;:true,&quot;rangeSelector&quot;:false,&quot;resetZoom&quot;:true,&quot;tooltip&quot;:true,&quot;transientSelection&quot;:[],&quot;zoom&quot;:true},&quot;legend&quot;:{&quot;interactive&quot;:true,&quot;order&quot;:&quot;input&quot;,&quot;orientation&quot;:&quot;horizontal&quot;,&quot;position&quot;:&quot;bottom&quot;,&quot;scroll&quot;:true,&quot;show&quot;:true},&quot;mapping&quot;:{&quot;category&quot;:&quot;shift_1&quot;,&quot;value&quot;:&quot;yield_2&quot;,&quot;x&quot;:&quot;shift_1&quot;,&quot;y&quot;:&quot;yield_2&quot;},&quot;recipe&quot;:null,&quot;recommendations&quot;:[{&quot;confidence&quot;:0.93,&quot;mapping&quot;:{&quot;category&quot;:&quot;shift_1&quot;,&quot;value&quot;:&quot;yield_2&quot;,&quot;x&quot;:&quot;shift_1&quot;,&quot;y&quot;:&quot;yield_2&quot;},&quot;reason&quot;:&quot;A horizontal field and numeric measure are available.&quot;,&quot;type&quot;:&quot;Line Chart&quot;},{&quot;confidence&quot;:0.9,&quot;mapping&quot;:{&quot;category&quot;:&quot;shift_1&quot;,&quot;value&quot;:&quot;yield_2&quot;,&quot;x&quot;:&quot;shift_1&quot;,&quot;y&quot;:&quot;yield_2&quot;},&quot;reason&quot;:&quot;A shared axis can compare multiple runs when a series field is available.&quot;,&quot;type&quot;:&quot;Multi-Line&quot;},{&quot;confidence&quot;:0.9,&quot;mapping&quot;:{&quot;category&quot;:&quot;shift_1&quot;,&quot;value&quot;:&quot;yield_2&quot;,&quot;x&quot;:&quot;shift_1&quot;,&quot;y&quot;:&quot;yield_2&quot;},&quot;reason&quot;:&quot;A category and measured value are available.&quot;,&quot;type&quot;:&quot;Vertical Bar&quot;},{&quot;confidence&quot;:0.87,&quot;mapping&quot;:{&quot;category&quot;:&quot;shift_1&quot;,&quot;value&quot;:&quot;yield_2&quot;,&quot;x&quot;:&quot;shift_1&quot;,&quot;y&quot;:&quot;yield_2&quot;},&quot;reason&quot;:&quot;The same trend mapping can show accumulated movement.&quot;,&quot;type&quot;:&quot;Area Chart&quot;},{&quot;confidence&quot;:0.82,&quot;mapping&quot;:{&quot;category&quot;:&quot;shift_1&quot;,&quot;value&quot;:&quot;yield_2&quot;,&quot;x&quot;:&quot;shift_1&quot;,&quot;y&quot;:&quot;yield_2&quot;},&quot;reason&quot;:&quot;A horizontal ranking keeps category labels readable.&quot;,&quot;type&quot;:&quot;Horizontal Bar&quot;},{&quot;confidence&quot;:0.8,&quot;mapping&quot;:{&quot;category&quot;:&quot;shift_1&quot;,&quot;value&quot;:&quot;yield_2&quot;,&quot;x&quot;:&quot;shift_1&quot;,&quot;y&quot;:&quot;yield_2&quot;},&quot;reason&quot;:&quot;Categorical contribution can be ranked with cumulative share.&quot;,&quot;type&quot;:&quot;Pareto&quot;}],&quot;reference_bands&quot;:[],&quot;reference_lines&quot;:[],&quot;schema&quot;:&quot;visembler.chart.studio&quot;,&quot;series&quot;:[{&quot;axis&quot;:&quot;primary&quot;,&quot;color&quot;:&quot;#1769d1&quot;,&quot;field&quot;:&quot;yield_2&quot;,&quot;id&quot;:&quot;series-1&quot;,&quot;label&quot;:&quot;Yield&quot;,&quot;legend&quot;:true,&quot;lineDash&quot;:null,&quot;lineWidth&quot;:null,&quot;markers&quot;:true,&quot;smoothing&quot;:false,&quot;type&quot;:&quot;line&quot;,&quot;visible&quot;:true}],&quot;statistical_result&quot;:null,&quot;transforms&quot;:{&quot;steps&quot;:[]},&quot;version&quot;:1,&quot;visual&quot;:{&quot;areaOpacity&quot;:0.25,&quot;barMode&quot;:&quot;grouped&quot;,&quot;barWidth&quot;:0.62,&quot;bins&quot;:null,&quot;dataLabels&quot;:false,&quot;gap&quot;:0.2,&quot;labelPosition&quot;:&quot;top&quot;,&quot;lineDash&quot;:&quot;solid&quot;,&quot;lineWidth&quot;:2.5,&quot;markers&quot;:true,&quot;missingPolicy&quot;:&quot;gap&quot;,&quot;palette&quot;:&quot;report&quot;,&quot;smoothing&quot;:false,&quot;theme&quot;:&quot;system&quot;},&quot;wafer&quot;:{&quot;clamp&quot;:true,&quot;colorMode&quot;:&quot;continuous&quot;,&quot;differenceScaleMaximum&quot;:null,&quot;differenceScaleMode&quot;:&quot;automatic&quot;,&quot;filters&quot;:{&quot;bin&quot;:&quot;&quot;,&quot;chamber&quot;:&quot;&quot;,&quot;lot&quot;:&quot;&quot;,&quot;route&quot;:&quot;&quot;,&quot;tool&quot;:&quot;&quot;,&quot;wafer&quot;:&quot;&quot;},&quot;identityRoles&quot;:[&quot;lot_id&quot;,&quot;wafer_id&quot;,&quot;tool&quot;,&quot;chamber&quot;,&quot;recipe&quot;,&quot;process&quot;,&quot;route&quot;,&quot;product&quot;],&quot;max&quot;:null,&quot;min&quot;:null,&quot;missingColor&quot;:&quot;#c7d0dc&quot;,&quot;notch&quot;:&quot;top&quot;,&quot;selected&quot;:[],&quot;specHigh&quot;:null,&quot;specLow&quot;:null,&quot;tooltipRoles&quot;:[&quot;die_x&quot;,&quot;die_y&quot;,&quot;value&quot;,&quot;lot_id&quot;,&quot;wafer_id&quot;,&quot;tool&quot;,&quot;chamber&quot;]},&quot;why&quot;:&quot;A horizontal field and numeric measure are available.&quot;},&quot;composition_role&quot;:&quot;primary_analysis&quot;,&quot;data&quot;:[[&quot;Shift 01&quot;,94.1],[&quot;Shift 02&quot;,94.153],[&quot;Shift 03&quot;,94.206],[&quot;Shift 04&quot;,94.259],[&quot;Shift 05&quot;,94.312],[&quot;Shift 06&quot;,94.365],[&quot;Shift 07&quot;,94.418],[&quot;Shift 08&quot;,94.471],[&quot;Shift 09&quot;,94.524],[&quot;Shift 10&quot;,94.576],[&quot;Shift 11&quot;,94.629],[&quot;Shift 12&quot;,94.682],[&quot;Shift 13&quot;,94.735],[&quot;Shift 14&quot;,94.788],[&quot;Shift 15&quot;,94.841],[&quot;Shift 16&quot;,94.894],[&quot;Shift 17&quot;,94.947],[&quot;Shift 18&quot;,95]],&quot;dataset_id&quot;:&quot;dataset-muplaba0-8kufil&quot;,&quot;element&quot;:&quot;Line Chart&quot;,&quot;engine&quot;:&quot;CoreChartEngine&quot;,&quot;groupId&quot;:null,&quot;id&quot;:&quot;c5&quot;,&quot;locked&quot;:false,&quot;mapping&quot;:{&quot;category&quot;:&quot;shift_1&quot;,&quot;value&quot;:&quot;yield_2&quot;,&quot;x&quot;:&quot;shift_1&quot;,&quot;y&quot;:&quot;yield_2&quot;},&quot;message_role&quot;:&quot;Primary Evidence&quot;,&quot;order&quot;:4,&quot;rows&quot;:[{&quot;label&quot;:&quot;Shift 01&quot;,&quot;value&quot;:94.1},{&quot;label&quot;:&quot;Shift 02&quot;,&quot;value&quot;:94.153},{&quot;label&quot;:&quot;Shift 03&quot;,&quot;value&quot;:94.206},{&quot;label&quot;:&quot;Shift 04&quot;,&quot;value&quot;:94.259},{&quot;label&quot;:&quot;Shift 05&quot;,&quot;value&quot;:94.312},{&quot;label&quot;:&quot;Shift 06&quot;,&quot;value&quot;:94.365},{&quot;label&quot;:&quot;Shift 07&quot;,&quot;value&quot;:94.418},{&quot;label&quot;:&quot;Shift 08&quot;,&quot;value&quot;:94.471},{&quot;label&quot;:&quot;Shift 09&quot;,&quot;value&quot;:94.524},{&quot;label&quot;:&quot;Shift 10&quot;,&quot;value&quot;:94.576},{&quot;label&quot;:&quot;Shift 11&quot;,&quot;value&quot;:94.629},{&quot;label&quot;:&quot;Shift 12&quot;,&quot;value&quot;:94.682},{&quot;label&quot;:&quot;Shift 13&quot;,&quot;value&quot;:94.735},{&quot;label&quot;:&quot;Shift 14&quot;,&quot;value&quot;:94.788},{&quot;label&quot;:&quot;Shift 15&quot;,&quot;value&quot;:94.841},{&quot;label&quot;:&quot;Shift 16&quot;,&quot;value&quot;:94.894},{&quot;label&quot;:&quot;Shift 17&quot;,&quot;value&quot;:94.947},{&quot;label&quot;:&quot;Shift 18&quot;,&quot;value&quot;:95}],&quot;section_id&quot;:&quot;analysis&quot;,&quot;section_title&quot;:&quot;Analysis&quot;,&quot;showTitle&quot;:true,&quot;statistical_result&quot;:null,&quot;title&quot;:&quot;Yield by shift&quot;,&quot;transform_recipe&quot;:{&quot;steps&quot;:[]},&quot;type&quot;:&quot;chart&quot;,&quot;weight&quot;:1,&quot;z&quot;:5,&quot;observations&quot;:[{&quot;label&quot;:&quot;Shift 01&quot;,&quot;value&quot;:94.1},{&quot;label&quot;:&quot;Shift 02&quot;,&quot;value&quot;:94.153},{&quot;label&quot;:&quot;Shift 03&quot;,&quot;value&quot;:94.206},{&quot;label&quot;:&quot;Shift 04&quot;,&quot;value&quot;:94.259},{&quot;label&quot;:&quot;Shift 05&quot;,&quot;value&quot;:94.312},{&quot;label&quot;:&quot;Shift 06&quot;,&quot;value&quot;:94.365},{&quot;label&quot;:&quot;Shift 07&quot;,&quot;value&quot;:94.418},{&quot;label&quot;:&quot;Shift 08&quot;,&quot;value&quot;:94.471},{&quot;label&quot;:&quot;Shift 09&quot;,&quot;value&quot;:94.524},{&quot;label&quot;:&quot;Shift 10&quot;,&quot;value&quot;:94.576},{&quot;label&quot;:&quot;Shift 11&quot;,&quot;value&quot;:94.629},{&quot;label&quot;:&quot;Shift 12&quot;,&quot;value&quot;:94.682},{&quot;label&quot;:&quot;Shift 13&quot;,&quot;value&quot;:94.735},{&quot;label&quot;:&quot;Shift 14&quot;,&quot;value&quot;:94.788},{&quot;label&quot;:&quot;Shift 15&quot;,&quot;value&quot;:94.841},{&quot;label&quot;:&quot;Shift 16&quot;,&quot;value&quot;:94.894},{&quot;label&quot;:&quot;Shift 17&quot;,&quot;value&quot;:94.947},{&quot;label&quot;:&quot;Shift 18&quot;,&quot;value&quot;:95}],&quot;x&quot;:14.0,&quot;y&quot;:194.96,&quot;w&quot;:872.4800000000001,&quot;h&quot;:423.40941176470596}"/>
          <p:cNvGraphicFramePr>
            <a:graphicFrameLocks noGrp="1"/>
          </p:cNvGraphicFramePr>
          <p:nvPr/>
        </p:nvGraphicFramePr>
        <p:xfrm>
          <a:off x="78082" y="1087352"/>
          <a:ext cx="4866091" cy="2361485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25" name="VIZ::Critical measurement trend" descr="VisualizerSemantic:{&quot;composition_role&quot;:&quot;primary_analysis&quot;,&quot;dataset_id&quot;:&quot;dataset-mupladez-6146hs&quot;,&quot;element&quot;:&quot;SPC Control Chart&quot;,&quot;engine&quot;:&quot;EngineeringChartEngine&quot;,&quot;groupId&quot;:null,&quot;id&quot;:&quot;c6&quot;,&quot;locked&quot;:false,&quot;lower_limit&quot;:null,&quot;mapping&quot;:{&quot;specification_high&quot;:&quot;usl_4&quot;,&quot;specification_low&quot;:&quot;lsl_3&quot;,&quot;time&quot;:&quot;time_1&quot;,&quot;value&quot;:&quot;measurement_2&quot;,&quot;x&quot;:&quot;time_1&quot;,&quot;y&quot;:&quot;measurement_2&quot;},&quot;message_role&quot;:&quot;Primary Evidence&quot;,&quot;observations&quot;:[{&quot;label&quot;:&quot;1&quot;,&quot;value&quot;:94.1},{&quot;label&quot;:&quot;2&quot;,&quot;value&quot;:94.6},{&quot;label&quot;:&quot;3&quot;,&quot;value&quot;:95},{&quot;label&quot;:&quot;4&quot;,&quot;value&quot;:94.8},{&quot;label&quot;:&quot;5&quot;,&quot;value&quot;:95.2}],&quot;order&quot;:5,&quot;section_id&quot;:&quot;analysis&quot;,&quot;section_title&quot;:&quot;Analysis&quot;,&quot;title&quot;:&quot;Critical measurement trend&quot;,&quot;type&quot;:&quot;engineering&quot;,&quot;upper_limit&quot;:null,&quot;weight&quot;:1,&quot;z&quot;:6,&quot;data&quot;:[[&quot;1&quot;,94.1],[&quot;2&quot;,94.6],[&quot;3&quot;,95],[&quot;4&quot;,94.8],[&quot;5&quot;,95.2]],&quot;rows&quot;:[{&quot;label&quot;:&quot;1&quot;,&quot;value&quot;:94.1},{&quot;label&quot;:&quot;2&quot;,&quot;value&quot;:94.6},{&quot;label&quot;:&quot;3&quot;,&quot;value&quot;:95},{&quot;label&quot;:&quot;4&quot;,&quot;value&quot;:94.8},{&quot;label&quot;:&quot;5&quot;,&quot;value&quot;:95.2}],&quot;x&quot;:900.4800000000001,&quot;y&quot;:240.3252941176471,&quot;w&quot;:685.52,&quot;h&quot;:332.6788235294118}"/>
          <p:cNvGraphicFramePr>
            <a:graphicFrameLocks noGrp="1"/>
          </p:cNvGraphicFramePr>
          <p:nvPr/>
        </p:nvGraphicFramePr>
        <p:xfrm>
          <a:off x="5022256" y="1340368"/>
          <a:ext cx="3823357" cy="1855453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VIZ::Body Narrative" title="Visembler report text roles: text heading, narrative interpretation" descr="VisualizerSemantic:{&quot;body&quot;:&quot;Yield rises from 94.1% to 95.0% across eighteen observed shifts. SPC and specification limits answer different questions. Keep the recipe locked until the paired-lot check and the two open handoff items close.&quot;,&quot;composition_role&quot;:&quot;narrative_interpretation&quot;,&quot;element&quot;:&quot;Body Narrative&quot;,&quot;engine&quot;:&quot;TextEngine&quot;,&quot;groupId&quot;:null,&quot;id&quot;:&quot;c12&quot;,&quot;locked&quot;:false,&quot;message_role&quot;:&quot;Context&quot;,&quot;order&quot;:6,&quot;section_id&quot;:&quot;analysis&quot;,&quot;section_title&quot;:&quot;Shift interpretation&quot;,&quot;text&quot;:&quot;Yield rises from 94.1% to 95.0% across eighteen observed shifts. SPC and specification limits answer different questions. Keep the recipe locked until the paired-lot check and the two open handoff items close.&quot;,&quot;title&quot;:&quot;Body Narrative&quot;,&quot;type&quot;:&quot;text&quot;,&quot;weight&quot;:1,&quot;z&quot;:12,&quot;x&quot;:14.0,&quot;y&quot;:626.369411764706,&quot;w&quot;:1572.0,&quot;h&quot;:116.0}"/>
          <p:cNvSpPr/>
          <p:nvPr/>
        </p:nvSpPr>
        <p:spPr>
          <a:xfrm>
            <a:off x="78082" y="3493456"/>
            <a:ext cx="8767530" cy="646968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Body Narrative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50" b="0" i="0">
                <a:solidFill>
                  <a:srgbClr val="253649"/>
                </a:solidFill>
                <a:latin typeface="Arial"/>
              </a:rPr>
              <a:t>Yield rises from 94.1% to 95.0% across eighteen observed shifts. SPC and specification limits answer different questions. Keep the recipe locked until the paired-lot check and the two open handoff items close.</a:t>
            </a:r>
          </a:p>
        </p:txBody>
      </p:sp>
      <p:sp>
        <p:nvSpPr>
          <p:cNvPr id="9" name="VIZ::Process Flow"/>
          <p:cNvSpPr/>
          <p:nvPr/>
        </p:nvSpPr>
        <p:spPr>
          <a:xfrm>
            <a:off x="2171581" y="4330052"/>
            <a:ext cx="4580533" cy="948143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100" b="1">
                <a:solidFill>
                  <a:srgbClr val="1D1D1F"/>
                </a:solidFill>
                <a:latin typeface="Arial"/>
              </a:defRPr>
            </a:pPr>
          </a:p>
        </p:txBody>
      </p:sp>
      <p:sp>
        <p:nvSpPr>
          <p:cNvPr id="11" name="VIZ::Evidence Card" title="Visembler report text roles: text heading, narrative interpretation, evidence detail, action status" descr="VisualizerSemantic:{&quot;composition_role&quot;:&quot;detailed_evidence&quot;,&quot;detail&quot;:&quot;Sample: 30 parts · method: inline metrology · source: shift B inspection.&quot;,&quot;element&quot;:&quot;Evidence Card&quot;,&quot;engine&quot;:&quot;EvidenceCompositeEngine&quot;,&quot;groupId&quot;:null,&quot;id&quot;:&quot;c9&quot;,&quot;locked&quot;:false,&quot;message_role&quot;:&quot;Primary Evidence&quot;,&quot;order&quot;:9,&quot;section_id&quot;:&quot;evidence&quot;,&quot;section_title&quot;:&quot;Operating evidence&quot;,&quot;statement&quot;:&quot;Measurement system remains within the qualified reference range.&quot;,&quot;status&quot;:&quot;Verified&quot;,&quot;title&quot;:&quot;Evidence Card&quot;,&quot;type&quot;:&quot;evidence&quot;,&quot;weight&quot;:1,&quot;z&quot;:9,&quot;x&quot;:14.0,&quot;y&quot;:1314.8798117647061,&quot;w&quot;:1572.0,&quot;h&quot;:296.032}"/>
          <p:cNvSpPr/>
          <p:nvPr/>
        </p:nvSpPr>
        <p:spPr>
          <a:xfrm>
            <a:off x="78082" y="7333491"/>
            <a:ext cx="8767530" cy="1651062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Evidence Card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50" b="0" i="0">
                <a:solidFill>
                  <a:srgbClr val="253649"/>
                </a:solidFill>
                <a:latin typeface="Arial"/>
              </a:rPr>
              <a:t>Measurement system remains within the qualified reference range.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050" b="0" i="0">
                <a:solidFill>
                  <a:srgbClr val="37485C"/>
                </a:solidFill>
                <a:latin typeface="Arial"/>
              </a:rPr>
              <a:t>Sample: 30 parts · method: inline metrology · source: shift B inspection.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4F43"/>
                </a:solidFill>
                <a:latin typeface="Arial"/>
              </a:rPr>
              <a:t>Verified</a:t>
            </a:r>
          </a:p>
        </p:txBody>
      </p:sp>
      <p:sp>
        <p:nvSpPr>
          <p:cNvPr id="12" name="VIZ::Risk Callout" title="Visembler report text roles: text heading, risk decision, evidence detail, action status" descr="VisualizerSemantic:{&quot;composition_role&quot;:&quot;decision_risk&quot;,&quot;detail&quot;:&quot;Keep the recipe locked and attach the next-shift control evidence.&quot;,&quot;element&quot;:&quot;Risk Callout&quot;,&quot;engine&quot;:&quot;DecisionCompositeEngine&quot;,&quot;groupId&quot;:null,&quot;id&quot;:&quot;c10&quot;,&quot;locked&quot;:false,&quot;message_role&quot;:&quot;Risk&quot;,&quot;order&quot;:10,&quot;section_id&quot;:&quot;decision&quot;,&quot;section_title&quot;:&quot;Decision&quot;,&quot;statement&quot;:&quot;Hold added capacity until the paired-lot check closes&quot;,&quot;status&quot;:&quot;Review&quot;,&quot;title&quot;:&quot;Risk Callout&quot;,&quot;type&quot;:&quot;decision&quot;,&quot;weight&quot;:1,&quot;z&quot;:10,&quot;x&quot;:14.0,&quot;y&quot;:1644.911811764706,&quot;w&quot;:1572.0,&quot;h&quot;:105.28000000000002}"/>
          <p:cNvSpPr/>
          <p:nvPr/>
        </p:nvSpPr>
        <p:spPr>
          <a:xfrm>
            <a:off x="78082" y="9174182"/>
            <a:ext cx="8767530" cy="587179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Risk Callout</a:t>
            </a:r>
            <a:r>
              <a:rPr sz="1100" b="1" i="0">
                <a:solidFill>
                  <a:srgbClr val="682B31"/>
                </a:solidFill>
                <a:latin typeface="Arial"/>
              </a:rPr>
              <a:t> · Hold added capacity until the paired-lot check closes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050" b="0" i="0">
                <a:solidFill>
                  <a:srgbClr val="37485C"/>
                </a:solidFill>
                <a:latin typeface="Arial"/>
              </a:rPr>
              <a:t>Keep the recipe locked and attach the next-shift control evidence.</a:t>
            </a:r>
            <a:r>
              <a:rPr sz="1050" b="1" i="0">
                <a:solidFill>
                  <a:srgbClr val="2B4F43"/>
                </a:solidFill>
                <a:latin typeface="Arial"/>
              </a:rPr>
              <a:t> · Review</a:t>
            </a:r>
          </a:p>
        </p:txBody>
      </p:sp>
      <p:sp>
        <p:nvSpPr>
          <p:cNvPr id="13" name="VIZ::Project Card" title="Visembler report text roles: text heading, conclusion next step, evidence detail, action status" descr="VisualizerSemantic:{&quot;composition_role&quot;:&quot;action_status&quot;,&quot;detail&quot;:&quot;Owner: Equipment Engineering · due next shift · evidence: paired control lot.&quot;,&quot;element&quot;:&quot;Project Card&quot;,&quot;engine&quot;:&quot;ProjectCompositeEngine&quot;,&quot;groupId&quot;:null,&quot;id&quot;:&quot;c11&quot;,&quot;locked&quot;:false,&quot;message_role&quot;:&quot;Action&quot;,&quot;order&quot;:11,&quot;section_id&quot;:&quot;delivery&quot;,&quot;section_title&quot;:&quot;Next steps&quot;,&quot;statement&quot;:&quot;Complete chamber verification and update the runbook.&quot;,&quot;status&quot;:&quot;Active&quot;,&quot;title&quot;:&quot;Project Card&quot;,&quot;type&quot;:&quot;project&quot;,&quot;weight&quot;:1,&quot;z&quot;:11,&quot;x&quot;:14.0,&quot;y&quot;:1784.191811764706,&quot;w&quot;:1572.0,&quot;h&quot;:168.48000000000002}"/>
          <p:cNvSpPr/>
          <p:nvPr/>
        </p:nvSpPr>
        <p:spPr>
          <a:xfrm>
            <a:off x="78082" y="9950990"/>
            <a:ext cx="8767530" cy="939665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Project Card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250" b="1" i="0">
                <a:solidFill>
                  <a:srgbClr val="17324E"/>
                </a:solidFill>
                <a:latin typeface="Arial"/>
              </a:rPr>
              <a:t>Complete chamber verification and update the runbook.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050" b="0" i="0">
                <a:solidFill>
                  <a:srgbClr val="37485C"/>
                </a:solidFill>
                <a:latin typeface="Arial"/>
              </a:rPr>
              <a:t>Owner: Equipment Engineering · due next shift · evidence: paired control lot.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4F43"/>
                </a:solidFill>
                <a:latin typeface="Arial"/>
              </a:rPr>
              <a:t>Active</a:t>
            </a:r>
          </a:p>
        </p:txBody>
      </p:sp>
      <p:sp>
        <p:nvSpPr>
          <p:cNvPr id="15" name="VIZ::Yield by shift::chart-label-band"/>
          <p:cNvSpPr/>
          <p:nvPr/>
        </p:nvSpPr>
        <p:spPr>
          <a:xfrm>
            <a:off x="175403" y="2917502"/>
            <a:ext cx="4768769" cy="53133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VIZ::Yield by shift::category-label-axis"/>
          <p:cNvCxnSpPr/>
          <p:nvPr/>
        </p:nvCxnSpPr>
        <p:spPr>
          <a:xfrm>
            <a:off x="710673" y="2929310"/>
            <a:ext cx="4038856" cy="0"/>
          </a:xfrm>
          <a:prstGeom prst="line">
            <a:avLst/>
          </a:prstGeom>
          <a:ln w="8890">
            <a:solidFill>
              <a:srgbClr val="343E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VIZ::Yield by shift::category-label-0"/>
          <p:cNvSpPr txBox="1"/>
          <p:nvPr/>
        </p:nvSpPr>
        <p:spPr>
          <a:xfrm>
            <a:off x="733111" y="2952925"/>
            <a:ext cx="403885" cy="1524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defRPr sz="750">
                <a:latin typeface="Arial"/>
              </a:defRPr>
            </a:pPr>
            <a:r>
              <a:t>Shift 01</a:t>
            </a:r>
          </a:p>
        </p:txBody>
      </p:sp>
      <p:sp>
        <p:nvSpPr>
          <p:cNvPr id="18" name="VIZ::Yield by shift::category-label-3"/>
          <p:cNvSpPr txBox="1"/>
          <p:nvPr/>
        </p:nvSpPr>
        <p:spPr>
          <a:xfrm>
            <a:off x="1193091" y="2952925"/>
            <a:ext cx="605828" cy="1524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defRPr sz="750">
                <a:latin typeface="Arial"/>
              </a:defRPr>
            </a:pPr>
            <a:r>
              <a:t>Shift 04</a:t>
            </a:r>
          </a:p>
        </p:txBody>
      </p:sp>
      <p:sp>
        <p:nvSpPr>
          <p:cNvPr id="19" name="VIZ::Yield by shift::category-label-6"/>
          <p:cNvSpPr txBox="1"/>
          <p:nvPr/>
        </p:nvSpPr>
        <p:spPr>
          <a:xfrm>
            <a:off x="1866234" y="2952925"/>
            <a:ext cx="605828" cy="1524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defRPr sz="750">
                <a:latin typeface="Arial"/>
              </a:defRPr>
            </a:pPr>
            <a:r>
              <a:t>Shift 07</a:t>
            </a:r>
          </a:p>
        </p:txBody>
      </p:sp>
      <p:sp>
        <p:nvSpPr>
          <p:cNvPr id="20" name="VIZ::Yield by shift::category-label-9"/>
          <p:cNvSpPr txBox="1"/>
          <p:nvPr/>
        </p:nvSpPr>
        <p:spPr>
          <a:xfrm>
            <a:off x="2539377" y="2952925"/>
            <a:ext cx="605828" cy="1524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defRPr sz="750">
                <a:latin typeface="Arial"/>
              </a:defRPr>
            </a:pPr>
            <a:r>
              <a:t>Shift 10</a:t>
            </a:r>
          </a:p>
        </p:txBody>
      </p:sp>
      <p:sp>
        <p:nvSpPr>
          <p:cNvPr id="21" name="VIZ::Yield by shift::category-label-12"/>
          <p:cNvSpPr txBox="1"/>
          <p:nvPr/>
        </p:nvSpPr>
        <p:spPr>
          <a:xfrm>
            <a:off x="3212519" y="2952925"/>
            <a:ext cx="605828" cy="1524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defRPr sz="750">
                <a:latin typeface="Arial"/>
              </a:defRPr>
            </a:pPr>
            <a:r>
              <a:t>Shift 13</a:t>
            </a:r>
          </a:p>
        </p:txBody>
      </p:sp>
      <p:sp>
        <p:nvSpPr>
          <p:cNvPr id="22" name="VIZ::Yield by shift::category-label-15"/>
          <p:cNvSpPr txBox="1"/>
          <p:nvPr/>
        </p:nvSpPr>
        <p:spPr>
          <a:xfrm>
            <a:off x="3896881" y="2952925"/>
            <a:ext cx="807771" cy="1524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defRPr sz="750">
                <a:latin typeface="Arial"/>
              </a:defRPr>
            </a:pPr>
            <a:r>
              <a:t>Shift 16</a:t>
            </a:r>
          </a:p>
        </p:txBody>
      </p:sp>
      <p:sp>
        <p:nvSpPr>
          <p:cNvPr id="23" name="VIZ::Yield by shift::legend-marker-0"/>
          <p:cNvSpPr/>
          <p:nvPr/>
        </p:nvSpPr>
        <p:spPr>
          <a:xfrm>
            <a:off x="784734" y="3299012"/>
            <a:ext cx="63500" cy="63500"/>
          </a:xfrm>
          <a:prstGeom prst="rect">
            <a:avLst/>
          </a:prstGeom>
          <a:solidFill>
            <a:srgbClr val="1769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VIZ::Yield by shift::legend-label-0"/>
          <p:cNvSpPr txBox="1"/>
          <p:nvPr/>
        </p:nvSpPr>
        <p:spPr>
          <a:xfrm>
            <a:off x="886334" y="3212688"/>
            <a:ext cx="3774294" cy="2361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defRPr sz="1000">
                <a:latin typeface="Arial"/>
              </a:defRPr>
            </a:pPr>
            <a:r>
              <a:t>Yield</a:t>
            </a:r>
          </a:p>
        </p:txBody>
      </p:sp>
      <p:sp>
        <p:nvSpPr>
          <p:cNvPr id="26" name="VIZ::DiagramTitle::Process Flow::1" descr="VisualizerDiagramContinuation:{&quot;item_id&quot;:&quot;c8&quot;,&quot;page&quot;:1,&quot;page_count&quot;:1,&quot;direction&quot;:&quot;right&quot;}"/>
          <p:cNvSpPr txBox="1"/>
          <p:nvPr/>
        </p:nvSpPr>
        <p:spPr>
          <a:xfrm>
            <a:off x="2226445" y="4348340"/>
            <a:ext cx="4470805" cy="228600"/>
          </a:xfrm>
          <a:prstGeom prst="rect">
            <a:avLst/>
          </a:prstGeom>
          <a:noFill/>
        </p:spPr>
        <p:txBody>
          <a:bodyPr wrap="none" lIns="45720" rIns="45720" tIns="22860" bIns="22860" anchor="ctr">
            <a:spAutoFit/>
          </a:bodyPr>
          <a:lstStyle/>
          <a:p>
            <a:pPr algn="ctr">
              <a:lnSpc>
                <a:spcPts val="1288"/>
              </a:lnSpc>
              <a:spcAft>
                <a:spcPts val="0"/>
              </a:spcAft>
              <a:defRPr sz="1150" b="1">
                <a:solidFill>
                  <a:srgbClr val="233449"/>
                </a:solidFill>
                <a:latin typeface="Arial"/>
              </a:defRPr>
            </a:pPr>
            <a:r>
              <a:t>Process Flow</a:t>
            </a:r>
          </a:p>
        </p:txBody>
      </p:sp>
      <p:sp>
        <p:nvSpPr>
          <p:cNvPr id="27" name="VIZ::Process Flow::Detect::node-1" descr="VisualizerSemantic:{&quot;composition_role&quot;:&quot;causal_evidence&quot;,&quot;edges&quot;:[[&quot;Detect&quot;,&quot;Contain&quot;],[&quot;Contain&quot;,&quot;Verify&quot;],[&quot;Verify&quot;,&quot;Release&quot;]],&quot;element&quot;:&quot;Process Flow&quot;,&quot;engine&quot;:&quot;DiagramEngine&quot;,&quot;groupId&quot;:null,&quot;id&quot;:&quot;c8&quot;,&quot;locked&quot;:false,&quot;message_role&quot;:&quot;Primary Evidence&quot;,&quot;nodes&quot;:[&quot;Detect&quot;,&quot;Contain&quot;,&quot;Verify&quot;,&quot;Release&quot;],&quot;order&quot;:7,&quot;section_id&quot;:&quot;evidence&quot;,&quot;section_title&quot;:&quot;Response workflow&quot;,&quot;title&quot;:&quot;Process Flow&quot;,&quot;type&quot;:&quot;diagram&quot;,&quot;weight&quot;:1,&quot;z&quot;:8,&quot;x&quot;:389.36,&quot;y&quot;:776.369411764706,&quot;w&quot;:821.28,&quot;h&quot;:170.0}"/>
          <p:cNvSpPr/>
          <p:nvPr/>
        </p:nvSpPr>
        <p:spPr>
          <a:xfrm>
            <a:off x="2226445" y="4676107"/>
            <a:ext cx="966825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Detect</a:t>
            </a:r>
          </a:p>
        </p:txBody>
      </p:sp>
      <p:sp>
        <p:nvSpPr>
          <p:cNvPr id="28" name="VIZ::Process Flow::Contain::node-2" descr="VisualizerDiagramNode:{&quot;item_id&quot;:&quot;c8&quot;,&quot;node_index&quot;:1,&quot;label&quot;:&quot;Contain&quot;,&quot;page&quot;:1,&quot;page_count&quot;:1,&quot;direction&quot;:&quot;right&quot;}"/>
          <p:cNvSpPr/>
          <p:nvPr/>
        </p:nvSpPr>
        <p:spPr>
          <a:xfrm>
            <a:off x="3394438" y="4676107"/>
            <a:ext cx="966825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Contain</a:t>
            </a:r>
          </a:p>
        </p:txBody>
      </p:sp>
      <p:sp>
        <p:nvSpPr>
          <p:cNvPr id="29" name="VIZ::Process Flow::Verify::node-3" descr="VisualizerDiagramNode:{&quot;item_id&quot;:&quot;c8&quot;,&quot;node_index&quot;:2,&quot;label&quot;:&quot;Verify&quot;,&quot;page&quot;:1,&quot;page_count&quot;:1,&quot;direction&quot;:&quot;right&quot;}"/>
          <p:cNvSpPr/>
          <p:nvPr/>
        </p:nvSpPr>
        <p:spPr>
          <a:xfrm>
            <a:off x="4562431" y="4676107"/>
            <a:ext cx="966825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Verify</a:t>
            </a:r>
          </a:p>
        </p:txBody>
      </p:sp>
      <p:sp>
        <p:nvSpPr>
          <p:cNvPr id="30" name="VIZ::Process Flow::Release::node-4" descr="VisualizerDiagramNode:{&quot;item_id&quot;:&quot;c8&quot;,&quot;node_index&quot;:3,&quot;label&quot;:&quot;Release&quot;,&quot;page&quot;:1,&quot;page_count&quot;:1,&quot;direction&quot;:&quot;right&quot;}"/>
          <p:cNvSpPr/>
          <p:nvPr/>
        </p:nvSpPr>
        <p:spPr>
          <a:xfrm>
            <a:off x="5730424" y="4676107"/>
            <a:ext cx="966825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Release</a:t>
            </a:r>
          </a:p>
        </p:txBody>
      </p:sp>
      <p:cxnSp>
        <p:nvCxnSpPr>
          <p:cNvPr id="31" name="VIZ::DiagramEdge::Process Flow::1" descr="VisualizerSemanticEdge:{&quot;item_id&quot;:&quot;c8&quot;,&quot;edge_index&quot;:0,&quot;source&quot;:&quot;Detect&quot;,&quot;target&quot;:&quot;Contain&quot;,&quot;continuation&quot;:false}"/>
          <p:cNvCxnSpPr/>
          <p:nvPr/>
        </p:nvCxnSpPr>
        <p:spPr>
          <a:xfrm>
            <a:off x="3197842" y="4922995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VIZ::DiagramEdge::Process Flow::2" descr="VisualizerSemanticEdge:{&quot;item_id&quot;:&quot;c8&quot;,&quot;edge_index&quot;:1,&quot;source&quot;:&quot;Contain&quot;,&quot;target&quot;:&quot;Verify&quot;,&quot;continuation&quot;:false}"/>
          <p:cNvCxnSpPr/>
          <p:nvPr/>
        </p:nvCxnSpPr>
        <p:spPr>
          <a:xfrm>
            <a:off x="4365835" y="4922995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VIZ::DiagramEdge::Process Flow::3" descr="VisualizerSemanticEdge:{&quot;item_id&quot;:&quot;c8&quot;,&quot;edge_index&quot;:2,&quot;source&quot;:&quot;Verify&quot;,&quot;target&quot;:&quot;Release&quot;,&quot;continuation&quot;:false}"/>
          <p:cNvCxnSpPr/>
          <p:nvPr/>
        </p:nvCxnSpPr>
        <p:spPr>
          <a:xfrm>
            <a:off x="5533828" y="4922995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4" name="VIZ::Clean Table" descr="VisualizerSemantic:{&quot;composition_role&quot;:&quot;detailed_evidence&quot;,&quot;customTable&quot;:{&quot;headers&quot;:[&quot;Tool&quot;,&quot;Chamber&quot;,&quot;Measure&quot;,&quot;Owner&quot;,&quot;Status&quot;],&quot;rows&quot;:[[&quot;ETCH-08&quot;,&quot;A&quot;,&quot;Pressure&quot;,&quot;Equipment Eng.&quot;,&quot;Open&quot;],[&quot;ETCH-07&quot;,&quot;C&quot;,&quot;Flow&quot;,&quot;Process Eng.&quot;,&quot;Stable&quot;],[&quot;MET-02&quot;,&quot;B&quot;,&quot;Yield&quot;,&quot;Quality&quot;,&quot;Verified&quot;]]},&quot;element&quot;:&quot;Clean Table&quot;,&quot;engine&quot;:&quot;TableEngine&quot;,&quot;groupId&quot;:null,&quot;id&quot;:&quot;c7&quot;,&quot;locked&quot;:false,&quot;message_role&quot;:&quot;Primary Evidence&quot;,&quot;order&quot;:8,&quot;rows&quot;:[[&quot;ETCH-08&quot;,&quot;A&quot;,&quot;Pressure&quot;,&quot;Equipment Eng.&quot;,&quot;Open&quot;],[&quot;ETCH-07&quot;,&quot;C&quot;,&quot;Flow&quot;,&quot;Process Eng.&quot;,&quot;Stable&quot;],[&quot;MET-02&quot;,&quot;B&quot;,&quot;Yield&quot;,&quot;Quality&quot;,&quot;Verified&quot;]],&quot;section_id&quot;:&quot;evidence&quot;,&quot;section_title&quot;:&quot;Operating evidence&quot;,&quot;title&quot;:&quot;Clean Table&quot;,&quot;type&quot;:&quot;table&quot;,&quot;weight&quot;:1,&quot;z&quot;:7,&quot;x&quot;:14.0,&quot;y&quot;:954.369411764706,&quot;w&quot;:1572.0,&quot;h&quot;:348.5104}"/>
          <p:cNvGraphicFramePr>
            <a:graphicFrameLocks noGrp="1"/>
          </p:cNvGraphicFramePr>
          <p:nvPr/>
        </p:nvGraphicFramePr>
        <p:xfrm>
          <a:off x="78082" y="5322813"/>
          <a:ext cx="8767530" cy="19437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3506"/>
                <a:gridCol w="1753506"/>
                <a:gridCol w="1753506"/>
                <a:gridCol w="1753506"/>
                <a:gridCol w="1753506"/>
              </a:tblGrid>
              <a:tr h="485937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Tool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Chamber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Measure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Status</a:t>
                      </a:r>
                    </a:p>
                  </a:txBody>
                  <a:tcPr/>
                </a:tc>
              </a:tr>
              <a:tr h="485937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ETCH-08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Pressure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Equipment Eng.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Open</a:t>
                      </a:r>
                    </a:p>
                  </a:txBody>
                  <a:tcPr/>
                </a:tc>
              </a:tr>
              <a:tr h="485937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ETCH-07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Flow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Process Eng.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Stable</a:t>
                      </a:r>
                    </a:p>
                  </a:txBody>
                  <a:tcPr/>
                </a:tc>
              </a:tr>
              <a:tr h="485939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MET-02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Yield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Quality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Verified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5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shift_1&quot;,&quot;name&quot;:&quot;Shift&quot;,&quot;nullable&quot;:false,&quot;profile&quot;:{&quot;distinct&quot;:18,&quot;missing&quot;:0,&quot;type_override&quot;:true},&quot;semantic_tags&quot;:[],&quot;type&quot;:&quot;categorical&quot;},{&quot;id&quot;:&quot;yield_2&quot;,&quot;name&quot;:&quot;Yield&quot;,&quot;nullable&quot;:false,&quot;profile&quot;:{&quot;distinct&quot;:18,&quot;missing&quot;:0},&quot;semantic_tags&quot;:[&quot;value&quot;],&quot;type&quot;:&quot;number&quot;,&quot;unit&quot;:&quot;&quot;}],&quot;id&quot;:&quot;dataset-muplaba0-8kufil&quot;,&quot;metadata&quot;:{&quot;header&quot;:{&quot;confidence&quot;:1,&quot;present&quot;:true,&quot;source_row&quot;:0}},&quot;name&quot;:&quot;Pasted data&quot;,&quot;revision&quot;:7,&quot;rows&quot;:[[&quot;Shift 01&quot;,94.1],[&quot;Shift 02&quot;,94.153],[&quot;Shift 03&quot;,94.206],[&quot;Shift 04&quot;,94.259],[&quot;Shift 05&quot;,94.312],[&quot;Shift 06&quot;,94.365],[&quot;Shift 07&quot;,94.418],[&quot;Shift 08&quot;,94.471],[&quot;Shift 09&quot;,94.524],[&quot;Shift 10&quot;,94.576],[&quot;Shift 11&quot;,94.629],[&quot;Shift 12&quot;,94.682],[&quot;Shift 13&quot;,94.735],[&quot;Shift 14&quot;,94.788],[&quot;Shift 15&quot;,94.841],[&quot;Shift 16&quot;,94.894],[&quot;Shift 17&quot;,94.947],[&quot;Shift 18&quot;,95]],&quot;source&quot;:{&quot;imported_at&quot;:&quot;2026-10-01T14:04:11.475Z&quot;,&quot;kind&quot;:&quot;clipboard&quot;,&quot;label&quot;:&quot;TSV&quot;},&quot;warnings&quot;:[]},{&quot;fields&quot;:[{&quot;id&quot;:&quot;time_1&quot;,&quot;name&quot;:&quot;Time&quot;,&quot;nullable&quot;:false,&quot;profile&quot;:{&quot;distinct&quot;:5,&quot;missing&quot;:0},&quot;semantic_tags&quot;:[&quot;time&quot;],&quot;type&quot;:&quot;integer&quot;,&quot;unit&quot;:&quot;&quot;},{&quot;id&quot;:&quot;measurement_2&quot;,&quot;name&quot;:&quot;Measurement&quot;,&quot;nullable&quot;:false,&quot;profile&quot;:{&quot;distinct&quot;:5,&quot;missing&quot;:0},&quot;semantic_tags&quot;:[&quot;value&quot;],&quot;type&quot;:&quot;number&quot;,&quot;unit&quot;:&quot;&quot;},{&quot;id&quot;:&quot;lsl_3&quot;,&quot;name&quot;:&quot;LSL&quot;,&quot;nullable&quot;:false,&quot;profile&quot;:{&quot;distinct&quot;:1,&quot;missing&quot;:0},&quot;semantic_tags&quot;:[&quot;specification_low&quot;],&quot;type&quot;:&quot;integer&quot;,&quot;unit&quot;:&quot;&quot;},{&quot;id&quot;:&quot;usl_4&quot;,&quot;name&quot;:&quot;USL&quot;,&quot;nullable&quot;:false,&quot;profile&quot;:{&quot;distinct&quot;:1,&quot;missing&quot;:0},&quot;semantic_tags&quot;:[&quot;specification_high&quot;],&quot;type&quot;:&quot;integer&quot;,&quot;unit&quot;:&quot;&quot;}],&quot;id&quot;:&quot;dataset-mupladez-6146hs&quot;,&quot;metadata&quot;:{&quot;header&quot;:{&quot;confidence&quot;:1,&quot;present&quot;:true,&quot;source_row&quot;:0}},&quot;name&quot;:&quot;Pasted data&quot;,&quot;revision&quot;:1,&quot;rows&quot;:[[1,94.1,92,97],[2,94.6,92,97],[3,95,92,97],[4,94.8,92,97],[5,95.2,92,97]],&quot;source&quot;:{&quot;imported_at&quot;:&quot;2026-10-01T13:48:10.475Z&quot;,&quot;kind&quot;:&quot;clipboard&quot;,&quot;label&quot;:&quot;TSV&quot;},&quot;warnings&quot;:[{&quot;code&quot;:&quot;invalid_date&quot;,&quot;field&quot;:&quot;time_1&quot;,&quot;message&quot;:&quot;Time contains an invalid date; the original text was retained.&quot;,&quot;row&quot;:2},{&quot;code&quot;:&quot;invalid_date&quot;,&quot;field&quot;:&quot;time_1&quot;,&quot;message&quot;:&quot;Time contains an invalid date; the original text was retained.&quot;,&quot;row&quot;:3},{&quot;code&quot;:&quot;invalid_date&quot;,&quot;field&quot;:&quot;time_1&quot;,&quot;message&quot;:&quot;Time contains an invalid date; the original text was retained.&quot;,&quot;row&quot;:4},{&quot;code&quot;:&quot;invalid_date&quot;,&quot;field&quot;:&quot;time_1&quot;,&quot;message&quot;:&quot;Time contains an invalid date; the original text was retained.&quot;,&quot;row&quot;:5},{&quot;code&quot;:&quot;invalid_date&quot;,&quot;field&quot;:&quot;time_1&quot;,&quot;message&quot;:&quot;Time contains an invalid date; the original text was retained.&quot;,&quot;row&quot;:6}]}],&quot;groups&quot;:{},&quot;items&quot;:[{&quot;body&quot;:&quot;Shift B recovered yield after chamber maintenance. Keep the recipe locked through the next paired-lot check and hand off the evidence to Quality and Equipment Engineering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Operating summary&quot;,&quot;text&quot;:&quot;Shift B recovered yield after chamber maintenance. Keep the recipe locked through the next paired-lot check and hand off the evidence to Quality and Equipment Engineering.&quot;,&quot;title&quot;:&quot;Executive Statement&quot;,&quot;type&quot;:&quot;text&quot;,&quot;weight&quot;:1,&quot;z&quot;:1},{&quot;body&quot;:&quot;Line 4 · shifts A–C · chamber A controls · capacity release review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Operating summary&quot;,&quot;text&quot;:&quot;Line 4 · shifts A–C · chamber A controls · capacity release review.&quot;,&quot;title&quot;:&quot;Report context&quot;,&quot;type&quot;:&quot;text&quot;,&quot;weight&quot;:1,&quot;z&quot;:2},{&quot;capability_overrides&quot;:{&quot;target&quot;:96},&quot;composition_role&quot;:&quot;hero_metric&quot;,&quot;delta&quot;:0.9,&quot;element&quot;:&quot;Hero KPI&quot;,&quot;engine&quot;:&quot;MetricEngine&quot;,&quot;groupId&quot;:null,&quot;id&quot;:&quot;c3&quot;,&quot;locked&quot;:false,&quot;message_role&quot;:&quot;Supporting Evidence&quot;,&quot;order&quot;:2,&quot;section_id&quot;:&quot;performance&quot;,&quot;section_title&quot;:&quot;Performance&quot;,&quot;showTitle&quot;:true,&quot;target&quot;:96,&quot;title&quot;:&quot;First pass yield&quot;,&quot;type&quot;:&quot;metric&quot;,&quot;unit&quot;:&quot;%&quot;,&quot;value&quot;:95,&quot;weight&quot;:1,&quot;z&quot;:3},{&quot;capability_overrides&quot;:{&quot;target&quot;:6},&quot;composition_role&quot;:&quot;hero_metric&quot;,&quot;delta&quot;:-1.7,&quot;element&quot;:&quot;Hero KPI&quot;,&quot;engine&quot;:&quot;MetricEngine&quot;,&quot;groupId&quot;:null,&quot;id&quot;:&quot;c4&quot;,&quot;locked&quot;:false,&quot;message_role&quot;:&quot;Supporting Evidence&quot;,&quot;order&quot;:3,&quot;section_id&quot;:&quot;performance&quot;,&quot;section_title&quot;:&quot;Performance&quot;,&quot;showTitle&quot;:true,&quot;target&quot;:6,&quot;title&quot;:&quot;Unplanned downtime&quot;,&quot;type&quot;:&quot;metric&quot;,&quot;unit&quot;:&quot;h&quot;,&quot;value&quot;:8.3,&quot;weight&quot;:1,&quot;z&quot;:4},{&quot;chart_studio&quot;:{&quot;adapter&quot;:{&quot;authority&quot;:&quot;Visembler canonical chart renderer&quot;,&quot;name&quot;:&quot;Visembler SVG Chart Adapter&quot;,&quot;offline&quot;:true,&quot;renderer&quot;:&quot;svg&quot;,&quot;version&quot;:2},&quot;analysis_error&quot;:null,&quot;analysis_kind&quot;:null,&quot;analysis_semantics&quot;:null,&quot;annotations&quot;:[],&quot;authoritative_analysis&quot;:null,&quot;axes&quot;:{&quot;secondaryY&quot;:{&quot;auto&quot;:true,&quot;enabled&quot;:false,&quot;format&quot;:&quot;auto&quot;,&quot;max&quot;:null,&quot;min&quot;:null,&quot;precision&quot;:null,&quot;prefix&quot;:&quot;&quot;,&quot;series&quot;:[],&quot;suffix&quot;:&quot;&quot;,&quot;tickCount&quot;:5,&quot;title&quot;:&quot;&quot;,&quot;unit&quot;:&quot;&quot;},&quot;x&quot;:{&quot;auto&quot;:true,&quot;format&quot;:&quot;auto&quot;,&quot;grid&quot;:true,&quot;labelInterval&quot;:3,&quot;labelPresentationIntent&quot;:{&quot;fields&quot;:[&quot;interval&quot;,&quot;rotation&quot;],&quot;mode&quot;:&quot;authored&quot;},&quot;max&quot;:null,&quot;min&quot;:null,&quot;position&quot;:&quot;bottom&quot;,&quot;precision&quot;:null,&quot;rotation&quot;:20,&quot;scale&quot;:&quot;auto&quot;,&quot;show&quot;:true,&quot;tickCount&quot;:6,&quot;title&quot;:&quot;&quot;,&quot;zeroBaseline&quot;:false},&quot;y&quot;:{&quot;auto&quot;:true,&quot;format&quot;:&quot;auto&quot;,&quot;grid&quot;:true,&quot;labelInterval&quot;:null,&quot;max&quot;:null,&quot;min&quot;:null,&quot;position&quot;:&quot;left&quot;,&quot;precision&quot;:null,&quot;prefix&quot;:&quot;&quot;,&quot;rotation&quot;:0,&quot;scale&quot;:&quot;linear&quot;,&quot;show&quot;:true,&quot;suffix&quot;:&quot;&quot;,&quot;tickCount&quot;:5,&quot;title&quot;:&quot;&quot;,&quot;unit&quot;:&quot;&quot;,&quot;zeroBaseline&quot;:false}},&quot;chart_type&quot;:&quot;Line Chart&quot;,&quot;dataset&quot;:{&quot;fields&quot;:[{&quot;id&quot;:&quot;shift_1&quot;,&quot;name&quot;:&quot;Shift&quot;,&quot;nullable&quot;:false,&quot;profile&quot;:{&quot;distinct&quot;:18,&quot;missing&quot;:0,&quot;type_override&quot;:true},&quot;semantic_tags&quot;:[],&quot;type&quot;:&quot;categorical&quot;},{&quot;id&quot;:&quot;yield_2&quot;,&quot;name&quot;:&quot;Yield&quot;,&quot;nullable&quot;:false,&quot;profile&quot;:{&quot;distinct&quot;:18,&quot;missing&quot;:0},&quot;semantic_tags&quot;:[&quot;value&quot;],&quot;type&quot;:&quot;number&quot;,&quot;unit&quot;:&quot;&quot;}],&quot;id&quot;:&quot;dataset-muplaba0-8kufil&quot;,&quot;metadata&quot;:{&quot;header&quot;:{&quot;confidence&quot;:1,&quot;present&quot;:true,&quot;source_row&quot;:0}},&quot;name&quot;:&quot;Pasted data&quot;,&quot;revision&quot;:7,&quot;rows&quot;:[[&quot;Shift 01&quot;,94.1],[&quot;Shift 02&quot;,94.153],[&quot;Shift 03&quot;,94.206],[&quot;Shift 04&quot;,94.259],[&quot;Shift 05&quot;,94.312],[&quot;Shift 06&quot;,94.365],[&quot;Shift 07&quot;,94.418],[&quot;Shift 08&quot;,94.471],[&quot;Shift 09&quot;,94.524],[&quot;Shift 10&quot;,94.576],[&quot;Shift 11&quot;,94.629],[&quot;Shift 12&quot;,94.682],[&quot;Shift 13&quot;,94.735],[&quot;Shift 14&quot;,94.788],[&quot;Shift 15&quot;,94.841],[&quot;Shift 16&quot;,94.894],[&quot;Shift 17&quot;,94.947],[&quot;Shift 18&quot;,95]],&quot;source&quot;:{&quot;imported_at&quot;:&quot;2026-10-01T14:04:11.475Z&quot;,&quot;kind&quot;:&quot;clipboard&quot;,&quot;label&quot;:&quot;TSV&quot;},&quot;warnings&quot;:[]},&quot;dataset_id&quot;:&quot;dataset-muplaba0-8kufil&quot;,&quot;engineering&quot;:{&quot;L&quot;:3,&quot;h&quot;:5,&quot;k&quot;:0.5,&quot;lambda&quot;:0.2,&quot;lsl&quot;:null,&quot;sigma&quot;:null,&quot;target&quot;:null,&quot;usl&quot;:null},&quot;fab&quot;:{&quot;aggregation&quot;:&quot;mean&quot;},&quot;interaction&quot;:{&quot;brush&quot;:false,&quot;crossFilter&quot;:false,&quot;crosshair&quot;:false,&quot;legendFilter&quot;:true,&quot;pan&quot;:true,&quot;rangeSelector&quot;:false,&quot;resetZoom&quot;:true,&quot;tooltip&quot;:true,&quot;transientSelection&quot;:[],&quot;zoom&quot;:true},&quot;legend&quot;:{&quot;interactive&quot;:true,&quot;order&quot;:&quot;input&quot;,&quot;orientation&quot;:&quot;horizontal&quot;,&quot;position&quot;:&quot;bottom&quot;,&quot;scroll&quot;:true,&quot;show&quot;:true},&quot;mapping&quot;:{&quot;category&quot;:&quot;shift_1&quot;,&quot;value&quot;:&quot;yield_2&quot;,&quot;x&quot;:&quot;shift_1&quot;,&quot;y&quot;:&quot;yield_2&quot;},&quot;recipe&quot;:null,&quot;recommendations&quot;:[{&quot;confidence&quot;:0.93,&quot;mapping&quot;:{&quot;category&quot;:&quot;shift_1&quot;,&quot;value&quot;:&quot;yield_2&quot;,&quot;x&quot;:&quot;shift_1&quot;,&quot;y&quot;:&quot;yield_2&quot;},&quot;reason&quot;:&quot;A horizontal field and numeric measure are available.&quot;,&quot;type&quot;:&quot;Line Chart&quot;},{&quot;confidence&quot;:0.9,&quot;mapping&quot;:{&quot;category&quot;:&quot;shift_1&quot;,&quot;value&quot;:&quot;yield_2&quot;,&quot;x&quot;:&quot;shift_1&quot;,&quot;y&quot;:&quot;yield_2&quot;},&quot;reason&quot;:&quot;A shared axis can compare multiple runs when a series field is available.&quot;,&quot;type&quot;:&quot;Multi-Line&quot;},{&quot;confidence&quot;:0.9,&quot;mapping&quot;:{&quot;category&quot;:&quot;shift_1&quot;,&quot;value&quot;:&quot;yield_2&quot;,&quot;x&quot;:&quot;shift_1&quot;,&quot;y&quot;:&quot;yield_2&quot;},&quot;reason&quot;:&quot;A category and measured value are available.&quot;,&quot;type&quot;:&quot;Vertical Bar&quot;},{&quot;confidence&quot;:0.87,&quot;mapping&quot;:{&quot;category&quot;:&quot;shift_1&quot;,&quot;value&quot;:&quot;yield_2&quot;,&quot;x&quot;:&quot;shift_1&quot;,&quot;y&quot;:&quot;yield_2&quot;},&quot;reason&quot;:&quot;The same trend mapping can show accumulated movement.&quot;,&quot;type&quot;:&quot;Area Chart&quot;},{&quot;confidence&quot;:0.82,&quot;mapping&quot;:{&quot;category&quot;:&quot;shift_1&quot;,&quot;value&quot;:&quot;yield_2&quot;,&quot;x&quot;:&quot;shift_1&quot;,&quot;y&quot;:&quot;yield_2&quot;},&quot;reason&quot;:&quot;A horizontal ranking keeps category labels readable.&quot;,&quot;type&quot;:&quot;Horizontal Bar&quot;},{&quot;confidence&quot;:0.8,&quot;mapping&quot;:{&quot;category&quot;:&quot;shift_1&quot;,&quot;value&quot;:&quot;yield_2&quot;,&quot;x&quot;:&quot;shift_1&quot;,&quot;y&quot;:&quot;yield_2&quot;},&quot;reason&quot;:&quot;Categorical contribution can be ranked with cumulative share.&quot;,&quot;type&quot;:&quot;Pareto&quot;}],&quot;reference_bands&quot;:[],&quot;reference_lines&quot;:[],&quot;schema&quot;:&quot;visembler.chart.studio&quot;,&quot;series&quot;:[{&quot;axis&quot;:&quot;primary&quot;,&quot;color&quot;:&quot;#1769d1&quot;,&quot;field&quot;:&quot;yield_2&quot;,&quot;id&quot;:&quot;series-1&quot;,&quot;label&quot;:&quot;Yield&quot;,&quot;legend&quot;:true,&quot;lineDash&quot;:null,&quot;lineWidth&quot;:null,&quot;markers&quot;:true,&quot;smoothing&quot;:false,&quot;type&quot;:&quot;line&quot;,&quot;visible&quot;:true}],&quot;statistical_result&quot;:null,&quot;transforms&quot;:{&quot;steps&quot;:[]},&quot;version&quot;:1,&quot;visual&quot;:{&quot;areaOpacity&quot;:0.25,&quot;barMode&quot;:&quot;grouped&quot;,&quot;barWidth&quot;:0.62,&quot;bins&quot;:null,&quot;dataLabels&quot;:false,&quot;gap&quot;:0.2,&quot;labelPosition&quot;:&quot;top&quot;,&quot;lineDash&quot;:&quot;solid&quot;,&quot;lineWidth&quot;:2.5,&quot;markers&quot;:true,&quot;missingPolicy&quot;:&quot;gap&quot;,&quot;palette&quot;:&quot;report&quot;,&quot;smoothing&quot;:false,&quot;theme&quot;:&quot;system&quot;},&quot;wafer&quot;:{&quot;clamp&quot;:true,&quot;colorMode&quot;:&quot;continuous&quot;,&quot;differenceScaleMaximum&quot;:null,&quot;differenceScaleMode&quot;:&quot;automatic&quot;,&quot;filters&quot;:{&quot;bin&quot;:&quot;&quot;,&quot;chamber&quot;:&quot;&quot;,&quot;lot&quot;:&quot;&quot;,&quot;route&quot;:&quot;&quot;,&quot;tool&quot;:&quot;&quot;,&quot;wafer&quot;:&quot;&quot;},&quot;identityRoles&quot;:[&quot;lot_id&quot;,&quot;wafer_id&quot;,&quot;tool&quot;,&quot;chamber&quot;,&quot;recipe&quot;,&quot;process&quot;,&quot;route&quot;,&quot;product&quot;],&quot;max&quot;:null,&quot;min&quot;:null,&quot;missingColor&quot;:&quot;#c7d0dc&quot;,&quot;notch&quot;:&quot;top&quot;,&quot;selected&quot;:[],&quot;specHigh&quot;:null,&quot;specLow&quot;:null,&quot;tooltipRoles&quot;:[&quot;die_x&quot;,&quot;die_y&quot;,&quot;value&quot;,&quot;lot_id&quot;,&quot;wafer_id&quot;,&quot;tool&quot;,&quot;chamber&quot;]},&quot;why&quot;:&quot;A horizontal field and numeric measure are available.&quot;},&quot;composition_role&quot;:&quot;primary_analysis&quot;,&quot;data&quot;:[[&quot;Shift 01&quot;,94.1],[&quot;Shift 02&quot;,94.153],[&quot;Shift 03&quot;,94.206],[&quot;Shift 04&quot;,94.259],[&quot;Shift 05&quot;,94.312],[&quot;Shift 06&quot;,94.365],[&quot;Shift 07&quot;,94.418],[&quot;Shift 08&quot;,94.471],[&quot;Shift 09&quot;,94.524],[&quot;Shift 10&quot;,94.576],[&quot;Shift 11&quot;,94.629],[&quot;Shift 12&quot;,94.682],[&quot;Shift 13&quot;,94.735],[&quot;Shift 14&quot;,94.788],[&quot;Shift 15&quot;,94.841],[&quot;Shift 16&quot;,94.894],[&quot;Shift 17&quot;,94.947],[&quot;Shift 18&quot;,95]],&quot;dataset_id&quot;:&quot;dataset-muplaba0-8kufil&quot;,&quot;element&quot;:&quot;Line Chart&quot;,&quot;engine&quot;:&quot;CoreChartEngine&quot;,&quot;groupId&quot;:null,&quot;id&quot;:&quot;c5&quot;,&quot;locked&quot;:false,&quot;mapping&quot;:{&quot;category&quot;:&quot;shift_1&quot;,&quot;value&quot;:&quot;yield_2&quot;,&quot;x&quot;:&quot;shift_1&quot;,&quot;y&quot;:&quot;yield_2&quot;},&quot;message_role&quot;:&quot;Primary Evidence&quot;,&quot;order&quot;:4,&quot;rows&quot;:[{&quot;label&quot;:&quot;Shift 01&quot;,&quot;value&quot;:94.1},{&quot;label&quot;:&quot;Shift 02&quot;,&quot;value&quot;:94.153},{&quot;label&quot;:&quot;Shift 03&quot;,&quot;value&quot;:94.206},{&quot;label&quot;:&quot;Shift 04&quot;,&quot;value&quot;:94.259},{&quot;label&quot;:&quot;Shift 05&quot;,&quot;value&quot;:94.312},{&quot;label&quot;:&quot;Shift 06&quot;,&quot;value&quot;:94.365},{&quot;label&quot;:&quot;Shift 07&quot;,&quot;value&quot;:94.418},{&quot;label&quot;:&quot;Shift 08&quot;,&quot;value&quot;:94.471},{&quot;label&quot;:&quot;Shift 09&quot;,&quot;value&quot;:94.524},{&quot;label&quot;:&quot;Shift 10&quot;,&quot;value&quot;:94.576},{&quot;label&quot;:&quot;Shift 11&quot;,&quot;value&quot;:94.629},{&quot;label&quot;:&quot;Shift 12&quot;,&quot;value&quot;:94.682},{&quot;label&quot;:&quot;Shift 13&quot;,&quot;value&quot;:94.735},{&quot;label&quot;:&quot;Shift 14&quot;,&quot;value&quot;:94.788},{&quot;label&quot;:&quot;Shift 15&quot;,&quot;value&quot;:94.841},{&quot;label&quot;:&quot;Shift 16&quot;,&quot;value&quot;:94.894},{&quot;label&quot;:&quot;Shift 17&quot;,&quot;value&quot;:94.947},{&quot;label&quot;:&quot;Shift 18&quot;,&quot;value&quot;:95}],&quot;section_id&quot;:&quot;analysis&quot;,&quot;section_title&quot;:&quot;Analysis&quot;,&quot;showTitle&quot;:true,&quot;statistical_result&quot;:null,&quot;title&quot;:&quot;Yield by shift&quot;,&quot;transform_recipe&quot;:{&quot;steps&quot;:[]},&quot;type&quot;:&quot;chart&quot;,&quot;weight&quot;:1,&quot;z&quot;:5},{&quot;composition_role&quot;:&quot;primary_analysis&quot;,&quot;dataset_id&quot;:&quot;dataset-mupladez-6146hs&quot;,&quot;element&quot;:&quot;SPC Control Chart&quot;,&quot;engine&quot;:&quot;EngineeringChartEngine&quot;,&quot;groupId&quot;:null,&quot;id&quot;:&quot;c6&quot;,&quot;locked&quot;:false,&quot;lower_limit&quot;:null,&quot;mapping&quot;:{&quot;specification_high&quot;:&quot;usl_4&quot;,&quot;specification_low&quot;:&quot;lsl_3&quot;,&quot;time&quot;:&quot;time_1&quot;,&quot;value&quot;:&quot;measurement_2&quot;,&quot;x&quot;:&quot;time_1&quot;,&quot;y&quot;:&quot;measurement_2&quot;},&quot;message_role&quot;:&quot;Primary Evidence&quot;,&quot;observations&quot;:[],&quot;order&quot;:5,&quot;section_id&quot;:&quot;analysis&quot;,&quot;section_title&quot;:&quot;Analysis&quot;,&quot;title&quot;:&quot;Critical measurement trend&quot;,&quot;type&quot;:&quot;engineering&quot;,&quot;upper_limit&quot;:null,&quot;weight&quot;:1,&quot;z&quot;:6},{&quot;composition_role&quot;:&quot;detailed_evidence&quot;,&quot;customTable&quot;:{&quot;headers&quot;:[&quot;Tool&quot;,&quot;Chamber&quot;,&quot;Measure&quot;,&quot;Owner&quot;,&quot;Status&quot;],&quot;rows&quot;:[[&quot;ETCH-08&quot;,&quot;A&quot;,&quot;Pressure&quot;,&quot;Equipment Eng.&quot;,&quot;Open&quot;],[&quot;ETCH-07&quot;,&quot;C&quot;,&quot;Flow&quot;,&quot;Process Eng.&quot;,&quot;Stable&quot;],[&quot;MET-02&quot;,&quot;B&quot;,&quot;Yield&quot;,&quot;Quality&quot;,&quot;Verified&quot;]]},&quot;element&quot;:&quot;Clean Table&quot;,&quot;engine&quot;:&quot;TableEngine&quot;,&quot;groupId&quot;:null,&quot;id&quot;:&quot;c7&quot;,&quot;locked&quot;:false,&quot;message_role&quot;:&quot;Primary Evidence&quot;,&quot;order&quot;:8,&quot;rows&quot;:[[&quot;ETCH-08&quot;,&quot;A&quot;,&quot;Pressure&quot;,&quot;Equipment Eng.&quot;,&quot;Open&quot;],[&quot;ETCH-07&quot;,&quot;C&quot;,&quot;Flow&quot;,&quot;Process Eng.&quot;,&quot;Stable&quot;],[&quot;MET-02&quot;,&quot;B&quot;,&quot;Yield&quot;,&quot;Quality&quot;,&quot;Verified&quot;]],&quot;section_id&quot;:&quot;evidence&quot;,&quot;section_title&quot;:&quot;Operating evidence&quot;,&quot;title&quot;:&quot;Clean Table&quot;,&quot;type&quot;:&quot;table&quot;,&quot;weight&quot;:1,&quot;z&quot;:7},{&quot;composition_role&quot;:&quot;causal_evidence&quot;,&quot;edges&quot;:[[&quot;Detect&quot;,&quot;Contain&quot;],[&quot;Contain&quot;,&quot;Verify&quot;],[&quot;Verify&quot;,&quot;Release&quot;]],&quot;element&quot;:&quot;Process Flow&quot;,&quot;engine&quot;:&quot;DiagramEngine&quot;,&quot;groupId&quot;:null,&quot;id&quot;:&quot;c8&quot;,&quot;locked&quot;:false,&quot;message_role&quot;:&quot;Primary Evidence&quot;,&quot;nodes&quot;:[&quot;Detect&quot;,&quot;Contain&quot;,&quot;Verify&quot;,&quot;Release&quot;],&quot;order&quot;:7,&quot;section_id&quot;:&quot;evidence&quot;,&quot;section_title&quot;:&quot;Response workflow&quot;,&quot;title&quot;:&quot;Process Flow&quot;,&quot;type&quot;:&quot;diagram&quot;,&quot;weight&quot;:1,&quot;z&quot;:8},{&quot;composition_role&quot;:&quot;detailed_evidence&quot;,&quot;detail&quot;:&quot;Sample: 30 parts · method: inline metrology · source: shift B inspection.&quot;,&quot;element&quot;:&quot;Evidence Card&quot;,&quot;engine&quot;:&quot;EvidenceCompositeEngine&quot;,&quot;groupId&quot;:null,&quot;id&quot;:&quot;c9&quot;,&quot;locked&quot;:false,&quot;message_role&quot;:&quot;Primary Evidence&quot;,&quot;order&quot;:9,&quot;section_id&quot;:&quot;evidence&quot;,&quot;section_title&quot;:&quot;Operating evidence&quot;,&quot;statement&quot;:&quot;Measurement system remains within the qualified reference range.&quot;,&quot;status&quot;:&quot;Verified&quot;,&quot;title&quot;:&quot;Evidence Card&quot;,&quot;type&quot;:&quot;evidence&quot;,&quot;weight&quot;:1,&quot;z&quot;:9},{&quot;composition_role&quot;:&quot;decision_risk&quot;,&quot;detail&quot;:&quot;Keep the recipe locked and attach the next-shift control evidence.&quot;,&quot;element&quot;:&quot;Risk Callout&quot;,&quot;engine&quot;:&quot;DecisionCompositeEngine&quot;,&quot;groupId&quot;:null,&quot;id&quot;:&quot;c10&quot;,&quot;locked&quot;:false,&quot;message_role&quot;:&quot;Risk&quot;,&quot;order&quot;:10,&quot;section_id&quot;:&quot;decision&quot;,&quot;section_title&quot;:&quot;Decision&quot;,&quot;statement&quot;:&quot;Hold added capacity until the paired-lot check closes&quot;,&quot;status&quot;:&quot;Review&quot;,&quot;title&quot;:&quot;Risk Callout&quot;,&quot;type&quot;:&quot;decision&quot;,&quot;weight&quot;:1,&quot;z&quot;:10},{&quot;composition_role&quot;:&quot;action_status&quot;,&quot;detail&quot;:&quot;Owner: Equipment Engineering · due next shift · evidence: paired control lot.&quot;,&quot;element&quot;:&quot;Project Card&quot;,&quot;engine&quot;:&quot;ProjectCompositeEngine&quot;,&quot;groupId&quot;:null,&quot;id&quot;:&quot;c11&quot;,&quot;locked&quot;:false,&quot;message_role&quot;:&quot;Action&quot;,&quot;order&quot;:11,&quot;section_id&quot;:&quot;delivery&quot;,&quot;section_title&quot;:&quot;Next steps&quot;,&quot;statement&quot;:&quot;Complete chamber verification and update the runbook.&quot;,&quot;status&quot;:&quot;Active&quot;,&quot;title&quot;:&quot;Project Card&quot;,&quot;type&quot;:&quot;project&quot;,&quot;weight&quot;:1,&quot;z&quot;:11},{&quot;body&quot;:&quot;Yield rises from 94.1% to 95.0% across eighteen observed shifts. SPC and specification limits answer different questions. Keep the recipe locked until the paired-lot check and the two open handoff items close.&quot;,&quot;composition_role&quot;:&quot;narrative_interpretation&quot;,&quot;element&quot;:&quot;Body Narrative&quot;,&quot;engine&quot;:&quot;TextEngine&quot;,&quot;groupId&quot;:null,&quot;id&quot;:&quot;c12&quot;,&quot;locked&quot;:false,&quot;message_role&quot;:&quot;Context&quot;,&quot;order&quot;:6,&quot;section_id&quot;:&quot;analysis&quot;,&quot;section_title&quot;:&quot;Shift interpretation&quot;,&quot;text&quot;:&quot;Yield rises from 94.1% to 95.0% across eighteen observed shifts. SPC and specification limits answer different questions. Keep the recipe locked until the paired-lot check and the two open handoff items close.&quot;,&quot;title&quot;:&quot;Body Narrative&quot;,&quot;type&quot;:&quot;text&quot;,&quot;weight&quot;:1,&quot;z&quot;:12}],&quot;layoutPreset&quot;:&quot;technical&quot;,&quot;mode&quot;:&quot;smart&quot;,&quot;nextId&quot;:13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