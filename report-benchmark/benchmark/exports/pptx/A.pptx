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0624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 rot="-2100000"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186.0}"/>
          <p:cNvSpPr/>
          <p:nvPr/>
        </p:nvSpPr>
        <p:spPr>
          <a:xfrm>
            <a:off x="5154777" y="10498508"/>
            <a:ext cx="3411931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180.0}"/>
          <p:cNvSpPr/>
          <p:nvPr/>
        </p:nvSpPr>
        <p:spPr>
          <a:xfrm>
            <a:off x="106679" y="10464218"/>
            <a:ext cx="4941417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195.0}"/>
          <p:cNvSpPr/>
          <p:nvPr/>
        </p:nvSpPr>
        <p:spPr>
          <a:xfrm>
            <a:off x="8673387" y="10464218"/>
            <a:ext cx="3411931" cy="14859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pl9lzd-zckmmd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10-01T13:47:34.921Z&quot;,&quot;kind&quot;:&quot;clipboard&quot;,&quot;label&quot;:&quot;TSV&quot;},&quot;warnings&quot;:[]},&quot;dataset_id&quot;:&quot;dataset-mupl9lzd-zckmmd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quarter_1&quot;,&quot;value&quot;:&quot;retention_2&quot;,&quot;x&quot;:&quot;quarter_1&quot;,&quot;y&quot;:&quot;retention_2&quot;},&quot;recipe&quot;:null,&quot;recommendations&quot;:[{&quot;confidence&quot;:0.93,&quot;mapping&quot;:{&quot;category&quot;:&quot;quarter_1&quot;,&quot;value&quot;:&quot;retention_2&quot;,&quot;x&quot;:&quot;quarter_1&quot;,&quot;y&quot;:&quot;retention_2&quot;},&quot;reason&quot;:&quot;A horizontal field and numeric measure are available.&quot;,&quot;type&quot;:&quot;Line Chart&quot;},{&quot;confidence&quot;:0.9,&quot;mapping&quot;:{&quot;category&quot;:&quot;quarter_1&quot;,&quot;value&quot;:&quot;retention_2&quot;,&quot;x&quot;:&quot;quarter_1&quot;,&quot;y&quot;:&quot;retention_2&quot;},&quot;reason&quot;:&quot;A shared axis can compare multiple runs when a series field is available.&quot;,&quot;type&quot;:&quot;Multi-Line&quot;},{&quot;confidence&quot;:0.9,&quot;mapping&quot;:{&quot;category&quot;:&quot;quarter_1&quot;,&quot;value&quot;:&quot;retention_2&quot;,&quot;x&quot;:&quot;quarter_1&quot;,&quot;y&quot;:&quot;retention_2&quot;},&quot;reason&quot;:&quot;A category and measured value are available.&quot;,&quot;type&quot;:&quot;Vertical Bar&quot;},{&quot;confidence&quot;:0.87,&quot;mapping&quot;:{&quot;category&quot;:&quot;quarter_1&quot;,&quot;value&quot;:&quot;retention_2&quot;,&quot;x&quot;:&quot;quarter_1&quot;,&quot;y&quot;:&quot;retention_2&quot;},&quot;reason&quot;:&quot;The same trend mapping can show accumulated movement.&quot;,&quot;type&quot;:&quot;Area Chart&quot;},{&quot;confidence&quot;:0.82,&quot;mapping&quot;:{&quot;category&quot;:&quot;quarter_1&quot;,&quot;value&quot;:&quot;retention_2&quot;,&quot;x&quot;:&quot;quarter_1&quot;,&quot;y&quot;:&quot;retention_2&quot;},&quot;reason&quot;:&quot;A horizontal ranking keeps category labels readable.&quot;,&quot;type&quot;:&quot;Horizontal Bar&quot;},{&quot;confidence&quot;:0.8,&quot;mapping&quot;:{&quot;category&quot;:&quot;quarter_1&quot;,&quot;value&quot;:&quot;retention_2&quot;,&quot;x&quot;:&quot;quarter_1&quot;,&quot;y&quot;:&quot;retention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etention_2&quot;,&quot;id&quot;:&quot;series-1&quot;,&quot;label&quot;:&quot;Retention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Q1&quot;,91.8],[&quot;Q2&quot;,93.2],[&quot;Q3&quot;,94.1],[&quot;Q4&quot;,94.6]],&quot;dataset_id&quot;:&quot;dataset-mupl9lzd-zckmmd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rows&quot;:[{&quot;label&quot;:&quot;Q1&quot;,&quot;value&quot;:91.8},{&quot;label&quot;:&quot;Q2&quot;,&quot;value&quot;:93.2},{&quot;label&quot;:&quot;Q3&quot;,&quot;value&quot;:94.1},{&quot;label&quot;:&quot;Q4&quot;,&quot;value&quot;:94.6}],&quot;section_id&quot;:&quot;analysis&quot;,&quot;section_title&quot;:&quot;Analysis&quot;,&quot;showTitle&quot;:true,&quot;statistical_result&quot;:null,&quot;title&quot;:&quot;Quarterly retention&quot;,&quot;transform_recipe&quot;:{&quot;steps&quot;:[]},&quot;type&quot;:&quot;chart&quot;,&quot;weight&quot;:1,&quot;z&quot;:6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704407" y="4621386"/>
          <a:ext cx="6783184" cy="32918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679" y="8172306"/>
            <a:ext cx="11978639" cy="100565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679" y="9437043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sp>
        <p:nvSpPr>
          <p:cNvPr id="12" name="VIZ::Quarterly retention::chart-label-band"/>
          <p:cNvSpPr/>
          <p:nvPr/>
        </p:nvSpPr>
        <p:spPr>
          <a:xfrm>
            <a:off x="2840070" y="7172561"/>
            <a:ext cx="6647520" cy="740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VIZ::Quarterly retention::category-label-axis"/>
          <p:cNvCxnSpPr/>
          <p:nvPr/>
        </p:nvCxnSpPr>
        <p:spPr>
          <a:xfrm>
            <a:off x="3586220" y="7189020"/>
            <a:ext cx="5630043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Quarterly retention::category-label-0"/>
          <p:cNvSpPr txBox="1"/>
          <p:nvPr/>
        </p:nvSpPr>
        <p:spPr>
          <a:xfrm>
            <a:off x="3656595" y="7221938"/>
            <a:ext cx="126675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Q1</a:t>
            </a:r>
          </a:p>
        </p:txBody>
      </p:sp>
      <p:sp>
        <p:nvSpPr>
          <p:cNvPr id="15" name="VIZ::Quarterly retention::category-label-1"/>
          <p:cNvSpPr txBox="1"/>
          <p:nvPr/>
        </p:nvSpPr>
        <p:spPr>
          <a:xfrm>
            <a:off x="5064106" y="7221938"/>
            <a:ext cx="126675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Q2</a:t>
            </a:r>
          </a:p>
        </p:txBody>
      </p:sp>
      <p:sp>
        <p:nvSpPr>
          <p:cNvPr id="16" name="VIZ::Quarterly retention::category-label-2"/>
          <p:cNvSpPr txBox="1"/>
          <p:nvPr/>
        </p:nvSpPr>
        <p:spPr>
          <a:xfrm>
            <a:off x="6471617" y="7221938"/>
            <a:ext cx="126675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Q3</a:t>
            </a:r>
          </a:p>
        </p:txBody>
      </p:sp>
      <p:sp>
        <p:nvSpPr>
          <p:cNvPr id="17" name="VIZ::Quarterly retention::category-label-3"/>
          <p:cNvSpPr txBox="1"/>
          <p:nvPr/>
        </p:nvSpPr>
        <p:spPr>
          <a:xfrm>
            <a:off x="7879127" y="7221938"/>
            <a:ext cx="126675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Q4</a:t>
            </a:r>
          </a:p>
        </p:txBody>
      </p:sp>
      <p:sp>
        <p:nvSpPr>
          <p:cNvPr id="18" name="VIZ::Quarterly retention::legend-marker-0"/>
          <p:cNvSpPr/>
          <p:nvPr/>
        </p:nvSpPr>
        <p:spPr>
          <a:xfrm>
            <a:off x="3679452" y="7716882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Quarterly retention::legend-label-0"/>
          <p:cNvSpPr txBox="1"/>
          <p:nvPr/>
        </p:nvSpPr>
        <p:spPr>
          <a:xfrm>
            <a:off x="3781052" y="7584041"/>
            <a:ext cx="5346310" cy="32918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Retention</a:t>
            </a:r>
          </a:p>
        </p:txBody>
      </p:sp>
      <p:graphicFrame>
        <p:nvGraphicFramePr>
          <p:cNvPr id="20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679" y="1500616"/>
          <a:ext cx="11978639" cy="2861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71542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54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54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542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pl9lzd-zckmmd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10-01T13:47:34.921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pl9lzd-zckmmd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10-01T13:47:34.921Z&quot;,&quot;kind&quot;:&quot;clipboard&quot;,&quot;label&quot;:&quot;TSV&quot;},&quot;warnings&quot;:[]},&quot;dataset_id&quot;:&quot;dataset-mupl9lzd-zckmmd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quarter_1&quot;,&quot;value&quot;:&quot;retention_2&quot;,&quot;x&quot;:&quot;quarter_1&quot;,&quot;y&quot;:&quot;retention_2&quot;},&quot;recipe&quot;:null,&quot;recommendations&quot;:[{&quot;confidence&quot;:0.93,&quot;mapping&quot;:{&quot;category&quot;:&quot;quarter_1&quot;,&quot;value&quot;:&quot;retention_2&quot;,&quot;x&quot;:&quot;quarter_1&quot;,&quot;y&quot;:&quot;retention_2&quot;},&quot;reason&quot;:&quot;A horizontal field and numeric measure are available.&quot;,&quot;type&quot;:&quot;Line Chart&quot;},{&quot;confidence&quot;:0.9,&quot;mapping&quot;:{&quot;category&quot;:&quot;quarter_1&quot;,&quot;value&quot;:&quot;retention_2&quot;,&quot;x&quot;:&quot;quarter_1&quot;,&quot;y&quot;:&quot;retention_2&quot;},&quot;reason&quot;:&quot;A shared axis can compare multiple runs when a series field is available.&quot;,&quot;type&quot;:&quot;Multi-Line&quot;},{&quot;confidence&quot;:0.9,&quot;mapping&quot;:{&quot;category&quot;:&quot;quarter_1&quot;,&quot;value&quot;:&quot;retention_2&quot;,&quot;x&quot;:&quot;quarter_1&quot;,&quot;y&quot;:&quot;retention_2&quot;},&quot;reason&quot;:&quot;A category and measured value are available.&quot;,&quot;type&quot;:&quot;Vertical Bar&quot;},{&quot;confidence&quot;:0.87,&quot;mapping&quot;:{&quot;category&quot;:&quot;quarter_1&quot;,&quot;value&quot;:&quot;retention_2&quot;,&quot;x&quot;:&quot;quarter_1&quot;,&quot;y&quot;:&quot;retention_2&quot;},&quot;reason&quot;:&quot;The same trend mapping can show accumulated movement.&quot;,&quot;type&quot;:&quot;Area Chart&quot;},{&quot;confidence&quot;:0.82,&quot;mapping&quot;:{&quot;category&quot;:&quot;quarter_1&quot;,&quot;value&quot;:&quot;retention_2&quot;,&quot;x&quot;:&quot;quarter_1&quot;,&quot;y&quot;:&quot;retention_2&quot;},&quot;reason&quot;:&quot;A horizontal ranking keeps category labels readable.&quot;,&quot;type&quot;:&quot;Horizontal Bar&quot;},{&quot;confidence&quot;:0.8,&quot;mapping&quot;:{&quot;category&quot;:&quot;quarter_1&quot;,&quot;value&quot;:&quot;retention_2&quot;,&quot;x&quot;:&quot;quarter_1&quot;,&quot;y&quot;:&quot;retention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etention_2&quot;,&quot;id&quot;:&quot;series-1&quot;,&quot;label&quot;:&quot;Retention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Q1&quot;,91.8],[&quot;Q2&quot;,93.2],[&quot;Q3&quot;,94.1],[&quot;Q4&quot;,94.6]],&quot;dataset_id&quot;:&quot;dataset-mupl9lzd-zckmmd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rows&quot;:[{&quot;label&quot;:&quot;Q1&quot;,&quot;value&quot;:91.8},{&quot;label&quot;:&quot;Q2&quot;,&quot;value&quot;:93.2},{&quot;label&quot;:&quot;Q3&quot;,&quot;value&quot;:94.1},{&quot;label&quot;:&quot;Q4&quot;,&quot;value&quot;:94.6}],&quot;section_id&quot;:&quot;analysis&quot;,&quot;section_title&quot;:&quot;Analysis&quot;,&quot;showTitle&quot;:true,&quot;statistical_result&quot;:null,&quot;title&quot;:&quot;Quarterly retention&quot;,&quot;transform_recipe&quot;:{&quot;steps&quot;:[]}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