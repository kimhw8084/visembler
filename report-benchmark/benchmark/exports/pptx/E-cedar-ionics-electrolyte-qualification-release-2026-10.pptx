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280304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Moisture by assay batch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Moisture ppm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Sheet1!$A$2:$A$7</c:f>
              <c:strCache>
                <c:ptCount val="6"/>
                <c:pt idx="0">
                  <c:v>LAB-1001</c:v>
                </c:pt>
                <c:pt idx="1">
                  <c:v>LAB-1002</c:v>
                </c:pt>
                <c:pt idx="2">
                  <c:v>LAB-1003</c:v>
                </c:pt>
                <c:pt idx="3">
                  <c:v>LAB-1004</c:v>
                </c:pt>
                <c:pt idx="4">
                  <c:v>LAB-1005</c:v>
                </c:pt>
                <c:pt idx="5">
                  <c:v>LAB-1006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17.6</c:v>
                </c:pt>
                <c:pt idx="1">
                  <c:v>18.2</c:v>
                </c:pt>
                <c:pt idx="2">
                  <c:v>19.1</c:v>
                </c:pt>
                <c:pt idx="3">
                  <c:v>18.4</c:v>
                </c:pt>
                <c:pt idx="4">
                  <c:v>18.9</c:v>
                </c:pt>
                <c:pt idx="5">
                  <c:v>18.7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 rot="-2100000"/>
          <a:lstStyle/>
          <a:p>
            <a:pPr>
              <a:defRPr sz="978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19.175"/>
          <c:min val="17.525000000000002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979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Capacity retention across cycling checkpoints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Untreated reference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Sheet1!$A$2:$A$19</c:f>
              <c:strCache>
                <c:ptCount val="18"/>
                <c:pt idx="0">
                  <c:v>01 · cycle 010</c:v>
                </c:pt>
                <c:pt idx="1">
                  <c:v>02 · cycle 020</c:v>
                </c:pt>
                <c:pt idx="2">
                  <c:v>03 · cycle 030</c:v>
                </c:pt>
                <c:pt idx="3">
                  <c:v>04 · cycle 040</c:v>
                </c:pt>
                <c:pt idx="4">
                  <c:v>05 · cycle 050</c:v>
                </c:pt>
                <c:pt idx="5">
                  <c:v>06 · cycle 060</c:v>
                </c:pt>
                <c:pt idx="6">
                  <c:v>07 · cycle 070</c:v>
                </c:pt>
                <c:pt idx="7">
                  <c:v>08 · cycle 080</c:v>
                </c:pt>
                <c:pt idx="8">
                  <c:v>09 · cycle 090</c:v>
                </c:pt>
                <c:pt idx="9">
                  <c:v>10 · cycle 100</c:v>
                </c:pt>
                <c:pt idx="10">
                  <c:v>11 · cycle 110</c:v>
                </c:pt>
                <c:pt idx="11">
                  <c:v>12 · cycle 120</c:v>
                </c:pt>
                <c:pt idx="12">
                  <c:v>13 · cycle 130</c:v>
                </c:pt>
                <c:pt idx="13">
                  <c:v>14 · cycle 140</c:v>
                </c:pt>
                <c:pt idx="14">
                  <c:v>15 · cycle 150</c:v>
                </c:pt>
                <c:pt idx="15">
                  <c:v>16 · cycle 160</c:v>
                </c:pt>
                <c:pt idx="16">
                  <c:v>17 · cycle 170</c:v>
                </c:pt>
                <c:pt idx="17">
                  <c:v>18 · cycle 180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99.4</c:v>
                </c:pt>
                <c:pt idx="1">
                  <c:v>98.8</c:v>
                </c:pt>
                <c:pt idx="2">
                  <c:v>98.2</c:v>
                </c:pt>
                <c:pt idx="3">
                  <c:v>97.6</c:v>
                </c:pt>
                <c:pt idx="4">
                  <c:v>97.0</c:v>
                </c:pt>
                <c:pt idx="5">
                  <c:v>96.4</c:v>
                </c:pt>
                <c:pt idx="6">
                  <c:v>95.8</c:v>
                </c:pt>
                <c:pt idx="7">
                  <c:v>95.2</c:v>
                </c:pt>
                <c:pt idx="8">
                  <c:v>94.6</c:v>
                </c:pt>
                <c:pt idx="9">
                  <c:v>94.0</c:v>
                </c:pt>
                <c:pt idx="10">
                  <c:v>93.4</c:v>
                </c:pt>
                <c:pt idx="11">
                  <c:v>92.8</c:v>
                </c:pt>
                <c:pt idx="12">
                  <c:v>92.2</c:v>
                </c:pt>
                <c:pt idx="13">
                  <c:v>91.6</c:v>
                </c:pt>
                <c:pt idx="14">
                  <c:v>91.0</c:v>
                </c:pt>
                <c:pt idx="15">
                  <c:v>90.4</c:v>
                </c:pt>
                <c:pt idx="16">
                  <c:v>89.8</c:v>
                </c:pt>
                <c:pt idx="17">
                  <c:v>89.2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Filtered candidate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Sheet1!$A$2:$A$19</c:f>
              <c:strCache>
                <c:ptCount val="18"/>
                <c:pt idx="0">
                  <c:v>01 · cycle 010</c:v>
                </c:pt>
                <c:pt idx="1">
                  <c:v>02 · cycle 020</c:v>
                </c:pt>
                <c:pt idx="2">
                  <c:v>03 · cycle 030</c:v>
                </c:pt>
                <c:pt idx="3">
                  <c:v>04 · cycle 040</c:v>
                </c:pt>
                <c:pt idx="4">
                  <c:v>05 · cycle 050</c:v>
                </c:pt>
                <c:pt idx="5">
                  <c:v>06 · cycle 060</c:v>
                </c:pt>
                <c:pt idx="6">
                  <c:v>07 · cycle 070</c:v>
                </c:pt>
                <c:pt idx="7">
                  <c:v>08 · cycle 080</c:v>
                </c:pt>
                <c:pt idx="8">
                  <c:v>09 · cycle 090</c:v>
                </c:pt>
                <c:pt idx="9">
                  <c:v>10 · cycle 100</c:v>
                </c:pt>
                <c:pt idx="10">
                  <c:v>11 · cycle 110</c:v>
                </c:pt>
                <c:pt idx="11">
                  <c:v>12 · cycle 120</c:v>
                </c:pt>
                <c:pt idx="12">
                  <c:v>13 · cycle 130</c:v>
                </c:pt>
                <c:pt idx="13">
                  <c:v>14 · cycle 140</c:v>
                </c:pt>
                <c:pt idx="14">
                  <c:v>15 · cycle 150</c:v>
                </c:pt>
                <c:pt idx="15">
                  <c:v>16 · cycle 160</c:v>
                </c:pt>
                <c:pt idx="16">
                  <c:v>17 · cycle 170</c:v>
                </c:pt>
                <c:pt idx="17">
                  <c:v>18 · cycle 180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99.64</c:v>
                </c:pt>
                <c:pt idx="1">
                  <c:v>99.29</c:v>
                </c:pt>
                <c:pt idx="2">
                  <c:v>98.93</c:v>
                </c:pt>
                <c:pt idx="3">
                  <c:v>98.58</c:v>
                </c:pt>
                <c:pt idx="4">
                  <c:v>98.22</c:v>
                </c:pt>
                <c:pt idx="5">
                  <c:v>97.87</c:v>
                </c:pt>
                <c:pt idx="6">
                  <c:v>97.51</c:v>
                </c:pt>
                <c:pt idx="7">
                  <c:v>97.16</c:v>
                </c:pt>
                <c:pt idx="8">
                  <c:v>96.8</c:v>
                </c:pt>
                <c:pt idx="9">
                  <c:v>96.44</c:v>
                </c:pt>
                <c:pt idx="10">
                  <c:v>96.09</c:v>
                </c:pt>
                <c:pt idx="11">
                  <c:v>95.73</c:v>
                </c:pt>
                <c:pt idx="12">
                  <c:v>95.38</c:v>
                </c:pt>
                <c:pt idx="13">
                  <c:v>95.02</c:v>
                </c:pt>
                <c:pt idx="14">
                  <c:v>94.67</c:v>
                </c:pt>
                <c:pt idx="15">
                  <c:v>94.31</c:v>
                </c:pt>
                <c:pt idx="16">
                  <c:v>93.96</c:v>
                </c:pt>
                <c:pt idx="17">
                  <c:v>93.6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Low-salt alternative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Sheet1!$A$2:$A$19</c:f>
              <c:strCache>
                <c:ptCount val="18"/>
                <c:pt idx="0">
                  <c:v>01 · cycle 010</c:v>
                </c:pt>
                <c:pt idx="1">
                  <c:v>02 · cycle 020</c:v>
                </c:pt>
                <c:pt idx="2">
                  <c:v>03 · cycle 030</c:v>
                </c:pt>
                <c:pt idx="3">
                  <c:v>04 · cycle 040</c:v>
                </c:pt>
                <c:pt idx="4">
                  <c:v>05 · cycle 050</c:v>
                </c:pt>
                <c:pt idx="5">
                  <c:v>06 · cycle 060</c:v>
                </c:pt>
                <c:pt idx="6">
                  <c:v>07 · cycle 070</c:v>
                </c:pt>
                <c:pt idx="7">
                  <c:v>08 · cycle 080</c:v>
                </c:pt>
                <c:pt idx="8">
                  <c:v>09 · cycle 090</c:v>
                </c:pt>
                <c:pt idx="9">
                  <c:v>10 · cycle 100</c:v>
                </c:pt>
                <c:pt idx="10">
                  <c:v>11 · cycle 110</c:v>
                </c:pt>
                <c:pt idx="11">
                  <c:v>12 · cycle 120</c:v>
                </c:pt>
                <c:pt idx="12">
                  <c:v>13 · cycle 130</c:v>
                </c:pt>
                <c:pt idx="13">
                  <c:v>14 · cycle 140</c:v>
                </c:pt>
                <c:pt idx="14">
                  <c:v>15 · cycle 150</c:v>
                </c:pt>
                <c:pt idx="15">
                  <c:v>16 · cycle 160</c:v>
                </c:pt>
                <c:pt idx="16">
                  <c:v>17 · cycle 170</c:v>
                </c:pt>
                <c:pt idx="17">
                  <c:v>18 · cycle 180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99.56</c:v>
                </c:pt>
                <c:pt idx="1">
                  <c:v>99.12</c:v>
                </c:pt>
                <c:pt idx="2">
                  <c:v>98.68</c:v>
                </c:pt>
                <c:pt idx="3">
                  <c:v>98.24</c:v>
                </c:pt>
                <c:pt idx="4">
                  <c:v>97.81</c:v>
                </c:pt>
                <c:pt idx="5">
                  <c:v>97.37</c:v>
                </c:pt>
                <c:pt idx="6">
                  <c:v>96.93</c:v>
                </c:pt>
                <c:pt idx="7">
                  <c:v>96.49</c:v>
                </c:pt>
                <c:pt idx="8">
                  <c:v>96.05</c:v>
                </c:pt>
                <c:pt idx="9">
                  <c:v>95.61</c:v>
                </c:pt>
                <c:pt idx="10">
                  <c:v>95.17</c:v>
                </c:pt>
                <c:pt idx="11">
                  <c:v>94.73</c:v>
                </c:pt>
                <c:pt idx="12">
                  <c:v>94.29</c:v>
                </c:pt>
                <c:pt idx="13">
                  <c:v>93.86</c:v>
                </c:pt>
                <c:pt idx="14">
                  <c:v>93.42</c:v>
                </c:pt>
                <c:pt idx="15">
                  <c:v>92.98</c:v>
                </c:pt>
                <c:pt idx="16">
                  <c:v>92.54</c:v>
                </c:pt>
                <c:pt idx="17">
                  <c:v>92.1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/>
          <a:lstStyle/>
          <a:p>
            <a:pPr>
              <a:defRPr sz="75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5"/>
        <c:noMultiLvlLbl val="0"/>
      </c:catAx>
      <c:valAx>
        <c:axId val="2140495176"/>
        <c:scaling>
          <c:max val="100.162"/>
          <c:min val="88.678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VIZ::Body Narrative" title="Visembler report text roles: text heading, narrative interpretation" descr="VisualizerSemantic:{&quot;body&quot;:&quot;Filtered samples retain 93.6% capacity at the final checkpoint versus 89.2% in the untreated reference. The third formulation reaches 92.1%. These samples support a limited pilot, but differences in initial conditioning and unresolved moisture results prevent a causal attribution to filtration alone.&quot;,&quot;composition_role&quot;:&quot;narrative_interpretation&quot;,&quot;element&quot;:&quot;Body Narrative&quot;,&quot;engine&quot;:&quot;TextEngine&quot;,&quot;groupId&quot;:null,&quot;h&quot;:116.0,&quot;id&quot;:&quot;c5&quot;,&quot;locked&quot;:false,&quot;message_role&quot;:&quot;Context&quot;,&quot;order&quot;:1,&quot;section_id&quot;:&quot;operating-evidence&quot;,&quot;section_title&quot;:&quot;Operating evidence&quot;,&quot;showTitle&quot;:false,&quot;text&quot;:&quot;Filtered samples retain 93.6% capacity at the final checkpoint versus 89.2% in the untreated reference. The third formulation reaches 92.1%. These samples support a limited pilot, but differences in initial conditioning and unresolved moisture results prevent a causal attribution to filtration alone.&quot;,&quot;textAlign&quot;:&quot;left&quot;,&quot;title&quot;:&quot;Body Narrative&quot;,&quot;type&quot;:&quot;text&quot;,&quot;w&quot;:747.8399999999999,&quot;weight&quot;:1.1,&quot;x&quot;:14.0,&quot;y&quot;:218.06,&quot;z&quot;:5}"/>
          <p:cNvSpPr/>
          <p:nvPr/>
        </p:nvSpPr>
        <p:spPr>
          <a:xfrm>
            <a:off x="81203" y="1264789"/>
            <a:ext cx="4337614" cy="67282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  <a:r>
              <a:rPr sz="1000" b="0" i="0">
                <a:solidFill>
                  <a:srgbClr val="253649"/>
                </a:solidFill>
                <a:latin typeface="Arial Narrow"/>
              </a:rPr>
              <a:t> · Filtered samples retain 93.6% capacity at the final checkpoint versus 89.2% in the untreated reference. The third formulation reaches 92.1%. These samples support a limited pilot, but differences in initial conditioning and unresolved moisture results prevent a causal attribution to filtration alone.</a:t>
            </a:r>
          </a:p>
        </p:txBody>
      </p:sp>
      <p:sp>
        <p:nvSpPr>
          <p:cNvPr id="4" name="VIZ::Body Narrative" title="Visembler report text roles: text heading, context subhead" descr="VisualizerSemantic:{&quot;body&quot;:&quot;Cedar Ionics · EL-2609-C · 18 cycling checkpoints · assay lots LAB-1001 to LAB-1006 · Reliability owner · reviewed 1 October 2026. · Assay 08:20 · cycling 07:55 · duplicate result pending&quot;,&quot;composition_role&quot;:&quot;context&quot;,&quot;element&quot;:&quot;Body Narrative&quot;,&quot;engine&quot;:&quot;TextEngine&quot;,&quot;groupId&quot;:null,&quot;h&quot;:72.0,&quot;id&quot;:&quot;c4&quot;,&quot;locked&quot;:false,&quot;message_role&quot;:&quot;Context&quot;,&quot;order&quot;:2,&quot;section_id&quot;:&quot;operating-evidence&quot;,&quot;section_title&quot;:&quot;Operating evidence&quot;,&quot;showTitle&quot;:false,&quot;text&quot;:&quot;Cedar Ionics · EL-2609-C · 18 cycling checkpoints · assay lots LAB-1001 to LAB-1006 · Reliability owner · reviewed 1 October 2026. · Assay 08:20 · cycling 07:55 · duplicate result pending&quot;,&quot;textAlign&quot;:&quot;left&quot;,&quot;title&quot;:&quot;Body Narrative&quot;,&quot;type&quot;:&quot;text&quot;,&quot;w&quot;:1572.0,&quot;weight&quot;:1.1,&quot;x&quot;:14.0,&quot;y&quot;:520.12,&quot;z&quot;:4}"/>
          <p:cNvSpPr/>
          <p:nvPr/>
        </p:nvSpPr>
        <p:spPr>
          <a:xfrm>
            <a:off x="81203" y="3016794"/>
            <a:ext cx="9117898" cy="41761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74A60"/>
                </a:solidFill>
                <a:latin typeface="Arial Narrow"/>
              </a:rPr>
              <a:t>Cedar Ionics · EL-2609-C · 18 cycling checkpoints · assay lots LAB-1001 to LAB-1006 · Reliability owner · reviewed 1 October 2026. · Assay 08:20 · cycling 07:55 · duplicate result pending</a:t>
            </a:r>
          </a:p>
        </p:txBody>
      </p:sp>
      <p:graphicFrame>
        <p:nvGraphicFramePr>
          <p:cNvPr id="15" name="VIZ::Capacity retention across cycling checkpoints" descr="VisualizerSemantic:{&quot;brush&quot;:[0,4],&quot;composition_role&quot;:&quot;primary_analysis&quot;,&quot;cross&quot;:null,&quot;data&quot;:[[&quot;01 · cycle 010&quot;,99.4],[&quot;01 · cycle 010&quot;,99.64],[&quot;01 · cycle 010&quot;,99.56],[&quot;02 · cycle 020&quot;,98.8],[&quot;02 · cycle 020&quot;,99.29],[&quot;02 · cycle 020&quot;,99.12],[&quot;03 · cycle 030&quot;,98.2],[&quot;03 · cycle 030&quot;,98.93],[&quot;03 · cycle 030&quot;,98.68],[&quot;04 · cycle 040&quot;,97.6],[&quot;04 · cycle 040&quot;,98.58],[&quot;04 · cycle 040&quot;,98.24],[&quot;05 · cycle 050&quot;,97],[&quot;05 · cycle 050&quot;,98.22],[&quot;05 · cycle 050&quot;,97.81],[&quot;06 · cycle 060&quot;,96.4],[&quot;06 · cycle 060&quot;,97.87],[&quot;06 · cycle 060&quot;,97.37],[&quot;07 · cycle 070&quot;,95.8],[&quot;07 · cycle 070&quot;,97.51],[&quot;07 · cycle 070&quot;,96.93],[&quot;08 · cycle 080&quot;,95.2],[&quot;08 · cycle 080&quot;,97.16],[&quot;08 · cycle 080&quot;,96.49],[&quot;09 · cycle 090&quot;,94.6],[&quot;09 · cycle 090&quot;,96.8],[&quot;09 · cycle 090&quot;,96.05],[&quot;10 · cycle 100&quot;,94],[&quot;10 · cycle 100&quot;,96.44],[&quot;10 · cycle 100&quot;,95.61],[&quot;11 · cycle 110&quot;,93.4],[&quot;11 · cycle 110&quot;,96.09],[&quot;11 · cycle 110&quot;,95.17],[&quot;12 · cycle 120&quot;,92.8],[&quot;12 · cycle 120&quot;,95.73],[&quot;12 · cycle 120&quot;,94.73],[&quot;13 · cycle 130&quot;,92.2],[&quot;13 · cycle 130&quot;,95.38],[&quot;13 · cycle 130&quot;,94.29],[&quot;14 · cycle 140&quot;,91.6],[&quot;14 · cycle 140&quot;,95.02],[&quot;14 · cycle 140&quot;,93.86],[&quot;15 · cycle 150&quot;,91],[&quot;15 · cycle 150&quot;,94.67],[&quot;15 · cycle 150&quot;,93.42],[&quot;16 · cycle 160&quot;,90.4],[&quot;16 · cycle 160&quot;,94.31],[&quot;16 · cycle 160&quot;,92.98],[&quot;17 · cycle 170&quot;,89.8],[&quot;17 · cycle 170&quot;,93.96],[&quot;17 · cycle 170&quot;,92.54],[&quot;18 · cycle 180&quot;,89.2],[&quot;18 · cycle 180&quot;,93.6],[&quot;18 · cycle 180&quot;,92.1]],&quot;dataset_id&quot;:&quot;dataset-muplr2cr-dh9b46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checkpoint_1&quot;,&quot;series&quot;:&quot;formulation_2&quot;,&quot;value&quot;:&quot;retention_3&quot;,&quot;x&quot;:&quot;checkpoint_1&quot;,&quot;y&quot;:&quot;retention_3&quot;},&quot;message_role&quot;:&quot;Primary Evidence&quot;,&quot;order&quot;:3,&quot;revealed&quot;:true,&quot;rows&quot;:[{&quot;label&quot;:&quot;01 · cycle 010&quot;,&quot;value&quot;:99.4},{&quot;label&quot;:&quot;01 · cycle 010&quot;,&quot;value&quot;:99.64},{&quot;label&quot;:&quot;01 · cycle 010&quot;,&quot;value&quot;:99.56},{&quot;label&quot;:&quot;02 · cycle 020&quot;,&quot;value&quot;:98.8},{&quot;label&quot;:&quot;02 · cycle 020&quot;,&quot;value&quot;:99.29},{&quot;label&quot;:&quot;02 · cycle 020&quot;,&quot;value&quot;:99.12},{&quot;label&quot;:&quot;03 · cycle 030&quot;,&quot;value&quot;:98.2},{&quot;label&quot;:&quot;03 · cycle 030&quot;,&quot;value&quot;:98.93},{&quot;label&quot;:&quot;03 · cycle 030&quot;,&quot;value&quot;:98.68},{&quot;label&quot;:&quot;04 · cycle 040&quot;,&quot;value&quot;:97.6},{&quot;label&quot;:&quot;04 · cycle 040&quot;,&quot;value&quot;:98.58},{&quot;label&quot;:&quot;04 · cycle 040&quot;,&quot;value&quot;:98.24},{&quot;label&quot;:&quot;05 · cycle 050&quot;,&quot;value&quot;:97},{&quot;label&quot;:&quot;05 · cycle 050&quot;,&quot;value&quot;:98.22},{&quot;label&quot;:&quot;05 · cycle 050&quot;,&quot;value&quot;:97.81},{&quot;label&quot;:&quot;06 · cycle 060&quot;,&quot;value&quot;:96.4},{&quot;label&quot;:&quot;06 · cycle 060&quot;,&quot;value&quot;:97.87},{&quot;label&quot;:&quot;06 · cycle 060&quot;,&quot;value&quot;:97.37},{&quot;label&quot;:&quot;07 · cycle 070&quot;,&quot;value&quot;:95.8},{&quot;label&quot;:&quot;07 · cycle 070&quot;,&quot;value&quot;:97.51},{&quot;label&quot;:&quot;07 · cycle 070&quot;,&quot;value&quot;:96.93},{&quot;label&quot;:&quot;08 · cycle 080&quot;,&quot;value&quot;:95.2},{&quot;label&quot;:&quot;08 · cycle 080&quot;,&quot;value&quot;:97.16},{&quot;label&quot;:&quot;08 · cycle 080&quot;,&quot;value&quot;:96.49},{&quot;label&quot;:&quot;09 · cycle 090&quot;,&quot;value&quot;:94.6},{&quot;label&quot;:&quot;09 · cycle 090&quot;,&quot;value&quot;:96.8},{&quot;label&quot;:&quot;09 · cycle 090&quot;,&quot;value&quot;:96.05},{&quot;label&quot;:&quot;10 · cycle 100&quot;,&quot;value&quot;:94},{&quot;label&quot;:&quot;10 · cycle 100&quot;,&quot;value&quot;:96.44},{&quot;label&quot;:&quot;10 · cycle 100&quot;,&quot;value&quot;:95.61},{&quot;label&quot;:&quot;11 · cycle 110&quot;,&quot;value&quot;:93.4},{&quot;label&quot;:&quot;11 · cycle 110&quot;,&quot;value&quot;:96.09},{&quot;label&quot;:&quot;11 · cycle 110&quot;,&quot;value&quot;:95.17},{&quot;label&quot;:&quot;12 · cycle 120&quot;,&quot;value&quot;:92.8},{&quot;label&quot;:&quot;12 · cycle 120&quot;,&quot;value&quot;:95.73},{&quot;label&quot;:&quot;12 · cycle 120&quot;,&quot;value&quot;:94.73},{&quot;label&quot;:&quot;13 · cycle 130&quot;,&quot;value&quot;:92.2},{&quot;label&quot;:&quot;13 · cycle 130&quot;,&quot;value&quot;:95.38},{&quot;label&quot;:&quot;13 · cycle 130&quot;,&quot;value&quot;:94.29},{&quot;label&quot;:&quot;14 · cycle 140&quot;,&quot;value&quot;:91.6},{&quot;label&quot;:&quot;14 · cycle 140&quot;,&quot;value&quot;:95.02},{&quot;label&quot;:&quot;14 · cycle 140&quot;,&quot;value&quot;:93.86},{&quot;label&quot;:&quot;15 · cycle 150&quot;,&quot;value&quot;:91},{&quot;label&quot;:&quot;15 · cycle 150&quot;,&quot;value&quot;:94.67},{&quot;label&quot;:&quot;15 · cycle 150&quot;,&quot;value&quot;:93.42},{&quot;label&quot;:&quot;16 · cycle 160&quot;,&quot;value&quot;:90.4},{&quot;label&quot;:&quot;16 · cycle 160&quot;,&quot;value&quot;:94.31},{&quot;label&quot;:&quot;16 · cycle 160&quot;,&quot;value&quot;:92.98},{&quot;label&quot;:&quot;17 · cycle 170&quot;,&quot;value&quot;:89.8},{&quot;label&quot;:&quot;17 · cycle 170&quot;,&quot;value&quot;:93.96},{&quot;label&quot;:&quot;17 · cycle 170&quot;,&quot;value&quot;:92.54},{&quot;label&quot;:&quot;18 · cycle 180&quot;,&quot;value&quot;:89.2},{&quot;label&quot;:&quot;18 · cycle 180&quot;,&quot;value&quot;:93.6},{&quot;label&quot;:&quot;18 · cycle 180&quot;,&quot;value&quot;:92.1}],&quot;section_id&quot;:&quot;analysis&quot;,&quot;section_title&quot;:&quot;Analysis&quot;,&quot;showTitle&quot;:true,&quot;textAlign&quot;:&quot;left&quot;,&quot;title&quot;:&quot;Capacity retention across cycling checkpoints&quot;,&quot;type&quot;:&quot;chart&quot;,&quot;variant&quot;:&quot;line&quot;,&quot;w&quot;:841.32,&quot;weight&quot;:1.8,&quot;x&quot;:42.64303030303029,&quot;y&quot;:626.12,&quot;z&quot;:1,&quot;observations&quot;:[{&quot;label&quot;:&quot;01 · cycle 010&quot;,&quot;value&quot;:99.4},{&quot;label&quot;:&quot;01 · cycle 010&quot;,&quot;value&quot;:99.64},{&quot;label&quot;:&quot;01 · cycle 010&quot;,&quot;value&quot;:99.56},{&quot;label&quot;:&quot;02 · cycle 020&quot;,&quot;value&quot;:98.8},{&quot;label&quot;:&quot;02 · cycle 020&quot;,&quot;value&quot;:99.29},{&quot;label&quot;:&quot;02 · cycle 020&quot;,&quot;value&quot;:99.12},{&quot;label&quot;:&quot;03 · cycle 030&quot;,&quot;value&quot;:98.2},{&quot;label&quot;:&quot;03 · cycle 030&quot;,&quot;value&quot;:98.93},{&quot;label&quot;:&quot;03 · cycle 030&quot;,&quot;value&quot;:98.68},{&quot;label&quot;:&quot;04 · cycle 040&quot;,&quot;value&quot;:97.6},{&quot;label&quot;:&quot;04 · cycle 040&quot;,&quot;value&quot;:98.58},{&quot;label&quot;:&quot;04 · cycle 040&quot;,&quot;value&quot;:98.24},{&quot;label&quot;:&quot;05 · cycle 050&quot;,&quot;value&quot;:97},{&quot;label&quot;:&quot;05 · cycle 050&quot;,&quot;value&quot;:98.22},{&quot;label&quot;:&quot;05 · cycle 050&quot;,&quot;value&quot;:97.81},{&quot;label&quot;:&quot;06 · cycle 060&quot;,&quot;value&quot;:96.4},{&quot;label&quot;:&quot;06 · cycle 060&quot;,&quot;value&quot;:97.87},{&quot;label&quot;:&quot;06 · cycle 060&quot;,&quot;value&quot;:97.37},{&quot;label&quot;:&quot;07 · cycle 070&quot;,&quot;value&quot;:95.8},{&quot;label&quot;:&quot;07 · cycle 070&quot;,&quot;value&quot;:97.51},{&quot;label&quot;:&quot;07 · cycle 070&quot;,&quot;value&quot;:96.93},{&quot;label&quot;:&quot;08 · cycle 080&quot;,&quot;value&quot;:95.2},{&quot;label&quot;:&quot;08 · cycle 080&quot;,&quot;value&quot;:97.16},{&quot;label&quot;:&quot;08 · cycle 080&quot;,&quot;value&quot;:96.49},{&quot;label&quot;:&quot;09 · cycle 090&quot;,&quot;value&quot;:94.6},{&quot;label&quot;:&quot;09 · cycle 090&quot;,&quot;value&quot;:96.8},{&quot;label&quot;:&quot;09 · cycle 090&quot;,&quot;value&quot;:96.05},{&quot;label&quot;:&quot;10 · cycle 100&quot;,&quot;value&quot;:94},{&quot;label&quot;:&quot;10 · cycle 100&quot;,&quot;value&quot;:96.44},{&quot;label&quot;:&quot;10 · cycle 100&quot;,&quot;value&quot;:95.61},{&quot;label&quot;:&quot;11 · cycle 110&quot;,&quot;value&quot;:93.4},{&quot;label&quot;:&quot;11 · cycle 110&quot;,&quot;value&quot;:96.09},{&quot;label&quot;:&quot;11 · cycle 110&quot;,&quot;value&quot;:95.17},{&quot;label&quot;:&quot;12 · cycle 120&quot;,&quot;value&quot;:92.8},{&quot;label&quot;:&quot;12 · cycle 120&quot;,&quot;value&quot;:95.73},{&quot;label&quot;:&quot;12 · cycle 120&quot;,&quot;value&quot;:94.73},{&quot;label&quot;:&quot;13 · cycle 130&quot;,&quot;value&quot;:92.2},{&quot;label&quot;:&quot;13 · cycle 130&quot;,&quot;value&quot;:95.38},{&quot;label&quot;:&quot;13 · cycle 130&quot;,&quot;value&quot;:94.29},{&quot;label&quot;:&quot;14 · cycle 140&quot;,&quot;value&quot;:91.6},{&quot;label&quot;:&quot;14 · cycle 140&quot;,&quot;value&quot;:95.02},{&quot;label&quot;:&quot;14 · cycle 140&quot;,&quot;value&quot;:93.86},{&quot;label&quot;:&quot;15 · cycle 150&quot;,&quot;value&quot;:91},{&quot;label&quot;:&quot;15 · cycle 150&quot;,&quot;value&quot;:94.67},{&quot;label&quot;:&quot;15 · cycle 150&quot;,&quot;value&quot;:93.42},{&quot;label&quot;:&quot;16 · cycle 160&quot;,&quot;value&quot;:90.4},{&quot;label&quot;:&quot;16 · cycle 160&quot;,&quot;value&quot;:94.31},{&quot;label&quot;:&quot;16 · cycle 160&quot;,&quot;value&quot;:92.98},{&quot;label&quot;:&quot;17 · cycle 170&quot;,&quot;value&quot;:89.8},{&quot;label&quot;:&quot;17 · cycle 170&quot;,&quot;value&quot;:93.96},{&quot;label&quot;:&quot;17 · cycle 170&quot;,&quot;value&quot;:92.54},{&quot;label&quot;:&quot;18 · cycle 180&quot;,&quot;value&quot;:89.2},{&quot;label&quot;:&quot;18 · cycle 180&quot;,&quot;value&quot;:93.6},{&quot;label&quot;:&quot;18 · cycle 180&quot;,&quot;value&quot;:92.1}]}"/>
          <p:cNvGraphicFramePr>
            <a:graphicFrameLocks noGrp="1"/>
          </p:cNvGraphicFramePr>
          <p:nvPr/>
        </p:nvGraphicFramePr>
        <p:xfrm>
          <a:off x="247338" y="3631614"/>
          <a:ext cx="4879815" cy="236814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8" name="VIZ::Moisture by assay batch" descr="VisualizerSemantic:{&quot;brush&quot;:[0,4],&quot;composition_role&quot;:&quot;supporting_analysis&quot;,&quot;cross&quot;:null,&quot;data&quot;:[[&quot;LAB-1001&quot;,17.6],[&quot;LAB-1002&quot;,18.2],[&quot;LAB-1003&quot;,19.1],[&quot;LAB-1004&quot;,18.4],[&quot;LAB-1005&quot;,18.9],[&quot;LAB-1006&quot;,18.7]],&quot;dataset_id&quot;:&quot;dataset-muplr4jt-kx200u&quot;,&quot;drill&quot;:null,&quot;element&quot;:&quot;Line Chart&quot;,&quot;engine&quot;:&quot;CoreChartEngine&quot;,&quot;groupId&quot;:null,&quot;h&quot;:320.0,&quot;id&quot;:&quot;c2&quot;,&quot;locked&quot;:false,&quot;mapping&quot;:{&quot;value&quot;:&quot;moisture_ppm_2&quot;,&quot;x&quot;:&quot;assay_batch_1&quot;,&quot;y&quot;:&quot;moisture_ppm_2&quot;},&quot;message_role&quot;:&quot;Supporting Evidence&quot;,&quot;order&quot;:4,&quot;revealed&quot;:true,&quot;rows&quot;:[{&quot;label&quot;:&quot;LAB-1001&quot;,&quot;value&quot;:17.6},{&quot;label&quot;:&quot;LAB-1002&quot;,&quot;value&quot;:18.2},{&quot;label&quot;:&quot;LAB-1003&quot;,&quot;value&quot;:19.1},{&quot;label&quot;:&quot;LAB-1004&quot;,&quot;value&quot;:18.4},{&quot;label&quot;:&quot;LAB-1005&quot;,&quot;value&quot;:18.9},{&quot;label&quot;:&quot;LAB-1006&quot;,&quot;value&quot;:18.7}],&quot;section_id&quot;:&quot;analysis&quot;,&quot;section_title&quot;:&quot;Analysis&quot;,&quot;showTitle&quot;:true,&quot;textAlign&quot;:&quot;left&quot;,&quot;title&quot;:&quot;Moisture by assay batch&quot;,&quot;type&quot;:&quot;chart&quot;,&quot;variant&quot;:&quot;line&quot;,&quot;w&quot;:659.3939393939394,&quot;weight&quot;:1.8,&quot;x&quot;:897.9630303030303,&quot;y&quot;:670.2638235294118,&quot;z&quot;:2,&quot;observations&quot;:[{&quot;label&quot;:&quot;LAB-1001&quot;,&quot;value&quot;:17.6},{&quot;label&quot;:&quot;LAB-1002&quot;,&quot;value&quot;:18.2},{&quot;label&quot;:&quot;LAB-1003&quot;,&quot;value&quot;:19.1},{&quot;label&quot;:&quot;LAB-1004&quot;,&quot;value&quot;:18.4},{&quot;label&quot;:&quot;LAB-1005&quot;,&quot;value&quot;:18.9},{&quot;label&quot;:&quot;LAB-1006&quot;,&quot;value&quot;:18.7}]}"/>
          <p:cNvGraphicFramePr>
            <a:graphicFrameLocks noGrp="1"/>
          </p:cNvGraphicFramePr>
          <p:nvPr/>
        </p:nvGraphicFramePr>
        <p:xfrm>
          <a:off x="5208356" y="3887657"/>
          <a:ext cx="3824610" cy="185606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VIZ::Release sequence::continuation-reference" descr="VisualizerSemantic:{&quot;composition_role&quot;:&quot;causal_evidence&quot;,&quot;direction&quot;:&quot;right&quot;,&quot;edges&quot;:[[&quot;Verify moisture duplicate&quot;,&quot;Confirm copper result&quot;],[&quot;Confirm copper result&quot;,&quot;Approve pilot batch&quot;],[&quot;Approve pilot batch&quot;,&quot;Ship twenty cells&quot;],[&quot;Ship twenty cells&quot;,&quot;Review extended cycling&quot;]],&quot;element&quot;:&quot;Process Flow&quot;,&quot;engine&quot;:&quot;DiagramEngine&quot;,&quot;groupId&quot;:null,&quot;h&quot;:233.0,&quot;id&quot;:&quot;c11&quot;,&quot;locked&quot;:false,&quot;message_role&quot;:&quot;Primary Evidence&quot;,&quot;nodes&quot;:[&quot;Verify moisture duplicate&quot;,&quot;Confirm copper result&quot;,&quot;Approve pilot batch&quot;,&quot;Ship twenty cells&quot;,&quot;Review extended cycling&quot;],&quot;order&quot;:5,&quot;section_id&quot;:&quot;release-checks&quot;,&quot;section_title&quot;:&quot;Release checks&quot;,&quot;showTitle&quot;:true,&quot;textAlign&quot;:&quot;left&quot;,&quot;title&quot;:&quot;Release sequence&quot;,&quot;type&quot;:&quot;diagram&quot;,&quot;w&quot;:684.4,&quot;weight&quot;:1.5,&quot;x&quot;:457.8,&quot;y&quot;:1068.4076470588236,&quot;z&quot;:11}"/>
          <p:cNvSpPr/>
          <p:nvPr/>
        </p:nvSpPr>
        <p:spPr>
          <a:xfrm>
            <a:off x="2655327" y="6196967"/>
            <a:ext cx="3969650" cy="1351444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8" name="VIZ::Hero Title" title="Visembler report text roles: text heading, report headline" descr="VisualizerSemantic:{&quot;body&quot;:&quot;Retention improved after filtration; the customer pilot remains conditional.&quot;,&quot;composition_role&quot;:&quot;report_headline&quot;,&quot;element&quot;:&quot;Hero Title&quot;,&quot;engine&quot;:&quot;TextEngine&quot;,&quot;groupId&quot;:null,&quot;h&quot;:109.76,&quot;id&quot;:&quot;c3&quot;,&quot;locked&quot;:false,&quot;message_role&quot;:&quot;Headline&quot;,&quot;order&quot;:6,&quot;section_id&quot;:&quot;decision&quot;,&quot;section_order&quot;:4,&quot;section_title&quot;:&quot;Decision&quot;,&quot;showTitle&quot;:false,&quot;text&quot;:&quot;Retention improved after filtration; the customer pilot remains conditional.&quot;,&quot;textAlign&quot;:&quot;left&quot;,&quot;title&quot;:&quot;Hero Title&quot;,&quot;type&quot;:&quot;text&quot;,&quot;w&quot;:1572.0,&quot;weight&quot;:1.1,&quot;x&quot;:14.0,&quot;y&quot;:1538.4076470588236,&quot;z&quot;:3}"/>
          <p:cNvSpPr/>
          <p:nvPr/>
        </p:nvSpPr>
        <p:spPr>
          <a:xfrm>
            <a:off x="81203" y="8923056"/>
            <a:ext cx="9117898" cy="636629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Retention improved after filtration; the customer pilot remains conditional.</a:t>
            </a:r>
          </a:p>
        </p:txBody>
      </p:sp>
      <p:sp>
        <p:nvSpPr>
          <p:cNvPr id="9" name="VIZ::Filtered final retention KPI" title="Visembler report text roles: metric title, metric value" descr="VisualizerSemantic:{&quot;capability_overrides&quot;:{&quot;target&quot;:94},&quot;composition_role&quot;:&quot;hero_metric&quot;,&quot;delta&quot;:&quot;+4.4 pp&quot;,&quot;element&quot;:&quot;Hero KPI&quot;,&quot;engine&quot;:&quot;MetricEngine&quot;,&quot;groupId&quot;:null,&quot;h&quot;:186.0,&quot;id&quot;:&quot;c6&quot;,&quot;locked&quot;:false,&quot;message_role&quot;:&quot;Supporting Evidence&quot;,&quot;order&quot;:7,&quot;period&quot;:&quot;vs prior period&quot;,&quot;section_id&quot;:&quot;decision&quot;,&quot;section_order&quot;:4,&quot;section_title&quot;:&quot;Decision&quot;,&quot;showTitle&quot;:true,&quot;target&quot;:94,&quot;textAlign&quot;:&quot;left&quot;,&quot;title&quot;:&quot;Filtered final retention&quot;,&quot;type&quot;:&quot;metric&quot;,&quot;unit&quot;:&quot;%&quot;,&quot;value&quot;:93.6,&quot;w&quot;:669.9399999999999,&quot;weight&quot;:1.15,&quot;x&quot;:916.06,&quot;y&quot;:1339.9076470588236,&quot;z&quot;:6}"/>
          <p:cNvSpPr/>
          <p:nvPr/>
        </p:nvSpPr>
        <p:spPr>
          <a:xfrm>
            <a:off x="5313322" y="7771718"/>
            <a:ext cx="3885779" cy="107883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Filtered final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93.6%</a:t>
            </a:r>
          </a:p>
        </p:txBody>
      </p:sp>
      <p:sp>
        <p:nvSpPr>
          <p:cNvPr id="10" name="VIZ::Moisture duplicate · latest KPI" title="Visembler report text roles: metric title, metric value" descr="VisualizerSemantic:{&quot;capability_overrides&quot;:{&quot;target&quot;:20},&quot;composition_role&quot;:&quot;hero_metric&quot;,&quot;delta&quot;:&quot;-1.3 ppm&quot;,&quot;element&quot;:&quot;Hero KPI&quot;,&quot;engine&quot;:&quot;MetricEngine&quot;,&quot;groupId&quot;:null,&quot;h&quot;:186.0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ppm&quot;},&quot;order&quot;:8,&quot;period&quot;:&quot;vs prior period&quot;,&quot;section_id&quot;:&quot;decision&quot;,&quot;section_order&quot;:4,&quot;section_title&quot;:&quot;Decision&quot;,&quot;showTitle&quot;:true,&quot;target&quot;:20,&quot;textAlign&quot;:&quot;left&quot;,&quot;title&quot;:&quot;Moisture duplicate · latest&quot;,&quot;type&quot;:&quot;metric&quot;,&quot;unit&quot;:&quot;ppm&quot;,&quot;value&quot;:18.7,&quot;w&quot;:1572.0,&quot;weight&quot;:1.15,&quot;x&quot;:14.0,&quot;y&quot;:1661.1676470588236,&quot;z&quot;:7}"/>
          <p:cNvSpPr/>
          <p:nvPr/>
        </p:nvSpPr>
        <p:spPr>
          <a:xfrm>
            <a:off x="81203" y="9635087"/>
            <a:ext cx="9117898" cy="107883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Moisture duplicate · latest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18.7 ppm</a:t>
            </a:r>
          </a:p>
        </p:txBody>
      </p:sp>
      <p:sp>
        <p:nvSpPr>
          <p:cNvPr id="11" name="VIZ::Reference versus filtered retention KPI" title="Visembler report text roles: metric title, comparison value" descr="VisualizerSemantic:{&quot;after&quot;:93.6,&quot;before&quot;:89.2,&quot;composition_role&quot;:&quot;supporting_analysis&quot;,&quot;element&quot;:&quot;Before/After KPI&quot;,&quot;engine&quot;:&quot;ComparisonEngine&quot;,&quot;groupId&quot;:null,&quot;h&quot;:195.0,&quot;id&quot;:&quot;c8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9,&quot;section_id&quot;:&quot;decision&quot;,&quot;section_order&quot;:4,&quot;section_title&quot;:&quot;Decision&quot;,&quot;showTitle&quot;:true,&quot;textAlign&quot;:&quot;left&quot;,&quot;title&quot;:&quot;Reference versus filtered retention&quot;,&quot;type&quot;:&quot;comparison&quot;,&quot;unit&quot;:&quot;%&quot;,&quot;w&quot;:888.06,&quot;weight&quot;:1.15,&quot;x&quot;:14.0,&quot;y&quot;:1335.4076470588236,&quot;z&quot;:8}"/>
          <p:cNvSpPr/>
          <p:nvPr/>
        </p:nvSpPr>
        <p:spPr>
          <a:xfrm>
            <a:off x="81203" y="7745617"/>
            <a:ext cx="5150916" cy="113103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Reference versus filtered retention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89.2% → 93.6%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Decision: release 20 pilot cells only after the moisture repeat and trace-metal duplicate pass. Keep the untreated reference running through 200 cycles and review thermal behavior before expanding.&quot;,&quot;composition_role&quot;:&quot;conclusion&quot;,&quot;element&quot;:&quot;Key Takeaway&quot;,&quot;engine&quot;:&quot;TextEngine&quot;,&quot;groupId&quot;:null,&quot;h&quot;:96.0,&quot;id&quot;:&quot;c12&quot;,&quot;locked&quot;:false,&quot;message_role&quot;:&quot;Action&quot;,&quot;order&quot;:10,&quot;section_id&quot;:&quot;decision&quot;,&quot;section_order&quot;:4,&quot;section_title&quot;:&quot;Decision&quot;,&quot;showTitle&quot;:false,&quot;text&quot;:&quot;Decision: release 20 pilot cells only after the moisture repeat and trace-metal duplicate pass. Keep the untreated reference running through 200 cycles and review thermal behavior before expanding.&quot;,&quot;textAlign&quot;:&quot;left&quot;,&quot;title&quot;:&quot;Key Takeaway&quot;,&quot;type&quot;:&quot;text&quot;,&quot;w&quot;:1572.0,&quot;weight&quot;:1.1,&quot;x&quot;:14.0,&quot;y&quot;:1991.0812470588237,&quot;z&quot;:12}"/>
          <p:cNvSpPr/>
          <p:nvPr/>
        </p:nvSpPr>
        <p:spPr>
          <a:xfrm>
            <a:off x="81203" y="11548648"/>
            <a:ext cx="9117898" cy="55681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Decision: release 20 pilot cells only after the moisture repeat and trace-metal duplicate pass. Keep the untreated reference running through 200 cycles and review thermal behavior before expanding.</a:t>
            </a:r>
          </a:p>
        </p:txBody>
      </p:sp>
      <p:sp>
        <p:nvSpPr>
          <p:cNvPr id="13" name="VIZ::Risk Callout" title="Visembler report text roles: text heading, risk decision, evidence detail, action status" descr="VisualizerSemantic:{&quot;composition_role&quot;:&quot;decision_risk&quot;,&quot;detail&quot;:&quot;Stop release if moisture exceeds 20 ppm or copper exceeds 0.10 ppm. The assay repeat is pending; improved retention alone does not authorize shipment.&quot;,&quot;element&quot;:&quot;Risk Callout&quot;,&quot;engine&quot;:&quot;DecisionCompositeEngine&quot;,&quot;groupId&quot;:null,&quot;h&quot;:117.91360000000002,&quot;id&quot;:&quot;c10&quot;,&quot;locked&quot;:false,&quot;message_role&quot;:&quot;Risk&quot;,&quot;order&quot;:11,&quot;section_id&quot;:&quot;decision&quot;,&quot;section_title&quot;:&quot;Decision&quot;,&quot;showTitle&quot;:false,&quot;statement&quot;:&quot;Release 20 pilot cells after duplicate assays pass&quot;,&quot;status&quot;:&quot;Conditional&quot;,&quot;textAlign&quot;:&quot;left&quot;,&quot;title&quot;:&quot;Risk Callout&quot;,&quot;type&quot;:&quot;decision&quot;,&quot;w&quot;:1572.0,&quot;weight&quot;:1.15,&quot;x&quot;:14.0,&quot;y&quot;:1860.1676470588236,&quot;z&quot;:10}"/>
          <p:cNvSpPr/>
          <p:nvPr/>
        </p:nvSpPr>
        <p:spPr>
          <a:xfrm>
            <a:off x="81203" y="10789325"/>
            <a:ext cx="9117898" cy="68392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Release 20 pilot cells after duplicate assays pass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 Narrow"/>
              </a:rPr>
              <a:t>Stop release if moisture exceeds 20 ppm or copper exceeds 0.10 ppm. The assay repeat is pending; improved retention alone does not authorize shipment.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Conditional</a:t>
            </a:r>
          </a:p>
        </p:txBody>
      </p:sp>
      <p:graphicFrame>
        <p:nvGraphicFramePr>
          <p:cNvPr id="14" name="VIZ::Release evidence and unresolved checks" descr="VisualizerSemantic:{&quot;composition_role&quot;:&quot;detailed_evidence&quot;,&quot;customTable&quot;:{&quot;headers&quot;:[&quot;Evidence ID&quot;,&quot;Measurement&quot;,&quot;Criterion&quot;,&quot;Owner&quot;,&quot;Disposition&quot;],&quot;rows&quot;:[[&quot;REL-EL-2609-C-018&quot;,&quot;Retention 93.6%&quot;,&quot;94.0% target&quot;,&quot;Reliability&quot;,&quot;Pilot only&quot;],[&quot;LAB-1006-MOISTURE&quot;,&quot;18.7 ppm&quot;,&quot;20.0 ppm max&quot;,&quot;Analytical&quot;,&quot;Duplicate pending&quot;],[&quot;LAB-1006-COPPER&quot;,&quot;0.08 ppm&quot;,&quot;0.10 ppm max&quot;,&quot;Analytical&quot;,&quot;Verify duplicate&quot;],[&quot;THERM-EL-2609-C&quot;,&quot;34.2 C rise&quot;,&quot;35.0 C watch&quot;,&quot;Safety&quot;,&quot;Repeat at 200 cycles&quot;],[&quot;REF-EL-2609-R&quot;,&quot;89.2% retention&quot;,&quot;Matched conditioning&quot;,&quot;Reliability&quot;,&quot;Continue reference&quot;],[&quot;SHIP-PILOT-0020&quot;,&quot;20 cells proposed&quot;,&quot;All release checks&quot;,&quot;Operations&quot;,&quot;Hold for signatures&quot;]]},&quot;element&quot;:&quot;Clean Table&quot;,&quot;engine&quot;:&quot;TableEngine&quot;,&quot;groupId&quot;:null,&quot;h&quot;:472.12,&quot;id&quot;:&quot;c9&quot;,&quot;locked&quot;:false,&quot;message_role&quot;:&quot;Primary Evidence&quot;,&quot;order&quot;:0,&quot;rows&quot;:[[&quot;REL-EL-2609-C-018&quot;,&quot;Retention 93.6%&quot;,&quot;94.0% target&quot;,&quot;Reliability&quot;,&quot;Pilot only&quot;],[&quot;LAB-1006-MOISTURE&quot;,&quot;18.7 ppm&quot;,&quot;20.0 ppm max&quot;,&quot;Analytical&quot;,&quot;Duplicate pending&quot;],[&quot;LAB-1006-COPPER&quot;,&quot;0.08 ppm&quot;,&quot;0.10 ppm max&quot;,&quot;Analytical&quot;,&quot;Verify duplicate&quot;],[&quot;THERM-EL-2609-C&quot;,&quot;34.2 C rise&quot;,&quot;35.0 C watch&quot;,&quot;Safety&quot;,&quot;Repeat at 200 cycles&quot;],[&quot;REF-EL-2609-R&quot;,&quot;89.2% retention&quot;,&quot;Matched conditioning&quot;,&quot;Reliability&quot;,&quot;Continue reference&quot;],[&quot;SHIP-PILOT-0020&quot;,&quot;20 cells proposed&quot;,&quot;All release checks&quot;,&quot;Operations&quot;,&quot;Hold for signatures&quot;]],&quot;section_id&quot;:&quot;operating-evidence&quot;,&quot;section_title&quot;:&quot;Operating evidence&quot;,&quot;showTitle&quot;:true,&quot;textAlign&quot;:&quot;left&quot;,&quot;title&quot;:&quot;Release evidence and unresolved checks&quot;,&quot;type&quot;:&quot;table&quot;,&quot;w&quot;:810.1600000000001,&quot;weight&quot;:1.55,&quot;x&quot;:775.8399999999999,&quot;y&quot;:40.0,&quot;z&quot;:9}"/>
          <p:cNvGraphicFramePr>
            <a:graphicFrameLocks noGrp="1"/>
          </p:cNvGraphicFramePr>
          <p:nvPr/>
        </p:nvGraphicFramePr>
        <p:xfrm>
          <a:off x="4500019" y="232007"/>
          <a:ext cx="4699081" cy="2738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16"/>
                <a:gridCol w="939816"/>
                <a:gridCol w="939816"/>
                <a:gridCol w="939816"/>
                <a:gridCol w="939817"/>
              </a:tblGrid>
              <a:tr h="391197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Criterion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Disposition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REL-EL-2609-C-018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Retention 93.6%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94.0%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Pilot only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LAB-1006-MOISTURE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18.7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20.0 ppm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Analytical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Duplicate pending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LAB-1006-COPPER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0.08 ppm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0.10 ppm 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Analytical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duplicate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THERM-EL-2609-C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34.2 C rise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35.0 C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Repeat at 200 cycles</a:t>
                      </a:r>
                    </a:p>
                  </a:txBody>
                  <a:tcPr/>
                </a:tc>
              </a:tr>
              <a:tr h="39119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REF-EL-2609-R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89.2%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Matched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Continue reference</a:t>
                      </a:r>
                    </a:p>
                  </a:txBody>
                  <a:tcPr/>
                </a:tc>
              </a:tr>
              <a:tr h="39120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SHIP-PILOT-0020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 cells proposed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All release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 for signatures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VIZ::Capacity retention across cycling checkpoints::chart-label-band"/>
          <p:cNvSpPr/>
          <p:nvPr/>
        </p:nvSpPr>
        <p:spPr>
          <a:xfrm>
            <a:off x="344934" y="5466927"/>
            <a:ext cx="4782218" cy="5328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VIZ::Capacity retention across cycling checkpoints::category-label-axis"/>
          <p:cNvCxnSpPr/>
          <p:nvPr/>
        </p:nvCxnSpPr>
        <p:spPr>
          <a:xfrm>
            <a:off x="881713" y="5478767"/>
            <a:ext cx="4050247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VIZ::Capacity retention across cycling checkpoints::category-label-0"/>
          <p:cNvSpPr txBox="1"/>
          <p:nvPr/>
        </p:nvSpPr>
        <p:spPr>
          <a:xfrm>
            <a:off x="915465" y="5502449"/>
            <a:ext cx="607537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01 · cycle 010</a:t>
            </a:r>
          </a:p>
        </p:txBody>
      </p:sp>
      <p:sp>
        <p:nvSpPr>
          <p:cNvPr id="19" name="VIZ::Capacity retention across cycling checkpoints::category-label-5"/>
          <p:cNvSpPr txBox="1"/>
          <p:nvPr/>
        </p:nvSpPr>
        <p:spPr>
          <a:xfrm>
            <a:off x="1613007" y="5502449"/>
            <a:ext cx="101256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06 · cycle 060</a:t>
            </a:r>
          </a:p>
        </p:txBody>
      </p:sp>
      <p:sp>
        <p:nvSpPr>
          <p:cNvPr id="20" name="VIZ::Capacity retention across cycling checkpoints::category-label-10"/>
          <p:cNvSpPr txBox="1"/>
          <p:nvPr/>
        </p:nvSpPr>
        <p:spPr>
          <a:xfrm>
            <a:off x="2738076" y="5502449"/>
            <a:ext cx="101256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11 · cycle 110</a:t>
            </a:r>
          </a:p>
        </p:txBody>
      </p:sp>
      <p:sp>
        <p:nvSpPr>
          <p:cNvPr id="21" name="VIZ::Capacity retention across cycling checkpoints::category-label-15"/>
          <p:cNvSpPr txBox="1"/>
          <p:nvPr/>
        </p:nvSpPr>
        <p:spPr>
          <a:xfrm>
            <a:off x="3863144" y="5502449"/>
            <a:ext cx="1012561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750">
                <a:latin typeface="Arial"/>
              </a:defRPr>
            </a:pPr>
            <a:r>
              <a:t>16 · cycle 160</a:t>
            </a:r>
          </a:p>
        </p:txBody>
      </p:sp>
      <p:sp>
        <p:nvSpPr>
          <p:cNvPr id="22" name="VIZ::Capacity retention across cycling checkpoints::legend-marker-0"/>
          <p:cNvSpPr/>
          <p:nvPr/>
        </p:nvSpPr>
        <p:spPr>
          <a:xfrm>
            <a:off x="955912" y="5790398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Capacity retention across cycling checkpoints::legend-label-0"/>
          <p:cNvSpPr txBox="1"/>
          <p:nvPr/>
        </p:nvSpPr>
        <p:spPr>
          <a:xfrm>
            <a:off x="1057512" y="5762945"/>
            <a:ext cx="1784824" cy="1184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64">
                <a:latin typeface="Arial"/>
              </a:defRPr>
            </a:pPr>
            <a:r>
              <a:t>Untreated reference</a:t>
            </a:r>
          </a:p>
        </p:txBody>
      </p:sp>
      <p:sp>
        <p:nvSpPr>
          <p:cNvPr id="24" name="VIZ::Capacity retention across cycling checkpoints::legend-marker-1"/>
          <p:cNvSpPr/>
          <p:nvPr/>
        </p:nvSpPr>
        <p:spPr>
          <a:xfrm>
            <a:off x="2956636" y="5790398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Capacity retention across cycling checkpoints::legend-label-1"/>
          <p:cNvSpPr txBox="1"/>
          <p:nvPr/>
        </p:nvSpPr>
        <p:spPr>
          <a:xfrm>
            <a:off x="3058236" y="5762945"/>
            <a:ext cx="1784824" cy="1184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64">
                <a:latin typeface="Arial"/>
              </a:defRPr>
            </a:pPr>
            <a:r>
              <a:t>Filtered candidate</a:t>
            </a:r>
          </a:p>
        </p:txBody>
      </p:sp>
      <p:sp>
        <p:nvSpPr>
          <p:cNvPr id="26" name="VIZ::Capacity retention across cycling checkpoints::legend-marker-2"/>
          <p:cNvSpPr/>
          <p:nvPr/>
        </p:nvSpPr>
        <p:spPr>
          <a:xfrm>
            <a:off x="955912" y="5908805"/>
            <a:ext cx="63500" cy="635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Capacity retention across cycling checkpoints::legend-label-2"/>
          <p:cNvSpPr txBox="1"/>
          <p:nvPr/>
        </p:nvSpPr>
        <p:spPr>
          <a:xfrm>
            <a:off x="1057512" y="5881352"/>
            <a:ext cx="1784824" cy="1184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764">
                <a:latin typeface="Arial"/>
              </a:defRPr>
            </a:pPr>
            <a:r>
              <a:t>Low-salt alternative</a:t>
            </a:r>
          </a:p>
        </p:txBody>
      </p:sp>
      <p:sp>
        <p:nvSpPr>
          <p:cNvPr id="29" name="VIZ::Moisture by assay batch::chart-label-band"/>
          <p:cNvSpPr/>
          <p:nvPr/>
        </p:nvSpPr>
        <p:spPr>
          <a:xfrm>
            <a:off x="5284848" y="5326104"/>
            <a:ext cx="3748117" cy="4176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VIZ::Moisture by assay batch::category-label-axis"/>
          <p:cNvCxnSpPr/>
          <p:nvPr/>
        </p:nvCxnSpPr>
        <p:spPr>
          <a:xfrm>
            <a:off x="5705555" y="5335384"/>
            <a:ext cx="3174426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VIZ::Moisture by assay batch::category-label-0"/>
          <p:cNvSpPr txBox="1"/>
          <p:nvPr/>
        </p:nvSpPr>
        <p:spPr>
          <a:xfrm>
            <a:off x="5745235" y="5353945"/>
            <a:ext cx="714245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78">
                <a:latin typeface="Arial"/>
              </a:defRPr>
            </a:pPr>
            <a:r>
              <a:t>LAB-1001</a:t>
            </a:r>
          </a:p>
        </p:txBody>
      </p:sp>
      <p:sp>
        <p:nvSpPr>
          <p:cNvPr id="32" name="VIZ::Moisture by assay batch::category-label-2"/>
          <p:cNvSpPr txBox="1"/>
          <p:nvPr/>
        </p:nvSpPr>
        <p:spPr>
          <a:xfrm>
            <a:off x="6552068" y="5353945"/>
            <a:ext cx="952327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78">
                <a:latin typeface="Arial"/>
              </a:defRPr>
            </a:pPr>
            <a:r>
              <a:t>LAB-1003</a:t>
            </a:r>
          </a:p>
        </p:txBody>
      </p:sp>
      <p:sp>
        <p:nvSpPr>
          <p:cNvPr id="33" name="VIZ::Moisture by assay batch::category-label-4"/>
          <p:cNvSpPr txBox="1"/>
          <p:nvPr/>
        </p:nvSpPr>
        <p:spPr>
          <a:xfrm>
            <a:off x="7623437" y="5353945"/>
            <a:ext cx="119040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978">
                <a:latin typeface="Arial"/>
              </a:defRPr>
            </a:pPr>
            <a:r>
              <a:t>LAB-1005</a:t>
            </a:r>
          </a:p>
        </p:txBody>
      </p:sp>
      <p:sp>
        <p:nvSpPr>
          <p:cNvPr id="3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checkpoint_1&quot;,&quot;name&quot;:&quot;Checkpoint&quot;,&quot;nullable&quot;:false,&quot;profile&quot;:{&quot;distinct&quot;:18,&quot;missing&quot;:0},&quot;semantic_tags&quot;:[],&quot;type&quot;:&quot;categorical&quot;},{&quot;id&quot;:&quot;formulation_2&quot;,&quot;name&quot;:&quot;Formulation&quot;,&quot;nullable&quot;:false,&quot;profile&quot;:{&quot;distinct&quot;:3,&quot;missing&quot;:0},&quot;semantic_tags&quot;:[],&quot;type&quot;:&quot;categorical&quot;},{&quot;id&quot;:&quot;retention_3&quot;,&quot;name&quot;:&quot;Retention&quot;,&quot;nullable&quot;:false,&quot;profile&quot;:{&quot;distinct&quot;:54,&quot;missing&quot;:0},&quot;semantic_tags&quot;:[],&quot;type&quot;:&quot;number&quot;,&quot;unit&quot;:&quot;&quot;}],&quot;id&quot;:&quot;dataset-muplr2cr-dh9b46&quot;,&quot;metadata&quot;:{&quot;header&quot;:{&quot;confidence&quot;:0.6666666666666666,&quot;present&quot;:true,&quot;source_row&quot;:0}},&quot;name&quot;:&quot;Pasted data&quot;,&quot;revision&quot;:4,&quot;rows&quot;:[[&quot;01 · cycle 010&quot;,&quot;Untreated reference&quot;,99.4],[&quot;01 · cycle 010&quot;,&quot;Filtered candidate&quot;,99.64],[&quot;01 · cycle 010&quot;,&quot;Low-salt alternative&quot;,99.56],[&quot;02 · cycle 020&quot;,&quot;Untreated reference&quot;,98.8],[&quot;02 · cycle 020&quot;,&quot;Filtered candidate&quot;,99.29],[&quot;02 · cycle 020&quot;,&quot;Low-salt alternative&quot;,99.12],[&quot;03 · cycle 030&quot;,&quot;Untreated reference&quot;,98.2],[&quot;03 · cycle 030&quot;,&quot;Filtered candidate&quot;,98.93],[&quot;03 · cycle 030&quot;,&quot;Low-salt alternative&quot;,98.68],[&quot;04 · cycle 040&quot;,&quot;Untreated reference&quot;,97.6],[&quot;04 · cycle 040&quot;,&quot;Filtered candidate&quot;,98.58],[&quot;04 · cycle 040&quot;,&quot;Low-salt alternative&quot;,98.24],[&quot;05 · cycle 050&quot;,&quot;Untreated reference&quot;,97],[&quot;05 · cycle 050&quot;,&quot;Filtered candidate&quot;,98.22],[&quot;05 · cycle 050&quot;,&quot;Low-salt alternative&quot;,97.81],[&quot;06 · cycle 060&quot;,&quot;Untreated reference&quot;,96.4],[&quot;06 · cycle 060&quot;,&quot;Filtered candidate&quot;,97.87],[&quot;06 · cycle 060&quot;,&quot;Low-salt alternative&quot;,97.37],[&quot;07 · cycle 070&quot;,&quot;Untreated reference&quot;,95.8],[&quot;07 · cycle 070&quot;,&quot;Filtered candidate&quot;,97.51],[&quot;07 · cycle 070&quot;,&quot;Low-salt alternative&quot;,96.93],[&quot;08 · cycle 080&quot;,&quot;Untreated reference&quot;,95.2],[&quot;08 · cycle 080&quot;,&quot;Filtered candidate&quot;,97.16],[&quot;08 · cycle 080&quot;,&quot;Low-salt alternative&quot;,96.49],[&quot;09 · cycle 090&quot;,&quot;Untreated reference&quot;,94.6],[&quot;09 · cycle 090&quot;,&quot;Filtered candidate&quot;,96.8],[&quot;09 · cycle 090&quot;,&quot;Low-salt alternative&quot;,96.05],[&quot;10 · cycle 100&quot;,&quot;Untreated reference&quot;,94],[&quot;10 · cycle 100&quot;,&quot;Filtered candidate&quot;,96.44],[&quot;10 · cycle 100&quot;,&quot;Low-salt alternative&quot;,95.61],[&quot;11 · cycle 110&quot;,&quot;Untreated reference&quot;,93.4],[&quot;11 · cycle 110&quot;,&quot;Filtered candidate&quot;,96.09],[&quot;11 · cycle 110&quot;,&quot;Low-salt alternative&quot;,95.17],[&quot;12 · cycle 120&quot;,&quot;Untreated reference&quot;,92.8],[&quot;12 · cycle 120&quot;,&quot;Filtered candidate&quot;,95.73],[&quot;12 · cycle 120&quot;,&quot;Low-salt alternative&quot;,94.73],[&quot;13 · cycle 130&quot;,&quot;Untreated reference&quot;,92.2],[&quot;13 · cycle 130&quot;,&quot;Filtered candidate&quot;,95.38],[&quot;13 · cycle 130&quot;,&quot;Low-salt alternative&quot;,94.29],[&quot;14 · cycle 140&quot;,&quot;Untreated reference&quot;,91.6],[&quot;14 · cycle 140&quot;,&quot;Filtered candidate&quot;,95.02],[&quot;14 · cycle 140&quot;,&quot;Low-salt alternative&quot;,93.86],[&quot;15 · cycle 150&quot;,&quot;Untreated reference&quot;,91],[&quot;15 · cycle 150&quot;,&quot;Filtered candidate&quot;,94.67],[&quot;15 · cycle 150&quot;,&quot;Low-salt alternative&quot;,93.42],[&quot;16 · cycle 160&quot;,&quot;Untreated reference&quot;,90.4],[&quot;16 · cycle 160&quot;,&quot;Filtered candidate&quot;,94.31],[&quot;16 · cycle 160&quot;,&quot;Low-salt alternative&quot;,92.98],[&quot;17 · cycle 170&quot;,&quot;Untreated reference&quot;,89.8],[&quot;17 · cycle 170&quot;,&quot;Filtered candidate&quot;,93.96],[&quot;17 · cycle 170&quot;,&quot;Low-salt alternative&quot;,92.54],[&quot;18 · cycle 180&quot;,&quot;Untreated reference&quot;,89.2],[&quot;18 · cycle 180&quot;,&quot;Filtered candidate&quot;,93.6],[&quot;18 · cycle 180&quot;,&quot;Low-salt alternative&quot;,92.1]],&quot;source&quot;:{&quot;imported_at&quot;:&quot;2026-10-01T14:01:09.291Z&quot;,&quot;kind&quot;:&quot;clipboard&quot;,&quot;label&quot;:&quot;TSV&quot;},&quot;warnings&quot;:[]},{&quot;fields&quot;:[{&quot;id&quot;:&quot;assay_batch_1&quot;,&quot;name&quot;:&quot;Assay batch&quot;,&quot;nullable&quot;:false,&quot;profile&quot;:{&quot;distinct&quot;:6,&quot;missing&quot;:0,&quot;type_override&quot;:true},&quot;semantic_tags&quot;:[],&quot;type&quot;:&quot;categorical&quot;},{&quot;id&quot;:&quot;moisture_ppm_2&quot;,&quot;name&quot;:&quot;Moisture ppm&quot;,&quot;nullable&quot;:false,&quot;profile&quot;:{&quot;distinct&quot;:6,&quot;missing&quot;:0},&quot;semantic_tags&quot;:[],&quot;type&quot;:&quot;number&quot;,&quot;unit&quot;:&quot;&quot;}],&quot;id&quot;:&quot;dataset-muplr4jt-kx200u&quot;,&quot;metadata&quot;:{&quot;header&quot;:{&quot;confidence&quot;:0.75,&quot;present&quot;:true,&quot;source_row&quot;:0}},&quot;name&quot;:&quot;Pasted data&quot;,&quot;revision&quot;:3,&quot;rows&quot;:[[&quot;LAB-1001&quot;,17.6],[&quot;LAB-1002&quot;,18.2],[&quot;LAB-1003&quot;,19.1],[&quot;LAB-1004&quot;,18.4],[&quot;LAB-1005&quot;,18.9],[&quot;LAB-1006&quot;,18.7]],&quot;source&quot;:{&quot;imported_at&quot;:&quot;2026-10-01T14:01:12.137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plr2cr-dh9b46&quot;,&quot;drill&quot;:null,&quot;element&quot;:&quot;Line Chart&quot;,&quot;engine&quot;:&quot;CoreChartEngine&quot;,&quot;groupId&quot;:null,&quot;h&quot;:320,&quot;id&quot;:&quot;c1&quot;,&quot;locked&quot;:false,&quot;mapping&quot;:{&quot;category&quot;:&quot;checkpoint_1&quot;,&quot;series&quot;:&quot;formulation_2&quot;,&quot;value&quot;:&quot;retention_3&quot;,&quot;x&quot;:&quot;checkpoint_1&quot;,&quot;y&quot;:&quot;retention_3&quot;},&quot;message_role&quot;:&quot;Primary Evidence&quot;,&quot;order&quot;:3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Capacity retention across cycling checkpoints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plr4jt-kx200u&quot;,&quot;drill&quot;:null,&quot;element&quot;:&quot;Line Chart&quot;,&quot;engine&quot;:&quot;CoreChartEngine&quot;,&quot;groupId&quot;:null,&quot;h&quot;:320,&quot;id&quot;:&quot;c2&quot;,&quot;locked&quot;:false,&quot;mapping&quot;:{&quot;value&quot;:&quot;moisture_ppm_2&quot;,&quot;x&quot;:&quot;assay_batch_1&quot;,&quot;y&quot;:&quot;moisture_ppm_2&quot;},&quot;message_role&quot;:&quot;Supporting Evidence&quot;,&quot;order&quot;:4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Moisture by assay batch&quot;,&quot;type&quot;:&quot;chart&quot;,&quot;variant&quot;:&quot;line&quot;,&quot;w&quot;:520,&quot;weight&quot;:1.8,&quot;x&quot;:548,&quot;y&quot;:14,&quot;z&quot;:2},{&quot;body&quot;:&quot;Retention improved after filtration; the customer pilot remains conditional.&quot;,&quot;composition_role&quot;:&quot;report_headline&quot;,&quot;element&quot;:&quot;Hero Title&quot;,&quot;engine&quot;:&quot;TextEngine&quot;,&quot;groupId&quot;:null,&quot;h&quot;:109.76,&quot;id&quot;:&quot;c3&quot;,&quot;locked&quot;:false,&quot;message_role&quot;:&quot;Headline&quot;,&quot;order&quot;:6,&quot;section_id&quot;:&quot;decision&quot;,&quot;section_order&quot;:4,&quot;section_title&quot;:&quot;Decision&quot;,&quot;showTitle&quot;:false,&quot;text&quot;:&quot;Retention improved after filtration; the customer pilot remains conditional.&quot;,&quot;textAlign&quot;:&quot;left&quot;,&quot;title&quot;:&quot;Hero Title&quot;,&quot;type&quot;:&quot;text&quot;,&quot;w&quot;:520,&quot;weight&quot;:1.1,&quot;x&quot;:14,&quot;y&quot;:348,&quot;z&quot;:3},{&quot;body&quot;:&quot;Cedar Ionics · EL-2609-C · 18 cycling checkpoints · assay lots LAB-1001 to LAB-1006 · Reliability owner · reviewed 1 October 2026. · Assay 08:20 · cycling 07:55 · duplicate result pending&quot;,&quot;composition_role&quot;:&quot;context&quot;,&quot;element&quot;:&quot;Body Narrative&quot;,&quot;engine&quot;:&quot;TextEngine&quot;,&quot;groupId&quot;:null,&quot;h&quot;:116,&quot;id&quot;:&quot;c4&quot;,&quot;locked&quot;:false,&quot;message_role&quot;:&quot;Context&quot;,&quot;order&quot;:2,&quot;section_id&quot;:&quot;operating-evidence&quot;,&quot;section_title&quot;:&quot;Operating evidence&quot;,&quot;showTitle&quot;:false,&quot;text&quot;:&quot;Cedar Ionics · EL-2609-C · 18 cycling checkpoints · assay lots LAB-1001 to LAB-1006 · Reliability owner · reviewed 1 October 2026. · Assay 08:20 · cycling 07:55 · duplicate result pending&quot;,&quot;textAlign&quot;:&quot;left&quot;,&quot;title&quot;:&quot;Body Narrative&quot;,&quot;type&quot;:&quot;text&quot;,&quot;w&quot;:500,&quot;weight&quot;:1.1,&quot;x&quot;:1082,&quot;y&quot;:14,&quot;z&quot;:4},{&quot;body&quot;:&quot;Filtered samples retain 93.6% capacity at the final checkpoint versus 89.2% in the untreated reference. The third formulation reaches 92.1%. These samples support a limited pilot, but differences in initial conditioning and unresolved moisture results prevent a causal attribution to filtration alone.&quot;,&quot;composition_role&quot;:&quot;narrative_interpretation&quot;,&quot;element&quot;:&quot;Body Narrative&quot;,&quot;engine&quot;:&quot;TextEngine&quot;,&quot;groupId&quot;:null,&quot;h&quot;:116,&quot;id&quot;:&quot;c5&quot;,&quot;locked&quot;:false,&quot;message_role&quot;:&quot;Context&quot;,&quot;order&quot;:1,&quot;section_id&quot;:&quot;operating-evidence&quot;,&quot;section_title&quot;:&quot;Operating evidence&quot;,&quot;showTitle&quot;:false,&quot;text&quot;:&quot;Filtered samples retain 93.6% capacity at the final checkpoint versus 89.2% in the untreated reference. The third formulation reaches 92.1%. These samples support a limited pilot, but differences in initial conditioning and unresolved moisture results prevent a causal attribution to filtration alone.&quot;,&quot;textAlign&quot;:&quot;left&quot;,&quot;title&quot;:&quot;Body Narrative&quot;,&quot;type&quot;:&quot;text&quot;,&quot;w&quot;:500,&quot;weight&quot;:1.1,&quot;x&quot;:1082,&quot;y&quot;:144,&quot;z&quot;:5},{&quot;capability_overrides&quot;:{&quot;target&quot;:94},&quot;composition_role&quot;:&quot;hero_metric&quot;,&quot;delta&quot;:&quot;+4.4 pp&quot;,&quot;element&quot;:&quot;Hero KPI&quot;,&quot;engine&quot;:&quot;MetricEngine&quot;,&quot;groupId&quot;:null,&quot;h&quot;:152.32000000000002,&quot;id&quot;:&quot;c6&quot;,&quot;locked&quot;:false,&quot;message_role&quot;:&quot;Supporting Evidence&quot;,&quot;order&quot;:7,&quot;period&quot;:&quot;vs prior period&quot;,&quot;section_id&quot;:&quot;decision&quot;,&quot;section_order&quot;:4,&quot;section_title&quot;:&quot;Decision&quot;,&quot;showTitle&quot;:true,&quot;target&quot;:94,&quot;textAlign&quot;:&quot;left&quot;,&quot;title&quot;:&quot;Filtered final retention&quot;,&quot;type&quot;:&quot;metric&quot;,&quot;unit&quot;:&quot;%&quot;,&quot;value&quot;:93.6,&quot;w&quot;:520,&quot;weight&quot;:1.15,&quot;x&quot;:548,&quot;y&quot;:348,&quot;z&quot;:6},{&quot;capability_overrides&quot;:{&quot;target&quot;:20},&quot;composition_role&quot;:&quot;hero_metric&quot;,&quot;delta&quot;:&quot;-1.3 ppm&quot;,&quot;element&quot;:&quot;Hero KPI&quot;,&quot;engine&quot;:&quot;MetricEngine&quot;,&quot;groupId&quot;:null,&quot;h&quot;:152.32000000000002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ppm&quot;},&quot;order&quot;:8,&quot;period&quot;:&quot;vs prior period&quot;,&quot;section_id&quot;:&quot;decision&quot;,&quot;section_order&quot;:4,&quot;section_title&quot;:&quot;Decision&quot;,&quot;showTitle&quot;:true,&quot;target&quot;:20,&quot;textAlign&quot;:&quot;left&quot;,&quot;title&quot;:&quot;Moisture duplicate · latest&quot;,&quot;type&quot;:&quot;metric&quot;,&quot;unit&quot;:&quot;ppm&quot;,&quot;value&quot;:18.7,&quot;w&quot;:520,&quot;weight&quot;:1.15,&quot;x&quot;:14,&quot;y&quot;:471.76,&quot;z&quot;:7},{&quot;after&quot;:93.6,&quot;before&quot;:89.2,&quot;composition_role&quot;:&quot;supporting_analysis&quot;,&quot;element&quot;:&quot;Before/After KPI&quot;,&quot;engine&quot;:&quot;ComparisonEngine&quot;,&quot;groupId&quot;:null,&quot;h&quot;:150,&quot;id&quot;:&quot;c8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9,&quot;section_id&quot;:&quot;decision&quot;,&quot;section_order&quot;:4,&quot;section_title&quot;:&quot;Decision&quot;,&quot;showTitle&quot;:true,&quot;textAlign&quot;:&quot;left&quot;,&quot;title&quot;:&quot;Reference versus filtered retention&quot;,&quot;type&quot;:&quot;comparison&quot;,&quot;unit&quot;:&quot;%&quot;,&quot;w&quot;:430,&quot;weight&quot;:1.15,&quot;x&quot;:1082,&quot;y&quot;:274,&quot;z&quot;:8},{&quot;composition_role&quot;:&quot;detailed_evidence&quot;,&quot;customTable&quot;:{&quot;headers&quot;:[&quot;Evidence ID&quot;,&quot;Measurement&quot;,&quot;Criterion&quot;,&quot;Owner&quot;,&quot;Disposition&quot;],&quot;rows&quot;:[[&quot;REL-EL-2609-C-018&quot;,&quot;Retention 93.6%&quot;,&quot;94.0% target&quot;,&quot;Reliability&quot;,&quot;Pilot only&quot;],[&quot;LAB-1006-MOISTURE&quot;,&quot;18.7 ppm&quot;,&quot;20.0 ppm max&quot;,&quot;Analytical&quot;,&quot;Duplicate pending&quot;],[&quot;LAB-1006-COPPER&quot;,&quot;0.08 ppm&quot;,&quot;0.10 ppm max&quot;,&quot;Analytical&quot;,&quot;Verify duplicate&quot;],[&quot;THERM-EL-2609-C&quot;,&quot;34.2 C rise&quot;,&quot;35.0 C watch&quot;,&quot;Safety&quot;,&quot;Repeat at 200 cycles&quot;],[&quot;REF-EL-2609-R&quot;,&quot;89.2% retention&quot;,&quot;Matched conditioning&quot;,&quot;Reliability&quot;,&quot;Continue reference&quot;],[&quot;SHIP-PILOT-0020&quot;,&quot;20 cells proposed&quot;,&quot;All release checks&quot;,&quot;Operations&quot;,&quot;Hold for signatures&quot;]]},&quot;element&quot;:&quot;Clean Table&quot;,&quot;engine&quot;:&quot;TableEngine&quot;,&quot;groupId&quot;:null,&quot;h&quot;:259,&quot;id&quot;:&quot;c9&quot;,&quot;locked&quot;:false,&quot;message_role&quot;:&quot;Primary Evidence&quot;,&quot;order&quot;:0,&quot;rows&quot;:[[&quot;REL-EL-2609-C-018&quot;,&quot;Retention 93.6%&quot;,&quot;94.0% target&quot;,&quot;Reliability&quot;,&quot;Pilot only&quot;],[&quot;LAB-1006-MOISTURE&quot;,&quot;18.7 ppm&quot;,&quot;20.0 ppm max&quot;,&quot;Analytical&quot;,&quot;Duplicate pending&quot;],[&quot;LAB-1006-COPPER&quot;,&quot;0.08 ppm&quot;,&quot;0.10 ppm max&quot;,&quot;Analytical&quot;,&quot;Verify duplicate&quot;],[&quot;THERM-EL-2609-C&quot;,&quot;34.2 C rise&quot;,&quot;35.0 C watch&quot;,&quot;Safety&quot;,&quot;Repeat at 200 cycles&quot;],[&quot;REF-EL-2609-R&quot;,&quot;89.2% retention&quot;,&quot;Matched conditioning&quot;,&quot;Reliability&quot;,&quot;Continue reference&quot;],[&quot;SHIP-PILOT-0020&quot;,&quot;20 cells proposed&quot;,&quot;All release checks&quot;,&quot;Operations&quot;,&quot;Hold for signatures&quot;]],&quot;section_id&quot;:&quot;operating-evidence&quot;,&quot;section_title&quot;:&quot;Operating evidence&quot;,&quot;showTitle&quot;:true,&quot;textAlign&quot;:&quot;left&quot;,&quot;title&quot;:&quot;Release evidence and unresolved checks&quot;,&quot;type&quot;:&quot;table&quot;,&quot;w&quot;:480,&quot;weight&quot;:1.55,&quot;x&quot;:1082,&quot;y&quot;:438,&quot;z&quot;:9},{&quot;composition_role&quot;:&quot;decision_risk&quot;,&quot;detail&quot;:&quot;Stop release if moisture exceeds 20 ppm or copper exceeds 0.10 ppm. The assay repeat is pending; improved retention alone does not authorize shipment.&quot;,&quot;element&quot;:&quot;Risk Callout&quot;,&quot;engine&quot;:&quot;DecisionCompositeEngine&quot;,&quot;groupId&quot;:null,&quot;h&quot;:105.28000000000002,&quot;id&quot;:&quot;c10&quot;,&quot;locked&quot;:false,&quot;message_role&quot;:&quot;Risk&quot;,&quot;order&quot;:11,&quot;section_id&quot;:&quot;decision&quot;,&quot;section_title&quot;:&quot;Decision&quot;,&quot;showTitle&quot;:false,&quot;statement&quot;:&quot;Release 20 pilot cells after duplicate assays pass&quot;,&quot;status&quot;:&quot;Conditional&quot;,&quot;textAlign&quot;:&quot;left&quot;,&quot;title&quot;:&quot;Risk Callout&quot;,&quot;type&quot;:&quot;decision&quot;,&quot;w&quot;:448.00000000000006,&quot;weight&quot;:1.15,&quot;x&quot;:548,&quot;y&quot;:514.32,&quot;z&quot;:10},{&quot;composition_role&quot;:&quot;causal_evidence&quot;,&quot;direction&quot;:&quot;right&quot;,&quot;edges&quot;:[[&quot;Verify moisture duplicate&quot;,&quot;Confirm copper result&quot;],[&quot;Confirm copper result&quot;,&quot;Approve pilot batch&quot;],[&quot;Approve pilot batch&quot;,&quot;Ship twenty cells&quot;],[&quot;Ship twenty cells&quot;,&quot;Review extended cycling&quot;]],&quot;element&quot;:&quot;Process Flow&quot;,&quot;engine&quot;:&quot;DiagramEngine&quot;,&quot;groupId&quot;:null,&quot;h&quot;:220,&quot;id&quot;:&quot;c11&quot;,&quot;locked&quot;:false,&quot;message_role&quot;:&quot;Primary Evidence&quot;,&quot;nodes&quot;:[&quot;Verify moisture duplicate&quot;,&quot;Confirm copper result&quot;,&quot;Approve pilot batch&quot;,&quot;Ship twenty cells&quot;,&quot;Review extended cycling&quot;],&quot;order&quot;:5,&quot;section_id&quot;:&quot;release-checks&quot;,&quot;section_title&quot;:&quot;Release checks&quot;,&quot;showTitle&quot;:true,&quot;textAlign&quot;:&quot;left&quot;,&quot;title&quot;:&quot;Release sequence&quot;,&quot;type&quot;:&quot;diagram&quot;,&quot;w&quot;:520,&quot;weight&quot;:1.5,&quot;x&quot;:548,&quot;y&quot;:633.6,&quot;z&quot;:11},{&quot;body&quot;:&quot;Decision: release 20 pilot cells only after the moisture repeat and trace-metal duplicate pass. Keep the untreated reference running through 200 cycles and review thermal behavior before expanding.&quot;,&quot;composition_role&quot;:&quot;conclusion&quot;,&quot;element&quot;:&quot;Key Takeaway&quot;,&quot;engine&quot;:&quot;TextEngine&quot;,&quot;groupId&quot;:null,&quot;h&quot;:96,&quot;id&quot;:&quot;c12&quot;,&quot;locked&quot;:false,&quot;message_role&quot;:&quot;Action&quot;,&quot;order&quot;:10,&quot;section_id&quot;:&quot;decision&quot;,&quot;section_order&quot;:4,&quot;section_title&quot;:&quot;Decision&quot;,&quot;showTitle&quot;:false,&quot;text&quot;:&quot;Decision: release 20 pilot cells only after the moisture repeat and trace-metal duplicate pass. Keep the untreated reference running through 200 cycles and review thermal behavior before expanding.&quot;,&quot;textAlign&quot;:&quot;left&quot;,&quot;title&quot;:&quot;Key Takeaway&quot;,&quot;type&quot;:&quot;text&quot;,&quot;w&quot;:460.2,&quot;weight&quot;:1.1,&quot;x&quot;:14,&quot;y&quot;:638.08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Release sequence::1" descr="VisualizerDiagramContinuation:{&quot;item_id&quot;:&quot;c11&quot;,&quot;page&quot;:1,&quot;page_count&quot;:1,&quot;direction&quot;:&quot;right&quot;}"/>
          <p:cNvSpPr txBox="1"/>
          <p:nvPr/>
        </p:nvSpPr>
        <p:spPr>
          <a:xfrm>
            <a:off x="512064" y="384048"/>
            <a:ext cx="8256176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Release sequence · Continued 1/1</a:t>
            </a:r>
          </a:p>
        </p:txBody>
      </p:sp>
      <p:sp>
        <p:nvSpPr>
          <p:cNvPr id="3" name="VIZ::Release sequence::Verify moisture duplicate::node-1" descr="VisualizerDiagramNode:{&quot;item_id&quot;:&quot;c11&quot;,&quot;node_index&quot;:0,&quot;label&quot;:&quot;Verify moisture duplicate&quot;,&quot;page&quot;:1,&quot;page_count&quot;:1,&quot;direction&quot;:&quot;right&quot;}"/>
          <p:cNvSpPr/>
          <p:nvPr/>
        </p:nvSpPr>
        <p:spPr>
          <a:xfrm>
            <a:off x="512064" y="5967983"/>
            <a:ext cx="149030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moisture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duplicate</a:t>
            </a:r>
          </a:p>
        </p:txBody>
      </p:sp>
      <p:sp>
        <p:nvSpPr>
          <p:cNvPr id="4" name="VIZ::Release sequence::Confirm copper result::node-2" descr="VisualizerDiagramNode:{&quot;item_id&quot;:&quot;c11&quot;,&quot;node_index&quot;:1,&quot;label&quot;:&quot;Confirm copper result&quot;,&quot;page&quot;:1,&quot;page_count&quot;:1,&quot;direction&quot;:&quot;right&quot;}"/>
          <p:cNvSpPr/>
          <p:nvPr/>
        </p:nvSpPr>
        <p:spPr>
          <a:xfrm>
            <a:off x="2203532" y="5967983"/>
            <a:ext cx="149030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copper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result</a:t>
            </a:r>
          </a:p>
        </p:txBody>
      </p:sp>
      <p:sp>
        <p:nvSpPr>
          <p:cNvPr id="5" name="VIZ::Release sequence::Approve pilot batch::node-3" descr="VisualizerDiagramNode:{&quot;item_id&quot;:&quot;c11&quot;,&quot;node_index&quot;:2,&quot;label&quot;:&quot;Approve pilot batch&quot;,&quot;page&quot;:1,&quot;page_count&quot;:1,&quot;direction&quot;:&quot;right&quot;}"/>
          <p:cNvSpPr/>
          <p:nvPr/>
        </p:nvSpPr>
        <p:spPr>
          <a:xfrm>
            <a:off x="3895000" y="5967983"/>
            <a:ext cx="149030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Approve pilot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batch</a:t>
            </a:r>
          </a:p>
        </p:txBody>
      </p:sp>
      <p:sp>
        <p:nvSpPr>
          <p:cNvPr id="6" name="VIZ::Release sequence::Ship twenty cells::node-4" descr="VisualizerDiagramNode:{&quot;item_id&quot;:&quot;c11&quot;,&quot;node_index&quot;:3,&quot;label&quot;:&quot;Ship twenty cells&quot;,&quot;page&quot;:1,&quot;page_count&quot;:1,&quot;direction&quot;:&quot;right&quot;}"/>
          <p:cNvSpPr/>
          <p:nvPr/>
        </p:nvSpPr>
        <p:spPr>
          <a:xfrm>
            <a:off x="5586468" y="5967983"/>
            <a:ext cx="149030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Ship twenty cells</a:t>
            </a:r>
          </a:p>
        </p:txBody>
      </p:sp>
      <p:sp>
        <p:nvSpPr>
          <p:cNvPr id="7" name="VIZ::Release sequence::Review extended cycling::node-5" descr="VisualizerDiagramNode:{&quot;item_id&quot;:&quot;c11&quot;,&quot;node_index&quot;:4,&quot;label&quot;:&quot;Review extended cycling&quot;,&quot;page&quot;:1,&quot;page_count&quot;:1,&quot;direction&quot;:&quot;right&quot;}"/>
          <p:cNvSpPr/>
          <p:nvPr/>
        </p:nvSpPr>
        <p:spPr>
          <a:xfrm>
            <a:off x="7277936" y="5967983"/>
            <a:ext cx="149030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extended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cycling</a:t>
            </a:r>
          </a:p>
        </p:txBody>
      </p:sp>
      <p:cxnSp>
        <p:nvCxnSpPr>
          <p:cNvPr id="8" name="VIZ::DiagramEdge::Release sequence::1" descr="VisualizerSemanticEdge:{&quot;item_id&quot;:&quot;c11&quot;,&quot;edge_index&quot;:0,&quot;source&quot;:&quot;Verify moisture duplicate&quot;,&quot;target&quot;:&quot;Confirm copper result&quot;,&quot;continuation&quot;:false}"/>
          <p:cNvCxnSpPr/>
          <p:nvPr/>
        </p:nvCxnSpPr>
        <p:spPr>
          <a:xfrm>
            <a:off x="2006936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Release sequence::2" descr="VisualizerSemanticEdge:{&quot;item_id&quot;:&quot;c11&quot;,&quot;edge_index&quot;:1,&quot;source&quot;:&quot;Confirm copper result&quot;,&quot;target&quot;:&quot;Approve pilot batch&quot;,&quot;continuation&quot;:false}"/>
          <p:cNvCxnSpPr/>
          <p:nvPr/>
        </p:nvCxnSpPr>
        <p:spPr>
          <a:xfrm>
            <a:off x="3698404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VIZ::DiagramEdge::Release sequence::3" descr="VisualizerSemanticEdge:{&quot;item_id&quot;:&quot;c11&quot;,&quot;edge_index&quot;:2,&quot;source&quot;:&quot;Approve pilot batch&quot;,&quot;target&quot;:&quot;Ship twenty cells&quot;,&quot;continuation&quot;:false}"/>
          <p:cNvCxnSpPr/>
          <p:nvPr/>
        </p:nvCxnSpPr>
        <p:spPr>
          <a:xfrm>
            <a:off x="5389872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IZ::DiagramEdge::Release sequence::4" descr="VisualizerSemanticEdge:{&quot;item_id&quot;:&quot;c11&quot;,&quot;edge_index&quot;:3,&quot;source&quot;:&quot;Ship twenty cells&quot;,&quot;target&quot;:&quot;Review extended cycling&quot;,&quot;continuation&quot;:false}"/>
          <p:cNvCxnSpPr/>
          <p:nvPr/>
        </p:nvCxnSpPr>
        <p:spPr>
          <a:xfrm>
            <a:off x="7081340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