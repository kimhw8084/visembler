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03968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035"/>
          <c:min val="93.8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5409" y="272599"/>
            <a:ext cx="7220062" cy="8243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450" b="1" i="0">
                <a:solidFill>
                  <a:srgbClr val="172B43"/>
                </a:solidFill>
                <a:latin typeface="Arial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410881" y="439429"/>
            <a:ext cx="3397676" cy="49067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583.7640000000001,&quot;w&quot;:685.52,&quot;h&quot;:185.0}"/>
          <p:cNvSpPr/>
          <p:nvPr/>
        </p:nvSpPr>
        <p:spPr>
          <a:xfrm>
            <a:off x="6136752" y="10793319"/>
            <a:ext cx="4671805" cy="126077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578.2640000000001,&quot;w&quot;:872.4800000000001,&quot;h&quot;:196.0}"/>
          <p:cNvSpPr/>
          <p:nvPr/>
        </p:nvSpPr>
        <p:spPr>
          <a:xfrm>
            <a:off x="95409" y="10755837"/>
            <a:ext cx="5945933" cy="133573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112" name="VIZ::Process stability and specification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1020.0304705882353,&quot;w&quot;:509.52000000000004,&quot;h&quot;:247.26705882352942}"/>
          <p:cNvGraphicFramePr>
            <a:graphicFrameLocks noGrp="1"/>
          </p:cNvGraphicFramePr>
          <p:nvPr/>
        </p:nvGraphicFramePr>
        <p:xfrm>
          <a:off x="3298995" y="6951487"/>
          <a:ext cx="3472368" cy="1685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3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pl9ute-rgrei8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1033.664,&quot;w&quot;:432.32000000000005,&quot;h&quot;:220.0}"/>
          <p:cNvSpPr txBox="1"/>
          <p:nvPr/>
        </p:nvSpPr>
        <p:spPr>
          <a:xfrm>
            <a:off x="6984623" y="7066888"/>
            <a:ext cx="2710551" cy="227575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097" b="1">
                <a:latin typeface="Arial"/>
              </a:defRPr>
            </a:pPr>
            <a:r>
              <a:t>Control versus affected distribution</a:t>
            </a:r>
          </a:p>
        </p:txBody>
      </p:sp>
      <p:cxnSp>
        <p:nvCxnSpPr>
          <p:cNvPr id="114" name="VIZ::c6::box-plot-grid-0"/>
          <p:cNvCxnSpPr/>
          <p:nvPr/>
        </p:nvCxnSpPr>
        <p:spPr>
          <a:xfrm>
            <a:off x="7338173" y="8168870"/>
            <a:ext cx="2386464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VIZ::c6::box-plot-axis-0"/>
          <p:cNvSpPr txBox="1"/>
          <p:nvPr/>
        </p:nvSpPr>
        <p:spPr>
          <a:xfrm>
            <a:off x="6866773" y="8105370"/>
            <a:ext cx="397744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93.55</a:t>
            </a:r>
          </a:p>
        </p:txBody>
      </p:sp>
      <p:cxnSp>
        <p:nvCxnSpPr>
          <p:cNvPr id="116" name="VIZ::c6::box-plot-grid-1"/>
          <p:cNvCxnSpPr/>
          <p:nvPr/>
        </p:nvCxnSpPr>
        <p:spPr>
          <a:xfrm>
            <a:off x="7338173" y="7975668"/>
            <a:ext cx="2386464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VIZ::c6::box-plot-axis-1"/>
          <p:cNvSpPr txBox="1"/>
          <p:nvPr/>
        </p:nvSpPr>
        <p:spPr>
          <a:xfrm>
            <a:off x="6866773" y="7912168"/>
            <a:ext cx="397744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94.925</a:t>
            </a:r>
          </a:p>
        </p:txBody>
      </p:sp>
      <p:cxnSp>
        <p:nvCxnSpPr>
          <p:cNvPr id="118" name="VIZ::c6::box-plot-grid-2"/>
          <p:cNvCxnSpPr/>
          <p:nvPr/>
        </p:nvCxnSpPr>
        <p:spPr>
          <a:xfrm>
            <a:off x="7338173" y="7782467"/>
            <a:ext cx="2386464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VIZ::c6::box-plot-axis-2"/>
          <p:cNvSpPr txBox="1"/>
          <p:nvPr/>
        </p:nvSpPr>
        <p:spPr>
          <a:xfrm>
            <a:off x="6866773" y="7718967"/>
            <a:ext cx="397744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96.3</a:t>
            </a:r>
          </a:p>
        </p:txBody>
      </p:sp>
      <p:cxnSp>
        <p:nvCxnSpPr>
          <p:cNvPr id="120" name="VIZ::c6::box-plot-grid-3"/>
          <p:cNvCxnSpPr/>
          <p:nvPr/>
        </p:nvCxnSpPr>
        <p:spPr>
          <a:xfrm>
            <a:off x="7338173" y="7589266"/>
            <a:ext cx="2386464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c6::box-plot-axis-3"/>
          <p:cNvSpPr txBox="1"/>
          <p:nvPr/>
        </p:nvSpPr>
        <p:spPr>
          <a:xfrm>
            <a:off x="6866773" y="7525766"/>
            <a:ext cx="397744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97.675</a:t>
            </a:r>
          </a:p>
        </p:txBody>
      </p:sp>
      <p:cxnSp>
        <p:nvCxnSpPr>
          <p:cNvPr id="122" name="VIZ::c6::box-plot-grid-4"/>
          <p:cNvCxnSpPr/>
          <p:nvPr/>
        </p:nvCxnSpPr>
        <p:spPr>
          <a:xfrm>
            <a:off x="7338173" y="7396064"/>
            <a:ext cx="2386464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VIZ::c6::box-plot-axis-4"/>
          <p:cNvSpPr txBox="1"/>
          <p:nvPr/>
        </p:nvSpPr>
        <p:spPr>
          <a:xfrm>
            <a:off x="6866773" y="7332564"/>
            <a:ext cx="397744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99.05</a:t>
            </a:r>
          </a:p>
        </p:txBody>
      </p:sp>
      <p:cxnSp>
        <p:nvCxnSpPr>
          <p:cNvPr id="124" name="VIZ::c6::box-plot-0-whisker"/>
          <p:cNvCxnSpPr/>
          <p:nvPr/>
        </p:nvCxnSpPr>
        <p:spPr>
          <a:xfrm>
            <a:off x="7934789.0" y="7431192"/>
            <a:ext cx="0.0" cy="42153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VIZ::c6::box-plot-0-whisker-cap-0"/>
          <p:cNvCxnSpPr/>
          <p:nvPr/>
        </p:nvCxnSpPr>
        <p:spPr>
          <a:xfrm>
            <a:off x="7696143.0" y="7473345"/>
            <a:ext cx="477292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VIZ::c6::box-plot-0-whisker-cap-1"/>
          <p:cNvCxnSpPr/>
          <p:nvPr/>
        </p:nvCxnSpPr>
        <p:spPr>
          <a:xfrm>
            <a:off x="7696143.0" y="7431192"/>
            <a:ext cx="477292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VIZ::c6::box-plot-0-quartiles"/>
          <p:cNvSpPr/>
          <p:nvPr/>
        </p:nvSpPr>
        <p:spPr>
          <a:xfrm>
            <a:off x="7696143" y="7445243"/>
            <a:ext cx="477292" cy="21076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VIZ::c6::box-plot-0-median"/>
          <p:cNvCxnSpPr/>
          <p:nvPr/>
        </p:nvCxnSpPr>
        <p:spPr>
          <a:xfrm>
            <a:off x="7696143.0" y="7459294"/>
            <a:ext cx="477292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7386149" y="8236338"/>
            <a:ext cx="1097280" cy="194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130" name="VIZ::c6::box-plot-1-whisker"/>
          <p:cNvCxnSpPr/>
          <p:nvPr/>
        </p:nvCxnSpPr>
        <p:spPr>
          <a:xfrm>
            <a:off x="9128021.0" y="8021334"/>
            <a:ext cx="0.0" cy="112408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VIZ::c6::box-plot-1-whisker-cap-0"/>
          <p:cNvCxnSpPr/>
          <p:nvPr/>
        </p:nvCxnSpPr>
        <p:spPr>
          <a:xfrm>
            <a:off x="8889375.0" y="8133742"/>
            <a:ext cx="477292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VIZ::c6::box-plot-1-whisker-cap-1"/>
          <p:cNvCxnSpPr/>
          <p:nvPr/>
        </p:nvCxnSpPr>
        <p:spPr>
          <a:xfrm>
            <a:off x="8889375.0" y="8021334"/>
            <a:ext cx="477292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VIZ::c6::box-plot-1-quartiles"/>
          <p:cNvSpPr/>
          <p:nvPr/>
        </p:nvSpPr>
        <p:spPr>
          <a:xfrm>
            <a:off x="8889375" y="8056462"/>
            <a:ext cx="477292" cy="56204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VIZ::c6::box-plot-1-median"/>
          <p:cNvCxnSpPr/>
          <p:nvPr/>
        </p:nvCxnSpPr>
        <p:spPr>
          <a:xfrm>
            <a:off x="8889375.0" y="8091589"/>
            <a:ext cx="477292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8579381" y="8236338"/>
            <a:ext cx="1097280" cy="194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1306.664,&quot;w&quot;:1572.0,&quot;h&quot;:237.60000000000002}"/>
          <p:cNvSpPr/>
          <p:nvPr/>
        </p:nvSpPr>
        <p:spPr>
          <a:xfrm>
            <a:off x="95409" y="8904888"/>
            <a:ext cx="10713148" cy="16192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7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070459" y="1328648"/>
            <a:ext cx="6763049" cy="11585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267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773.704,&quot;w&quot;:1572.0,&quot;h&quot;:180.95999999999998}"/>
          <p:cNvSpPr/>
          <p:nvPr/>
        </p:nvSpPr>
        <p:spPr>
          <a:xfrm>
            <a:off x="95409" y="5272777"/>
            <a:ext cx="10713148" cy="12332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48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pl9slp-xwnf45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988.664,&quot;w&quot;:310.0,&quot;h&quot;:310.0}"/>
          <p:cNvSpPr/>
          <p:nvPr/>
        </p:nvSpPr>
        <p:spPr>
          <a:xfrm>
            <a:off x="1090941" y="6737725"/>
            <a:ext cx="2112644" cy="21126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175446" y="6820021"/>
            <a:ext cx="19436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175446" y="7076053"/>
            <a:ext cx="1943632" cy="338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708666" y="7519890"/>
            <a:ext cx="877192" cy="877192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101543" y="7516233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033227" y="7373586"/>
            <a:ext cx="61403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114368" y="8316819"/>
            <a:ext cx="65789" cy="65789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879631" y="8238574"/>
            <a:ext cx="65789" cy="65789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1957877" y="8238574"/>
            <a:ext cx="65789" cy="65789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036122" y="8238574"/>
            <a:ext cx="65789" cy="657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114368" y="8238574"/>
            <a:ext cx="65789" cy="65789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192613" y="8238574"/>
            <a:ext cx="65789" cy="65789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270859" y="8238574"/>
            <a:ext cx="65789" cy="65789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349104" y="8238574"/>
            <a:ext cx="65789" cy="65789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801386" y="8160328"/>
            <a:ext cx="65789" cy="65789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879631" y="8160328"/>
            <a:ext cx="65789" cy="65789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1957877" y="8160328"/>
            <a:ext cx="65789" cy="65789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036122" y="8160328"/>
            <a:ext cx="65789" cy="65789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114368" y="8160328"/>
            <a:ext cx="65789" cy="657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192613" y="8160328"/>
            <a:ext cx="65789" cy="65789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270859" y="8160328"/>
            <a:ext cx="65789" cy="65789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349104" y="8160328"/>
            <a:ext cx="65789" cy="65789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427350" y="8160328"/>
            <a:ext cx="65789" cy="65789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801386" y="8082082"/>
            <a:ext cx="65789" cy="65789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879631" y="8082082"/>
            <a:ext cx="65789" cy="65789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1957877" y="8082082"/>
            <a:ext cx="65789" cy="65789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036122" y="8082082"/>
            <a:ext cx="65789" cy="65789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114368" y="8082082"/>
            <a:ext cx="65789" cy="65789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192613" y="8082082"/>
            <a:ext cx="65789" cy="657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270859" y="8082082"/>
            <a:ext cx="65789" cy="65789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349104" y="8082082"/>
            <a:ext cx="65789" cy="65789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427350" y="8082082"/>
            <a:ext cx="65789" cy="65789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801386" y="8003837"/>
            <a:ext cx="65789" cy="65789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879631" y="8003837"/>
            <a:ext cx="65789" cy="65789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1957877" y="8003837"/>
            <a:ext cx="65789" cy="65789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036122" y="8003837"/>
            <a:ext cx="65789" cy="65789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114368" y="8003837"/>
            <a:ext cx="65789" cy="65789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192613" y="8003837"/>
            <a:ext cx="65789" cy="65789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270859" y="8003837"/>
            <a:ext cx="65789" cy="657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349104" y="8003837"/>
            <a:ext cx="65789" cy="65789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427350" y="8003837"/>
            <a:ext cx="65789" cy="65789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23140" y="7925591"/>
            <a:ext cx="65789" cy="657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801386" y="7925591"/>
            <a:ext cx="65789" cy="65789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879631" y="7925591"/>
            <a:ext cx="65789" cy="65789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1957877" y="7925591"/>
            <a:ext cx="65789" cy="65789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036122" y="7925591"/>
            <a:ext cx="65789" cy="65789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114368" y="7925591"/>
            <a:ext cx="65789" cy="65789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192613" y="7925591"/>
            <a:ext cx="65789" cy="65789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270859" y="7925591"/>
            <a:ext cx="65789" cy="65789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349104" y="7925591"/>
            <a:ext cx="65789" cy="65789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427350" y="7925591"/>
            <a:ext cx="65789" cy="65789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505596" y="7925591"/>
            <a:ext cx="65789" cy="65789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801386" y="7847346"/>
            <a:ext cx="65789" cy="657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879631" y="7847346"/>
            <a:ext cx="65789" cy="65789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1957877" y="7847346"/>
            <a:ext cx="65789" cy="65789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036122" y="7847346"/>
            <a:ext cx="65789" cy="65789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114368" y="7847346"/>
            <a:ext cx="65789" cy="65789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192613" y="7847346"/>
            <a:ext cx="65789" cy="65789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270859" y="7847346"/>
            <a:ext cx="65789" cy="65789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349104" y="7847346"/>
            <a:ext cx="65789" cy="65789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427350" y="7847346"/>
            <a:ext cx="65789" cy="657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801386" y="7769100"/>
            <a:ext cx="65789" cy="65789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879631" y="7769100"/>
            <a:ext cx="65789" cy="657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1957877" y="7769100"/>
            <a:ext cx="65789" cy="65789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036122" y="7769100"/>
            <a:ext cx="65789" cy="65789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114368" y="7769100"/>
            <a:ext cx="65789" cy="65789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192613" y="7769100"/>
            <a:ext cx="65789" cy="65789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270859" y="7769100"/>
            <a:ext cx="65789" cy="65789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349104" y="7769100"/>
            <a:ext cx="65789" cy="65789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427350" y="7769100"/>
            <a:ext cx="65789" cy="65789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801386" y="7690855"/>
            <a:ext cx="65789" cy="65789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879631" y="7690855"/>
            <a:ext cx="65789" cy="65789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1957877" y="7690855"/>
            <a:ext cx="65789" cy="657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036122" y="7690855"/>
            <a:ext cx="65789" cy="65789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114368" y="7690855"/>
            <a:ext cx="65789" cy="65789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192613" y="7690855"/>
            <a:ext cx="65789" cy="65789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270859" y="7690855"/>
            <a:ext cx="65789" cy="65789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349104" y="7690855"/>
            <a:ext cx="65789" cy="65789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427350" y="7690855"/>
            <a:ext cx="65789" cy="65789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879631" y="7612609"/>
            <a:ext cx="65789" cy="65789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1957877" y="7612609"/>
            <a:ext cx="65789" cy="65789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036122" y="7612609"/>
            <a:ext cx="65789" cy="657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114368" y="7612609"/>
            <a:ext cx="65789" cy="65789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192613" y="7612609"/>
            <a:ext cx="65789" cy="65789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270859" y="7612609"/>
            <a:ext cx="65789" cy="65789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349104" y="7612609"/>
            <a:ext cx="65789" cy="65789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114368" y="7534363"/>
            <a:ext cx="65789" cy="657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200669" y="8433658"/>
            <a:ext cx="189318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200669" y="8643970"/>
            <a:ext cx="190034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413563" y="8643970"/>
            <a:ext cx="190034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26457" y="8643970"/>
            <a:ext cx="190034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839351" y="8643970"/>
            <a:ext cx="190034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052245" y="8643970"/>
            <a:ext cx="190034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265140" y="8643970"/>
            <a:ext cx="190034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478034" y="8643970"/>
            <a:ext cx="190034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690928" y="8643970"/>
            <a:ext cx="190034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2903822" y="8643970"/>
            <a:ext cx="190034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200669" y="8758270"/>
            <a:ext cx="56795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525900" y="8758270"/>
            <a:ext cx="56795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36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372.96000000000004,&quot;w&quot;:1572.0,&quot;h&quot;:366.74399999999997}"/>
          <p:cNvGraphicFramePr>
            <a:graphicFrameLocks noGrp="1"/>
          </p:cNvGraphicFramePr>
          <p:nvPr/>
        </p:nvGraphicFramePr>
        <p:xfrm>
          <a:off x="95409" y="2541714"/>
          <a:ext cx="10713148" cy="2499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287"/>
                <a:gridCol w="2678287"/>
                <a:gridCol w="2678287"/>
                <a:gridCol w="2678287"/>
              </a:tblGrid>
              <a:tr h="6248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2483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62483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7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25323" y="1346936"/>
            <a:ext cx="6653321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38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03.81,&quot;y&quot;:194.96,&quot;w&quot;:992.38,&quot;h&quot;:170.0}"/>
          <p:cNvSpPr/>
          <p:nvPr/>
        </p:nvSpPr>
        <p:spPr>
          <a:xfrm>
            <a:off x="2125323" y="1779905"/>
            <a:ext cx="1512454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39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3838945" y="1779905"/>
            <a:ext cx="1512454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40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552567" y="1779905"/>
            <a:ext cx="1512454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41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266189" y="1779905"/>
            <a:ext cx="1512454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42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3642349" y="2026793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355971" y="2026793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7069593" y="2026793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pl9slp-xwnf45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10-01T13:47:43.501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pl9ute-rgrei8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10-01T13:47:46.370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pl9slp-xwnf45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pl9ute-rgrei8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