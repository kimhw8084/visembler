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834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4354" y="269585"/>
            <a:ext cx="7140239" cy="8152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5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328947" y="434571"/>
            <a:ext cx="3360112" cy="4852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583.7640000000001,&quot;w&quot;:685.52,&quot;h&quot;:205.0}"/>
          <p:cNvSpPr/>
          <p:nvPr/>
        </p:nvSpPr>
        <p:spPr>
          <a:xfrm>
            <a:off x="6068905" y="10673990"/>
            <a:ext cx="4620154" cy="13816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578.2640000000001,&quot;w&quot;:872.4800000000001,&quot;h&quot;:216.0}"/>
          <p:cNvSpPr/>
          <p:nvPr/>
        </p:nvSpPr>
        <p:spPr>
          <a:xfrm>
            <a:off x="94354" y="10636922"/>
            <a:ext cx="5880197" cy="145576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2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020.0304705882353,&quot;w&quot;:509.52000000000004,&quot;h&quot;:247.26705882352942}"/>
          <p:cNvGraphicFramePr>
            <a:graphicFrameLocks noGrp="1"/>
          </p:cNvGraphicFramePr>
          <p:nvPr/>
        </p:nvGraphicFramePr>
        <p:xfrm>
          <a:off x="3262522" y="6874632"/>
          <a:ext cx="3433978" cy="166648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pl9ute-rgrei8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033.664,&quot;w&quot;:432.32000000000005,&quot;h&quot;:220.0}"/>
          <p:cNvSpPr txBox="1"/>
          <p:nvPr/>
        </p:nvSpPr>
        <p:spPr>
          <a:xfrm>
            <a:off x="6907402" y="6988757"/>
            <a:ext cx="2680583" cy="22534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085" b="1">
                <a:latin typeface="Arial"/>
              </a:defRPr>
            </a:pPr>
            <a:r>
              <a:t>Control versus affected distribution</a:t>
            </a:r>
          </a:p>
        </p:txBody>
      </p:sp>
      <p:cxnSp>
        <p:nvCxnSpPr>
          <p:cNvPr id="114" name="VIZ::c6::box-plot-grid-0"/>
          <p:cNvCxnSpPr/>
          <p:nvPr/>
        </p:nvCxnSpPr>
        <p:spPr>
          <a:xfrm>
            <a:off x="7257043" y="8078556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VIZ::c6::box-plot-axis-0"/>
          <p:cNvSpPr txBox="1"/>
          <p:nvPr/>
        </p:nvSpPr>
        <p:spPr>
          <a:xfrm>
            <a:off x="6790855" y="8015056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93.55</a:t>
            </a:r>
          </a:p>
        </p:txBody>
      </p:sp>
      <p:cxnSp>
        <p:nvCxnSpPr>
          <p:cNvPr id="116" name="VIZ::c6::box-plot-grid-1"/>
          <p:cNvCxnSpPr/>
          <p:nvPr/>
        </p:nvCxnSpPr>
        <p:spPr>
          <a:xfrm>
            <a:off x="7257043" y="788784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VIZ::c6::box-plot-axis-1"/>
          <p:cNvSpPr txBox="1"/>
          <p:nvPr/>
        </p:nvSpPr>
        <p:spPr>
          <a:xfrm>
            <a:off x="6790855" y="782434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94.925</a:t>
            </a:r>
          </a:p>
        </p:txBody>
      </p:sp>
      <p:cxnSp>
        <p:nvCxnSpPr>
          <p:cNvPr id="118" name="VIZ::c6::box-plot-grid-2"/>
          <p:cNvCxnSpPr/>
          <p:nvPr/>
        </p:nvCxnSpPr>
        <p:spPr>
          <a:xfrm>
            <a:off x="7257043" y="7697127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VIZ::c6::box-plot-axis-2"/>
          <p:cNvSpPr txBox="1"/>
          <p:nvPr/>
        </p:nvSpPr>
        <p:spPr>
          <a:xfrm>
            <a:off x="6790855" y="7633627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96.3</a:t>
            </a:r>
          </a:p>
        </p:txBody>
      </p:sp>
      <p:cxnSp>
        <p:nvCxnSpPr>
          <p:cNvPr id="120" name="VIZ::c6::box-plot-grid-3"/>
          <p:cNvCxnSpPr/>
          <p:nvPr/>
        </p:nvCxnSpPr>
        <p:spPr>
          <a:xfrm>
            <a:off x="7257043" y="750641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c6::box-plot-axis-3"/>
          <p:cNvSpPr txBox="1"/>
          <p:nvPr/>
        </p:nvSpPr>
        <p:spPr>
          <a:xfrm>
            <a:off x="6790855" y="744291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97.675</a:t>
            </a:r>
          </a:p>
        </p:txBody>
      </p:sp>
      <p:cxnSp>
        <p:nvCxnSpPr>
          <p:cNvPr id="122" name="VIZ::c6::box-plot-grid-4"/>
          <p:cNvCxnSpPr/>
          <p:nvPr/>
        </p:nvCxnSpPr>
        <p:spPr>
          <a:xfrm>
            <a:off x="7257043" y="7315698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VIZ::c6::box-plot-axis-4"/>
          <p:cNvSpPr txBox="1"/>
          <p:nvPr/>
        </p:nvSpPr>
        <p:spPr>
          <a:xfrm>
            <a:off x="6790855" y="7252198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99.05</a:t>
            </a:r>
          </a:p>
        </p:txBody>
      </p:sp>
      <p:cxnSp>
        <p:nvCxnSpPr>
          <p:cNvPr id="124" name="VIZ::c6::box-plot-0-whisker"/>
          <p:cNvCxnSpPr/>
          <p:nvPr/>
        </p:nvCxnSpPr>
        <p:spPr>
          <a:xfrm>
            <a:off x="7847062.75" y="7350373"/>
            <a:ext cx="0.0" cy="41611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VIZ::c6::box-plot-0-whisker-cap-0"/>
          <p:cNvCxnSpPr/>
          <p:nvPr/>
        </p:nvCxnSpPr>
        <p:spPr>
          <a:xfrm>
            <a:off x="7611055.75" y="7391984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1"/>
          <p:cNvCxnSpPr/>
          <p:nvPr/>
        </p:nvCxnSpPr>
        <p:spPr>
          <a:xfrm>
            <a:off x="7611055.75" y="7350373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VIZ::c6::box-plot-0-quartiles"/>
          <p:cNvSpPr/>
          <p:nvPr/>
        </p:nvSpPr>
        <p:spPr>
          <a:xfrm>
            <a:off x="7611055" y="7364244"/>
            <a:ext cx="472014" cy="20805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VIZ::c6::box-plot-0-median"/>
          <p:cNvCxnSpPr/>
          <p:nvPr/>
        </p:nvCxnSpPr>
        <p:spPr>
          <a:xfrm>
            <a:off x="7611055.75" y="7378114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729842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0" name="VIZ::c6::box-plot-1-whisker"/>
          <p:cNvCxnSpPr/>
          <p:nvPr/>
        </p:nvCxnSpPr>
        <p:spPr>
          <a:xfrm>
            <a:off x="9027102.25" y="7932919"/>
            <a:ext cx="0.0" cy="110962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VIZ::c6::box-plot-1-whisker-cap-0"/>
          <p:cNvCxnSpPr/>
          <p:nvPr/>
        </p:nvCxnSpPr>
        <p:spPr>
          <a:xfrm>
            <a:off x="8791095.25" y="8043881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1"/>
          <p:cNvCxnSpPr/>
          <p:nvPr/>
        </p:nvCxnSpPr>
        <p:spPr>
          <a:xfrm>
            <a:off x="8791095.25" y="7932919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VIZ::c6::box-plot-1-quartiles"/>
          <p:cNvSpPr/>
          <p:nvPr/>
        </p:nvSpPr>
        <p:spPr>
          <a:xfrm>
            <a:off x="8791095" y="7967595"/>
            <a:ext cx="472014" cy="55480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VIZ::c6::box-plot-1-median"/>
          <p:cNvCxnSpPr/>
          <p:nvPr/>
        </p:nvCxnSpPr>
        <p:spPr>
          <a:xfrm>
            <a:off x="8791095.25" y="8002270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847846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306.664,&quot;w&quot;:1572.0,&quot;h&quot;:237.60000000000002}"/>
          <p:cNvSpPr/>
          <p:nvPr/>
        </p:nvSpPr>
        <p:spPr>
          <a:xfrm>
            <a:off x="94354" y="8806437"/>
            <a:ext cx="10594705" cy="160133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5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047568" y="1313959"/>
            <a:ext cx="6688279" cy="11457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52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773.704,&quot;w&quot;:1572.0,&quot;h&quot;:180.95999999999998}"/>
          <p:cNvSpPr/>
          <p:nvPr/>
        </p:nvSpPr>
        <p:spPr>
          <a:xfrm>
            <a:off x="94354" y="5214482"/>
            <a:ext cx="10594705" cy="121960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pl9slp-xwnf45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988.664,&quot;w&quot;:310.0,&quot;h&quot;:310.0}"/>
          <p:cNvSpPr/>
          <p:nvPr/>
        </p:nvSpPr>
        <p:spPr>
          <a:xfrm>
            <a:off x="1078880" y="6663233"/>
            <a:ext cx="2089286" cy="20892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162451" y="6745529"/>
            <a:ext cx="19221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162451" y="7001561"/>
            <a:ext cx="1922143" cy="334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691597" y="7438521"/>
            <a:ext cx="863850" cy="86385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077803" y="743486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011222" y="7292217"/>
            <a:ext cx="604695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091128" y="8223329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859962" y="8146274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937017" y="8146274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014073" y="8146274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091128" y="8146274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168184" y="8146274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245239" y="8146274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322294" y="8146274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782906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859962" y="8069218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937017" y="8069218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014073" y="8069218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091128" y="8069218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168184" y="8069218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245239" y="8069218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322294" y="8069218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399350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782906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859962" y="7992163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937017" y="7992163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014073" y="7992163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091128" y="7992163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168184" y="7992163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245239" y="7992163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322294" y="7992163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399350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782906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859962" y="791510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937017" y="791510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014073" y="791510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091128" y="7915107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168184" y="7915107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245239" y="791510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322294" y="791510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399350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05851" y="7838052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782906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859962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937017" y="7838052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014073" y="7838052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091128" y="7838052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168184" y="7838052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245239" y="7838052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322294" y="7838052"/>
            <a:ext cx="64788" cy="64788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399350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476405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782906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859962" y="776099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937017" y="776099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014073" y="776099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091128" y="776099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168184" y="776099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245239" y="7760997"/>
            <a:ext cx="64788" cy="64788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322294" y="7760997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399350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782906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859962" y="7683941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937017" y="7683941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014073" y="7683941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091128" y="7683941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168184" y="7683941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245239" y="7683941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322294" y="7683941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399350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782906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859962" y="7606886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937017" y="7606886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014073" y="7606886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091128" y="7606886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168184" y="7606886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245239" y="7606886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322294" y="7606886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399350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859962" y="7529830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937017" y="7529830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014073" y="7529830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091128" y="7529830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168184" y="7529830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245239" y="7529830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322294" y="7529830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091128" y="7452775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188608" y="8338948"/>
            <a:ext cx="186983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188608" y="8549260"/>
            <a:ext cx="187438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398906" y="8549260"/>
            <a:ext cx="187438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09205" y="8549260"/>
            <a:ext cx="187438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819504" y="8549260"/>
            <a:ext cx="187438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029803" y="8549260"/>
            <a:ext cx="187438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240102" y="8549260"/>
            <a:ext cx="187438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450401" y="8549260"/>
            <a:ext cx="187438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660700" y="8549260"/>
            <a:ext cx="187438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2870999" y="8549260"/>
            <a:ext cx="187438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188608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497489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6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372.96000000000004,&quot;w&quot;:1572.0,&quot;h&quot;:366.74399999999997}"/>
          <p:cNvGraphicFramePr>
            <a:graphicFrameLocks noGrp="1"/>
          </p:cNvGraphicFramePr>
          <p:nvPr/>
        </p:nvGraphicFramePr>
        <p:xfrm>
          <a:off x="94354" y="2513614"/>
          <a:ext cx="10594705" cy="247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676"/>
                <a:gridCol w="2648676"/>
                <a:gridCol w="2648676"/>
                <a:gridCol w="2648677"/>
              </a:tblGrid>
              <a:tr h="61793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7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02432" y="1332247"/>
            <a:ext cx="657855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38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03.81,&quot;y&quot;:194.96,&quot;w&quot;:992.38,&quot;h&quot;:170.0}"/>
          <p:cNvSpPr/>
          <p:nvPr/>
        </p:nvSpPr>
        <p:spPr>
          <a:xfrm>
            <a:off x="2102432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39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3797361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0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492290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1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187219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42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3600765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295694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990623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pl9slp-xwnf45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10-01T13:47:43.501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pl9ute-rgrei8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10-01T13:47:46.370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pl9slp-xwnf45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pl9ute-rgrei8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