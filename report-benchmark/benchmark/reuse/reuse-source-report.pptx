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103250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Regional revenue comparison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80.0</c:v>
                </c:pt>
                <c:pt idx="1">
                  <c:v>95.0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5.7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Regional revenue by area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80.0</c:v>
                </c:pt>
                <c:pt idx="1">
                  <c:v>95.0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5.7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West revenue leads East by 15 units in the regional review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West revenue leads East by 15 units in the regional review.&quot;,&quot;title&quot;:&quot;Executive Statement&quot;,&quot;type&quot;:&quot;text&quot;,&quot;weight&quot;:1,&quot;z&quot;:1,&quot;x&quot;:14.0,&quot;y&quot;:40.0,&quot;w&quot;:1059.44,&quot;h&quot;:122.93120000000002}"/>
          <p:cNvSpPr/>
          <p:nvPr/>
        </p:nvSpPr>
        <p:spPr>
          <a:xfrm>
            <a:off x="106679" y="304800"/>
            <a:ext cx="8072932" cy="93673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"/>
              </a:rPr>
              <a:t>West revenue leads East by 15 units in the regional review.</a:t>
            </a:r>
          </a:p>
        </p:txBody>
      </p:sp>
      <p:sp>
        <p:nvSpPr>
          <p:cNvPr id="3" name="VIZ::Quarterly context" title="Visembler report text roles: text heading, context subhead" descr="VisualizerSemantic:{&quot;body&quot;:&quot;Regional revenue review · East and West · source extract captured for the first report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Regional revenue review · East and West · source extract captured for the first report.&quot;,&quot;title&quot;:&quot;Quarterly context&quot;,&quot;type&quot;:&quot;text&quot;,&quot;weight&quot;:1,&quot;z&quot;:2,&quot;x&quot;:1087.44,&quot;y&quot;:65.46560000000001,&quot;w&quot;:498.56,&quot;h&quot;:72.0}"/>
          <p:cNvSpPr/>
          <p:nvPr/>
        </p:nvSpPr>
        <p:spPr>
          <a:xfrm>
            <a:off x="8286291" y="498848"/>
            <a:ext cx="3799027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Quarterly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Regional revenue review · East and West · source extract captured for the first report.</a:t>
            </a:r>
          </a:p>
        </p:txBody>
      </p:sp>
      <p:sp>
        <p:nvSpPr>
          <p:cNvPr id="4" name="VIZ::Regional revenue total KPI" title="Visembler report text roles: metric title, metric value" descr="VisualizerSemantic:{&quot;composition_role&quot;:&quot;hero_metric&quot;,&quot;delta&quot;:null,&quot;element&quot;:&quot;Hero KPI&quot;,&quot;engine&quot;:&quot;MetricEngine&quot;,&quot;groupId&quot;:null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section_id&quot;:&quot;performance&quot;,&quot;section_title&quot;:&quot;Performance&quot;,&quot;showTitle&quot;:true,&quot;target&quot;:null,&quot;title&quot;:&quot;Regional revenue total&quot;,&quot;type&quot;:&quot;metric&quot;,&quot;unit&quot;:&quot;units&quot;,&quot;value&quot;:175,&quot;weight&quot;:1,&quot;z&quot;:3,&quot;x&quot;:14.0,&quot;y&quot;:202.43120000000002,&quot;w&quot;:648.48,&quot;h&quot;:205.0}"/>
          <p:cNvSpPr/>
          <p:nvPr/>
        </p:nvSpPr>
        <p:spPr>
          <a:xfrm>
            <a:off x="106679" y="1542525"/>
            <a:ext cx="4941417" cy="15621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Regional revenue total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175 units</a:t>
            </a:r>
          </a:p>
        </p:txBody>
      </p:sp>
      <p:sp>
        <p:nvSpPr>
          <p:cNvPr id="5" name="VIZ::West lead over East KPI" title="Visembler report text roles: metric title, metric value" descr="VisualizerSemantic:{&quot;composition_role&quot;:&quot;hero_metric&quot;,&quot;delta&quot;:null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section_id&quot;:&quot;performance&quot;,&quot;section_title&quot;:&quot;Performance&quot;,&quot;showTitle&quot;:true,&quot;target&quot;:null,&quot;title&quot;:&quot;West lead over East&quot;,&quot;type&quot;:&quot;metric&quot;,&quot;unit&quot;:&quot;units&quot;,&quot;value&quot;:15,&quot;weight&quot;:1,&quot;z&quot;:4,&quot;x&quot;:676.48,&quot;y&quot;:204.93120000000002,&quot;w&quot;:447.76,&quot;h&quot;:200.0}"/>
          <p:cNvSpPr/>
          <p:nvPr/>
        </p:nvSpPr>
        <p:spPr>
          <a:xfrm>
            <a:off x="5154777" y="1561575"/>
            <a:ext cx="3411931" cy="15240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West lead over East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15 units</a:t>
            </a:r>
          </a:p>
        </p:txBody>
      </p:sp>
      <p:sp>
        <p:nvSpPr>
          <p:cNvPr id="6" name="VIZ::East to West revenue KPI" title="Visembler report text roles: metric title, comparison value" descr="VisualizerSemantic:{&quot;after&quot;:95,&quot;before&quot;:80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itle&quot;:&quot;East to West revenue&quot;,&quot;type&quot;:&quot;comparison&quot;,&quot;unit&quot;:&quot;units&quot;,&quot;weight&quot;:1,&quot;z&quot;:5,&quot;x&quot;:1138.24,&quot;y&quot;:196.93120000000002,&quot;w&quot;:447.76,&quot;h&quot;:216.0}"/>
          <p:cNvSpPr/>
          <p:nvPr/>
        </p:nvSpPr>
        <p:spPr>
          <a:xfrm>
            <a:off x="8673387" y="1500615"/>
            <a:ext cx="3411931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East to West revenue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80 units → 95 units</a:t>
            </a:r>
          </a:p>
        </p:txBody>
      </p:sp>
      <p:graphicFrame>
        <p:nvGraphicFramePr>
          <p:cNvPr id="12" name="VIZ::Regional revenue by area" descr="VisualizerSemantic:{&quot;brush&quot;:[0,4],&quot;composition_role&quot;:&quot;supporting_analysis&quot;,&quot;cross&quot;:null,&quot;data&quot;:[[&quot;East&quot;,80],[&quot;West&quot;,95]],&quot;dataset_id&quot;:&quot;dataset-muplvupg-b4rk4x&quot;,&quot;drill&quot;:null,&quot;element&quot;:&quot;Vertical Bar&quot;,&quot;engine&quot;:&quot;CoreChartEngine&quot;,&quot;groupId&quot;:null,&quot;id&quot;:&quot;c10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rows&quot;:[{&quot;label&quot;:&quot;East&quot;,&quot;value&quot;:80},{&quot;label&quot;:&quot;West&quot;,&quot;value&quot;:95}]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0,&quot;observations&quot;:[{&quot;label&quot;:&quot;East&quot;,&quot;value&quot;:80},{&quot;label&quot;:&quot;West&quot;,&quot;value&quot;:95}],&quot;x&quot;:133.60606060606062,&quot;y&quot;:446.9312,&quot;w&quot;:659.3939393939394,&quot;h&quot;:320.0}"/>
          <p:cNvGraphicFramePr>
            <a:graphicFrameLocks noGrp="1"/>
          </p:cNvGraphicFramePr>
          <p:nvPr/>
        </p:nvGraphicFramePr>
        <p:xfrm>
          <a:off x="1018078" y="3405615"/>
          <a:ext cx="5024581" cy="24384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3" name="VIZ::Regional revenue comparison" descr="VisualizerSemantic:{&quot;brush&quot;:[0,4],&quot;composition_role&quot;:&quot;supporting_analysis&quot;,&quot;cross&quot;:null,&quot;data&quot;:[[&quot;East&quot;,80],[&quot;West&quot;,95]],&quot;dataset_id&quot;:&quot;dataset-muplvupg-b4rk4x&quot;,&quot;drill&quot;:null,&quot;element&quot;:&quot;Vertical Bar&quot;,&quot;engine&quot;:&quot;CoreChartEngine&quot;,&quot;groupId&quot;:null,&quot;id&quot;:&quot;c11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rows&quot;:[{&quot;label&quot;:&quot;East&quot;,&quot;value&quot;:80},{&quot;label&quot;:&quot;West&quot;,&quot;value&quot;:95}]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11,&quot;observations&quot;:[{&quot;label&quot;:&quot;East&quot;,&quot;value&quot;:80},{&quot;label&quot;:&quot;West&quot;,&quot;value&quot;:95}],&quot;x&quot;:807.0,&quot;y&quot;:446.9312,&quot;w&quot;:659.3939393939394,&quot;h&quot;:320.0}"/>
          <p:cNvGraphicFramePr>
            <a:graphicFrameLocks noGrp="1"/>
          </p:cNvGraphicFramePr>
          <p:nvPr/>
        </p:nvGraphicFramePr>
        <p:xfrm>
          <a:off x="6149339" y="3405615"/>
          <a:ext cx="5024581" cy="2438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VIZ::Risk Callout" title="Visembler report text roles: text heading, risk decision, evidence detail, action status" descr="VisualizerSemantic:{&quot;composition_role&quot;:&quot;decision_risk&quot;,&quot;detail&quot;:&quot;The current review compares two regions; confirm the pattern in the next operating window.&quot;,&quot;element&quot;:&quot;Risk Callout&quot;,&quot;engine&quot;:&quot;DecisionCompositeEngine&quot;,&quot;groupId&quot;:null,&quot;id&quot;:&quot;c8&quot;,&quot;locked&quot;:false,&quot;message_role&quot;:&quot;Risk&quot;,&quot;order&quot;:8,&quot;section_id&quot;:&quot;decision&quot;,&quot;section_title&quot;:&quot;Decision&quot;,&quot;statement&quot;:&quot;Validate the West lead before shifting regional targets&quot;,&quot;status&quot;:&quot;Review&quot;,&quot;title&quot;:&quot;Risk Callout&quot;,&quot;type&quot;:&quot;decision&quot;,&quot;weight&quot;:1,&quot;z&quot;:8,&quot;x&quot;:14.0,&quot;y&quot;:1092.4512,&quot;w&quot;:1572.0,&quot;h&quot;:113.70240000000003}"/>
          <p:cNvSpPr/>
          <p:nvPr/>
        </p:nvSpPr>
        <p:spPr>
          <a:xfrm>
            <a:off x="106679" y="8324477"/>
            <a:ext cx="11978639" cy="86641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Validate the West lead before shifting regional targets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The current review compares two regions; confirm the pattern in the next operating window.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sp>
        <p:nvSpPr>
          <p:cNvPr id="11" name="VIZ::Key Takeaway" title="Visembler report text roles: text heading, conclusion next step" descr="VisualizerSemantic: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9,&quot;section_id&quot;:&quot;delivery&quot;,&quot;section_title&quot;:&quot;Decision and next step&quot;,&quot;text&quot;:&quot;Next step: validate the West lead in the next operating window before shifting regional targets.&quot;,&quot;title&quot;:&quot;Key Takeaway&quot;,&quot;type&quot;:&quot;text&quot;,&quot;weight&quot;:1,&quot;z&quot;:9,&quot;x&quot;:14.0,&quot;y&quot;:1240.1536,&quot;w&quot;:1572.0,&quot;h&quot;:100.80000000000001}"/>
          <p:cNvSpPr/>
          <p:nvPr/>
        </p:nvSpPr>
        <p:spPr>
          <a:xfrm>
            <a:off x="106679" y="9449969"/>
            <a:ext cx="11978639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Next step: validate the West lead in the next operating window before shifting regional targets.</a:t>
            </a:r>
          </a:p>
        </p:txBody>
      </p:sp>
      <p:graphicFrame>
        <p:nvGraphicFramePr>
          <p:cNvPr id="14" name="VIZ::Regional revenue evidence" descr="VisualizerSemantic:{&quot;composition_role&quot;:&quot;detailed_evidence&quot;,&quot;customTable&quot;:{&quot;headers&quot;:[&quot;Region&quot;,&quot;Revenue&quot;,&quot;Reading&quot;,&quot;Source&quot;],&quot;rows&quot;:[[&quot;East&quot;,80,&quot;Comparison baseline&quot;,&quot;Source extract&quot;],[&quot;West&quot;,95,&quot;Leads by 15&quot;,&quot;Source extract&quot;]]},&quot;element&quot;:&quot;Clean Table&quot;,&quot;engine&quot;:&quot;TableEngine&quot;,&quot;groupId&quot;:null,&quot;id&quot;:&quot;c7&quot;,&quot;locked&quot;:false,&quot;message_role&quot;:&quot;Primary Evidence&quot;,&quot;order&quot;:7,&quot;rows&quot;:[[&quot;East&quot;,80,&quot;Comparison baseline&quot;,&quot;Source extract&quot;],[&quot;West&quot;,95,&quot;Leads by 15&quot;,&quot;Source extract&quot;]],&quot;section_id&quot;:&quot;evidence&quot;,&quot;section_title&quot;:&quot;Regional evidence&quot;,&quot;showTitle&quot;:true,&quot;title&quot;:&quot;Regional revenue evidence&quot;,&quot;type&quot;:&quot;table&quot;,&quot;weight&quot;:1,&quot;z&quot;:7,&quot;x&quot;:14.0,&quot;y&quot;:800.9312,&quot;w&quot;:1572.0,&quot;h&quot;:257.52}"/>
          <p:cNvGraphicFramePr>
            <a:graphicFrameLocks noGrp="1"/>
          </p:cNvGraphicFramePr>
          <p:nvPr/>
        </p:nvGraphicFramePr>
        <p:xfrm>
          <a:off x="106679" y="6103095"/>
          <a:ext cx="11978639" cy="1962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4659"/>
                <a:gridCol w="2994659"/>
                <a:gridCol w="2994659"/>
                <a:gridCol w="2994662"/>
              </a:tblGrid>
              <a:tr h="65410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Source</a:t>
                      </a:r>
                    </a:p>
                  </a:txBody>
                  <a:tcPr/>
                </a:tc>
              </a:tr>
              <a:tr h="65410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Comparison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Source extract</a:t>
                      </a:r>
                    </a:p>
                  </a:txBody>
                  <a:tcPr/>
                </a:tc>
              </a:tr>
              <a:tr h="65410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Leads by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Source extract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region_1&quot;,&quot;name&quot;:&quot;Region&quot;,&quot;nullable&quot;:false,&quot;profile&quot;:{&quot;distinct&quot;:2,&quot;missing&quot;:0},&quot;semantic_tags&quot;:[],&quot;type&quot;:&quot;categorical&quot;},{&quot;id&quot;:&quot;revenue_2&quot;,&quot;name&quot;:&quot;Revenue&quot;,&quot;nullable&quot;:false,&quot;profile&quot;:{&quot;distinct&quot;:2,&quot;missing&quot;:0},&quot;semantic_tags&quot;:[],&quot;type&quot;:&quot;integer&quot;,&quot;unit&quot;:&quot;&quot;}],&quot;id&quot;:&quot;dataset-muplvupg-b4rk4x&quot;,&quot;metadata&quot;:{&quot;header&quot;:{&quot;confidence&quot;:0.75,&quot;present&quot;:true,&quot;source_row&quot;:0}},&quot;name&quot;:&quot;Pasted data&quot;,&quot;revision&quot;:1,&quot;rows&quot;:[[&quot;East&quot;,80],[&quot;West&quot;,95]],&quot;source&quot;:{&quot;imported_at&quot;:&quot;2026-10-01T14:04:52.660Z&quot;,&quot;kind&quot;:&quot;clipboard&quot;,&quot;label&quot;:&quot;TSV&quot;},&quot;warnings&quot;:[]}],&quot;groups&quot;:{},&quot;items&quot;:[{&quot;body&quot;:&quot;West revenue leads East by 15 units in the regional review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West revenue leads East by 15 units in the regional review.&quot;,&quot;title&quot;:&quot;Executive Statement&quot;,&quot;type&quot;:&quot;text&quot;,&quot;weight&quot;:1,&quot;z&quot;:1},{&quot;body&quot;:&quot;Regional revenue review · East and West · source extract captured for the first report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Regional revenue review · East and West · source extract captured for the first report.&quot;,&quot;title&quot;:&quot;Quarterly context&quot;,&quot;type&quot;:&quot;text&quot;,&quot;weight&quot;:1,&quot;z&quot;:2},{&quot;composition_role&quot;:&quot;hero_metric&quot;,&quot;delta&quot;:null,&quot;element&quot;:&quot;Hero KPI&quot;,&quot;engine&quot;:&quot;MetricEngine&quot;,&quot;groupId&quot;:null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section_id&quot;:&quot;performance&quot;,&quot;section_title&quot;:&quot;Performance&quot;,&quot;showTitle&quot;:true,&quot;target&quot;:null,&quot;title&quot;:&quot;Regional revenue total&quot;,&quot;type&quot;:&quot;metric&quot;,&quot;unit&quot;:&quot;units&quot;,&quot;value&quot;:175,&quot;weight&quot;:1,&quot;z&quot;:3},{&quot;composition_role&quot;:&quot;hero_metric&quot;,&quot;delta&quot;:null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section_id&quot;:&quot;performance&quot;,&quot;section_title&quot;:&quot;Performance&quot;,&quot;showTitle&quot;:true,&quot;target&quot;:null,&quot;title&quot;:&quot;West lead over East&quot;,&quot;type&quot;:&quot;metric&quot;,&quot;unit&quot;:&quot;units&quot;,&quot;value&quot;:15,&quot;weight&quot;:1,&quot;z&quot;:4},{&quot;after&quot;:95,&quot;before&quot;:80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itle&quot;:&quot;East to West revenue&quot;,&quot;type&quot;:&quot;comparison&quot;,&quot;unit&quot;:&quot;units&quot;,&quot;weight&quot;:1,&quot;z&quot;:5},{&quot;composition_role&quot;:&quot;detailed_evidence&quot;,&quot;customTable&quot;:{&quot;headers&quot;:[&quot;Region&quot;,&quot;Revenue&quot;,&quot;Reading&quot;,&quot;Source&quot;],&quot;rows&quot;:[[&quot;East&quot;,80,&quot;Comparison baseline&quot;,&quot;Source extract&quot;],[&quot;West&quot;,95,&quot;Leads by 15&quot;,&quot;Source extract&quot;]]},&quot;element&quot;:&quot;Clean Table&quot;,&quot;engine&quot;:&quot;TableEngine&quot;,&quot;groupId&quot;:null,&quot;id&quot;:&quot;c7&quot;,&quot;locked&quot;:false,&quot;message_role&quot;:&quot;Primary Evidence&quot;,&quot;order&quot;:7,&quot;rows&quot;:[[&quot;East&quot;,80,&quot;Comparison baseline&quot;,&quot;Source extract&quot;],[&quot;West&quot;,95,&quot;Leads by 15&quot;,&quot;Source extract&quot;]],&quot;section_id&quot;:&quot;evidence&quot;,&quot;section_title&quot;:&quot;Regional evidence&quot;,&quot;showTitle&quot;:true,&quot;title&quot;:&quot;Regional revenue evidence&quot;,&quot;type&quot;:&quot;table&quot;,&quot;weight&quot;:1,&quot;z&quot;:7},{&quot;composition_role&quot;:&quot;decision_risk&quot;,&quot;detail&quot;:&quot;The current review compares two regions; confirm the pattern in the next operating window.&quot;,&quot;element&quot;:&quot;Risk Callout&quot;,&quot;engine&quot;:&quot;DecisionCompositeEngine&quot;,&quot;groupId&quot;:null,&quot;id&quot;:&quot;c8&quot;,&quot;locked&quot;:false,&quot;message_role&quot;:&quot;Risk&quot;,&quot;order&quot;:8,&quot;section_id&quot;:&quot;decision&quot;,&quot;section_title&quot;:&quot;Decision&quot;,&quot;statement&quot;:&quot;Validate the West lead before shifting regional targets&quot;,&quot;status&quot;:&quot;Review&quot;,&quot;title&quot;:&quot;Risk Callout&quot;,&quot;type&quot;:&quot;decision&quot;,&quot;weight&quot;:1,&quot;z&quot;:8},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9,&quot;section_id&quot;:&quot;delivery&quot;,&quot;section_title&quot;:&quot;Decision and next step&quot;,&quot;text&quot;:&quot;Next step: validate the West lead in the next operating window before shifting regional targets.&quot;,&quot;title&quot;:&quot;Key Takeaway&quot;,&quot;type&quot;:&quot;text&quot;,&quot;weight&quot;:1,&quot;z&quot;:9},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plvupg-b4rk4x&quot;,&quot;drill&quot;:null,&quot;element&quot;:&quot;Vertical Bar&quot;,&quot;engine&quot;:&quot;CoreChartEngine&quot;,&quot;groupId&quot;:null,&quot;id&quot;:&quot;c10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0},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plvupg-b4rk4x&quot;,&quot;drill&quot;:null,&quot;element&quot;:&quot;Vertical Bar&quot;,&quot;engine&quot;:&quot;CoreChartEngine&quot;,&quot;groupId&quot;:null,&quot;id&quot;:&quot;c11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11}],&quot;layoutPreset&quot;:&quot;executive&quot;,&quot;mode&quot;:&quot;smart&quot;,&quot;nextId&quot;:1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