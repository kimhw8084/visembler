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7891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8.7</c:v>
                </c:pt>
                <c:pt idx="2">
                  <c:v>9.4</c:v>
                </c:pt>
                <c:pt idx="3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.89"/>
          <c:min val="7.91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7815" y="279472"/>
            <a:ext cx="7402115" cy="8451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597746" y="450510"/>
            <a:ext cx="3483348" cy="50305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1520.32,&quot;w&quot;:685.52,&quot;h&quot;:205.0}"/>
          <p:cNvSpPr/>
          <p:nvPr/>
        </p:nvSpPr>
        <p:spPr>
          <a:xfrm>
            <a:off x="6291490" y="10622200"/>
            <a:ext cx="4789604" cy="143229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515.32,&quot;w&quot;:872.4800000000001,&quot;h&quot;:215.0}"/>
          <p:cNvSpPr/>
          <p:nvPr/>
        </p:nvSpPr>
        <p:spPr>
          <a:xfrm>
            <a:off x="97815" y="10587266"/>
            <a:ext cx="6095859" cy="150216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11" name="VIZ::Conversion by week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pl00zu-bt583x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61.25248484848487,&quot;y&quot;:194.96,&quot;w&quot;:871.4550303030303,&quot;h&quot;:422.91200000000003}"/>
          <p:cNvGraphicFramePr>
            <a:graphicFrameLocks noGrp="1"/>
          </p:cNvGraphicFramePr>
          <p:nvPr/>
        </p:nvGraphicFramePr>
        <p:xfrm>
          <a:off x="427960" y="1362150"/>
          <a:ext cx="6088698" cy="295480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VIZ::c5::box-plot-title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pl035r-t8vm4p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364.00872727272736,&quot;y&quot;:625.8720000000001,&quot;w&quot;:871.9825454545453,&quot;h&quot;:423.16799999999995}"/>
          <p:cNvSpPr txBox="1"/>
          <p:nvPr/>
        </p:nvSpPr>
        <p:spPr>
          <a:xfrm>
            <a:off x="2786958" y="4417202"/>
            <a:ext cx="5604993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Outcome distribution by cohort</a:t>
            </a:r>
          </a:p>
        </p:txBody>
      </p:sp>
      <p:cxnSp>
        <p:nvCxnSpPr>
          <p:cNvPr id="13" name="VIZ::c5::box-plot-grid-0"/>
          <p:cNvCxnSpPr/>
          <p:nvPr/>
        </p:nvCxnSpPr>
        <p:spPr>
          <a:xfrm>
            <a:off x="3518044" y="6590302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c5::box-plot-axis-0"/>
          <p:cNvSpPr txBox="1"/>
          <p:nvPr/>
        </p:nvSpPr>
        <p:spPr>
          <a:xfrm>
            <a:off x="2543263" y="6526802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7.91</a:t>
            </a:r>
          </a:p>
        </p:txBody>
      </p:sp>
      <p:cxnSp>
        <p:nvCxnSpPr>
          <p:cNvPr id="15" name="VIZ::c5::box-plot-grid-1"/>
          <p:cNvCxnSpPr/>
          <p:nvPr/>
        </p:nvCxnSpPr>
        <p:spPr>
          <a:xfrm>
            <a:off x="3518044" y="6183770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IZ::c5::box-plot-axis-1"/>
          <p:cNvSpPr txBox="1"/>
          <p:nvPr/>
        </p:nvSpPr>
        <p:spPr>
          <a:xfrm>
            <a:off x="2543263" y="6120270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8.405</a:t>
            </a:r>
          </a:p>
        </p:txBody>
      </p:sp>
      <p:cxnSp>
        <p:nvCxnSpPr>
          <p:cNvPr id="17" name="VIZ::c5::box-plot-grid-2"/>
          <p:cNvCxnSpPr/>
          <p:nvPr/>
        </p:nvCxnSpPr>
        <p:spPr>
          <a:xfrm>
            <a:off x="3518044" y="5777238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5::box-plot-axis-2"/>
          <p:cNvSpPr txBox="1"/>
          <p:nvPr/>
        </p:nvSpPr>
        <p:spPr>
          <a:xfrm>
            <a:off x="2543263" y="5713738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8.9</a:t>
            </a:r>
          </a:p>
        </p:txBody>
      </p:sp>
      <p:cxnSp>
        <p:nvCxnSpPr>
          <p:cNvPr id="19" name="VIZ::c5::box-plot-grid-3"/>
          <p:cNvCxnSpPr/>
          <p:nvPr/>
        </p:nvCxnSpPr>
        <p:spPr>
          <a:xfrm>
            <a:off x="3518044" y="5370705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Z::c5::box-plot-axis-3"/>
          <p:cNvSpPr txBox="1"/>
          <p:nvPr/>
        </p:nvSpPr>
        <p:spPr>
          <a:xfrm>
            <a:off x="2543263" y="5307205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9.395</a:t>
            </a:r>
          </a:p>
        </p:txBody>
      </p:sp>
      <p:cxnSp>
        <p:nvCxnSpPr>
          <p:cNvPr id="21" name="VIZ::c5::box-plot-grid-4"/>
          <p:cNvCxnSpPr/>
          <p:nvPr/>
        </p:nvCxnSpPr>
        <p:spPr>
          <a:xfrm>
            <a:off x="3518044" y="4964173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5::box-plot-axis-4"/>
          <p:cNvSpPr txBox="1"/>
          <p:nvPr/>
        </p:nvSpPr>
        <p:spPr>
          <a:xfrm>
            <a:off x="2543263" y="4900673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9.89</a:t>
            </a:r>
          </a:p>
        </p:txBody>
      </p:sp>
      <p:cxnSp>
        <p:nvCxnSpPr>
          <p:cNvPr id="23" name="VIZ::c5::box-plot-0-whisker"/>
          <p:cNvCxnSpPr/>
          <p:nvPr/>
        </p:nvCxnSpPr>
        <p:spPr>
          <a:xfrm>
            <a:off x="4751751.75" y="6105748"/>
            <a:ext cx="0.0" cy="410639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c5::box-plot-0-whisker-cap-0"/>
          <p:cNvCxnSpPr/>
          <p:nvPr/>
        </p:nvCxnSpPr>
        <p:spPr>
          <a:xfrm>
            <a:off x="4495719.75" y="6516387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c5::box-plot-0-whisker-cap-1"/>
          <p:cNvCxnSpPr/>
          <p:nvPr/>
        </p:nvCxnSpPr>
        <p:spPr>
          <a:xfrm>
            <a:off x="4495719.75" y="6105748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0-quartiles"/>
          <p:cNvSpPr/>
          <p:nvPr/>
        </p:nvSpPr>
        <p:spPr>
          <a:xfrm>
            <a:off x="4495719" y="6167344"/>
            <a:ext cx="512064" cy="287447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IZ::c5::box-plot-0-median"/>
          <p:cNvCxnSpPr/>
          <p:nvPr/>
        </p:nvCxnSpPr>
        <p:spPr>
          <a:xfrm>
            <a:off x="4495719.75" y="6311068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0-category" title="{&quot;category&quot;:&quot;Control&quot;,&quot;quartiles&quot;:{&quot;n&quot;:4,&quot;min&quot;:8.0,&quot;q1&quot;:8.075,&quot;median&quot;:8.25,&quot;q3&quot;:8.425,&quot;max&quot;:8.5}}"/>
          <p:cNvSpPr txBox="1"/>
          <p:nvPr/>
        </p:nvSpPr>
        <p:spPr>
          <a:xfrm>
            <a:off x="4203111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Control</a:t>
            </a:r>
          </a:p>
        </p:txBody>
      </p:sp>
      <p:cxnSp>
        <p:nvCxnSpPr>
          <p:cNvPr id="29" name="VIZ::c5::box-plot-1-whisker"/>
          <p:cNvCxnSpPr/>
          <p:nvPr/>
        </p:nvCxnSpPr>
        <p:spPr>
          <a:xfrm>
            <a:off x="7219167.25" y="5038088"/>
            <a:ext cx="0.0" cy="1314044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Z::c5::box-plot-1-whisker-cap-0"/>
          <p:cNvCxnSpPr/>
          <p:nvPr/>
        </p:nvCxnSpPr>
        <p:spPr>
          <a:xfrm>
            <a:off x="6963135.25" y="6352132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Z::c5::box-plot-1-whisker-cap-1"/>
          <p:cNvCxnSpPr/>
          <p:nvPr/>
        </p:nvCxnSpPr>
        <p:spPr>
          <a:xfrm>
            <a:off x="6963135.25" y="5038088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1-quartiles"/>
          <p:cNvSpPr/>
          <p:nvPr/>
        </p:nvSpPr>
        <p:spPr>
          <a:xfrm>
            <a:off x="6963135" y="5284471"/>
            <a:ext cx="512064" cy="759682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VIZ::c5::box-plot-1-median"/>
          <p:cNvCxnSpPr/>
          <p:nvPr/>
        </p:nvCxnSpPr>
        <p:spPr>
          <a:xfrm>
            <a:off x="6963135.25" y="5654046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1-category" title="{&quot;category&quot;:&quot;Treatment&quot;,&quot;quartiles&quot;:{&quot;n&quot;:4,&quot;min&quot;:8.2,&quot;q1&quot;:8.575,&quot;median&quot;:9.05,&quot;q3&quot;:9.5,&quot;max&quot;:9.8}}"/>
          <p:cNvSpPr txBox="1"/>
          <p:nvPr/>
        </p:nvSpPr>
        <p:spPr>
          <a:xfrm>
            <a:off x="6670527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Treatment</a:t>
            </a:r>
          </a:p>
        </p:txBody>
      </p:sp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946.7075151515152,&quot;y&quot;:339.136,&quot;w&quot;:592.04,&quot;h&quot;:134.56}"/>
          <p:cNvSpPr/>
          <p:nvPr/>
        </p:nvSpPr>
        <p:spPr>
          <a:xfrm>
            <a:off x="6614473" y="2369481"/>
            <a:ext cx="4136476" cy="940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00" b="0" i="0">
                <a:solidFill>
                  <a:srgbClr val="253649"/>
                </a:solidFill>
                <a:latin typeface="Arial Narrow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376.04,&quot;w&quot;:1572.0,&quot;h&quot;:105.28000000000002}"/>
          <p:cNvSpPr/>
          <p:nvPr/>
        </p:nvSpPr>
        <p:spPr>
          <a:xfrm>
            <a:off x="97815" y="9614142"/>
            <a:ext cx="10983278" cy="73557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35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083.04,&quot;w&quot;:1572.0,&quot;h&quot;:259.0}"/>
          <p:cNvGraphicFramePr>
            <a:graphicFrameLocks noGrp="1"/>
          </p:cNvGraphicFramePr>
          <p:nvPr/>
        </p:nvGraphicFramePr>
        <p:xfrm>
          <a:off x="97815" y="7567004"/>
          <a:ext cx="10983278" cy="180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819"/>
                <a:gridCol w="2745819"/>
                <a:gridCol w="2745819"/>
                <a:gridCol w="2745821"/>
              </a:tblGrid>
              <a:tr h="45239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pl00zu-bt583x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10-01T13:40:07.818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pl035r-t8vm4p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10-01T13:40:10.623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pl035r-t8vm4p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pl00zu-bt583x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