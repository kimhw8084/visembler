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24836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Six-hour pump load by station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East Sluice PS-04</c:v>
                </c:pt>
              </c:strCache>
            </c:strRef>
          </c:tx>
          <c:spPr>
            <a:ln>
              <a:solidFill>
                <a:srgbClr val="1769D1"/>
              </a:solidFill>
            </a:ln>
          </c:spPr>
          <c:cat>
            <c:strRef>
              <c:f>Sheet1!$A$2:$A$17</c:f>
              <c:strCache>
                <c:ptCount val="16"/>
                <c:pt idx="0">
                  <c:v>2026-09-19 00:00–06:00</c:v>
                </c:pt>
                <c:pt idx="1">
                  <c:v>2026-09-19 06:00–12:00</c:v>
                </c:pt>
                <c:pt idx="2">
                  <c:v>2026-09-19 12:00–18:00</c:v>
                </c:pt>
                <c:pt idx="3">
                  <c:v>2026-09-19 18:00–24:00</c:v>
                </c:pt>
                <c:pt idx="4">
                  <c:v>2026-09-20 00:00–06:00</c:v>
                </c:pt>
                <c:pt idx="5">
                  <c:v>2026-09-20 06:00–12:00</c:v>
                </c:pt>
                <c:pt idx="6">
                  <c:v>2026-09-20 12:00–18:00</c:v>
                </c:pt>
                <c:pt idx="7">
                  <c:v>2026-09-20 18:00–24:00</c:v>
                </c:pt>
                <c:pt idx="8">
                  <c:v>2026-09-21 00:00–06:00</c:v>
                </c:pt>
                <c:pt idx="9">
                  <c:v>2026-09-21 06:00–12:00</c:v>
                </c:pt>
                <c:pt idx="10">
                  <c:v>2026-09-21 12:00–18:00</c:v>
                </c:pt>
                <c:pt idx="11">
                  <c:v>2026-09-21 18:00–24:00</c:v>
                </c:pt>
                <c:pt idx="12">
                  <c:v>2026-09-22 00:00–06:00</c:v>
                </c:pt>
                <c:pt idx="13">
                  <c:v>2026-09-22 06:00–12:00</c:v>
                </c:pt>
                <c:pt idx="14">
                  <c:v>2026-09-22 12:00–18:00</c:v>
                </c:pt>
                <c:pt idx="15">
                  <c:v>2026-09-22 18:00–24:00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43.0</c:v>
                </c:pt>
                <c:pt idx="1">
                  <c:v>46.0</c:v>
                </c:pt>
                <c:pt idx="2">
                  <c:v>51.0</c:v>
                </c:pt>
                <c:pt idx="3">
                  <c:v>48.0</c:v>
                </c:pt>
                <c:pt idx="4">
                  <c:v>54.0</c:v>
                </c:pt>
                <c:pt idx="5">
                  <c:v>58.0</c:v>
                </c:pt>
                <c:pt idx="6">
                  <c:v>62.0</c:v>
                </c:pt>
                <c:pt idx="7">
                  <c:v>55.0</c:v>
                </c:pt>
                <c:pt idx="8">
                  <c:v>57.0</c:v>
                </c:pt>
                <c:pt idx="9">
                  <c:v>64.0</c:v>
                </c:pt>
                <c:pt idx="10">
                  <c:v>61.0</c:v>
                </c:pt>
                <c:pt idx="11">
                  <c:v>58.0</c:v>
                </c:pt>
                <c:pt idx="12">
                  <c:v>53.0</c:v>
                </c:pt>
                <c:pt idx="13">
                  <c:v>49.0</c:v>
                </c:pt>
                <c:pt idx="14">
                  <c:v>44.0</c:v>
                </c:pt>
                <c:pt idx="15">
                  <c:v>41.0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Delta Yard PS-17</c:v>
                </c:pt>
              </c:strCache>
            </c:strRef>
          </c:tx>
          <c:spPr>
            <a:ln>
              <a:solidFill>
                <a:srgbClr val="2E8B72"/>
              </a:solidFill>
            </a:ln>
          </c:spPr>
          <c:cat>
            <c:strRef>
              <c:f>Sheet1!$A$2:$A$17</c:f>
              <c:strCache>
                <c:ptCount val="16"/>
                <c:pt idx="0">
                  <c:v>2026-09-19 00:00–06:00</c:v>
                </c:pt>
                <c:pt idx="1">
                  <c:v>2026-09-19 06:00–12:00</c:v>
                </c:pt>
                <c:pt idx="2">
                  <c:v>2026-09-19 12:00–18:00</c:v>
                </c:pt>
                <c:pt idx="3">
                  <c:v>2026-09-19 18:00–24:00</c:v>
                </c:pt>
                <c:pt idx="4">
                  <c:v>2026-09-20 00:00–06:00</c:v>
                </c:pt>
                <c:pt idx="5">
                  <c:v>2026-09-20 06:00–12:00</c:v>
                </c:pt>
                <c:pt idx="6">
                  <c:v>2026-09-20 12:00–18:00</c:v>
                </c:pt>
                <c:pt idx="7">
                  <c:v>2026-09-20 18:00–24:00</c:v>
                </c:pt>
                <c:pt idx="8">
                  <c:v>2026-09-21 00:00–06:00</c:v>
                </c:pt>
                <c:pt idx="9">
                  <c:v>2026-09-21 06:00–12:00</c:v>
                </c:pt>
                <c:pt idx="10">
                  <c:v>2026-09-21 12:00–18:00</c:v>
                </c:pt>
                <c:pt idx="11">
                  <c:v>2026-09-21 18:00–24:00</c:v>
                </c:pt>
                <c:pt idx="12">
                  <c:v>2026-09-22 00:00–06:00</c:v>
                </c:pt>
                <c:pt idx="13">
                  <c:v>2026-09-22 06:00–12:00</c:v>
                </c:pt>
                <c:pt idx="14">
                  <c:v>2026-09-22 12:00–18:00</c:v>
                </c:pt>
                <c:pt idx="15">
                  <c:v>2026-09-22 18:00–24:00</c:v>
                </c:pt>
              </c:strCache>
            </c:strRef>
          </c:cat>
          <c:val>
            <c:numRef>
              <c:f>Sheet1!$C$2:$C$17</c:f>
              <c:numCache>
                <c:formatCode>General</c:formatCode>
                <c:ptCount val="16"/>
                <c:pt idx="0">
                  <c:v>55.0</c:v>
                </c:pt>
                <c:pt idx="1">
                  <c:v>57.0</c:v>
                </c:pt>
                <c:pt idx="2">
                  <c:v>60.0</c:v>
                </c:pt>
                <c:pt idx="3">
                  <c:v>59.0</c:v>
                </c:pt>
                <c:pt idx="4">
                  <c:v>63.0</c:v>
                </c:pt>
                <c:pt idx="5">
                  <c:v>67.0</c:v>
                </c:pt>
                <c:pt idx="6">
                  <c:v>72.0</c:v>
                </c:pt>
                <c:pt idx="7">
                  <c:v>69.0</c:v>
                </c:pt>
                <c:pt idx="8">
                  <c:v>73.0</c:v>
                </c:pt>
                <c:pt idx="9">
                  <c:v>77.0</c:v>
                </c:pt>
                <c:pt idx="10">
                  <c:v>75.0</c:v>
                </c:pt>
                <c:pt idx="11">
                  <c:v>72.0</c:v>
                </c:pt>
                <c:pt idx="12">
                  <c:v>66.0</c:v>
                </c:pt>
                <c:pt idx="13">
                  <c:v>63.0</c:v>
                </c:pt>
                <c:pt idx="14">
                  <c:v>59.0</c:v>
                </c:pt>
                <c:pt idx="15">
                  <c:v>56.0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Marsh Gate PS-31</c:v>
                </c:pt>
              </c:strCache>
            </c:strRef>
          </c:tx>
          <c:spPr>
            <a:ln>
              <a:solidFill>
                <a:srgbClr val="B7791F"/>
              </a:solidFill>
            </a:ln>
          </c:spPr>
          <c:cat>
            <c:strRef>
              <c:f>Sheet1!$A$2:$A$17</c:f>
              <c:strCache>
                <c:ptCount val="16"/>
                <c:pt idx="0">
                  <c:v>2026-09-19 00:00–06:00</c:v>
                </c:pt>
                <c:pt idx="1">
                  <c:v>2026-09-19 06:00–12:00</c:v>
                </c:pt>
                <c:pt idx="2">
                  <c:v>2026-09-19 12:00–18:00</c:v>
                </c:pt>
                <c:pt idx="3">
                  <c:v>2026-09-19 18:00–24:00</c:v>
                </c:pt>
                <c:pt idx="4">
                  <c:v>2026-09-20 00:00–06:00</c:v>
                </c:pt>
                <c:pt idx="5">
                  <c:v>2026-09-20 06:00–12:00</c:v>
                </c:pt>
                <c:pt idx="6">
                  <c:v>2026-09-20 12:00–18:00</c:v>
                </c:pt>
                <c:pt idx="7">
                  <c:v>2026-09-20 18:00–24:00</c:v>
                </c:pt>
                <c:pt idx="8">
                  <c:v>2026-09-21 00:00–06:00</c:v>
                </c:pt>
                <c:pt idx="9">
                  <c:v>2026-09-21 06:00–12:00</c:v>
                </c:pt>
                <c:pt idx="10">
                  <c:v>2026-09-21 12:00–18:00</c:v>
                </c:pt>
                <c:pt idx="11">
                  <c:v>2026-09-21 18:00–24:00</c:v>
                </c:pt>
                <c:pt idx="12">
                  <c:v>2026-09-22 00:00–06:00</c:v>
                </c:pt>
                <c:pt idx="13">
                  <c:v>2026-09-22 06:00–12:00</c:v>
                </c:pt>
                <c:pt idx="14">
                  <c:v>2026-09-22 12:00–18:00</c:v>
                </c:pt>
                <c:pt idx="15">
                  <c:v>2026-09-22 18:00–24:00</c:v>
                </c:pt>
              </c:strCache>
            </c:strRef>
          </c:cat>
          <c:val>
            <c:numRef>
              <c:f>Sheet1!$D$2:$D$17</c:f>
              <c:numCache>
                <c:formatCode>General</c:formatCode>
                <c:ptCount val="16"/>
                <c:pt idx="0">
                  <c:v>62.0</c:v>
                </c:pt>
                <c:pt idx="1">
                  <c:v>68.0</c:v>
                </c:pt>
                <c:pt idx="2">
                  <c:v>74.0</c:v>
                </c:pt>
                <c:pt idx="3">
                  <c:v>79.0</c:v>
                </c:pt>
                <c:pt idx="4">
                  <c:v>83.0</c:v>
                </c:pt>
                <c:pt idx="5">
                  <c:v>86.0</c:v>
                </c:pt>
                <c:pt idx="6">
                  <c:v>89.0</c:v>
                </c:pt>
                <c:pt idx="7">
                  <c:v>91.0</c:v>
                </c:pt>
                <c:pt idx="8">
                  <c:v>88.0</c:v>
                </c:pt>
                <c:pt idx="9">
                  <c:v>92.0</c:v>
                </c:pt>
                <c:pt idx="10">
                  <c:v>95.0</c:v>
                </c:pt>
                <c:pt idx="11">
                  <c:v>93.0</c:v>
                </c:pt>
                <c:pt idx="12">
                  <c:v>87.0</c:v>
                </c:pt>
                <c:pt idx="13">
                  <c:v>80.0</c:v>
                </c:pt>
                <c:pt idx="14">
                  <c:v>76.0</c:v>
                </c:pt>
                <c:pt idx="15">
                  <c:v>71.0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-2100000"/>
          <a:lstStyle/>
          <a:p>
            <a:pPr>
              <a:defRPr sz="8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tickLblSkip val="6"/>
        <c:noMultiLvlLbl val="0"/>
      </c:catAx>
      <c:valAx>
        <c:axId val="2140495176"/>
        <c:scaling>
          <c:max val="97.7"/>
          <c:min val="38.3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title="Visembler report text roles: text heading, report headline" descr="VisualizerSemantic:{&quot;body&quot;:&quot;Stage the Tidal Gate fleet by basin; sensor drift prevents a full green release.&quot;,&quot;composition_role&quot;:&quot;report_headline&quot;,&quot;element&quot;:&quot;Hero Title&quot;,&quot;engine&quot;:&quot;TextEngine&quot;,&quot;groupId&quot;:null,&quot;h&quot;:109.76,&quot;id&quot;:&quot;c1&quot;,&quot;locked&quot;:false,&quot;message_role&quot;:&quot;Headline&quot;,&quot;order&quot;:0,&quot;section_id&quot;:&quot;opening&quot;,&quot;section_title&quot;:&quot;Overview&quot;,&quot;showTitle&quot;:false,&quot;text&quot;:&quot;Stage the Tidal Gate fleet by basin; sensor drift prevents a full green release.&quot;,&quot;textAlign&quot;:&quot;left&quot;,&quot;title&quot;:&quot;Hero Title&quot;,&quot;type&quot;:&quot;text&quot;,&quot;w&quot;:1572.0,&quot;weight&quot;:1.1,&quot;x&quot;:14.0,&quot;y&quot;:40.0,&quot;z&quot;:1}"/>
          <p:cNvSpPr/>
          <p:nvPr/>
        </p:nvSpPr>
        <p:spPr>
          <a:xfrm>
            <a:off x="92967" y="265620"/>
            <a:ext cx="10438900" cy="72886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Hero Title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Stage the Tidal Gate fleet by basin; sensor drift prevents a full green release.</a:t>
            </a:r>
          </a:p>
        </p:txBody>
      </p:sp>
      <p:sp>
        <p:nvSpPr>
          <p:cNvPr id="3" name="VIZ::Fleet readiness KPI" title="Visembler report text roles: metric title, metric value" descr="VisualizerSemantic:{&quot;composition_role&quot;:&quot;hero_metric&quot;,&quot;delta&quot;:7,&quot;element&quot;:&quot;Hero KPI&quot;,&quot;engine&quot;:&quot;MetricEngine&quot;,&quot;groupId&quot;:null,&quot;h&quot;:186.0,&quot;id&quot;:&quot;c2&quot;,&quot;locked&quot;:false,&quot;message_role&quot;:&quot;Supporting Evidence&quot;,&quot;order&quot;:1,&quot;period&quot;:&quot;vs prior period&quot;,&quot;section_id&quot;:&quot;performance&quot;,&quot;section_title&quot;:&quot;Performance&quot;,&quot;showTitle&quot;:true,&quot;target&quot;:90,&quot;textAlign&quot;:&quot;left&quot;,&quot;title&quot;:&quot;Fleet readiness&quot;,&quot;type&quot;:&quot;metric&quot;,&quot;unit&quot;:&quot;%&quot;,&quot;value&quot;:82,&quot;w&quot;:872.4800000000001,&quot;weight&quot;:1.15,&quot;x&quot;:14.0,&quot;y&quot;:188.76,&quot;z&quot;:2}"/>
          <p:cNvSpPr/>
          <p:nvPr/>
        </p:nvSpPr>
        <p:spPr>
          <a:xfrm>
            <a:off x="92967" y="1253464"/>
            <a:ext cx="5793722" cy="1235137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Fleet readiness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82%</a:t>
            </a:r>
          </a:p>
        </p:txBody>
      </p:sp>
      <p:sp>
        <p:nvSpPr>
          <p:cNvPr id="4" name="VIZ::Mean load: Marsh 4 vs East Sluice KPI" title="Visembler report text roles: metric title, comparison value" descr="VisualizerSemantic:{&quot;after&quot;:58,&quot;before&quot;:71,&quot;composition_role&quot;:&quot;hero_metric&quot;,&quot;element&quot;:&quot;Before/After KPI&quot;,&quot;engine&quot;:&quot;ComparisonEngine&quot;,&quot;groupId&quot;:null,&quot;h&quot;:196.0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&quot;},&quot;order&quot;:2,&quot;section_id&quot;:&quot;performance&quot;,&quot;section_title&quot;:&quot;Performance&quot;,&quot;showTitle&quot;:true,&quot;textAlign&quot;:&quot;left&quot;,&quot;title&quot;:&quot;Mean load: Marsh 4 vs East Sluice&quot;,&quot;type&quot;:&quot;comparison&quot;,&quot;unit&quot;:&quot;%&quot;,&quot;w&quot;:685.52,&quot;weight&quot;:1.15,&quot;x&quot;:900.4800000000001,&quot;y&quot;:183.76,&quot;z&quot;:3}"/>
          <p:cNvSpPr/>
          <p:nvPr/>
        </p:nvSpPr>
        <p:spPr>
          <a:xfrm>
            <a:off x="5979657" y="1220262"/>
            <a:ext cx="4552210" cy="130154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Mean load: Marsh 4 vs East Sluice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71% → 58%</a:t>
            </a:r>
          </a:p>
        </p:txBody>
      </p:sp>
      <p:graphicFrame>
        <p:nvGraphicFramePr>
          <p:cNvPr id="12" name="VIZ::Six-hour pump load by station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6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interval_window_1&quot;,&quot;name&quot;:&quot;Interval window&quot;,&quot;nullable&quot;:false,&quot;profile&quot;:{&quot;distinct&quot;:16,&quot;missing&quot;:0},&quot;semantic_tags&quot;:[],&quot;type&quot;:&quot;categorical&quot;},{&quot;id&quot;:&quot;pump_station_identifier_2&quot;,&quot;name&quot;:&quot;Pump station identifier&quot;,&quot;nullable&quot;:false,&quot;profile&quot;:{&quot;distinct&quot;:3,&quot;missing&quot;:0},&quot;semantic_tags&quot;:[],&quot;type&quot;:&quot;categorical&quot;},{&quot;id&quot;:&quot;duty_load_percent_3&quot;,&quot;name&quot;:&quot;Duty load percent&quot;,&quot;nullable&quot;:false,&quot;profile&quot;:{&quot;distinct&quot;:41,&quot;missing&quot;:0},&quot;semantic_tags&quot;:[],&quot;type&quot;:&quot;integer&quot;,&quot;unit&quot;:&quot;&quot;}],&quot;id&quot;:&quot;dataset-mujcz94w-6czwan&quot;,&quot;metadata&quot;:{&quot;header&quot;:{&quot;confidence&quot;:0.6666666666666666,&quot;present&quot;:true,&quot;source_row&quot;:0}},&quot;name&quot;:&quot;Pasted data&quot;,&quot;revision&quot;:1,&quot;rows&quot;:[[&quot;2026-09-19 00:00–06:00&quot;,&quot;East Sluice PS-04&quot;,43],[&quot;2026-09-19 00:00–06:00&quot;,&quot;Delta Yard PS-17&quot;,55],[&quot;2026-09-19 00:00–06:00&quot;,&quot;Marsh Gate PS-31&quot;,62],[&quot;2026-09-19 06:00–12:00&quot;,&quot;East Sluice PS-04&quot;,46],[&quot;2026-09-19 06:00–12:00&quot;,&quot;Delta Yard PS-17&quot;,57],[&quot;2026-09-19 06:00–12:00&quot;,&quot;Marsh Gate PS-31&quot;,68],[&quot;2026-09-19 12:00–18:00&quot;,&quot;East Sluice PS-04&quot;,51],[&quot;2026-09-19 12:00–18:00&quot;,&quot;Delta Yard PS-17&quot;,60],[&quot;2026-09-19 12:00–18:00&quot;,&quot;Marsh Gate PS-31&quot;,74],[&quot;2026-09-19 18:00–24:00&quot;,&quot;East Sluice PS-04&quot;,48],[&quot;2026-09-19 18:00–24:00&quot;,&quot;Delta Yard PS-17&quot;,59],[&quot;2026-09-19 18:00–24:00&quot;,&quot;Marsh Gate PS-31&quot;,79],[&quot;2026-09-20 00:00–06:00&quot;,&quot;East Sluice PS-04&quot;,54],[&quot;2026-09-20 00:00–06:00&quot;,&quot;Delta Yard PS-17&quot;,63],[&quot;2026-09-20 00:00–06:00&quot;,&quot;Marsh Gate PS-31&quot;,83],[&quot;2026-09-20 06:00–12:00&quot;,&quot;East Sluice PS-04&quot;,58],[&quot;2026-09-20 06:00–12:00&quot;,&quot;Delta Yard PS-17&quot;,67],[&quot;2026-09-20 06:00–12:00&quot;,&quot;Marsh Gate PS-31&quot;,86],[&quot;2026-09-20 12:00–18:00&quot;,&quot;East Sluice PS-04&quot;,62],[&quot;2026-09-20 12:00–18:00&quot;,&quot;Delta Yard PS-17&quot;,72],[&quot;2026-09-20 12:00–18:00&quot;,&quot;Marsh Gate PS-31&quot;,89],[&quot;2026-09-20 18:00–24:00&quot;,&quot;East Sluice PS-04&quot;,55],[&quot;2026-09-20 18:00–24:00&quot;,&quot;Delta Yard PS-17&quot;,69],[&quot;2026-09-20 18:00–24:00&quot;,&quot;Marsh Gate PS-31&quot;,91],[&quot;2026-09-21 00:00–06:00&quot;,&quot;East Sluice PS-04&quot;,57],[&quot;2026-09-21 00:00–06:00&quot;,&quot;Delta Yard PS-17&quot;,73],[&quot;2026-09-21 00:00–06:00&quot;,&quot;Marsh Gate PS-31&quot;,88],[&quot;2026-09-21 06:00–12:00&quot;,&quot;East Sluice PS-04&quot;,64],[&quot;2026-09-21 06:00–12:00&quot;,&quot;Delta Yard PS-17&quot;,77],[&quot;2026-09-21 06:00–12:00&quot;,&quot;Marsh Gate PS-31&quot;,92],[&quot;2026-09-21 12:00–18:00&quot;,&quot;East Sluice PS-04&quot;,61],[&quot;2026-09-21 12:00–18:00&quot;,&quot;Delta Yard PS-17&quot;,75],[&quot;2026-09-21 12:00–18:00&quot;,&quot;Marsh Gate PS-31&quot;,95],[&quot;2026-09-21 18:00–24:00&quot;,&quot;East Sluice PS-04&quot;,58],[&quot;2026-09-21 18:00–24:00&quot;,&quot;Delta Yard PS-17&quot;,72],[&quot;2026-09-21 18:00–24:00&quot;,&quot;Marsh Gate PS-31&quot;,93],[&quot;2026-09-22 00:00–06:00&quot;,&quot;East Sluice PS-04&quot;,53],[&quot;2026-09-22 00:00–06:00&quot;,&quot;Delta Yard PS-17&quot;,66],[&quot;2026-09-22 00:00–06:00&quot;,&quot;Marsh Gate PS-31&quot;,87],[&quot;2026-09-22 06:00–12:00&quot;,&quot;East Sluice PS-04&quot;,49],[&quot;2026-09-22 06:00–12:00&quot;,&quot;Delta Yard PS-17&quot;,63],[&quot;2026-09-22 06:00–12:00&quot;,&quot;Marsh Gate PS-31&quot;,80],[&quot;2026-09-22 12:00–18:00&quot;,&quot;East Sluice PS-04&quot;,44],[&quot;2026-09-22 12:00–18:00&quot;,&quot;Delta Yard PS-17&quot;,59],[&quot;2026-09-22 12:00–18:00&quot;,&quot;Marsh Gate PS-31&quot;,76],[&quot;2026-09-22 18:00–24:00&quot;,&quot;East Sluice PS-04&quot;,41],[&quot;2026-09-22 18:00–24:00&quot;,&quot;Delta Yard PS-17&quot;,56],[&quot;2026-09-22 18:00–24:00&quot;,&quot;Marsh Gate PS-31&quot;,71]],&quot;source&quot;:{&quot;imported_at&quot;:&quot;2026-09-27T05:08:57.728Z&quot;,&quot;kind&quot;:&quot;clipboard&quot;,&quot;label&quot;:&quot;TSV&quot;},&quot;warnings&quot;:[]},&quot;dataset_id&quot;:&quot;dataset-mujcz94w-6czwan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interval_window_1&quot;,&quot;series&quot;:&quot;pump_station_identifier_2&quot;,&quot;value&quot;:&quot;duty_load_percent_3&quot;,&quot;x&quot;:&quot;interval_window_1&quot;,&quot;y&quot;:&quot;duty_load_percent_3&quot;},&quot;recipe&quot;:null,&quot;recommendations&quot;:[{&quot;confidence&quot;:0.93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horizontal field and numeric measure are available.&quot;,&quot;type&quot;:&quot;Line Chart&quot;},{&quot;confidence&quot;:0.9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shared axis can compare multiple runs when a series field is available.&quot;,&quot;type&quot;:&quot;Multi-Line&quot;},{&quot;confidence&quot;:0.9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category and measured value are available.&quot;,&quot;type&quot;:&quot;Vertical Bar&quot;},{&quot;confidence&quot;:0.87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The same trend mapping can show accumulated movement.&quot;,&quot;type&quot;:&quot;Area Chart&quot;},{&quot;confidence&quot;:0.82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horizontal ranking keeps category labels readable.&quot;,&quot;type&quot;:&quot;Horizontal Bar&quot;},{&quot;confidence&quot;:0.8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pump_station_identifier_2&quot;,&quot;id&quot;:&quot;series-1&quot;,&quot;key&quot;:&quot;East Sluice PS-04&quot;,&quot;label&quot;:&quot;East Sluice PS-04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pump_station_identifier_2&quot;,&quot;id&quot;:&quot;series-2&quot;,&quot;key&quot;:&quot;Delta Yard PS-17&quot;,&quot;label&quot;:&quot;Delta Yard PS-17&quot;,&quot;legend&quot;:true,&quot;lineDash&quot;:null,&quot;lineWidth&quot;:null,&quot;markers&quot;:true,&quot;smoothing&quot;:false,&quot;type&quot;:&quot;line&quot;,&quot;visible&quot;:true},{&quot;axis&quot;:&quot;primary&quot;,&quot;color&quot;:&quot;#b7791f&quot;,&quot;field&quot;:&quot;pump_station_identifier_2&quot;,&quot;id&quot;:&quot;series-3&quot;,&quot;key&quot;:&quot;Marsh Gate PS-31&quot;,&quot;label&quot;:&quot;Marsh Gate PS-31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cross&quot;:null,&quot;data&quot;:[[&quot;2026-09-19 00:00–06:00&quot;,43],[&quot;2026-09-19 00:00–06:00&quot;,55],[&quot;2026-09-19 00:00–06:00&quot;,62],[&quot;2026-09-19 06:00–12:00&quot;,46],[&quot;2026-09-19 06:00–12:00&quot;,57],[&quot;2026-09-19 06:00–12:00&quot;,68],[&quot;2026-09-19 12:00–18:00&quot;,51],[&quot;2026-09-19 12:00–18:00&quot;,60],[&quot;2026-09-19 12:00–18:00&quot;,74],[&quot;2026-09-19 18:00–24:00&quot;,48],[&quot;2026-09-19 18:00–24:00&quot;,59],[&quot;2026-09-19 18:00–24:00&quot;,79],[&quot;2026-09-20 00:00–06:00&quot;,54],[&quot;2026-09-20 00:00–06:00&quot;,63],[&quot;2026-09-20 00:00–06:00&quot;,83],[&quot;2026-09-20 06:00–12:00&quot;,58],[&quot;2026-09-20 06:00–12:00&quot;,67],[&quot;2026-09-20 06:00–12:00&quot;,86],[&quot;2026-09-20 12:00–18:00&quot;,62],[&quot;2026-09-20 12:00–18:00&quot;,72],[&quot;2026-09-20 12:00–18:00&quot;,89],[&quot;2026-09-20 18:00–24:00&quot;,55],[&quot;2026-09-20 18:00–24:00&quot;,69],[&quot;2026-09-20 18:00–24:00&quot;,91],[&quot;2026-09-21 00:00–06:00&quot;,57],[&quot;2026-09-21 00:00–06:00&quot;,73],[&quot;2026-09-21 00:00–06:00&quot;,88],[&quot;2026-09-21 06:00–12:00&quot;,64],[&quot;2026-09-21 06:00–12:00&quot;,77],[&quot;2026-09-21 06:00–12:00&quot;,92],[&quot;2026-09-21 12:00–18:00&quot;,61],[&quot;2026-09-21 12:00–18:00&quot;,75],[&quot;2026-09-21 12:00–18:00&quot;,95],[&quot;2026-09-21 18:00–24:00&quot;,58],[&quot;2026-09-21 18:00–24:00&quot;,72],[&quot;2026-09-21 18:00–24:00&quot;,93],[&quot;2026-09-22 00:00–06:00&quot;,53],[&quot;2026-09-22 00:00–06:00&quot;,66],[&quot;2026-09-22 00:00–06:00&quot;,87],[&quot;2026-09-22 06:00–12:00&quot;,49],[&quot;2026-09-22 06:00–12:00&quot;,63],[&quot;2026-09-22 06:00–12:00&quot;,80],[&quot;2026-09-22 12:00–18:00&quot;,44],[&quot;2026-09-22 12:00–18:00&quot;,59],[&quot;2026-09-22 12:00–18:00&quot;,76],[&quot;2026-09-22 18:00–24:00&quot;,41],[&quot;2026-09-22 18:00–24:00&quot;,56],[&quot;2026-09-22 18:00–24:00&quot;,71]],&quot;dataset_id&quot;:&quot;dataset-mujcz94w-6czwan&quot;,&quot;drill&quot;:null,&quot;element&quot;:&quot;Line Chart&quot;,&quot;engine&quot;:&quot;CoreChartEngine&quot;,&quot;groupId&quot;:null,&quot;h&quot;:377.59999999999997,&quot;id&quot;:&quot;c4&quot;,&quot;locked&quot;:false,&quot;mapping&quot;:{&quot;category&quot;:&quot;interval_window_1&quot;,&quot;series&quot;:&quot;pump_station_identifier_2&quot;,&quot;value&quot;:&quot;duty_load_percent_3&quot;,&quot;x&quot;:&quot;interval_window_1&quot;,&quot;y&quot;:&quot;duty_load_percent_3&quot;},&quot;message_role&quot;:&quot;Primary Evidence&quot;,&quot;order&quot;:3,&quot;revealed&quot;:true,&quot;rows&quot;:[{&quot;label&quot;:&quot;2026-09-19 00:00–06:00&quot;,&quot;value&quot;:43},{&quot;label&quot;:&quot;2026-09-19 00:00–06:00&quot;,&quot;value&quot;:55},{&quot;label&quot;:&quot;2026-09-19 00:00–06:00&quot;,&quot;value&quot;:62},{&quot;label&quot;:&quot;2026-09-19 06:00–12:00&quot;,&quot;value&quot;:46},{&quot;label&quot;:&quot;2026-09-19 06:00–12:00&quot;,&quot;value&quot;:57},{&quot;label&quot;:&quot;2026-09-19 06:00–12:00&quot;,&quot;value&quot;:68},{&quot;label&quot;:&quot;2026-09-19 12:00–18:00&quot;,&quot;value&quot;:51},{&quot;label&quot;:&quot;2026-09-19 12:00–18:00&quot;,&quot;value&quot;:60},{&quot;label&quot;:&quot;2026-09-19 12:00–18:00&quot;,&quot;value&quot;:74},{&quot;label&quot;:&quot;2026-09-19 18:00–24:00&quot;,&quot;value&quot;:48},{&quot;label&quot;:&quot;2026-09-19 18:00–24:00&quot;,&quot;value&quot;:59},{&quot;label&quot;:&quot;2026-09-19 18:00–24:00&quot;,&quot;value&quot;:79},{&quot;label&quot;:&quot;2026-09-20 00:00–06:00&quot;,&quot;value&quot;:54},{&quot;label&quot;:&quot;2026-09-20 00:00–06:00&quot;,&quot;value&quot;:63},{&quot;label&quot;:&quot;2026-09-20 00:00–06:00&quot;,&quot;value&quot;:83},{&quot;label&quot;:&quot;2026-09-20 06:00–12:00&quot;,&quot;value&quot;:58},{&quot;label&quot;:&quot;2026-09-20 06:00–12:00&quot;,&quot;value&quot;:67},{&quot;label&quot;:&quot;2026-09-20 06:00–12:00&quot;,&quot;value&quot;:86},{&quot;label&quot;:&quot;2026-09-20 12:00–18:00&quot;,&quot;value&quot;:62},{&quot;label&quot;:&quot;2026-09-20 12:00–18:00&quot;,&quot;value&quot;:72},{&quot;label&quot;:&quot;2026-09-20 12:00–18:00&quot;,&quot;value&quot;:89},{&quot;label&quot;:&quot;2026-09-20 18:00–24:00&quot;,&quot;value&quot;:55},{&quot;label&quot;:&quot;2026-09-20 18:00–24:00&quot;,&quot;value&quot;:69},{&quot;label&quot;:&quot;2026-09-20 18:00–24:00&quot;,&quot;value&quot;:91},{&quot;label&quot;:&quot;2026-09-21 00:00–06:00&quot;,&quot;value&quot;:57},{&quot;label&quot;:&quot;2026-09-21 00:00–06:00&quot;,&quot;value&quot;:73},{&quot;label&quot;:&quot;2026-09-21 00:00–06:00&quot;,&quot;value&quot;:88},{&quot;label&quot;:&quot;2026-09-21 06:00–12:00&quot;,&quot;value&quot;:64},{&quot;label&quot;:&quot;2026-09-21 06:00–12:00&quot;,&quot;value&quot;:77},{&quot;label&quot;:&quot;2026-09-21 06:00–12:00&quot;,&quot;value&quot;:92},{&quot;label&quot;:&quot;2026-09-21 12:00–18:00&quot;,&quot;value&quot;:61},{&quot;label&quot;:&quot;2026-09-21 12:00–18:00&quot;,&quot;value&quot;:75},{&quot;label&quot;:&quot;2026-09-21 12:00–18:00&quot;,&quot;value&quot;:95},{&quot;label&quot;:&quot;2026-09-21 18:00–24:00&quot;,&quot;value&quot;:58},{&quot;label&quot;:&quot;2026-09-21 18:00–24:00&quot;,&quot;value&quot;:72},{&quot;label&quot;:&quot;2026-09-21 18:00–24:00&quot;,&quot;value&quot;:93},{&quot;label&quot;:&quot;2026-09-22 00:00–06:00&quot;,&quot;value&quot;:53},{&quot;label&quot;:&quot;2026-09-22 00:00–06:00&quot;,&quot;value&quot;:66},{&quot;label&quot;:&quot;2026-09-22 00:00–06:00&quot;,&quot;value&quot;:87},{&quot;label&quot;:&quot;2026-09-22 06:00–12:00&quot;,&quot;value&quot;:49},{&quot;label&quot;:&quot;2026-09-22 06:00–12:00&quot;,&quot;value&quot;:63},{&quot;label&quot;:&quot;2026-09-22 06:00–12:00&quot;,&quot;value&quot;:80},{&quot;label&quot;:&quot;2026-09-22 12:00–18:00&quot;,&quot;value&quot;:44},{&quot;label&quot;:&quot;2026-09-22 12:00–18:00&quot;,&quot;value&quot;:59},{&quot;label&quot;:&quot;2026-09-22 12:00–18:00&quot;,&quot;value&quot;:76},{&quot;label&quot;:&quot;2026-09-22 18:00–24:00&quot;,&quot;value&quot;:41},{&quot;label&quot;:&quot;2026-09-22 18:00–24:00&quot;,&quot;value&quot;:56},{&quot;label&quot;:&quot;2026-09-22 18:00–24:00&quot;,&quot;value&quot;:71}],&quot;section_id&quot;:&quot;analysis&quot;,&quot;section_title&quot;:&quot;Analysis&quot;,&quot;showTitle&quot;:true,&quot;statistical_result&quot;:null,&quot;textAlign&quot;:&quot;left&quot;,&quot;title&quot;:&quot;Six-hour pump load by station&quot;,&quot;transform_recipe&quot;:{&quot;steps&quot;:[]},&quot;type&quot;:&quot;chart&quot;,&quot;variant&quot;:&quot;line&quot;,&quot;w&quot;:778.0848484848484,&quot;weight&quot;:1.8,&quot;x&quot;:74.26060606060605,&quot;y&quot;:413.76,&quot;z&quot;:4,&quot;observations&quot;:[{&quot;label&quot;:&quot;2026-09-19 00:00–06:00&quot;,&quot;value&quot;:43},{&quot;label&quot;:&quot;2026-09-19 00:00–06:00&quot;,&quot;value&quot;:55},{&quot;label&quot;:&quot;2026-09-19 00:00–06:00&quot;,&quot;value&quot;:62},{&quot;label&quot;:&quot;2026-09-19 06:00–12:00&quot;,&quot;value&quot;:46},{&quot;label&quot;:&quot;2026-09-19 06:00–12:00&quot;,&quot;value&quot;:57},{&quot;label&quot;:&quot;2026-09-19 06:00–12:00&quot;,&quot;value&quot;:68},{&quot;label&quot;:&quot;2026-09-19 12:00–18:00&quot;,&quot;value&quot;:51},{&quot;label&quot;:&quot;2026-09-19 12:00–18:00&quot;,&quot;value&quot;:60},{&quot;label&quot;:&quot;2026-09-19 12:00–18:00&quot;,&quot;value&quot;:74},{&quot;label&quot;:&quot;2026-09-19 18:00–24:00&quot;,&quot;value&quot;:48},{&quot;label&quot;:&quot;2026-09-19 18:00–24:00&quot;,&quot;value&quot;:59},{&quot;label&quot;:&quot;2026-09-19 18:00–24:00&quot;,&quot;value&quot;:79},{&quot;label&quot;:&quot;2026-09-20 00:00–06:00&quot;,&quot;value&quot;:54},{&quot;label&quot;:&quot;2026-09-20 00:00–06:00&quot;,&quot;value&quot;:63},{&quot;label&quot;:&quot;2026-09-20 00:00–06:00&quot;,&quot;value&quot;:83},{&quot;label&quot;:&quot;2026-09-20 06:00–12:00&quot;,&quot;value&quot;:58},{&quot;label&quot;:&quot;2026-09-20 06:00–12:00&quot;,&quot;value&quot;:67},{&quot;label&quot;:&quot;2026-09-20 06:00–12:00&quot;,&quot;value&quot;:86},{&quot;label&quot;:&quot;2026-09-20 12:00–18:00&quot;,&quot;value&quot;:62},{&quot;label&quot;:&quot;2026-09-20 12:00–18:00&quot;,&quot;value&quot;:72},{&quot;label&quot;:&quot;2026-09-20 12:00–18:00&quot;,&quot;value&quot;:89},{&quot;label&quot;:&quot;2026-09-20 18:00–24:00&quot;,&quot;value&quot;:55},{&quot;label&quot;:&quot;2026-09-20 18:00–24:00&quot;,&quot;value&quot;:69},{&quot;label&quot;:&quot;2026-09-20 18:00–24:00&quot;,&quot;value&quot;:91},{&quot;label&quot;:&quot;2026-09-21 00:00–06:00&quot;,&quot;value&quot;:57},{&quot;label&quot;:&quot;2026-09-21 00:00–06:00&quot;,&quot;value&quot;:73},{&quot;label&quot;:&quot;2026-09-21 00:00–06:00&quot;,&quot;value&quot;:88},{&quot;label&quot;:&quot;2026-09-21 06:00–12:00&quot;,&quot;value&quot;:64},{&quot;label&quot;:&quot;2026-09-21 06:00–12:00&quot;,&quot;value&quot;:77},{&quot;label&quot;:&quot;2026-09-21 06:00–12:00&quot;,&quot;value&quot;:92},{&quot;label&quot;:&quot;2026-09-21 12:00–18:00&quot;,&quot;value&quot;:61},{&quot;label&quot;:&quot;2026-09-21 12:00–18:00&quot;,&quot;value&quot;:75},{&quot;label&quot;:&quot;2026-09-21 12:00–18:00&quot;,&quot;value&quot;:95},{&quot;label&quot;:&quot;2026-09-21 18:00–24:00&quot;,&quot;value&quot;:58},{&quot;label&quot;:&quot;2026-09-21 18:00–24:00&quot;,&quot;value&quot;:72},{&quot;label&quot;:&quot;2026-09-21 18:00–24:00&quot;,&quot;value&quot;:93},{&quot;label&quot;:&quot;2026-09-22 00:00–06:00&quot;,&quot;value&quot;:53},{&quot;label&quot;:&quot;2026-09-22 00:00–06:00&quot;,&quot;value&quot;:66},{&quot;label&quot;:&quot;2026-09-22 00:00–06:00&quot;,&quot;value&quot;:87},{&quot;label&quot;:&quot;2026-09-22 06:00–12:00&quot;,&quot;value&quot;:49},{&quot;label&quot;:&quot;2026-09-22 06:00–12:00&quot;,&quot;value&quot;:63},{&quot;label&quot;:&quot;2026-09-22 06:00–12:00&quot;,&quot;value&quot;:80},{&quot;label&quot;:&quot;2026-09-22 12:00–18:00&quot;,&quot;value&quot;:44},{&quot;label&quot;:&quot;2026-09-22 12:00–18:00&quot;,&quot;value&quot;:59},{&quot;label&quot;:&quot;2026-09-22 12:00–18:00&quot;,&quot;value&quot;:76},{&quot;label&quot;:&quot;2026-09-22 18:00–24:00&quot;,&quot;value&quot;:41},{&quot;label&quot;:&quot;2026-09-22 18:00–24:00&quot;,&quot;value&quot;:56},{&quot;label&quot;:&quot;2026-09-22 18:00–24:00&quot;,&quot;value&quot;:71}]}"/>
          <p:cNvGraphicFramePr>
            <a:graphicFrameLocks noGrp="1"/>
          </p:cNvGraphicFramePr>
          <p:nvPr/>
        </p:nvGraphicFramePr>
        <p:xfrm>
          <a:off x="493129" y="2747582"/>
          <a:ext cx="5166889" cy="2507461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VIZ::c5::box-plot-title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2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Box Plot&quot;,&quot;dataset&quot;:{&quot;fields&quot;:[{&quot;id&quot;:&quot;pump_station_1&quot;,&quot;name&quot;:&quot;Pump station&quot;,&quot;nullable&quot;:false,&quot;profile&quot;:{&quot;distinct&quot;:3,&quot;missing&quot;:0},&quot;semantic_tags&quot;:[],&quot;type&quot;:&quot;categorical&quot;},{&quot;id&quot;:&quot;vibration_velocity_mm_s_2&quot;,&quot;name&quot;:&quot;Vibration velocity mm/s&quot;,&quot;nullable&quot;:false,&quot;profile&quot;:{&quot;distinct&quot;:13,&quot;missing&quot;:0},&quot;semantic_tags&quot;:[],&quot;type&quot;:&quot;number&quot;,&quot;unit&quot;:&quot;&quot;}],&quot;id&quot;:&quot;dataset-mujczbgu-qu4dac&quot;,&quot;metadata&quot;:{&quot;header&quot;:{&quot;confidence&quot;:0.75,&quot;present&quot;:true,&quot;source_row&quot;:0}},&quot;name&quot;:&quot;Pasted data&quot;,&quot;revision&quot;:1,&quot;rows&quot;:[[&quot;East Sluice PS-04&quot;,2.2],[&quot;East Sluice PS-04&quot;,2.5],[&quot;East Sluice PS-04&quot;,2.1],[&quot;East Sluice PS-04&quot;,2.8],[&quot;East Sluice PS-04&quot;,2.4],[&quot;Delta Yard PS-17&quot;,2.8],[&quot;Delta Yard PS-17&quot;,3.2],[&quot;Delta Yard PS-17&quot;,3],[&quot;Delta Yard PS-17&quot;,3.4],[&quot;Delta Yard PS-17&quot;,3.1],[&quot;Marsh Gate PS-31&quot;,3.4],[&quot;Marsh Gate PS-31&quot;,3.9],[&quot;Marsh Gate PS-31&quot;,4.2],[&quot;Marsh Gate PS-31&quot;,3.7],[&quot;Marsh Gate PS-31&quot;,4.6]],&quot;source&quot;:{&quot;imported_at&quot;:&quot;2026-09-27T05:09:00.750Z&quot;,&quot;kind&quot;:&quot;clipboard&quot;,&quot;label&quot;:&quot;TSV&quot;},&quot;warnings&quot;:[]},&quot;dataset_id&quot;:&quot;dataset-mujczbgu-qu4dac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false},&quot;mapping&quot;:{&quot;category&quot;:&quot;pump_station_1&quot;,&quot;value&quot;:&quot;vibration_velocity_mm_s_2&quot;,&quot;x&quot;:&quot;vibration_velocity_mm_s_2&quot;},&quot;recipe&quot;:null,&quot;recommendations&quot;:[{&quot;confidence&quot;:0.9,&quot;mapping&quot;:{&quot;category&quot;:&quot;pump_station_1&quot;,&quot;value&quot;:&quot;vibration_velocity_mm_s_2&quot;,&quot;x&quot;:&quot;vibration_velocity_mm_s_2&quot;},&quot;reason&quot;:&quot;A category and measured value are available.&quot;,&quot;type&quot;:&quot;Vertical Bar&quot;},{&quot;confidence&quot;:0.82,&quot;mapping&quot;:{&quot;category&quot;:&quot;pump_station_1&quot;,&quot;value&quot;:&quot;vibration_velocity_mm_s_2&quot;,&quot;x&quot;:&quot;vibration_velocity_mm_s_2&quot;},&quot;reason&quot;:&quot;A horizontal ranking keeps category labels readable.&quot;,&quot;type&quot;:&quot;Horizontal Bar&quot;},{&quot;confidence&quot;:0.8,&quot;mapping&quot;:{&quot;category&quot;:&quot;pump_station_1&quot;,&quot;value&quot;:&quot;vibration_velocity_mm_s_2&quot;,&quot;x&quot;:&quot;vibration_velocity_mm_s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ibration_velocity_mm_s_2&quot;,&quot;id&quot;:&quot;series-1&quot;,&quot;label&quot;:&quot;Vibration velocity mm/s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category and measured value are available.&quot;},&quot;composition_role&quot;:&quot;supporting_analysis&quot;,&quot;cross&quot;:null,&quot;data&quot;:[[&quot;East Sluice PS-04&quot;,2.2],[&quot;East Sluice PS-04&quot;,2.5],[&quot;East Sluice PS-04&quot;,2.1],[&quot;East Sluice PS-04&quot;,2.8],[&quot;East Sluice PS-04&quot;,2.4],[&quot;Delta Yard PS-17&quot;,2.8],[&quot;Delta Yard PS-17&quot;,3.2],[&quot;Delta Yard PS-17&quot;,3],[&quot;Delta Yard PS-17&quot;,3.4],[&quot;Delta Yard PS-17&quot;,3.1],[&quot;Marsh Gate PS-31&quot;,3.4],[&quot;Marsh Gate PS-31&quot;,3.9],[&quot;Marsh Gate PS-31&quot;,4.2],[&quot;Marsh Gate PS-31&quot;,3.7],[&quot;Marsh Gate PS-31&quot;,4.6]],&quot;dataset_id&quot;:&quot;dataset-mujczbgu-qu4dac&quot;,&quot;drill&quot;:null,&quot;element&quot;:&quot;Box Plot&quot;,&quot;engine&quot;:&quot;CoreChartEngine&quot;,&quot;groupId&quot;:null,&quot;h&quot;:320.0,&quot;id&quot;:&quot;c5&quot;,&quot;locked&quot;:false,&quot;mapping&quot;:{&quot;category&quot;:&quot;pump_station_1&quot;,&quot;value&quot;:&quot;vibration_velocity_mm_s_2&quot;,&quot;x&quot;:&quot;vibration_velocity_mm_s_2&quot;},&quot;message_role&quot;:&quot;Supporting Evidence&quot;,&quot;order&quot;:4,&quot;revealed&quot;:true,&quot;rows&quot;:[{&quot;label&quot;:&quot;East Sluice PS-04&quot;,&quot;value&quot;:2.2},{&quot;label&quot;:&quot;East Sluice PS-04&quot;,&quot;value&quot;:2.5},{&quot;label&quot;:&quot;East Sluice PS-04&quot;,&quot;value&quot;:2.1},{&quot;label&quot;:&quot;East Sluice PS-04&quot;,&quot;value&quot;:2.8},{&quot;label&quot;:&quot;East Sluice PS-04&quot;,&quot;value&quot;:2.4},{&quot;label&quot;:&quot;Delta Yard PS-17&quot;,&quot;value&quot;:2.8},{&quot;label&quot;:&quot;Delta Yard PS-17&quot;,&quot;value&quot;:3.2},{&quot;label&quot;:&quot;Delta Yard PS-17&quot;,&quot;value&quot;:3},{&quot;label&quot;:&quot;Delta Yard PS-17&quot;,&quot;value&quot;:3.4},{&quot;label&quot;:&quot;Delta Yard PS-17&quot;,&quot;value&quot;:3.1},{&quot;label&quot;:&quot;Marsh Gate PS-31&quot;,&quot;value&quot;:3.4},{&quot;label&quot;:&quot;Marsh Gate PS-31&quot;,&quot;value&quot;:3.9},{&quot;label&quot;:&quot;Marsh Gate PS-31&quot;,&quot;value&quot;:4.2},{&quot;label&quot;:&quot;Marsh Gate PS-31&quot;,&quot;value&quot;:3.7},{&quot;label&quot;:&quot;Marsh Gate PS-31&quot;,&quot;value&quot;:4.6}],&quot;section_id&quot;:&quot;analysis&quot;,&quot;section_title&quot;:&quot;Analysis&quot;,&quot;showTitle&quot;:true,&quot;statistical_result&quot;:null,&quot;textAlign&quot;:&quot;left&quot;,&quot;title&quot;:&quot;Temperature excursion distribution&quot;,&quot;transform_recipe&quot;:{&quot;steps&quot;:[]},&quot;type&quot;:&quot;chart&quot;,&quot;variant&quot;:&quot;line&quot;,&quot;w&quot;:659.3939393939394,&quot;weight&quot;:1.8,&quot;x&quot;:866.3454545454545,&quot;y&quot;:442.55999999999995,&quot;z&quot;:5,&quot;observations&quot;:[{&quot;label&quot;:&quot;East Sluice PS-04&quot;,&quot;value&quot;:2.2},{&quot;label&quot;:&quot;East Sluice PS-04&quot;,&quot;value&quot;:2.5},{&quot;label&quot;:&quot;East Sluice PS-04&quot;,&quot;value&quot;:2.1},{&quot;label&quot;:&quot;East Sluice PS-04&quot;,&quot;value&quot;:2.8},{&quot;label&quot;:&quot;East Sluice PS-04&quot;,&quot;value&quot;:2.4},{&quot;label&quot;:&quot;Delta Yard PS-17&quot;,&quot;value&quot;:2.8},{&quot;label&quot;:&quot;Delta Yard PS-17&quot;,&quot;value&quot;:3.2},{&quot;label&quot;:&quot;Delta Yard PS-17&quot;,&quot;value&quot;:3},{&quot;label&quot;:&quot;Delta Yard PS-17&quot;,&quot;value&quot;:3.4},{&quot;label&quot;:&quot;Delta Yard PS-17&quot;,&quot;value&quot;:3.1},{&quot;label&quot;:&quot;Marsh Gate PS-31&quot;,&quot;value&quot;:3.4},{&quot;label&quot;:&quot;Marsh Gate PS-31&quot;,&quot;value&quot;:3.9},{&quot;label&quot;:&quot;Marsh Gate PS-31&quot;,&quot;value&quot;:4.2},{&quot;label&quot;:&quot;Marsh Gate PS-31&quot;,&quot;value&quot;:3.7},{&quot;label&quot;:&quot;Marsh Gate PS-31&quot;,&quot;value&quot;:4.6}]}"/>
          <p:cNvSpPr txBox="1"/>
          <p:nvPr/>
        </p:nvSpPr>
        <p:spPr>
          <a:xfrm>
            <a:off x="5928134" y="2970703"/>
            <a:ext cx="4028422" cy="246379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defRPr sz="1200" b="1">
                <a:latin typeface="Arial"/>
              </a:defRPr>
            </a:pPr>
            <a:r>
              <a:t>Temperature excursion distribution</a:t>
            </a:r>
          </a:p>
        </p:txBody>
      </p:sp>
      <p:cxnSp>
        <p:nvCxnSpPr>
          <p:cNvPr id="21" name="VIZ::c5::box-plot-grid-0"/>
          <p:cNvCxnSpPr/>
          <p:nvPr/>
        </p:nvCxnSpPr>
        <p:spPr>
          <a:xfrm>
            <a:off x="6453581" y="4532554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VIZ::c5::box-plot-axis-0"/>
          <p:cNvSpPr txBox="1"/>
          <p:nvPr/>
        </p:nvSpPr>
        <p:spPr>
          <a:xfrm>
            <a:off x="5752986" y="4469054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1.975</a:t>
            </a:r>
          </a:p>
        </p:txBody>
      </p:sp>
      <p:cxnSp>
        <p:nvCxnSpPr>
          <p:cNvPr id="23" name="VIZ::c5::box-plot-grid-1"/>
          <p:cNvCxnSpPr/>
          <p:nvPr/>
        </p:nvCxnSpPr>
        <p:spPr>
          <a:xfrm>
            <a:off x="6453581" y="4240371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VIZ::c5::box-plot-axis-1"/>
          <p:cNvSpPr txBox="1"/>
          <p:nvPr/>
        </p:nvSpPr>
        <p:spPr>
          <a:xfrm>
            <a:off x="5752986" y="4176871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2.6625</a:t>
            </a:r>
          </a:p>
        </p:txBody>
      </p:sp>
      <p:cxnSp>
        <p:nvCxnSpPr>
          <p:cNvPr id="25" name="VIZ::c5::box-plot-grid-2"/>
          <p:cNvCxnSpPr/>
          <p:nvPr/>
        </p:nvCxnSpPr>
        <p:spPr>
          <a:xfrm>
            <a:off x="6453581" y="3948188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VIZ::c5::box-plot-axis-2"/>
          <p:cNvSpPr txBox="1"/>
          <p:nvPr/>
        </p:nvSpPr>
        <p:spPr>
          <a:xfrm>
            <a:off x="5752986" y="3884688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3.35</a:t>
            </a:r>
          </a:p>
        </p:txBody>
      </p:sp>
      <p:cxnSp>
        <p:nvCxnSpPr>
          <p:cNvPr id="27" name="VIZ::c5::box-plot-grid-3"/>
          <p:cNvCxnSpPr/>
          <p:nvPr/>
        </p:nvCxnSpPr>
        <p:spPr>
          <a:xfrm>
            <a:off x="6453581" y="3656005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VIZ::c5::box-plot-axis-3"/>
          <p:cNvSpPr txBox="1"/>
          <p:nvPr/>
        </p:nvSpPr>
        <p:spPr>
          <a:xfrm>
            <a:off x="5752986" y="3592505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4.0375</a:t>
            </a:r>
          </a:p>
        </p:txBody>
      </p:sp>
      <p:cxnSp>
        <p:nvCxnSpPr>
          <p:cNvPr id="29" name="VIZ::c5::box-plot-grid-4"/>
          <p:cNvCxnSpPr/>
          <p:nvPr/>
        </p:nvCxnSpPr>
        <p:spPr>
          <a:xfrm>
            <a:off x="6453581" y="3363822"/>
            <a:ext cx="3546763" cy="0"/>
          </a:xfrm>
          <a:prstGeom prst="line">
            <a:avLst/>
          </a:prstGeom>
          <a:ln w="7620">
            <a:solidFill>
              <a:srgbClr val="DC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VIZ::c5::box-plot-axis-4"/>
          <p:cNvSpPr txBox="1"/>
          <p:nvPr/>
        </p:nvSpPr>
        <p:spPr>
          <a:xfrm>
            <a:off x="5752986" y="3300322"/>
            <a:ext cx="591127" cy="152400"/>
          </a:xfrm>
          <a:prstGeom prst="rect">
            <a:avLst/>
          </a:prstGeom>
          <a:noFill/>
        </p:spPr>
        <p:txBody>
          <a:bodyPr wrap="none" tIns="0" bIns="0" anchor="ctr">
            <a:spAutoFit/>
          </a:bodyPr>
          <a:lstStyle/>
          <a:p>
            <a:pPr algn="r">
              <a:defRPr sz="700">
                <a:latin typeface="Arial"/>
              </a:defRPr>
            </a:pPr>
            <a:r>
              <a:t>4.725</a:t>
            </a:r>
          </a:p>
        </p:txBody>
      </p:sp>
      <p:cxnSp>
        <p:nvCxnSpPr>
          <p:cNvPr id="31" name="VIZ::c5::box-plot-0-whisker"/>
          <p:cNvCxnSpPr/>
          <p:nvPr/>
        </p:nvCxnSpPr>
        <p:spPr>
          <a:xfrm>
            <a:off x="7044708.166666667" y="4181934"/>
            <a:ext cx="0.0" cy="297496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VIZ::c5::box-plot-0-whisker-cap-0"/>
          <p:cNvCxnSpPr/>
          <p:nvPr/>
        </p:nvCxnSpPr>
        <p:spPr>
          <a:xfrm>
            <a:off x="6808258.166666667" y="4479430"/>
            <a:ext cx="472900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VIZ::c5::box-plot-0-whisker-cap-1"/>
          <p:cNvCxnSpPr/>
          <p:nvPr/>
        </p:nvCxnSpPr>
        <p:spPr>
          <a:xfrm>
            <a:off x="6808258.166666667" y="4181934"/>
            <a:ext cx="472900.0" cy="0"/>
          </a:xfrm>
          <a:prstGeom prst="line">
            <a:avLst/>
          </a:prstGeom>
          <a:ln w="17780">
            <a:solidFill>
              <a:srgbClr val="1769D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VIZ::c5::box-plot-0-quartiles"/>
          <p:cNvSpPr/>
          <p:nvPr/>
        </p:nvSpPr>
        <p:spPr>
          <a:xfrm>
            <a:off x="6808258" y="4309432"/>
            <a:ext cx="472900" cy="127498"/>
          </a:xfrm>
          <a:prstGeom prst="rect">
            <a:avLst/>
          </a:prstGeom>
          <a:solidFill>
            <a:srgbClr val="1769D1"/>
          </a:solidFill>
          <a:ln w="15240">
            <a:solidFill>
              <a:srgbClr val="1769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VIZ::c5::box-plot-0-median"/>
          <p:cNvCxnSpPr/>
          <p:nvPr/>
        </p:nvCxnSpPr>
        <p:spPr>
          <a:xfrm>
            <a:off x="6808258.166666667" y="4351932"/>
            <a:ext cx="472900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VIZ::c5::box-plot-0-category" title="{&quot;category&quot;:&quot;East Sluice PS-04&quot;,&quot;quartiles&quot;:{&quot;n&quot;:5,&quot;min&quot;:2.1,&quot;q1&quot;:2.2,&quot;median&quot;:2.4,&quot;q3&quot;:2.5,&quot;max&quot;:2.8}}"/>
          <p:cNvSpPr txBox="1"/>
          <p:nvPr/>
        </p:nvSpPr>
        <p:spPr>
          <a:xfrm>
            <a:off x="6496068" y="4628177"/>
            <a:ext cx="1097280" cy="27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East Sluice PS-04</a:t>
            </a:r>
          </a:p>
        </p:txBody>
      </p:sp>
      <p:cxnSp>
        <p:nvCxnSpPr>
          <p:cNvPr id="37" name="VIZ::c5::box-plot-1-whisker"/>
          <p:cNvCxnSpPr/>
          <p:nvPr/>
        </p:nvCxnSpPr>
        <p:spPr>
          <a:xfrm>
            <a:off x="8226962.5" y="3926938"/>
            <a:ext cx="0.0" cy="254996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VIZ::c5::box-plot-1-whisker-cap-0"/>
          <p:cNvCxnSpPr/>
          <p:nvPr/>
        </p:nvCxnSpPr>
        <p:spPr>
          <a:xfrm>
            <a:off x="7990512.5" y="4181934"/>
            <a:ext cx="472900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VIZ::c5::box-plot-1-whisker-cap-1"/>
          <p:cNvCxnSpPr/>
          <p:nvPr/>
        </p:nvCxnSpPr>
        <p:spPr>
          <a:xfrm>
            <a:off x="7990512.5" y="3926938"/>
            <a:ext cx="472900.0" cy="0"/>
          </a:xfrm>
          <a:prstGeom prst="line">
            <a:avLst/>
          </a:prstGeom>
          <a:ln w="17780">
            <a:solidFill>
              <a:srgbClr val="2E8B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VIZ::c5::box-plot-1-quartiles"/>
          <p:cNvSpPr/>
          <p:nvPr/>
        </p:nvSpPr>
        <p:spPr>
          <a:xfrm>
            <a:off x="7990512" y="4011937"/>
            <a:ext cx="472900" cy="84999"/>
          </a:xfrm>
          <a:prstGeom prst="rect">
            <a:avLst/>
          </a:prstGeom>
          <a:solidFill>
            <a:srgbClr val="2E8B72"/>
          </a:solidFill>
          <a:ln w="15240">
            <a:solidFill>
              <a:srgbClr val="2E8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VIZ::c5::box-plot-1-median"/>
          <p:cNvCxnSpPr/>
          <p:nvPr/>
        </p:nvCxnSpPr>
        <p:spPr>
          <a:xfrm>
            <a:off x="7990512.5" y="4054436"/>
            <a:ext cx="472900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VIZ::c5::box-plot-1-category" title="{&quot;category&quot;:&quot;Delta Yard PS-17&quot;,&quot;quartiles&quot;:{&quot;n&quot;:5,&quot;min&quot;:2.8,&quot;q1&quot;:3.0,&quot;median&quot;:3.1,&quot;q3&quot;:3.2,&quot;max&quot;:3.4}}"/>
          <p:cNvSpPr txBox="1"/>
          <p:nvPr/>
        </p:nvSpPr>
        <p:spPr>
          <a:xfrm>
            <a:off x="7678322" y="4628177"/>
            <a:ext cx="1097280" cy="27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Delta Yard PS-17</a:t>
            </a:r>
          </a:p>
        </p:txBody>
      </p:sp>
      <p:cxnSp>
        <p:nvCxnSpPr>
          <p:cNvPr id="43" name="VIZ::c5::box-plot-2-whisker"/>
          <p:cNvCxnSpPr/>
          <p:nvPr/>
        </p:nvCxnSpPr>
        <p:spPr>
          <a:xfrm>
            <a:off x="9409216.833333334" y="3416946"/>
            <a:ext cx="0.0" cy="509992"/>
          </a:xfrm>
          <a:prstGeom prst="line">
            <a:avLst/>
          </a:prstGeom>
          <a:ln w="1778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VIZ::c5::box-plot-2-whisker-cap-0"/>
          <p:cNvCxnSpPr/>
          <p:nvPr/>
        </p:nvCxnSpPr>
        <p:spPr>
          <a:xfrm>
            <a:off x="9172766.833333334" y="3926938"/>
            <a:ext cx="472900.0" cy="0"/>
          </a:xfrm>
          <a:prstGeom prst="line">
            <a:avLst/>
          </a:prstGeom>
          <a:ln w="1778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VIZ::c5::box-plot-2-whisker-cap-1"/>
          <p:cNvCxnSpPr/>
          <p:nvPr/>
        </p:nvCxnSpPr>
        <p:spPr>
          <a:xfrm>
            <a:off x="9172766.833333334" y="3416946"/>
            <a:ext cx="472900.0" cy="0"/>
          </a:xfrm>
          <a:prstGeom prst="line">
            <a:avLst/>
          </a:prstGeom>
          <a:ln w="1778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VIZ::c5::box-plot-2-quartiles"/>
          <p:cNvSpPr/>
          <p:nvPr/>
        </p:nvSpPr>
        <p:spPr>
          <a:xfrm>
            <a:off x="9172766" y="3586944"/>
            <a:ext cx="472900" cy="212496"/>
          </a:xfrm>
          <a:prstGeom prst="rect">
            <a:avLst/>
          </a:prstGeom>
          <a:solidFill>
            <a:srgbClr val="B7791F"/>
          </a:solidFill>
          <a:ln w="1524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VIZ::c5::box-plot-2-median"/>
          <p:cNvCxnSpPr/>
          <p:nvPr/>
        </p:nvCxnSpPr>
        <p:spPr>
          <a:xfrm>
            <a:off x="9172766.833333334" y="3714442"/>
            <a:ext cx="472900.0" cy="0"/>
          </a:xfrm>
          <a:prstGeom prst="line">
            <a:avLst/>
          </a:prstGeom>
          <a:ln w="25400">
            <a:solidFill>
              <a:srgbClr val="232D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VIZ::c5::box-plot-2-category" title="{&quot;category&quot;:&quot;Marsh Gate PS-31&quot;,&quot;quartiles&quot;:{&quot;n&quot;:5,&quot;min&quot;:3.4,&quot;q1&quot;:3.7,&quot;median&quot;:3.9,&quot;q3&quot;:4.2,&quot;max&quot;:4.6}}"/>
          <p:cNvSpPr txBox="1"/>
          <p:nvPr/>
        </p:nvSpPr>
        <p:spPr>
          <a:xfrm>
            <a:off x="8860576" y="4628177"/>
            <a:ext cx="1097280" cy="27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/>
            </a:pPr>
            <a:r>
              <a:t>Marsh Gate PS-31</a:t>
            </a:r>
          </a:p>
        </p:txBody>
      </p:sp>
      <p:sp>
        <p:nvSpPr>
          <p:cNvPr id="7" name="VIZ::Body Narrative" title="Visembler report text roles: text heading, context subhead" descr="VisualizerSemantic:{&quot;body&quot;:&quot;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&quot;,&quot;composition_role&quot;:&quot;narrative_interpretation&quot;,&quot;element&quot;:&quot;Body Narrative&quot;,&quot;engine&quot;:&quot;TextEngine&quot;,&quot;groupId&quot;:null,&quot;h&quot;:128.0,&quot;id&quot;:&quot;c8&quot;,&quot;locked&quot;:false,&quot;message_role&quot;:&quot;Context&quot;,&quot;order&quot;:5,&quot;section_id&quot;:&quot;analysis&quot;,&quot;section_title&quot;:&quot;Analysis&quot;,&quot;showTitle&quot;:false,&quot;text&quot;:&quot;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&quot;,&quot;textAlign&quot;:&quot;left&quot;,&quot;title&quot;:&quot;Body Narrative&quot;,&quot;type&quot;:&quot;text&quot;,&quot;w&quot;:1572.0,&quot;weight&quot;:1.1,&quot;x&quot;:14.0,&quot;y&quot;:799.3599999999999,&quot;z&quot;:8}"/>
          <p:cNvSpPr/>
          <p:nvPr/>
        </p:nvSpPr>
        <p:spPr>
          <a:xfrm>
            <a:off x="92967" y="5308167"/>
            <a:ext cx="10438900" cy="84998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</a:t>
            </a:r>
          </a:p>
        </p:txBody>
      </p:sp>
      <p:sp>
        <p:nvSpPr>
          <p:cNvPr id="9" name="VIZ::Process Flow::continuation-reference" descr="VisualizerSemantic:{&quot;composition_role&quot;:&quot;causal_evidence&quot;,&quot;direction&quot;:&quot;right&quot;,&quot;edges&quot;:[[&quot;Confirm storm watch window&quot;,&quot;Reconcile local cycle counter&quot;],[&quot;Reconcile local cycle counter&quot;,&quot;Inspect Marsh Gate bearing&quot;],[&quot;Inspect Marsh Gate bearing&quot;,&quot;Release staged fleet or extend hold&quot;]],&quot;element&quot;:&quot;Process Flow&quot;,&quot;engine&quot;:&quot;DiagramEngine&quot;,&quot;groupId&quot;:null,&quot;h&quot;:170.0,&quot;id&quot;:&quot;c10&quot;,&quot;locked&quot;:false,&quot;message_role&quot;:&quot;Primary Evidence&quot;,&quot;nodes&quot;:[&quot;Confirm storm watch window&quot;,&quot;Reconcile local cycle counter&quot;,&quot;Inspect Marsh Gate bearing&quot;,&quot;Release staged fleet or extend hold&quot;],&quot;order&quot;:7,&quot;section_id&quot;:&quot;evidence&quot;,&quot;section_title&quot;:&quot;Evidence&quot;,&quot;showTitle&quot;:false,&quot;textAlign&quot;:&quot;left&quot;,&quot;title&quot;:&quot;Process Flow&quot;,&quot;type&quot;:&quot;diagram&quot;,&quot;w&quot;:684.4,&quot;weight&quot;:1.5,&quot;x&quot;:457.8,&quot;y&quot;:961.3599999999999,&quot;z&quot;:10}"/>
          <p:cNvSpPr/>
          <p:nvPr/>
        </p:nvSpPr>
        <p:spPr>
          <a:xfrm>
            <a:off x="3040031" y="6383932"/>
            <a:ext cx="4544773" cy="1128889"/>
          </a:xfrm>
          <a:prstGeom prst="roundRect">
            <a:avLst/>
          </a:prstGeom>
          <a:solidFill>
            <a:srgbClr val="F5F8FC"/>
          </a:solidFill>
          <a:ln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850" b="1">
                <a:solidFill>
                  <a:srgbClr val="233449"/>
                </a:solidFill>
                <a:latin typeface="Arial"/>
              </a:defRPr>
            </a:pPr>
            <a:r>
              <a:t>Diagram continues on slides 2–2</a:t>
            </a:r>
          </a:p>
        </p:txBody>
      </p:sp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Historian and local counter disagree for interval 2026-09-21 18:00–24:00; sensor drift remains a deployment risk.&quot;,&quot;element&quot;:&quot;Risk Callout&quot;,&quot;engine&quot;:&quot;DecisionCompositeEngine&quot;,&quot;groupId&quot;:null,&quot;h&quot;:175.0,&quot;id&quot;:&quot;c7&quot;,&quot;locked&quot;:false,&quot;message_role&quot;:&quot;Risk&quot;,&quot;order&quot;:8,&quot;section_id&quot;:&quot;decision&quot;,&quot;section_title&quot;:&quot;Decision&quot;,&quot;showTitle&quot;:true,&quot;statement&quot;:&quot;Stage two stations; hold Marsh 4 for verification&quot;,&quot;status&quot;:&quot;Conditional&quot;,&quot;textAlign&quot;:&quot;left&quot;,&quot;title&quot;:&quot;Risk Callout&quot;,&quot;type&quot;:&quot;decision&quot;,&quot;w&quot;:1572.0,&quot;weight&quot;:1.15,&quot;x&quot;:14.0,&quot;y&quot;:1516.7199999999998,&quot;z&quot;:7}"/>
          <p:cNvSpPr/>
          <p:nvPr/>
        </p:nvSpPr>
        <p:spPr>
          <a:xfrm>
            <a:off x="92967" y="10071812"/>
            <a:ext cx="10438900" cy="116209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7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Stage two stations; hold Marsh 4 for verification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Historian and local counter disagree for interval 2026-09-21 18:00–24:00; sensor drift remains a deployment risk.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Conditional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assign East Sluice and Delta Yard to the first response wave; release Marsh 4 after vibration and counter reconciliation.&quot;,&quot;composition_role&quot;:&quot;conclusion&quot;,&quot;element&quot;:&quot;Key Takeaway&quot;,&quot;engine&quot;:&quot;TextEngine&quot;,&quot;groupId&quot;:null,&quot;h&quot;:96.0,&quot;id&quot;:&quot;c9&quot;,&quot;locked&quot;:false,&quot;message_role&quot;:&quot;Action&quot;,&quot;order&quot;:9,&quot;section_id&quot;:&quot;delivery&quot;,&quot;section_title&quot;:&quot;Next steps&quot;,&quot;showTitle&quot;:false,&quot;text&quot;:&quot;Next step: assign East Sluice and Delta Yard to the first response wave; release Marsh 4 after vibration and counter reconciliation.&quot;,&quot;textAlign&quot;:&quot;left&quot;,&quot;title&quot;:&quot;Key Takeaway&quot;,&quot;type&quot;:&quot;text&quot;,&quot;w&quot;:1572.0,&quot;weight&quot;:1.1,&quot;x&quot;:14.0,&quot;y&quot;:1725.7199999999998,&quot;z&quot;:9}"/>
          <p:cNvSpPr/>
          <p:nvPr/>
        </p:nvSpPr>
        <p:spPr>
          <a:xfrm>
            <a:off x="92967" y="11459681"/>
            <a:ext cx="10438900" cy="63749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assign East Sluice and Delta Yard to the first response wave; release Marsh 4 after vibration and counter reconciliation.</a:t>
            </a:r>
          </a:p>
        </p:txBody>
      </p:sp>
      <p:sp>
        <p:nvSpPr>
          <p:cNvPr id="13" name="VIZ::Six-hour pump load by station::chart-label-band"/>
          <p:cNvSpPr/>
          <p:nvPr/>
        </p:nvSpPr>
        <p:spPr>
          <a:xfrm>
            <a:off x="1138990" y="4966684"/>
            <a:ext cx="4521027" cy="2883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Six-hour pump load by station::legend-marker-0"/>
          <p:cNvSpPr/>
          <p:nvPr/>
        </p:nvSpPr>
        <p:spPr>
          <a:xfrm>
            <a:off x="1241893" y="5035232"/>
            <a:ext cx="63500" cy="63500"/>
          </a:xfrm>
          <a:prstGeom prst="rect">
            <a:avLst/>
          </a:prstGeom>
          <a:solidFill>
            <a:srgbClr val="1769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IZ::Six-hour pump load by station::legend-label-0"/>
          <p:cNvSpPr txBox="1"/>
          <p:nvPr/>
        </p:nvSpPr>
        <p:spPr>
          <a:xfrm>
            <a:off x="1343493" y="5004296"/>
            <a:ext cx="1902524" cy="1253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809">
                <a:latin typeface="Arial"/>
              </a:defRPr>
            </a:pPr>
            <a:r>
              <a:t>East Sluice PS-04</a:t>
            </a:r>
          </a:p>
        </p:txBody>
      </p:sp>
      <p:sp>
        <p:nvSpPr>
          <p:cNvPr id="16" name="VIZ::Six-hour pump load by station::legend-marker-1"/>
          <p:cNvSpPr/>
          <p:nvPr/>
        </p:nvSpPr>
        <p:spPr>
          <a:xfrm>
            <a:off x="3360317" y="5035232"/>
            <a:ext cx="63500" cy="63500"/>
          </a:xfrm>
          <a:prstGeom prst="rect">
            <a:avLst/>
          </a:prstGeom>
          <a:solidFill>
            <a:srgbClr val="2E8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Six-hour pump load by station::legend-label-1"/>
          <p:cNvSpPr txBox="1"/>
          <p:nvPr/>
        </p:nvSpPr>
        <p:spPr>
          <a:xfrm>
            <a:off x="3461917" y="5004296"/>
            <a:ext cx="1902524" cy="1253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809">
                <a:latin typeface="Arial"/>
              </a:defRPr>
            </a:pPr>
            <a:r>
              <a:t>Delta Yard PS-17</a:t>
            </a:r>
          </a:p>
        </p:txBody>
      </p:sp>
      <p:sp>
        <p:nvSpPr>
          <p:cNvPr id="18" name="VIZ::Six-hour pump load by station::legend-marker-2"/>
          <p:cNvSpPr/>
          <p:nvPr/>
        </p:nvSpPr>
        <p:spPr>
          <a:xfrm>
            <a:off x="1241893" y="5160605"/>
            <a:ext cx="63500" cy="635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IZ::Six-hour pump load by station::legend-label-2"/>
          <p:cNvSpPr txBox="1"/>
          <p:nvPr/>
        </p:nvSpPr>
        <p:spPr>
          <a:xfrm>
            <a:off x="1343493" y="5129669"/>
            <a:ext cx="1902524" cy="12537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defRPr sz="809">
                <a:latin typeface="Arial"/>
              </a:defRPr>
            </a:pPr>
            <a:r>
              <a:t>Marsh Gate PS-31</a:t>
            </a:r>
          </a:p>
        </p:txBody>
      </p:sp>
      <p:graphicFrame>
        <p:nvGraphicFramePr>
          <p:cNvPr id="49" name="VIZ::Sailing lane decision evidence" descr="VisualizerSemantic:{&quot;composition_role&quot;:&quot;detailed_evidence&quot;,&quot;customTable&quot;:{&quot;headers&quot;:[&quot;Station / telemetry key&quot;,&quot;Mean duty %&quot;,&quot;Peak vibration mm/s&quot;,&quot;Historian / local counter&quot;,&quot;Readiness&quot;],&quot;rows&quot;:[[&quot;East Sluice PS-04 / INTAKE-04-B&quot;,53,2.8,&quot;Aligned after sensor swap&quot;,&quot;Stage&quot;],[&quot;Delta Yard PS-17 / LVL-17-A&quot;,65,3.4,&quot;Aligned&quot;,&quot;Stage&quot;],[&quot;Marsh Gate PS-31 / VIB-31-C&quot;,83,4.6,&quot;18:00–24:00 contested&quot;,&quot;Hold&quot;],[&quot;North Outfall PS-02 / FLOW-02-D&quot;,61,3.1,&quot;Historian late by 11 min&quot;,&quot;Watch&quot;]]},&quot;element&quot;:&quot;Clean Table&quot;,&quot;engine&quot;:&quot;TableEngine&quot;,&quot;groupId&quot;:null,&quot;h&quot;:343.35999999999996,&quot;id&quot;:&quot;c6&quot;,&quot;locked&quot;:false,&quot;message_role&quot;:&quot;Primary Evidence&quot;,&quot;order&quot;:6,&quot;rows&quot;:[[&quot;East Sluice PS-04 / INTAKE-04-B&quot;,53,2.8,&quot;Aligned after sensor swap&quot;,&quot;Stage&quot;],[&quot;Delta Yard PS-17 / LVL-17-A&quot;,65,3.4,&quot;Aligned&quot;,&quot;Stage&quot;],[&quot;Marsh Gate PS-31 / VIB-31-C&quot;,83,4.6,&quot;18:00–24:00 contested&quot;,&quot;Hold&quot;],[&quot;North Outfall PS-02 / FLOW-02-D&quot;,61,3.1,&quot;Historian late by 11 min&quot;,&quot;Watch&quot;]],&quot;section_id&quot;:&quot;evidence&quot;,&quot;section_title&quot;:&quot;Evidence&quot;,&quot;showTitle&quot;:true,&quot;textAlign&quot;:&quot;left&quot;,&quot;title&quot;:&quot;Sailing lane decision evidence&quot;,&quot;type&quot;:&quot;table&quot;,&quot;w&quot;:1572.0,&quot;weight&quot;:1.55,&quot;x&quot;:14.0,&quot;y&quot;:1139.36,&quot;z&quot;:6}"/>
          <p:cNvGraphicFramePr>
            <a:graphicFrameLocks noGrp="1"/>
          </p:cNvGraphicFramePr>
          <p:nvPr/>
        </p:nvGraphicFramePr>
        <p:xfrm>
          <a:off x="92967" y="7565945"/>
          <a:ext cx="10438900" cy="22800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7780"/>
                <a:gridCol w="2087780"/>
                <a:gridCol w="2087780"/>
                <a:gridCol w="2087780"/>
                <a:gridCol w="2087780"/>
              </a:tblGrid>
              <a:tr h="45601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Station / telemetry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Mean duty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Peak vibration mm/s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Historian / local 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Readiness</a:t>
                      </a:r>
                    </a:p>
                  </a:txBody>
                  <a:tcPr/>
                </a:tc>
              </a:tr>
              <a:tr h="45601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 Sluice PS-04 / INTAKE-04-B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Aligned after sensor swap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Stage</a:t>
                      </a:r>
                    </a:p>
                  </a:txBody>
                  <a:tcPr/>
                </a:tc>
              </a:tr>
              <a:tr h="45601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Delta Yard PS-17 / LVL-17-A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Aligned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Stage</a:t>
                      </a:r>
                    </a:p>
                  </a:txBody>
                  <a:tcPr/>
                </a:tc>
              </a:tr>
              <a:tr h="45601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Marsh Gate PS-31 / VIB-31-C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18:00–24:00 contested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Hold</a:t>
                      </a:r>
                    </a:p>
                  </a:txBody>
                  <a:tcPr/>
                </a:tc>
              </a:tr>
              <a:tr h="45601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 Outfall PS-02 / FLOW-02-D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Historian late by 11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Watch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0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interval_window_1&quot;,&quot;name&quot;:&quot;Interval window&quot;,&quot;nullable&quot;:false,&quot;profile&quot;:{&quot;distinct&quot;:16,&quot;missing&quot;:0},&quot;semantic_tags&quot;:[],&quot;type&quot;:&quot;categorical&quot;},{&quot;id&quot;:&quot;pump_station_identifier_2&quot;,&quot;name&quot;:&quot;Pump station identifier&quot;,&quot;nullable&quot;:false,&quot;profile&quot;:{&quot;distinct&quot;:3,&quot;missing&quot;:0},&quot;semantic_tags&quot;:[],&quot;type&quot;:&quot;categorical&quot;},{&quot;id&quot;:&quot;duty_load_percent_3&quot;,&quot;name&quot;:&quot;Duty load percent&quot;,&quot;nullable&quot;:false,&quot;profile&quot;:{&quot;distinct&quot;:41,&quot;missing&quot;:0},&quot;semantic_tags&quot;:[],&quot;type&quot;:&quot;integer&quot;,&quot;unit&quot;:&quot;&quot;}],&quot;id&quot;:&quot;dataset-mujcz94w-6czwan&quot;,&quot;metadata&quot;:{&quot;header&quot;:{&quot;confidence&quot;:0.6666666666666666,&quot;present&quot;:true,&quot;source_row&quot;:0}},&quot;name&quot;:&quot;Pasted data&quot;,&quot;revision&quot;:1,&quot;rows&quot;:[[&quot;2026-09-19 00:00–06:00&quot;,&quot;East Sluice PS-04&quot;,43],[&quot;2026-09-19 00:00–06:00&quot;,&quot;Delta Yard PS-17&quot;,55],[&quot;2026-09-19 00:00–06:00&quot;,&quot;Marsh Gate PS-31&quot;,62],[&quot;2026-09-19 06:00–12:00&quot;,&quot;East Sluice PS-04&quot;,46],[&quot;2026-09-19 06:00–12:00&quot;,&quot;Delta Yard PS-17&quot;,57],[&quot;2026-09-19 06:00–12:00&quot;,&quot;Marsh Gate PS-31&quot;,68],[&quot;2026-09-19 12:00–18:00&quot;,&quot;East Sluice PS-04&quot;,51],[&quot;2026-09-19 12:00–18:00&quot;,&quot;Delta Yard PS-17&quot;,60],[&quot;2026-09-19 12:00–18:00&quot;,&quot;Marsh Gate PS-31&quot;,74],[&quot;2026-09-19 18:00–24:00&quot;,&quot;East Sluice PS-04&quot;,48],[&quot;2026-09-19 18:00–24:00&quot;,&quot;Delta Yard PS-17&quot;,59],[&quot;2026-09-19 18:00–24:00&quot;,&quot;Marsh Gate PS-31&quot;,79],[&quot;2026-09-20 00:00–06:00&quot;,&quot;East Sluice PS-04&quot;,54],[&quot;2026-09-20 00:00–06:00&quot;,&quot;Delta Yard PS-17&quot;,63],[&quot;2026-09-20 00:00–06:00&quot;,&quot;Marsh Gate PS-31&quot;,83],[&quot;2026-09-20 06:00–12:00&quot;,&quot;East Sluice PS-04&quot;,58],[&quot;2026-09-20 06:00–12:00&quot;,&quot;Delta Yard PS-17&quot;,67],[&quot;2026-09-20 06:00–12:00&quot;,&quot;Marsh Gate PS-31&quot;,86],[&quot;2026-09-20 12:00–18:00&quot;,&quot;East Sluice PS-04&quot;,62],[&quot;2026-09-20 12:00–18:00&quot;,&quot;Delta Yard PS-17&quot;,72],[&quot;2026-09-20 12:00–18:00&quot;,&quot;Marsh Gate PS-31&quot;,89],[&quot;2026-09-20 18:00–24:00&quot;,&quot;East Sluice PS-04&quot;,55],[&quot;2026-09-20 18:00–24:00&quot;,&quot;Delta Yard PS-17&quot;,69],[&quot;2026-09-20 18:00–24:00&quot;,&quot;Marsh Gate PS-31&quot;,91],[&quot;2026-09-21 00:00–06:00&quot;,&quot;East Sluice PS-04&quot;,57],[&quot;2026-09-21 00:00–06:00&quot;,&quot;Delta Yard PS-17&quot;,73],[&quot;2026-09-21 00:00–06:00&quot;,&quot;Marsh Gate PS-31&quot;,88],[&quot;2026-09-21 06:00–12:00&quot;,&quot;East Sluice PS-04&quot;,64],[&quot;2026-09-21 06:00–12:00&quot;,&quot;Delta Yard PS-17&quot;,77],[&quot;2026-09-21 06:00–12:00&quot;,&quot;Marsh Gate PS-31&quot;,92],[&quot;2026-09-21 12:00–18:00&quot;,&quot;East Sluice PS-04&quot;,61],[&quot;2026-09-21 12:00–18:00&quot;,&quot;Delta Yard PS-17&quot;,75],[&quot;2026-09-21 12:00–18:00&quot;,&quot;Marsh Gate PS-31&quot;,95],[&quot;2026-09-21 18:00–24:00&quot;,&quot;East Sluice PS-04&quot;,58],[&quot;2026-09-21 18:00–24:00&quot;,&quot;Delta Yard PS-17&quot;,72],[&quot;2026-09-21 18:00–24:00&quot;,&quot;Marsh Gate PS-31&quot;,93],[&quot;2026-09-22 00:00–06:00&quot;,&quot;East Sluice PS-04&quot;,53],[&quot;2026-09-22 00:00–06:00&quot;,&quot;Delta Yard PS-17&quot;,66],[&quot;2026-09-22 00:00–06:00&quot;,&quot;Marsh Gate PS-31&quot;,87],[&quot;2026-09-22 06:00–12:00&quot;,&quot;East Sluice PS-04&quot;,49],[&quot;2026-09-22 06:00–12:00&quot;,&quot;Delta Yard PS-17&quot;,63],[&quot;2026-09-22 06:00–12:00&quot;,&quot;Marsh Gate PS-31&quot;,80],[&quot;2026-09-22 12:00–18:00&quot;,&quot;East Sluice PS-04&quot;,44],[&quot;2026-09-22 12:00–18:00&quot;,&quot;Delta Yard PS-17&quot;,59],[&quot;2026-09-22 12:00–18:00&quot;,&quot;Marsh Gate PS-31&quot;,76],[&quot;2026-09-22 18:00–24:00&quot;,&quot;East Sluice PS-04&quot;,41],[&quot;2026-09-22 18:00–24:00&quot;,&quot;Delta Yard PS-17&quot;,56],[&quot;2026-09-22 18:00–24:00&quot;,&quot;Marsh Gate PS-31&quot;,71]],&quot;source&quot;:{&quot;imported_at&quot;:&quot;2026-09-27T05:08:57.728Z&quot;,&quot;kind&quot;:&quot;clipboard&quot;,&quot;label&quot;:&quot;TSV&quot;},&quot;warnings&quot;:[]},{&quot;fields&quot;:[{&quot;id&quot;:&quot;pump_station_1&quot;,&quot;name&quot;:&quot;Pump station&quot;,&quot;nullable&quot;:false,&quot;profile&quot;:{&quot;distinct&quot;:3,&quot;missing&quot;:0},&quot;semantic_tags&quot;:[],&quot;type&quot;:&quot;categorical&quot;},{&quot;id&quot;:&quot;vibration_velocity_mm_s_2&quot;,&quot;name&quot;:&quot;Vibration velocity mm/s&quot;,&quot;nullable&quot;:false,&quot;profile&quot;:{&quot;distinct&quot;:13,&quot;missing&quot;:0},&quot;semantic_tags&quot;:[],&quot;type&quot;:&quot;number&quot;,&quot;unit&quot;:&quot;&quot;}],&quot;id&quot;:&quot;dataset-mujczbgu-qu4dac&quot;,&quot;metadata&quot;:{&quot;header&quot;:{&quot;confidence&quot;:0.75,&quot;present&quot;:true,&quot;source_row&quot;:0}},&quot;name&quot;:&quot;Pasted data&quot;,&quot;revision&quot;:1,&quot;rows&quot;:[[&quot;East Sluice PS-04&quot;,2.2],[&quot;East Sluice PS-04&quot;,2.5],[&quot;East Sluice PS-04&quot;,2.1],[&quot;East Sluice PS-04&quot;,2.8],[&quot;East Sluice PS-04&quot;,2.4],[&quot;Delta Yard PS-17&quot;,2.8],[&quot;Delta Yard PS-17&quot;,3.2],[&quot;Delta Yard PS-17&quot;,3],[&quot;Delta Yard PS-17&quot;,3.4],[&quot;Delta Yard PS-17&quot;,3.1],[&quot;Marsh Gate PS-31&quot;,3.4],[&quot;Marsh Gate PS-31&quot;,3.9],[&quot;Marsh Gate PS-31&quot;,4.2],[&quot;Marsh Gate PS-31&quot;,3.7],[&quot;Marsh Gate PS-31&quot;,4.6]],&quot;source&quot;:{&quot;imported_at&quot;:&quot;2026-09-27T05:09:00.750Z&quot;,&quot;kind&quot;:&quot;clipboard&quot;,&quot;label&quot;:&quot;TSV&quot;},&quot;warnings&quot;:[]}],&quot;groups&quot;:{},&quot;items&quot;:[{&quot;body&quot;:&quot;Stage the Tidal Gate fleet by basin; sensor drift prevents a full green release.&quot;,&quot;composition_role&quot;:&quot;report_headline&quot;,&quot;element&quot;:&quot;Hero Title&quot;,&quot;engine&quot;:&quot;TextEngine&quot;,&quot;groupId&quot;:null,&quot;h&quot;:109.76,&quot;id&quot;:&quot;c1&quot;,&quot;locked&quot;:false,&quot;message_role&quot;:&quot;Headline&quot;,&quot;order&quot;:0,&quot;section_id&quot;:&quot;opening&quot;,&quot;section_title&quot;:&quot;Overview&quot;,&quot;showTitle&quot;:false,&quot;text&quot;:&quot;Stage the Tidal Gate fleet by basin; sensor drift prevents a full green release.&quot;,&quot;textAlign&quot;:&quot;left&quot;,&quot;title&quot;:&quot;Hero Title&quot;,&quot;type&quot;:&quot;text&quot;,&quot;w&quot;:520,&quot;weight&quot;:1.1,&quot;x&quot;:14,&quot;y&quot;:14,&quot;z&quot;:1},{&quot;composition_role&quot;:&quot;hero_metric&quot;,&quot;delta&quot;:7,&quot;element&quot;:&quot;Hero KPI&quot;,&quot;engine&quot;:&quot;MetricEngine&quot;,&quot;groupId&quot;:null,&quot;h&quot;:152.32000000000002,&quot;id&quot;:&quot;c2&quot;,&quot;locked&quot;:false,&quot;message_role&quot;:&quot;Supporting Evidence&quot;,&quot;order&quot;:1,&quot;period&quot;:&quot;vs prior period&quot;,&quot;section_id&quot;:&quot;performance&quot;,&quot;section_title&quot;:&quot;Performance&quot;,&quot;showTitle&quot;:true,&quot;target&quot;:90,&quot;textAlign&quot;:&quot;left&quot;,&quot;title&quot;:&quot;Fleet readiness&quot;,&quot;type&quot;:&quot;metric&quot;,&quot;unit&quot;:&quot;%&quot;,&quot;value&quot;:82,&quot;w&quot;:520,&quot;weight&quot;:1.15,&quot;x&quot;:548,&quot;y&quot;:14,&quot;z&quot;:2},{&quot;after&quot;:58,&quot;before&quot;:71,&quot;composition_role&quot;:&quot;hero_metric&quot;,&quot;element&quot;:&quot;Before/After KPI&quot;,&quot;engine&quot;:&quot;ComparisonEngine&quot;,&quot;groupId&quot;:null,&quot;h&quot;:150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%&quot;},&quot;order&quot;:2,&quot;section_id&quot;:&quot;performance&quot;,&quot;section_title&quot;:&quot;Performance&quot;,&quot;showTitle&quot;:true,&quot;textAlign&quot;:&quot;left&quot;,&quot;title&quot;:&quot;Mean load: Marsh 4 vs East Sluice&quot;,&quot;type&quot;:&quot;comparison&quot;,&quot;unit&quot;:&quot;%&quot;,&quot;w&quot;:430,&quot;weight&quot;:1.15,&quot;x&quot;:1082,&quot;y&quot;:14,&quot;z&quot;:3},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6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Line Chart&quot;,&quot;dataset&quot;:{&quot;fields&quot;:[{&quot;id&quot;:&quot;interval_window_1&quot;,&quot;name&quot;:&quot;Interval window&quot;,&quot;nullable&quot;:false,&quot;profile&quot;:{&quot;distinct&quot;:16,&quot;missing&quot;:0},&quot;semantic_tags&quot;:[],&quot;type&quot;:&quot;categorical&quot;},{&quot;id&quot;:&quot;pump_station_identifier_2&quot;,&quot;name&quot;:&quot;Pump station identifier&quot;,&quot;nullable&quot;:false,&quot;profile&quot;:{&quot;distinct&quot;:3,&quot;missing&quot;:0},&quot;semantic_tags&quot;:[],&quot;type&quot;:&quot;categorical&quot;},{&quot;id&quot;:&quot;duty_load_percent_3&quot;,&quot;name&quot;:&quot;Duty load percent&quot;,&quot;nullable&quot;:false,&quot;profile&quot;:{&quot;distinct&quot;:41,&quot;missing&quot;:0},&quot;semantic_tags&quot;:[],&quot;type&quot;:&quot;integer&quot;,&quot;unit&quot;:&quot;&quot;}],&quot;id&quot;:&quot;dataset-mujcz94w-6czwan&quot;,&quot;metadata&quot;:{&quot;header&quot;:{&quot;confidence&quot;:0.6666666666666666,&quot;present&quot;:true,&quot;source_row&quot;:0}},&quot;name&quot;:&quot;Pasted data&quot;,&quot;revision&quot;:1,&quot;rows&quot;:[[&quot;2026-09-19 00:00–06:00&quot;,&quot;East Sluice PS-04&quot;,43],[&quot;2026-09-19 00:00–06:00&quot;,&quot;Delta Yard PS-17&quot;,55],[&quot;2026-09-19 00:00–06:00&quot;,&quot;Marsh Gate PS-31&quot;,62],[&quot;2026-09-19 06:00–12:00&quot;,&quot;East Sluice PS-04&quot;,46],[&quot;2026-09-19 06:00–12:00&quot;,&quot;Delta Yard PS-17&quot;,57],[&quot;2026-09-19 06:00–12:00&quot;,&quot;Marsh Gate PS-31&quot;,68],[&quot;2026-09-19 12:00–18:00&quot;,&quot;East Sluice PS-04&quot;,51],[&quot;2026-09-19 12:00–18:00&quot;,&quot;Delta Yard PS-17&quot;,60],[&quot;2026-09-19 12:00–18:00&quot;,&quot;Marsh Gate PS-31&quot;,74],[&quot;2026-09-19 18:00–24:00&quot;,&quot;East Sluice PS-04&quot;,48],[&quot;2026-09-19 18:00–24:00&quot;,&quot;Delta Yard PS-17&quot;,59],[&quot;2026-09-19 18:00–24:00&quot;,&quot;Marsh Gate PS-31&quot;,79],[&quot;2026-09-20 00:00–06:00&quot;,&quot;East Sluice PS-04&quot;,54],[&quot;2026-09-20 00:00–06:00&quot;,&quot;Delta Yard PS-17&quot;,63],[&quot;2026-09-20 00:00–06:00&quot;,&quot;Marsh Gate PS-31&quot;,83],[&quot;2026-09-20 06:00–12:00&quot;,&quot;East Sluice PS-04&quot;,58],[&quot;2026-09-20 06:00–12:00&quot;,&quot;Delta Yard PS-17&quot;,67],[&quot;2026-09-20 06:00–12:00&quot;,&quot;Marsh Gate PS-31&quot;,86],[&quot;2026-09-20 12:00–18:00&quot;,&quot;East Sluice PS-04&quot;,62],[&quot;2026-09-20 12:00–18:00&quot;,&quot;Delta Yard PS-17&quot;,72],[&quot;2026-09-20 12:00–18:00&quot;,&quot;Marsh Gate PS-31&quot;,89],[&quot;2026-09-20 18:00–24:00&quot;,&quot;East Sluice PS-04&quot;,55],[&quot;2026-09-20 18:00–24:00&quot;,&quot;Delta Yard PS-17&quot;,69],[&quot;2026-09-20 18:00–24:00&quot;,&quot;Marsh Gate PS-31&quot;,91],[&quot;2026-09-21 00:00–06:00&quot;,&quot;East Sluice PS-04&quot;,57],[&quot;2026-09-21 00:00–06:00&quot;,&quot;Delta Yard PS-17&quot;,73],[&quot;2026-09-21 00:00–06:00&quot;,&quot;Marsh Gate PS-31&quot;,88],[&quot;2026-09-21 06:00–12:00&quot;,&quot;East Sluice PS-04&quot;,64],[&quot;2026-09-21 06:00–12:00&quot;,&quot;Delta Yard PS-17&quot;,77],[&quot;2026-09-21 06:00–12:00&quot;,&quot;Marsh Gate PS-31&quot;,92],[&quot;2026-09-21 12:00–18:00&quot;,&quot;East Sluice PS-04&quot;,61],[&quot;2026-09-21 12:00–18:00&quot;,&quot;Delta Yard PS-17&quot;,75],[&quot;2026-09-21 12:00–18:00&quot;,&quot;Marsh Gate PS-31&quot;,95],[&quot;2026-09-21 18:00–24:00&quot;,&quot;East Sluice PS-04&quot;,58],[&quot;2026-09-21 18:00–24:00&quot;,&quot;Delta Yard PS-17&quot;,72],[&quot;2026-09-21 18:00–24:00&quot;,&quot;Marsh Gate PS-31&quot;,93],[&quot;2026-09-22 00:00–06:00&quot;,&quot;East Sluice PS-04&quot;,53],[&quot;2026-09-22 00:00–06:00&quot;,&quot;Delta Yard PS-17&quot;,66],[&quot;2026-09-22 00:00–06:00&quot;,&quot;Marsh Gate PS-31&quot;,87],[&quot;2026-09-22 06:00–12:00&quot;,&quot;East Sluice PS-04&quot;,49],[&quot;2026-09-22 06:00–12:00&quot;,&quot;Delta Yard PS-17&quot;,63],[&quot;2026-09-22 06:00–12:00&quot;,&quot;Marsh Gate PS-31&quot;,80],[&quot;2026-09-22 12:00–18:00&quot;,&quot;East Sluice PS-04&quot;,44],[&quot;2026-09-22 12:00–18:00&quot;,&quot;Delta Yard PS-17&quot;,59],[&quot;2026-09-22 12:00–18:00&quot;,&quot;Marsh Gate PS-31&quot;,76],[&quot;2026-09-22 18:00–24:00&quot;,&quot;East Sluice PS-04&quot;,41],[&quot;2026-09-22 18:00–24:00&quot;,&quot;Delta Yard PS-17&quot;,56],[&quot;2026-09-22 18:00–24:00&quot;,&quot;Marsh Gate PS-31&quot;,71]],&quot;source&quot;:{&quot;imported_at&quot;:&quot;2026-09-27T05:08:57.728Z&quot;,&quot;kind&quot;:&quot;clipboard&quot;,&quot;label&quot;:&quot;TSV&quot;},&quot;warnings&quot;:[]},&quot;dataset_id&quot;:&quot;dataset-mujcz94w-6czwan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interval_window_1&quot;,&quot;series&quot;:&quot;pump_station_identifier_2&quot;,&quot;value&quot;:&quot;duty_load_percent_3&quot;,&quot;x&quot;:&quot;interval_window_1&quot;,&quot;y&quot;:&quot;duty_load_percent_3&quot;},&quot;recipe&quot;:null,&quot;recommendations&quot;:[{&quot;confidence&quot;:0.93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horizontal field and numeric measure are available.&quot;,&quot;type&quot;:&quot;Line Chart&quot;},{&quot;confidence&quot;:0.9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shared axis can compare multiple runs when a series field is available.&quot;,&quot;type&quot;:&quot;Multi-Line&quot;},{&quot;confidence&quot;:0.9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category and measured value are available.&quot;,&quot;type&quot;:&quot;Vertical Bar&quot;},{&quot;confidence&quot;:0.87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The same trend mapping can show accumulated movement.&quot;,&quot;type&quot;:&quot;Area Chart&quot;},{&quot;confidence&quot;:0.82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A horizontal ranking keeps category labels readable.&quot;,&quot;type&quot;:&quot;Horizontal Bar&quot;},{&quot;confidence&quot;:0.8,&quot;mapping&quot;:{&quot;category&quot;:&quot;interval_window_1&quot;,&quot;series&quot;:&quot;pump_station_identifier_2&quot;,&quot;value&quot;:&quot;duty_load_percent_3&quot;,&quot;x&quot;:&quot;interval_window_1&quot;,&quot;y&quot;:&quot;duty_load_percent_3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pump_station_identifier_2&quot;,&quot;id&quot;:&quot;series-1&quot;,&quot;key&quot;:&quot;East Sluice PS-04&quot;,&quot;label&quot;:&quot;East Sluice PS-04&quot;,&quot;legend&quot;:true,&quot;lineDash&quot;:null,&quot;lineWidth&quot;:null,&quot;markers&quot;:true,&quot;smoothing&quot;:false,&quot;type&quot;:&quot;line&quot;,&quot;visible&quot;:true},{&quot;axis&quot;:&quot;primary&quot;,&quot;color&quot;:&quot;#2e8b72&quot;,&quot;field&quot;:&quot;pump_station_identifier_2&quot;,&quot;id&quot;:&quot;series-2&quot;,&quot;key&quot;:&quot;Delta Yard PS-17&quot;,&quot;label&quot;:&quot;Delta Yard PS-17&quot;,&quot;legend&quot;:true,&quot;lineDash&quot;:null,&quot;lineWidth&quot;:null,&quot;markers&quot;:true,&quot;smoothing&quot;:false,&quot;type&quot;:&quot;line&quot;,&quot;visible&quot;:true},{&quot;axis&quot;:&quot;primary&quot;,&quot;color&quot;:&quot;#b7791f&quot;,&quot;field&quot;:&quot;pump_station_identifier_2&quot;,&quot;id&quot;:&quot;series-3&quot;,&quot;key&quot;:&quot;Marsh Gate PS-31&quot;,&quot;label&quot;:&quot;Marsh Gate PS-31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horizontal field and numeric measure are available.&quot;},&quot;composition_role&quot;:&quot;primary_analysis&quot;,&quot;cross&quot;:null,&quot;data&quot;:[[&quot;2026-09-19 00:00–06:00&quot;,43],[&quot;2026-09-19 00:00–06:00&quot;,55],[&quot;2026-09-19 00:00–06:00&quot;,62],[&quot;2026-09-19 06:00–12:00&quot;,46],[&quot;2026-09-19 06:00–12:00&quot;,57],[&quot;2026-09-19 06:00–12:00&quot;,68],[&quot;2026-09-19 12:00–18:00&quot;,51],[&quot;2026-09-19 12:00–18:00&quot;,60],[&quot;2026-09-19 12:00–18:00&quot;,74],[&quot;2026-09-19 18:00–24:00&quot;,48],[&quot;2026-09-19 18:00–24:00&quot;,59],[&quot;2026-09-19 18:00–24:00&quot;,79],[&quot;2026-09-20 00:00–06:00&quot;,54],[&quot;2026-09-20 00:00–06:00&quot;,63],[&quot;2026-09-20 00:00–06:00&quot;,83],[&quot;2026-09-20 06:00–12:00&quot;,58],[&quot;2026-09-20 06:00–12:00&quot;,67],[&quot;2026-09-20 06:00–12:00&quot;,86],[&quot;2026-09-20 12:00–18:00&quot;,62],[&quot;2026-09-20 12:00–18:00&quot;,72],[&quot;2026-09-20 12:00–18:00&quot;,89],[&quot;2026-09-20 18:00–24:00&quot;,55],[&quot;2026-09-20 18:00–24:00&quot;,69],[&quot;2026-09-20 18:00–24:00&quot;,91],[&quot;2026-09-21 00:00–06:00&quot;,57],[&quot;2026-09-21 00:00–06:00&quot;,73],[&quot;2026-09-21 00:00–06:00&quot;,88],[&quot;2026-09-21 06:00–12:00&quot;,64],[&quot;2026-09-21 06:00–12:00&quot;,77],[&quot;2026-09-21 06:00–12:00&quot;,92],[&quot;2026-09-21 12:00–18:00&quot;,61],[&quot;2026-09-21 12:00–18:00&quot;,75],[&quot;2026-09-21 12:00–18:00&quot;,95],[&quot;2026-09-21 18:00–24:00&quot;,58],[&quot;2026-09-21 18:00–24:00&quot;,72],[&quot;2026-09-21 18:00–24:00&quot;,93],[&quot;2026-09-22 00:00–06:00&quot;,53],[&quot;2026-09-22 00:00–06:00&quot;,66],[&quot;2026-09-22 00:00–06:00&quot;,87],[&quot;2026-09-22 06:00–12:00&quot;,49],[&quot;2026-09-22 06:00–12:00&quot;,63],[&quot;2026-09-22 06:00–12:00&quot;,80],[&quot;2026-09-22 12:00–18:00&quot;,44],[&quot;2026-09-22 12:00–18:00&quot;,59],[&quot;2026-09-22 12:00–18:00&quot;,76],[&quot;2026-09-22 18:00–24:00&quot;,41],[&quot;2026-09-22 18:00–24:00&quot;,56],[&quot;2026-09-22 18:00–24:00&quot;,71]],&quot;dataset_id&quot;:&quot;dataset-mujcz94w-6czwan&quot;,&quot;drill&quot;:null,&quot;element&quot;:&quot;Line Chart&quot;,&quot;engine&quot;:&quot;CoreChartEngine&quot;,&quot;groupId&quot;:null,&quot;h&quot;:320,&quot;id&quot;:&quot;c4&quot;,&quot;locked&quot;:false,&quot;mapping&quot;:{&quot;category&quot;:&quot;interval_window_1&quot;,&quot;series&quot;:&quot;pump_station_identifier_2&quot;,&quot;value&quot;:&quot;duty_load_percent_3&quot;,&quot;x&quot;:&quot;interval_window_1&quot;,&quot;y&quot;:&quot;duty_load_percent_3&quot;},&quot;message_role&quot;:&quot;Primary Evidence&quot;,&quot;order&quot;:3,&quot;revealed&quot;:true,&quot;rows&quot;:[{&quot;label&quot;:&quot;2026-09-19 00:00–06:00&quot;,&quot;value&quot;:43},{&quot;label&quot;:&quot;2026-09-19 00:00–06:00&quot;,&quot;value&quot;:55},{&quot;label&quot;:&quot;2026-09-19 00:00–06:00&quot;,&quot;value&quot;:62},{&quot;label&quot;:&quot;2026-09-19 06:00–12:00&quot;,&quot;value&quot;:46},{&quot;label&quot;:&quot;2026-09-19 06:00–12:00&quot;,&quot;value&quot;:57},{&quot;label&quot;:&quot;2026-09-19 06:00–12:00&quot;,&quot;value&quot;:68},{&quot;label&quot;:&quot;2026-09-19 12:00–18:00&quot;,&quot;value&quot;:51},{&quot;label&quot;:&quot;2026-09-19 12:00–18:00&quot;,&quot;value&quot;:60},{&quot;label&quot;:&quot;2026-09-19 12:00–18:00&quot;,&quot;value&quot;:74},{&quot;label&quot;:&quot;2026-09-19 18:00–24:00&quot;,&quot;value&quot;:48},{&quot;label&quot;:&quot;2026-09-19 18:00–24:00&quot;,&quot;value&quot;:59},{&quot;label&quot;:&quot;2026-09-19 18:00–24:00&quot;,&quot;value&quot;:79},{&quot;label&quot;:&quot;2026-09-20 00:00–06:00&quot;,&quot;value&quot;:54},{&quot;label&quot;:&quot;2026-09-20 00:00–06:00&quot;,&quot;value&quot;:63},{&quot;label&quot;:&quot;2026-09-20 00:00–06:00&quot;,&quot;value&quot;:83},{&quot;label&quot;:&quot;2026-09-20 06:00–12:00&quot;,&quot;value&quot;:58},{&quot;label&quot;:&quot;2026-09-20 06:00–12:00&quot;,&quot;value&quot;:67},{&quot;label&quot;:&quot;2026-09-20 06:00–12:00&quot;,&quot;value&quot;:86},{&quot;label&quot;:&quot;2026-09-20 12:00–18:00&quot;,&quot;value&quot;:62},{&quot;label&quot;:&quot;2026-09-20 12:00–18:00&quot;,&quot;value&quot;:72},{&quot;label&quot;:&quot;2026-09-20 12:00–18:00&quot;,&quot;value&quot;:89},{&quot;label&quot;:&quot;2026-09-20 18:00–24:00&quot;,&quot;value&quot;:55},{&quot;label&quot;:&quot;2026-09-20 18:00–24:00&quot;,&quot;value&quot;:69},{&quot;label&quot;:&quot;2026-09-20 18:00–24:00&quot;,&quot;value&quot;:91},{&quot;label&quot;:&quot;2026-09-21 00:00–06:00&quot;,&quot;value&quot;:57},{&quot;label&quot;:&quot;2026-09-21 00:00–06:00&quot;,&quot;value&quot;:73},{&quot;label&quot;:&quot;2026-09-21 00:00–06:00&quot;,&quot;value&quot;:88},{&quot;label&quot;:&quot;2026-09-21 06:00–12:00&quot;,&quot;value&quot;:64},{&quot;label&quot;:&quot;2026-09-21 06:00–12:00&quot;,&quot;value&quot;:77},{&quot;label&quot;:&quot;2026-09-21 06:00–12:00&quot;,&quot;value&quot;:92},{&quot;label&quot;:&quot;2026-09-21 12:00–18:00&quot;,&quot;value&quot;:61},{&quot;label&quot;:&quot;2026-09-21 12:00–18:00&quot;,&quot;value&quot;:75},{&quot;label&quot;:&quot;2026-09-21 12:00–18:00&quot;,&quot;value&quot;:95},{&quot;label&quot;:&quot;2026-09-21 18:00–24:00&quot;,&quot;value&quot;:58},{&quot;label&quot;:&quot;2026-09-21 18:00–24:00&quot;,&quot;value&quot;:72},{&quot;label&quot;:&quot;2026-09-21 18:00–24:00&quot;,&quot;value&quot;:93},{&quot;label&quot;:&quot;2026-09-22 00:00–06:00&quot;,&quot;value&quot;:53},{&quot;label&quot;:&quot;2026-09-22 00:00–06:00&quot;,&quot;value&quot;:66},{&quot;label&quot;:&quot;2026-09-22 00:00–06:00&quot;,&quot;value&quot;:87},{&quot;label&quot;:&quot;2026-09-22 06:00–12:00&quot;,&quot;value&quot;:49},{&quot;label&quot;:&quot;2026-09-22 06:00–12:00&quot;,&quot;value&quot;:63},{&quot;label&quot;:&quot;2026-09-22 06:00–12:00&quot;,&quot;value&quot;:80},{&quot;label&quot;:&quot;2026-09-22 12:00–18:00&quot;,&quot;value&quot;:44},{&quot;label&quot;:&quot;2026-09-22 12:00–18:00&quot;,&quot;value&quot;:59},{&quot;label&quot;:&quot;2026-09-22 12:00–18:00&quot;,&quot;value&quot;:76},{&quot;label&quot;:&quot;2026-09-22 18:00–24:00&quot;,&quot;value&quot;:41},{&quot;label&quot;:&quot;2026-09-22 18:00–24:00&quot;,&quot;value&quot;:56},{&quot;label&quot;:&quot;2026-09-22 18:00–24:00&quot;,&quot;value&quot;:71}],&quot;section_id&quot;:&quot;analysis&quot;,&quot;section_title&quot;:&quot;Analysis&quot;,&quot;showTitle&quot;:true,&quot;statistical_result&quot;:null,&quot;textAlign&quot;:&quot;left&quot;,&quot;title&quot;:&quot;Six-hour pump load by station&quot;,&quot;transform_recipe&quot;:{&quot;steps&quot;:[]},&quot;type&quot;:&quot;chart&quot;,&quot;variant&quot;:&quot;line&quot;,&quot;w&quot;:520,&quot;weight&quot;:1.8,&quot;x&quot;:14,&quot;y&quot;:137.76,&quot;z&quot;:4},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2,&quot;max&quot;:null,&quot;min&quot;:null,&quot;position&quot;:&quot;bottom&quot;,&quot;precision&quot;:null,&quot;rotation&quot;:35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false}},&quot;chart_type&quot;:&quot;Box Plot&quot;,&quot;dataset&quot;:{&quot;fields&quot;:[{&quot;id&quot;:&quot;pump_station_1&quot;,&quot;name&quot;:&quot;Pump station&quot;,&quot;nullable&quot;:false,&quot;profile&quot;:{&quot;distinct&quot;:3,&quot;missing&quot;:0},&quot;semantic_tags&quot;:[],&quot;type&quot;:&quot;categorical&quot;},{&quot;id&quot;:&quot;vibration_velocity_mm_s_2&quot;,&quot;name&quot;:&quot;Vibration velocity mm/s&quot;,&quot;nullable&quot;:false,&quot;profile&quot;:{&quot;distinct&quot;:13,&quot;missing&quot;:0},&quot;semantic_tags&quot;:[],&quot;type&quot;:&quot;number&quot;,&quot;unit&quot;:&quot;&quot;}],&quot;id&quot;:&quot;dataset-mujczbgu-qu4dac&quot;,&quot;metadata&quot;:{&quot;header&quot;:{&quot;confidence&quot;:0.75,&quot;present&quot;:true,&quot;source_row&quot;:0}},&quot;name&quot;:&quot;Pasted data&quot;,&quot;revision&quot;:1,&quot;rows&quot;:[[&quot;East Sluice PS-04&quot;,2.2],[&quot;East Sluice PS-04&quot;,2.5],[&quot;East Sluice PS-04&quot;,2.1],[&quot;East Sluice PS-04&quot;,2.8],[&quot;East Sluice PS-04&quot;,2.4],[&quot;Delta Yard PS-17&quot;,2.8],[&quot;Delta Yard PS-17&quot;,3.2],[&quot;Delta Yard PS-17&quot;,3],[&quot;Delta Yard PS-17&quot;,3.4],[&quot;Delta Yard PS-17&quot;,3.1],[&quot;Marsh Gate PS-31&quot;,3.4],[&quot;Marsh Gate PS-31&quot;,3.9],[&quot;Marsh Gate PS-31&quot;,4.2],[&quot;Marsh Gate PS-31&quot;,3.7],[&quot;Marsh Gate PS-31&quot;,4.6]],&quot;source&quot;:{&quot;imported_at&quot;:&quot;2026-09-27T05:09:00.750Z&quot;,&quot;kind&quot;:&quot;clipboard&quot;,&quot;label&quot;:&quot;TSV&quot;},&quot;warnings&quot;:[]},&quot;dataset_id&quot;:&quot;dataset-mujczbgu-qu4dac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false},&quot;mapping&quot;:{&quot;category&quot;:&quot;pump_station_1&quot;,&quot;value&quot;:&quot;vibration_velocity_mm_s_2&quot;,&quot;x&quot;:&quot;vibration_velocity_mm_s_2&quot;},&quot;recipe&quot;:null,&quot;recommendations&quot;:[{&quot;confidence&quot;:0.9,&quot;mapping&quot;:{&quot;category&quot;:&quot;pump_station_1&quot;,&quot;value&quot;:&quot;vibration_velocity_mm_s_2&quot;,&quot;x&quot;:&quot;vibration_velocity_mm_s_2&quot;},&quot;reason&quot;:&quot;A category and measured value are available.&quot;,&quot;type&quot;:&quot;Vertical Bar&quot;},{&quot;confidence&quot;:0.82,&quot;mapping&quot;:{&quot;category&quot;:&quot;pump_station_1&quot;,&quot;value&quot;:&quot;vibration_velocity_mm_s_2&quot;,&quot;x&quot;:&quot;vibration_velocity_mm_s_2&quot;},&quot;reason&quot;:&quot;A horizontal ranking keeps category labels readable.&quot;,&quot;type&quot;:&quot;Horizontal Bar&quot;},{&quot;confidence&quot;:0.8,&quot;mapping&quot;:{&quot;category&quot;:&quot;pump_station_1&quot;,&quot;value&quot;:&quot;vibration_velocity_mm_s_2&quot;,&quot;x&quot;:&quot;vibration_velocity_mm_s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vibration_velocity_mm_s_2&quot;,&quot;id&quot;:&quot;series-1&quot;,&quot;label&quot;:&quot;Vibration velocity mm/s&quot;,&quot;legend&quot;:true,&quot;lineDash&quot;:null,&quot;lineWidth&quot;:null,&quot;markers&quot;:true,&quot;smoothing&quot;:false,&quot;type&quot;:&quot;line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A category and measured value are available.&quot;},&quot;composition_role&quot;:&quot;supporting_analysis&quot;,&quot;cross&quot;:null,&quot;data&quot;:[[2.2,2.2],[2.5,2.5],[2.1,2.1],[2.8,2.8],[2.4,2.4],[2.8,2.8],[3.2,3.2],[3,3],[3.4,3.4],[3.1,3.1],[3.4,3.4],[3.9,3.9],[4.2,4.2],[3.7,3.7],[4.6,4.6]],&quot;dataset_id&quot;:&quot;dataset-mujczbgu-qu4dac&quot;,&quot;drill&quot;:null,&quot;element&quot;:&quot;Box Plot&quot;,&quot;engine&quot;:&quot;CoreChartEngine&quot;,&quot;groupId&quot;:null,&quot;h&quot;:320,&quot;id&quot;:&quot;c5&quot;,&quot;locked&quot;:false,&quot;mapping&quot;:{&quot;category&quot;:&quot;pump_station_1&quot;,&quot;value&quot;:&quot;vibration_velocity_mm_s_2&quot;,&quot;x&quot;:&quot;vibration_velocity_mm_s_2&quot;},&quot;message_role&quot;:&quot;Supporting Evidence&quot;,&quot;order&quot;:4,&quot;revealed&quot;:true,&quot;rows&quot;:[{&quot;label&quot;:2.2,&quot;value&quot;:2.2},{&quot;label&quot;:2.5,&quot;value&quot;:2.5},{&quot;label&quot;:2.1,&quot;value&quot;:2.1},{&quot;label&quot;:2.8,&quot;value&quot;:2.8},{&quot;label&quot;:2.4,&quot;value&quot;:2.4},{&quot;label&quot;:2.8,&quot;value&quot;:2.8},{&quot;label&quot;:3.2,&quot;value&quot;:3.2},{&quot;label&quot;:3,&quot;value&quot;:3},{&quot;label&quot;:3.4,&quot;value&quot;:3.4},{&quot;label&quot;:3.1,&quot;value&quot;:3.1},{&quot;label&quot;:3.4,&quot;value&quot;:3.4},{&quot;label&quot;:3.9,&quot;value&quot;:3.9},{&quot;label&quot;:4.2,&quot;value&quot;:4.2},{&quot;label&quot;:3.7,&quot;value&quot;:3.7},{&quot;label&quot;:4.6,&quot;value&quot;:4.6}],&quot;section_id&quot;:&quot;analysis&quot;,&quot;section_title&quot;:&quot;Analysis&quot;,&quot;showTitle&quot;:true,&quot;statistical_result&quot;:null,&quot;textAlign&quot;:&quot;left&quot;,&quot;title&quot;:&quot;Temperature excursion distribution&quot;,&quot;transform_recipe&quot;:{&quot;steps&quot;:[]},&quot;type&quot;:&quot;chart&quot;,&quot;variant&quot;:&quot;line&quot;,&quot;w&quot;:520,&quot;weight&quot;:1.8,&quot;x&quot;:548,&quot;y&quot;:180.32000000000002,&quot;z&quot;:5},{&quot;composition_role&quot;:&quot;detailed_evidence&quot;,&quot;customTable&quot;:{&quot;headers&quot;:[&quot;Station / telemetry key&quot;,&quot;Mean duty %&quot;,&quot;Peak vibration mm/s&quot;,&quot;Historian / local counter&quot;,&quot;Readiness&quot;],&quot;rows&quot;:[[&quot;East Sluice PS-04 / INTAKE-04-B&quot;,53,2.8,&quot;Aligned after sensor swap&quot;,&quot;Stage&quot;],[&quot;Delta Yard PS-17 / LVL-17-A&quot;,65,3.4,&quot;Aligned&quot;,&quot;Stage&quot;],[&quot;Marsh Gate PS-31 / VIB-31-C&quot;,83,4.6,&quot;18:00–24:00 contested&quot;,&quot;Hold&quot;],[&quot;North Outfall PS-02 / FLOW-02-D&quot;,61,3.1,&quot;Historian late by 11 min&quot;,&quot;Watch&quot;]]},&quot;element&quot;:&quot;Clean Table&quot;,&quot;engine&quot;:&quot;TableEngine&quot;,&quot;groupId&quot;:null,&quot;h&quot;:259,&quot;id&quot;:&quot;c6&quot;,&quot;locked&quot;:false,&quot;message_role&quot;:&quot;Primary Evidence&quot;,&quot;order&quot;:6,&quot;rows&quot;:[[&quot;East Sluice PS-04 / INTAKE-04-B&quot;,53,2.8,&quot;Aligned after sensor swap&quot;,&quot;Stage&quot;],[&quot;Delta Yard PS-17 / LVL-17-A&quot;,65,3.4,&quot;Aligned&quot;,&quot;Stage&quot;],[&quot;Marsh Gate PS-31 / VIB-31-C&quot;,83,4.6,&quot;18:00–24:00 contested&quot;,&quot;Hold&quot;],[&quot;North Outfall PS-02 / FLOW-02-D&quot;,61,3.1,&quot;Historian late by 11 min&quot;,&quot;Watch&quot;]],&quot;section_id&quot;:&quot;evidence&quot;,&quot;section_title&quot;:&quot;Evidence&quot;,&quot;showTitle&quot;:true,&quot;textAlign&quot;:&quot;left&quot;,&quot;title&quot;:&quot;Sailing lane decision evidence&quot;,&quot;type&quot;:&quot;table&quot;,&quot;w&quot;:480,&quot;weight&quot;:1.55,&quot;x&quot;:1082,&quot;y&quot;:178,&quot;z&quot;:6},{&quot;composition_role&quot;:&quot;decision_risk&quot;,&quot;detail&quot;:&quot;Historian and local counter disagree for interval 2026-09-21 18:00–24:00; sensor drift remains a deployment risk.&quot;,&quot;element&quot;:&quot;Risk Callout&quot;,&quot;engine&quot;:&quot;DecisionCompositeEngine&quot;,&quot;groupId&quot;:null,&quot;h&quot;:94,&quot;id&quot;:&quot;c7&quot;,&quot;locked&quot;:false,&quot;message_role&quot;:&quot;Risk&quot;,&quot;order&quot;:8,&quot;section_id&quot;:&quot;decision&quot;,&quot;section_title&quot;:&quot;Decision&quot;,&quot;showTitle&quot;:true,&quot;statement&quot;:&quot;Stage two stations; hold Marsh 4 for verification&quot;,&quot;status&quot;:&quot;Conditional&quot;,&quot;textAlign&quot;:&quot;left&quot;,&quot;title&quot;:&quot;Risk Callout&quot;,&quot;type&quot;:&quot;decision&quot;,&quot;w&quot;:400,&quot;weight&quot;:1.15,&quot;x&quot;:1082,&quot;y&quot;:451,&quot;z&quot;:7},{&quot;body&quot;:&quot;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&quot;,&quot;composition_role&quot;:&quot;narrative_interpretation&quot;,&quot;element&quot;:&quot;Body Narrative&quot;,&quot;engine&quot;:&quot;TextEngine&quot;,&quot;groupId&quot;:null,&quot;h&quot;:116,&quot;id&quot;:&quot;c8&quot;,&quot;locked&quot;:false,&quot;message_role&quot;:&quot;Context&quot;,&quot;order&quot;:5,&quot;section_id&quot;:&quot;analysis&quot;,&quot;section_title&quot;:&quot;Analysis&quot;,&quot;showTitle&quot;:false,&quot;text&quot;:&quot;Storm readiness · Tidal Gate basin network · 14 six-hour intervals · three pump stations · field telemetry export 2026-09-22 06:00. Marsh 4 carried the highest sustained load and vibration spread, while East Sluice telemetry stayed below the intake threshold after a sensor swap. One high-load interval is disputed between the supervisory historian and a local counter. Deploy two stations now and hold Marsh 4 for a bearing check; this report does not infer storm intensity from pump duty alone.&quot;,&quot;textAlign&quot;:&quot;left&quot;,&quot;title&quot;:&quot;Body Narrative&quot;,&quot;type&quot;:&quot;text&quot;,&quot;w&quot;:500,&quot;weight&quot;:1.1,&quot;x&quot;:14,&quot;y&quot;:471.76,&quot;z&quot;:8},{&quot;body&quot;:&quot;Next step: assign East Sluice and Delta Yard to the first response wave; release Marsh 4 after vibration and counter reconciliation.&quot;,&quot;composition_role&quot;:&quot;conclusion&quot;,&quot;element&quot;:&quot;Key Takeaway&quot;,&quot;engine&quot;:&quot;TextEngine&quot;,&quot;groupId&quot;:null,&quot;h&quot;:96,&quot;id&quot;:&quot;c9&quot;,&quot;locked&quot;:false,&quot;message_role&quot;:&quot;Action&quot;,&quot;order&quot;:9,&quot;section_id&quot;:&quot;delivery&quot;,&quot;section_title&quot;:&quot;Next steps&quot;,&quot;showTitle&quot;:false,&quot;text&quot;:&quot;Next step: assign East Sluice and Delta Yard to the first response wave; release Marsh 4 after vibration and counter reconciliation.&quot;,&quot;textAlign&quot;:&quot;left&quot;,&quot;title&quot;:&quot;Key Takeaway&quot;,&quot;type&quot;:&quot;text&quot;,&quot;w&quot;:460.2,&quot;weight&quot;:1.1,&quot;x&quot;:528,&quot;y&quot;:514.32,&quot;z&quot;:9},{&quot;composition_role&quot;:&quot;causal_evidence&quot;,&quot;direction&quot;:&quot;right&quot;,&quot;edges&quot;:[[&quot;Confirm storm watch window&quot;,&quot;Reconcile local cycle counter&quot;],[&quot;Reconcile local cycle counter&quot;,&quot;Inspect Marsh Gate bearing&quot;],[&quot;Inspect Marsh Gate bearing&quot;,&quot;Release staged fleet or extend hold&quot;]],&quot;element&quot;:&quot;Process Flow&quot;,&quot;engine&quot;:&quot;DiagramEngine&quot;,&quot;groupId&quot;:null,&quot;h&quot;:220,&quot;id&quot;:&quot;c10&quot;,&quot;locked&quot;:false,&quot;message_role&quot;:&quot;Primary Evidence&quot;,&quot;nodes&quot;:[&quot;Confirm storm watch window&quot;,&quot;Reconcile local cycle counter&quot;,&quot;Inspect Marsh Gate bearing&quot;,&quot;Release staged fleet or extend hold&quot;],&quot;order&quot;:7,&quot;section_id&quot;:&quot;evidence&quot;,&quot;section_title&quot;:&quot;Evidence&quot;,&quot;showTitle&quot;:false,&quot;textAlign&quot;:&quot;left&quot;,&quot;title&quot;:&quot;Process Flow&quot;,&quot;type&quot;:&quot;diagram&quot;,&quot;w&quot;:520,&quot;weight&quot;:1.5,&quot;x&quot;:1002.2,&quot;y&quot;:559,&quot;z&quot;:10}],&quot;layoutPreset&quot;:&quot;editorial&quot;,&quot;mode&quot;:&quot;smart&quot;,&quot;nextId&quot;:11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DiagramTitle::Process Flow::1" descr="VisualizerDiagramContinuation:{&quot;item_id&quot;:&quot;c10&quot;,&quot;page&quot;:1,&quot;page_count&quot;:1,&quot;direction&quot;:&quot;right&quot;}"/>
          <p:cNvSpPr txBox="1"/>
          <p:nvPr/>
        </p:nvSpPr>
        <p:spPr>
          <a:xfrm>
            <a:off x="512064" y="384048"/>
            <a:ext cx="9600708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 · Continued 1/1</a:t>
            </a:r>
          </a:p>
        </p:txBody>
      </p:sp>
      <p:sp>
        <p:nvSpPr>
          <p:cNvPr id="3" name="VIZ::Process Flow::Confirm storm watch window::node-1" descr="VisualizerDiagramNode:{&quot;item_id&quot;:&quot;c10&quot;,&quot;node_index&quot;:0,&quot;label&quot;:&quot;Confirm storm watch window&quot;,&quot;page&quot;:1,&quot;page_count&quot;:1,&quot;direction&quot;:&quot;right&quot;}"/>
          <p:cNvSpPr/>
          <p:nvPr/>
        </p:nvSpPr>
        <p:spPr>
          <a:xfrm>
            <a:off x="512064" y="5967983"/>
            <a:ext cx="224930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storm watch window</a:t>
            </a:r>
          </a:p>
        </p:txBody>
      </p:sp>
      <p:sp>
        <p:nvSpPr>
          <p:cNvPr id="4" name="VIZ::Process Flow::Reconcile local cycle counter::node-2" descr="VisualizerDiagramNode:{&quot;item_id&quot;:&quot;c10&quot;,&quot;node_index&quot;:1,&quot;label&quot;:&quot;Reconcile local cycle counter&quot;,&quot;page&quot;:1,&quot;page_count&quot;:1,&quot;direction&quot;:&quot;right&quot;}"/>
          <p:cNvSpPr/>
          <p:nvPr/>
        </p:nvSpPr>
        <p:spPr>
          <a:xfrm>
            <a:off x="2962533" y="5967983"/>
            <a:ext cx="224930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Reconcile local cycle counter</a:t>
            </a:r>
          </a:p>
        </p:txBody>
      </p:sp>
      <p:sp>
        <p:nvSpPr>
          <p:cNvPr id="5" name="VIZ::Process Flow::Inspect Marsh Gate bearing::node-3" descr="VisualizerDiagramNode:{&quot;item_id&quot;:&quot;c10&quot;,&quot;node_index&quot;:2,&quot;label&quot;:&quot;Inspect Marsh Gate bearing&quot;,&quot;page&quot;:1,&quot;page_count&quot;:1,&quot;direction&quot;:&quot;right&quot;}"/>
          <p:cNvSpPr/>
          <p:nvPr/>
        </p:nvSpPr>
        <p:spPr>
          <a:xfrm>
            <a:off x="5413002" y="5967983"/>
            <a:ext cx="224930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Inspect Marsh Gate bearing</a:t>
            </a:r>
          </a:p>
        </p:txBody>
      </p:sp>
      <p:sp>
        <p:nvSpPr>
          <p:cNvPr id="6" name="VIZ::Process Flow::Release staged fleet or extend hold::node-4" descr="VisualizerDiagramNode:{&quot;item_id&quot;:&quot;c10&quot;,&quot;node_index&quot;:3,&quot;label&quot;:&quot;Release staged fleet or extend hold&quot;,&quot;page&quot;:1,&quot;page_count&quot;:1,&quot;direction&quot;:&quot;right&quot;}"/>
          <p:cNvSpPr/>
          <p:nvPr/>
        </p:nvSpPr>
        <p:spPr>
          <a:xfrm>
            <a:off x="7863471" y="5967983"/>
            <a:ext cx="2249301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 staged fleet or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extend hold</a:t>
            </a:r>
          </a:p>
        </p:txBody>
      </p:sp>
      <p:cxnSp>
        <p:nvCxnSpPr>
          <p:cNvPr id="7" name="VIZ::DiagramEdge::Process Flow::1" descr="VisualizerSemanticEdge:{&quot;item_id&quot;:&quot;c10&quot;,&quot;edge_index&quot;:0,&quot;source&quot;:&quot;Confirm storm watch window&quot;,&quot;target&quot;:&quot;Reconcile local cycle counter&quot;,&quot;continuation&quot;:false}"/>
          <p:cNvCxnSpPr/>
          <p:nvPr/>
        </p:nvCxnSpPr>
        <p:spPr>
          <a:xfrm>
            <a:off x="2765937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VIZ::DiagramEdge::Process Flow::2" descr="VisualizerSemanticEdge:{&quot;item_id&quot;:&quot;c10&quot;,&quot;edge_index&quot;:1,&quot;source&quot;:&quot;Reconcile local cycle counter&quot;,&quot;target&quot;:&quot;Inspect Marsh Gate bearing&quot;,&quot;continuation&quot;:false}"/>
          <p:cNvCxnSpPr/>
          <p:nvPr/>
        </p:nvCxnSpPr>
        <p:spPr>
          <a:xfrm>
            <a:off x="5216406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VIZ::DiagramEdge::Process Flow::3" descr="VisualizerSemanticEdge:{&quot;item_id&quot;:&quot;c10&quot;,&quot;edge_index&quot;:2,&quot;source&quot;:&quot;Inspect Marsh Gate bearing&quot;,&quot;target&quot;:&quot;Release staged fleet or extend hold&quot;,&quot;continuation&quot;:false}"/>
          <p:cNvCxnSpPr/>
          <p:nvPr/>
        </p:nvCxnSpPr>
        <p:spPr>
          <a:xfrm>
            <a:off x="7666875" y="6214871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