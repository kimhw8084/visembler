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69182" cy="12191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Quarterly retention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Retention</c:v>
                </c:pt>
              </c:strCache>
            </c:strRef>
          </c:tx>
          <c:spPr>
            <a:ln>
              <a:solidFill>
                <a:srgbClr val="1769D1"/>
              </a:solidFill>
            </a:ln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91.8</c:v>
                </c:pt>
                <c:pt idx="1">
                  <c:v>93.2</c:v>
                </c:pt>
                <c:pt idx="2">
                  <c:v>94.1</c:v>
                </c:pt>
                <c:pt idx="3">
                  <c:v>94.6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94.74"/>
          <c:min val="91.66"/>
        </c:scaling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Executive Statement" title="Visembler report text roles: text heading, report headline" descr="VisualizerSemantic:{&quot;body&quot;:&quot;Revenue grew across all three regions. Retention improved in the West, while the South remains below the 95 percent target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ecutive summary&quot;,&quot;text&quot;:&quot;Revenue grew across all three regions. Retention improved in the West, while the South remains below the 95 percent target.&quot;,&quot;title&quot;:&quot;Executive Statement&quot;,&quot;type&quot;:&quot;text&quot;,&quot;weight&quot;:1,&quot;z&quot;:1,&quot;x&quot;:14.0,&quot;y&quot;:40.0,&quot;w&quot;:1059.44,&quot;h&quot;:122.93120000000002}"/>
          <p:cNvSpPr/>
          <p:nvPr/>
        </p:nvSpPr>
        <p:spPr>
          <a:xfrm>
            <a:off x="106480" y="304229"/>
            <a:ext cx="8057824" cy="934982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Executive Statement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750" b="1" i="0">
                <a:solidFill>
                  <a:srgbClr val="172B43"/>
                </a:solidFill>
                <a:latin typeface="Arial"/>
              </a:rPr>
              <a:t>Revenue grew across all three regions. Retention improved in the West, while the South remains below the 95 percent target.</a:t>
            </a:r>
          </a:p>
        </p:txBody>
      </p:sp>
      <p:sp>
        <p:nvSpPr>
          <p:cNvPr id="3" name="VIZ::Quarterly context" title="Visembler report text roles: text heading, context subhead" descr="VisualizerSemantic:{&quot;body&quot;:&quot;Quarterly business review · Q1–Q4 · three regions · revenue and retention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ecutive summary&quot;,&quot;text&quot;:&quot;Quarterly business review · Q1–Q4 · three regions · revenue and retention.&quot;,&quot;title&quot;:&quot;Quarterly context&quot;,&quot;type&quot;:&quot;text&quot;,&quot;weight&quot;:1,&quot;z&quot;:2,&quot;x&quot;:1087.44,&quot;y&quot;:65.46560000000001,&quot;w&quot;:498.56,&quot;h&quot;:72.0}"/>
          <p:cNvSpPr/>
          <p:nvPr/>
        </p:nvSpPr>
        <p:spPr>
          <a:xfrm>
            <a:off x="8270784" y="497914"/>
            <a:ext cx="3791917" cy="547613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Quarterly context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74A60"/>
                </a:solidFill>
                <a:latin typeface="Arial Narrow"/>
              </a:rPr>
              <a:t>Quarterly business review · Q1–Q4 · three regions · revenue and retention.</a:t>
            </a:r>
          </a:p>
        </p:txBody>
      </p:sp>
      <p:sp>
        <p:nvSpPr>
          <p:cNvPr id="4" name="VIZ::Retention KPI" title="Visembler report text roles: metric title, metric value" descr="VisualizerSemantic:{&quot;capability_overrides&quot;:{&quot;target&quot;:95},&quot;composition_role&quot;:&quot;hero_metric&quot;,&quot;delta&quot;:2.8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95,&quot;title&quot;:&quot;Retention&quot;,&quot;type&quot;:&quot;metric&quot;,&quot;unit&quot;:&quot;%&quot;,&quot;value&quot;:94.6,&quot;weight&quot;:1,&quot;z&quot;:3,&quot;x&quot;:676.48,&quot;y&quot;:1377.7572000000002,&quot;w&quot;:447.76,&quot;h&quot;:206.0}"/>
          <p:cNvSpPr/>
          <p:nvPr/>
        </p:nvSpPr>
        <p:spPr>
          <a:xfrm>
            <a:off x="5145130" y="10478860"/>
            <a:ext cx="3405545" cy="1566782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Retention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94.6%</a:t>
            </a:r>
          </a:p>
        </p:txBody>
      </p:sp>
      <p:sp>
        <p:nvSpPr>
          <p:cNvPr id="5" name="VIZ::Regional revenue KPI" title="Visembler report text roles: metric title, metric value" descr="VisualizerSemantic:{&quot;composition_role&quot;:&quot;hero_metric&quot;,&quot;delta&quot;:null,&quot;element&quot;:&quot;Hero KPI&quot;,&quot;emphasis&quot;:&quot;prominent&quot;,&quot;engine&quot;:&quot;MetricEngine&quot;,&quot;groupId&quot;:null,&quot;id&quot;:&quot;c4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&quot;},&quot;order&quot;:3,&quot;section_id&quot;:&quot;performance&quot;,&quot;section_title&quot;:&quot;Performance&quot;,&quot;showTitle&quot;:true,&quot;target&quot;:null,&quot;title&quot;:&quot;Regional revenue&quot;,&quot;type&quot;:&quot;metric&quot;,&quot;unit&quot;:&quot;&quot;,&quot;value&quot;:551,&quot;weight&quot;:1,&quot;z&quot;:4,&quot;x&quot;:14.0,&quot;y&quot;:1373.2572000000002,&quot;w&quot;:648.48,&quot;h&quot;:200.0}"/>
          <p:cNvSpPr/>
          <p:nvPr/>
        </p:nvSpPr>
        <p:spPr>
          <a:xfrm>
            <a:off x="106480" y="10444635"/>
            <a:ext cx="4932169" cy="1521148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Regional revenue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551</a:t>
            </a:r>
          </a:p>
        </p:txBody>
      </p:sp>
      <p:sp>
        <p:nvSpPr>
          <p:cNvPr id="6" name="VIZ::Quarterly retention KPI" title="Visembler report text roles: metric title, comparison value" descr="VisualizerSemantic:{&quot;after&quot;:94.6,&quot;before&quot;:91.8,&quot;composition_role&quot;:&quot;hero_metric&quot;,&quot;element&quot;:&quot;Before/After KPI&quot;,&quot;engine&quot;:&quot;ComparisonEngine&quot;,&quot;groupId&quot;:null,&quot;id&quot;:&quot;c5&quot;,&quot;locked&quot;:false,&quot;message_role&quot;:&quot;Supporting Evidence&quot;,&quot;order&quot;:4,&quot;section_id&quot;:&quot;performance&quot;,&quot;section_title&quot;:&quot;Performance&quot;,&quot;showTitle&quot;:true,&quot;title&quot;:&quot;Quarterly retention&quot;,&quot;type&quot;:&quot;comparison&quot;,&quot;unit&quot;:&quot;%&quot;,&quot;weight&quot;:1,&quot;z&quot;:5,&quot;x&quot;:1138.24,&quot;y&quot;:1373.2572000000002,&quot;w&quot;:447.76,&quot;h&quot;:215.0}"/>
          <p:cNvSpPr/>
          <p:nvPr/>
        </p:nvSpPr>
        <p:spPr>
          <a:xfrm>
            <a:off x="8657155" y="10444635"/>
            <a:ext cx="3405545" cy="1635234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Quarterly retention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000" b="1" i="0">
                <a:solidFill>
                  <a:srgbClr val="17324E"/>
                </a:solidFill>
                <a:latin typeface="Arial"/>
              </a:rPr>
              <a:t>91.8% → 94.6%</a:t>
            </a:r>
          </a:p>
        </p:txBody>
      </p:sp>
      <p:graphicFrame>
        <p:nvGraphicFramePr>
          <p:cNvPr id="11" name="VIZ::Quarterly retention" descr="VisualizerSemantic:{&quot;composition_role&quot;:&quot;primary_analysis&quot;,&quot;data&quot;:[[&quot;Q1&quot;,91.8],[&quot;Q2&quot;,93.2],[&quot;Q3&quot;,94.1],[&quot;Q4&quot;,94.6]],&quot;dataset_id&quot;:&quot;dataset-muit7v84-3pjpfh&quot;,&quot;element&quot;:&quot;Line Chart&quot;,&quot;engine&quot;:&quot;CoreChartEngine&quot;,&quot;groupId&quot;:null,&quot;id&quot;:&quot;c6&quot;,&quot;locked&quot;:false,&quot;mapping&quot;:{&quot;category&quot;:&quot;quarter_1&quot;,&quot;value&quot;:&quot;retention_2&quot;,&quot;x&quot;:&quot;quarter_1&quot;,&quot;y&quot;:&quot;retention_2&quot;},&quot;message_role&quot;:&quot;Primary Evidence&quot;,&quot;order&quot;:5,&quot;section_id&quot;:&quot;analysis&quot;,&quot;section_title&quot;:&quot;Analysis&quot;,&quot;showTitle&quot;:true,&quot;title&quot;:&quot;Quarterly retention&quot;,&quot;type&quot;:&quot;chart&quot;,&quot;weight&quot;:1,&quot;z&quot;:6,&quot;rows&quot;:[{&quot;label&quot;:&quot;Q1&quot;,&quot;value&quot;:91.8},{&quot;label&quot;:&quot;Q2&quot;,&quot;value&quot;:93.2},{&quot;label&quot;:&quot;Q3&quot;,&quot;value&quot;:94.1},{&quot;label&quot;:&quot;Q4&quot;,&quot;value&quot;:94.6}],&quot;observations&quot;:[{&quot;label&quot;:&quot;Q1&quot;,&quot;value&quot;:91.8},{&quot;label&quot;:&quot;Q2&quot;,&quot;value&quot;:93.2},{&quot;label&quot;:&quot;Q3&quot;,&quot;value&quot;:94.1},{&quot;label&quot;:&quot;Q4&quot;,&quot;value&quot;:94.6}],&quot;x&quot;:354.90909090909093,&quot;y&quot;:606.4812000000001,&quot;w&quot;:890.1818181818181,&quot;h&quot;:432.0}"/>
          <p:cNvGraphicFramePr>
            <a:graphicFrameLocks noGrp="1"/>
          </p:cNvGraphicFramePr>
          <p:nvPr/>
        </p:nvGraphicFramePr>
        <p:xfrm>
          <a:off x="2699345" y="4612737"/>
          <a:ext cx="6770490" cy="3285679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VIZ::Risk Callout" title="Visembler report text roles: text heading, risk decision, evidence detail, action status" descr="VisualizerSemantic:{&quot;composition_role&quot;:&quot;decision_risk&quot;,&quot;detail&quot;:&quot;Close the South retention gap before the next review.&quot;,&quot;element&quot;:&quot;Risk Callout&quot;,&quot;engine&quot;:&quot;DecisionCompositeEngine&quot;,&quot;groupId&quot;:null,&quot;id&quot;:&quot;c8&quot;,&quot;locked&quot;:false,&quot;message_role&quot;:&quot;Risk&quot;,&quot;order&quot;:7,&quot;section_id&quot;:&quot;decision&quot;,&quot;section_title&quot;:&quot;Decision&quot;,&quot;statement&quot;:&quot;Proceed with monitored revenue recovery&quot;,&quot;status&quot;:&quot;Review&quot;,&quot;title&quot;:&quot;Risk Callout&quot;,&quot;type&quot;:&quot;decision&quot;,&quot;weight&quot;:1,&quot;z&quot;:8,&quot;x&quot;:14.0,&quot;y&quot;:1072.4812000000002,&quot;w&quot;:1572.0,&quot;h&quot;:131.976}"/>
          <p:cNvSpPr/>
          <p:nvPr/>
        </p:nvSpPr>
        <p:spPr>
          <a:xfrm>
            <a:off x="106480" y="8157011"/>
            <a:ext cx="11956221" cy="1003775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Risk Callout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00" b="1" i="0">
                <a:solidFill>
                  <a:srgbClr val="682B31"/>
                </a:solidFill>
                <a:latin typeface="Arial"/>
              </a:rPr>
              <a:t>Proceed with monitored revenue recovery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50" b="0" i="0">
                <a:solidFill>
                  <a:srgbClr val="37485C"/>
                </a:solidFill>
                <a:latin typeface="Arial"/>
              </a:rPr>
              <a:t>Close the South retention gap before the next review.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Review</a:t>
            </a:r>
          </a:p>
        </p:txBody>
      </p:sp>
      <p:sp>
        <p:nvSpPr>
          <p:cNvPr id="10" name="VIZ::Key Takeaway" title="Visembler report text roles: text heading, conclusion next step" descr="VisualizerSemantic:{&quot;body&quot;:&quot;Next step: close the South retention gap before the next quarterly review.&quot;,&quot;composition_role&quot;:&quot;conclusion&quot;,&quot;element&quot;:&quot;Key Takeaway&quot;,&quot;engine&quot;:&quot;TextEngine&quot;,&quot;groupId&quot;:null,&quot;id&quot;:&quot;c9&quot;,&quot;locked&quot;:false,&quot;message_role&quot;:&quot;Action&quot;,&quot;order&quot;:8,&quot;section_id&quot;:&quot;delivery&quot;,&quot;section_title&quot;:&quot;Decision and next step&quot;,&quot;text&quot;:&quot;Next step: close the South retention gap before the next quarterly review.&quot;,&quot;title&quot;:&quot;Key Takeaway&quot;,&quot;type&quot;:&quot;text&quot;,&quot;weight&quot;:1,&quot;z&quot;:9,&quot;x&quot;:14.0,&quot;y&quot;:1238.4572000000003,&quot;w&quot;:1572.0,&quot;h&quot;:100.80000000000001}"/>
          <p:cNvSpPr/>
          <p:nvPr/>
        </p:nvSpPr>
        <p:spPr>
          <a:xfrm>
            <a:off x="106480" y="9419381"/>
            <a:ext cx="11956221" cy="766658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Key Takeaway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250" b="1" i="0">
                <a:solidFill>
                  <a:srgbClr val="17324E"/>
                </a:solidFill>
                <a:latin typeface="Arial"/>
              </a:rPr>
              <a:t>Next step: close the South retention gap before the next quarterly review.</a:t>
            </a:r>
          </a:p>
        </p:txBody>
      </p:sp>
      <p:graphicFrame>
        <p:nvGraphicFramePr>
          <p:cNvPr id="12" name="VIZ::Clean Table" descr="VisualizerSemantic:{&quot;composition_role&quot;:&quot;detailed_evidence&quot;,&quot;customTable&quot;:{&quot;headers&quot;:[&quot;Region&quot;,&quot;Revenue&quot;,&quot;Retention&quot;,&quot;Status&quot;],&quot;rows&quot;:[[&quot;North&quot;,184,&quot;94.1%&quot;,&quot;Watch&quot;],[&quot;South&quot;,156,&quot;92.8%&quot;,&quot;Below target&quot;],[&quot;West&quot;,211,&quot;95.0%&quot;,&quot;On plan&quot;]]},&quot;element&quot;:&quot;Clean Table&quot;,&quot;engine&quot;:&quot;TableEngine&quot;,&quot;groupId&quot;:null,&quot;id&quot;:&quot;c7&quot;,&quot;locked&quot;:false,&quot;message_role&quot;:&quot;Primary Evidence&quot;,&quot;order&quot;:6,&quot;rows&quot;:[[&quot;North&quot;,184,&quot;94.1%&quot;,&quot;Watch&quot;],[&quot;South&quot;,156,&quot;92.8%&quot;,&quot;Below target&quot;],[&quot;West&quot;,211,&quot;95.0%&quot;,&quot;On plan&quot;]],&quot;section_id&quot;:&quot;evidence&quot;,&quot;section_title&quot;:&quot;Regional evidence&quot;,&quot;title&quot;:&quot;Clean Table&quot;,&quot;type&quot;:&quot;table&quot;,&quot;weight&quot;:1,&quot;z&quot;:7,&quot;x&quot;:14.0,&quot;y&quot;:196.93120000000002,&quot;w&quot;:1572.0,&quot;h&quot;:375.55}"/>
          <p:cNvGraphicFramePr>
            <a:graphicFrameLocks noGrp="1"/>
          </p:cNvGraphicFramePr>
          <p:nvPr/>
        </p:nvGraphicFramePr>
        <p:xfrm>
          <a:off x="106480" y="1497807"/>
          <a:ext cx="11956221" cy="28563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89055"/>
                <a:gridCol w="2989055"/>
                <a:gridCol w="2989055"/>
                <a:gridCol w="2989056"/>
              </a:tblGrid>
              <a:tr h="714083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Retention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Status</a:t>
                      </a:r>
                    </a:p>
                  </a:txBody>
                  <a:tcPr/>
                </a:tc>
              </a:tr>
              <a:tr h="714083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North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Watch</a:t>
                      </a:r>
                    </a:p>
                  </a:txBody>
                  <a:tcPr/>
                </a:tc>
              </a:tr>
              <a:tr h="714083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South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92.8%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Below target</a:t>
                      </a:r>
                    </a:p>
                  </a:txBody>
                  <a:tcPr/>
                </a:tc>
              </a:tr>
              <a:tr h="714086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211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On plan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quarter_1&quot;,&quot;name&quot;:&quot;Quarter&quot;,&quot;nullable&quot;:false,&quot;profile&quot;:{&quot;distinct&quot;:4,&quot;missing&quot;:0},&quot;semantic_tags&quot;:[],&quot;type&quot;:&quot;string&quot;},{&quot;id&quot;:&quot;retention_2&quot;,&quot;name&quot;:&quot;Retention&quot;,&quot;nullable&quot;:false,&quot;profile&quot;:{&quot;distinct&quot;:4,&quot;missing&quot;:0},&quot;semantic_tags&quot;:[],&quot;type&quot;:&quot;number&quot;,&quot;unit&quot;:&quot;&quot;}],&quot;id&quot;:&quot;dataset-muit7v84-3pjpfh&quot;,&quot;metadata&quot;:{&quot;header&quot;:{&quot;confidence&quot;:0.75,&quot;present&quot;:true,&quot;source_row&quot;:0}},&quot;name&quot;:&quot;Pasted data&quot;,&quot;revision&quot;:1,&quot;rows&quot;:[[&quot;Q1&quot;,91.8],[&quot;Q2&quot;,93.2],[&quot;Q3&quot;,94.1],[&quot;Q4&quot;,94.6]],&quot;source&quot;:{&quot;imported_at&quot;:&quot;2026-09-26T19:55:47.284Z&quot;,&quot;kind&quot;:&quot;clipboard&quot;,&quot;label&quot;:&quot;TSV&quot;},&quot;warnings&quot;:[]}],&quot;groups&quot;:{},&quot;items&quot;:[{&quot;body&quot;:&quot;Revenue grew across all three regions. Retention improved in the West, while the South remains below the 95 percent target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ecutive summary&quot;,&quot;text&quot;:&quot;Revenue grew across all three regions. Retention improved in the West, while the South remains below the 95 percent target.&quot;,&quot;title&quot;:&quot;Executive Statement&quot;,&quot;type&quot;:&quot;text&quot;,&quot;weight&quot;:1,&quot;z&quot;:1},{&quot;body&quot;:&quot;Quarterly business review · Q1–Q4 · three regions · revenue and retention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ecutive summary&quot;,&quot;text&quot;:&quot;Quarterly business review · Q1–Q4 · three regions · revenue and retention.&quot;,&quot;title&quot;:&quot;Quarterly context&quot;,&quot;type&quot;:&quot;text&quot;,&quot;weight&quot;:1,&quot;z&quot;:2},{&quot;capability_overrides&quot;:{&quot;target&quot;:95},&quot;composition_role&quot;:&quot;hero_metric&quot;,&quot;delta&quot;:2.8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95,&quot;title&quot;:&quot;Retention&quot;,&quot;type&quot;:&quot;metric&quot;,&quot;unit&quot;:&quot;%&quot;,&quot;value&quot;:94.6,&quot;weight&quot;:1,&quot;z&quot;:3},{&quot;composition_role&quot;:&quot;hero_metric&quot;,&quot;delta&quot;:null,&quot;element&quot;:&quot;Hero KPI&quot;,&quot;emphasis&quot;:&quot;prominent&quot;,&quot;engine&quot;:&quot;MetricEngine&quot;,&quot;groupId&quot;:null,&quot;id&quot;:&quot;c4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&quot;},&quot;order&quot;:3,&quot;section_id&quot;:&quot;performance&quot;,&quot;section_title&quot;:&quot;Performance&quot;,&quot;showTitle&quot;:true,&quot;target&quot;:null,&quot;title&quot;:&quot;Regional revenue&quot;,&quot;type&quot;:&quot;metric&quot;,&quot;unit&quot;:&quot;&quot;,&quot;value&quot;:551,&quot;weight&quot;:1,&quot;z&quot;:4},{&quot;after&quot;:94.6,&quot;before&quot;:91.8,&quot;composition_role&quot;:&quot;hero_metric&quot;,&quot;element&quot;:&quot;Before/After KPI&quot;,&quot;engine&quot;:&quot;ComparisonEngine&quot;,&quot;groupId&quot;:null,&quot;id&quot;:&quot;c5&quot;,&quot;locked&quot;:false,&quot;message_role&quot;:&quot;Supporting Evidence&quot;,&quot;order&quot;:4,&quot;section_id&quot;:&quot;performance&quot;,&quot;section_title&quot;:&quot;Performance&quot;,&quot;showTitle&quot;:true,&quot;title&quot;:&quot;Quarterly retention&quot;,&quot;type&quot;:&quot;comparison&quot;,&quot;unit&quot;:&quot;%&quot;,&quot;weight&quot;:1,&quot;z&quot;:5},{&quot;composition_role&quot;:&quot;primary_analysis&quot;,&quot;data&quot;:[],&quot;dataset_id&quot;:&quot;dataset-muit7v84-3pjpfh&quot;,&quot;element&quot;:&quot;Line Chart&quot;,&quot;engine&quot;:&quot;CoreChartEngine&quot;,&quot;groupId&quot;:null,&quot;id&quot;:&quot;c6&quot;,&quot;locked&quot;:false,&quot;mapping&quot;:{&quot;category&quot;:&quot;quarter_1&quot;,&quot;value&quot;:&quot;retention_2&quot;,&quot;x&quot;:&quot;quarter_1&quot;,&quot;y&quot;:&quot;retention_2&quot;},&quot;message_role&quot;:&quot;Primary Evidence&quot;,&quot;order&quot;:5,&quot;section_id&quot;:&quot;analysis&quot;,&quot;section_title&quot;:&quot;Analysis&quot;,&quot;showTitle&quot;:true,&quot;title&quot;:&quot;Quarterly retention&quot;,&quot;type&quot;:&quot;chart&quot;,&quot;weight&quot;:1,&quot;z&quot;:6},{&quot;composition_role&quot;:&quot;detailed_evidence&quot;,&quot;customTable&quot;:{&quot;headers&quot;:[&quot;Region&quot;,&quot;Revenue&quot;,&quot;Retention&quot;,&quot;Status&quot;],&quot;rows&quot;:[[&quot;North&quot;,184,&quot;94.1%&quot;,&quot;Watch&quot;],[&quot;South&quot;,156,&quot;92.8%&quot;,&quot;Below target&quot;],[&quot;West&quot;,211,&quot;95.0%&quot;,&quot;On plan&quot;]]},&quot;element&quot;:&quot;Clean Table&quot;,&quot;engine&quot;:&quot;TableEngine&quot;,&quot;groupId&quot;:null,&quot;id&quot;:&quot;c7&quot;,&quot;locked&quot;:false,&quot;message_role&quot;:&quot;Primary Evidence&quot;,&quot;order&quot;:6,&quot;rows&quot;:[[&quot;North&quot;,184,&quot;94.1%&quot;,&quot;Watch&quot;],[&quot;South&quot;,156,&quot;92.8%&quot;,&quot;Below target&quot;],[&quot;West&quot;,211,&quot;95.0%&quot;,&quot;On plan&quot;]],&quot;section_id&quot;:&quot;evidence&quot;,&quot;section_title&quot;:&quot;Regional evidence&quot;,&quot;title&quot;:&quot;Clean Table&quot;,&quot;type&quot;:&quot;table&quot;,&quot;weight&quot;:1,&quot;z&quot;:7},{&quot;composition_role&quot;:&quot;decision_risk&quot;,&quot;detail&quot;:&quot;Close the South retention gap before the next review.&quot;,&quot;element&quot;:&quot;Risk Callout&quot;,&quot;engine&quot;:&quot;DecisionCompositeEngine&quot;,&quot;groupId&quot;:null,&quot;id&quot;:&quot;c8&quot;,&quot;locked&quot;:false,&quot;message_role&quot;:&quot;Risk&quot;,&quot;order&quot;:7,&quot;section_id&quot;:&quot;decision&quot;,&quot;section_title&quot;:&quot;Decision&quot;,&quot;statement&quot;:&quot;Proceed with monitored revenue recovery&quot;,&quot;status&quot;:&quot;Review&quot;,&quot;title&quot;:&quot;Risk Callout&quot;,&quot;type&quot;:&quot;decision&quot;,&quot;weight&quot;:1,&quot;z&quot;:8},{&quot;body&quot;:&quot;Next step: close the South retention gap before the next quarterly review.&quot;,&quot;composition_role&quot;:&quot;conclusion&quot;,&quot;element&quot;:&quot;Key Takeaway&quot;,&quot;engine&quot;:&quot;TextEngine&quot;,&quot;groupId&quot;:null,&quot;id&quot;:&quot;c9&quot;,&quot;locked&quot;:false,&quot;message_role&quot;:&quot;Action&quot;,&quot;order&quot;:8,&quot;section_id&quot;:&quot;delivery&quot;,&quot;section_title&quot;:&quot;Decision and next step&quot;,&quot;text&quot;:&quot;Next step: close the South retention gap before the next quarterly review.&quot;,&quot;title&quot;:&quot;Key Takeaway&quot;,&quot;type&quot;:&quot;text&quot;,&quot;weight&quot;:1,&quot;z&quot;:9}],&quot;layoutPreset&quot;:&quot;executive&quot;,&quot;mode&quot;:&quot;smart&quot;,&quot;nextId&quot;:10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