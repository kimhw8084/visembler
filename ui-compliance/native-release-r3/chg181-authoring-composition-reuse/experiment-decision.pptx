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17891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Conversion by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8.0</c:v>
                </c:pt>
                <c:pt idx="1">
                  <c:v>8.1</c:v>
                </c:pt>
                <c:pt idx="2">
                  <c:v>8.4</c:v>
                </c:pt>
                <c:pt idx="3">
                  <c:v>8.5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8.2</c:v>
                </c:pt>
                <c:pt idx="1">
                  <c:v>8.7</c:v>
                </c:pt>
                <c:pt idx="2">
                  <c:v>9.4</c:v>
                </c:pt>
                <c:pt idx="3">
                  <c:v>9.8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.89"/>
          <c:min val="7.91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97815" y="279472"/>
            <a:ext cx="7402115" cy="8451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0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00" b="1" i="0">
                <a:solidFill>
                  <a:srgbClr val="172B43"/>
                </a:solidFill>
                <a:latin typeface="Arial Narrow"/>
              </a:rPr>
              <a:t>The treatment cohort improved conversion across four weeks. The quality guardrail remained inside its agreed range; the sample does not establish long-term retention.</a:t>
            </a:r>
          </a:p>
        </p:txBody>
      </p:sp>
      <p:sp>
        <p:nvSpPr>
          <p:cNvPr id="3" name="VIZ::Hypothesis and context" title="Visembler report text roles: text heading, context subhead" descr="VisualizerSemantic: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7597746" y="450510"/>
            <a:ext cx="3483348" cy="50305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Hypothesis and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Eligible new-account cohorts · W1–W4 · randomized control and treatment · conversion and quality guardrail.</a:t>
            </a:r>
          </a:p>
        </p:txBody>
      </p:sp>
      <p:sp>
        <p:nvSpPr>
          <p:cNvPr id="4" name="VIZ::Treatment conversion KPI" title="Visembler report text roles: metric title, metric value" descr="VisualizerSemantic: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,&quot;x&quot;:900.4800000000001,&quot;y&quot;:1520.32,&quot;w&quot;:685.52,&quot;h&quot;:205.0}"/>
          <p:cNvSpPr/>
          <p:nvPr/>
        </p:nvSpPr>
        <p:spPr>
          <a:xfrm>
            <a:off x="6291490" y="10622200"/>
            <a:ext cx="4789604" cy="143229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9.8%</a:t>
            </a:r>
          </a:p>
        </p:txBody>
      </p:sp>
      <p:sp>
        <p:nvSpPr>
          <p:cNvPr id="5" name="VIZ::Treatment conversion · Week 1 to 4 KPI" title="Visembler report text roles: metric title, comparison value" descr="VisualizerSemantic: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,&quot;x&quot;:14.0,&quot;y&quot;:1515.32,&quot;w&quot;:872.4800000000001,&quot;h&quot;:215.0}"/>
          <p:cNvSpPr/>
          <p:nvPr/>
        </p:nvSpPr>
        <p:spPr>
          <a:xfrm>
            <a:off x="97815" y="10587266"/>
            <a:ext cx="6095859" cy="1502166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 · Week 1 to 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8.2% → 9.8%</a:t>
            </a:r>
          </a:p>
        </p:txBody>
      </p:sp>
      <p:graphicFrame>
        <p:nvGraphicFramePr>
          <p:cNvPr id="11" name="VIZ::Conversion by week" descr="VisualizerSemantic:{&quot;composition_role&quot;:&quot;primary_analysis&quot;,&quot;data&quot;:[[&quot;W1&quot;,8],[&quot;W1&quot;,8.2],[&quot;W2&quot;,8.1],[&quot;W2&quot;,8.7],[&quot;W3&quot;,8.4],[&quot;W3&quot;,9.4],[&quot;W4&quot;,8.5],[&quot;W4&quot;,9.8]],&quot;dataset_id&quot;:&quot;dataset-muqbqv9w-jj5s59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,&quot;row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observation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x&quot;:61.25248484848487,&quot;y&quot;:194.96,&quot;w&quot;:871.4550303030303,&quot;h&quot;:422.91200000000003}"/>
          <p:cNvGraphicFramePr>
            <a:graphicFrameLocks noGrp="1"/>
          </p:cNvGraphicFramePr>
          <p:nvPr/>
        </p:nvGraphicFramePr>
        <p:xfrm>
          <a:off x="427960" y="1362150"/>
          <a:ext cx="6088698" cy="295480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VIZ::c5::box-plot-title" descr="VisualizerSemantic:{&quot;composition_role&quot;:&quot;supporting_analysis&quot;,&quot;data&quot;:[[&quot;Control&quot;,8],[&quot;Control&quot;,8.1],[&quot;Control&quot;,8.4],[&quot;Control&quot;,8.5],[&quot;Treatment&quot;,8.2],[&quot;Treatment&quot;,8.7],[&quot;Treatment&quot;,9.4],[&quot;Treatment&quot;,9.8]],&quot;dataset_id&quot;:&quot;dataset-muqbqxer-e9kumf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,&quot;row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observation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x&quot;:364.00872727272736,&quot;y&quot;:625.8720000000001,&quot;w&quot;:871.9825454545453,&quot;h&quot;:423.16799999999995}"/>
          <p:cNvSpPr txBox="1"/>
          <p:nvPr/>
        </p:nvSpPr>
        <p:spPr>
          <a:xfrm>
            <a:off x="2786958" y="4417202"/>
            <a:ext cx="5604993" cy="246379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1200" b="1">
                <a:latin typeface="Arial"/>
              </a:defRPr>
            </a:pPr>
            <a:r>
              <a:t>Outcome distribution by cohort</a:t>
            </a:r>
          </a:p>
        </p:txBody>
      </p:sp>
      <p:cxnSp>
        <p:nvCxnSpPr>
          <p:cNvPr id="13" name="VIZ::c5::box-plot-grid-0"/>
          <p:cNvCxnSpPr/>
          <p:nvPr/>
        </p:nvCxnSpPr>
        <p:spPr>
          <a:xfrm>
            <a:off x="3518044" y="6590302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VIZ::c5::box-plot-axis-0"/>
          <p:cNvSpPr txBox="1"/>
          <p:nvPr/>
        </p:nvSpPr>
        <p:spPr>
          <a:xfrm>
            <a:off x="2543263" y="6526802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7.91</a:t>
            </a:r>
          </a:p>
        </p:txBody>
      </p:sp>
      <p:cxnSp>
        <p:nvCxnSpPr>
          <p:cNvPr id="15" name="VIZ::c5::box-plot-grid-1"/>
          <p:cNvCxnSpPr/>
          <p:nvPr/>
        </p:nvCxnSpPr>
        <p:spPr>
          <a:xfrm>
            <a:off x="3518044" y="6183770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VIZ::c5::box-plot-axis-1"/>
          <p:cNvSpPr txBox="1"/>
          <p:nvPr/>
        </p:nvSpPr>
        <p:spPr>
          <a:xfrm>
            <a:off x="2543263" y="6120270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8.405</a:t>
            </a:r>
          </a:p>
        </p:txBody>
      </p:sp>
      <p:cxnSp>
        <p:nvCxnSpPr>
          <p:cNvPr id="17" name="VIZ::c5::box-plot-grid-2"/>
          <p:cNvCxnSpPr/>
          <p:nvPr/>
        </p:nvCxnSpPr>
        <p:spPr>
          <a:xfrm>
            <a:off x="3518044" y="5777238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Z::c5::box-plot-axis-2"/>
          <p:cNvSpPr txBox="1"/>
          <p:nvPr/>
        </p:nvSpPr>
        <p:spPr>
          <a:xfrm>
            <a:off x="2543263" y="5713738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8.9</a:t>
            </a:r>
          </a:p>
        </p:txBody>
      </p:sp>
      <p:cxnSp>
        <p:nvCxnSpPr>
          <p:cNvPr id="19" name="VIZ::c5::box-plot-grid-3"/>
          <p:cNvCxnSpPr/>
          <p:nvPr/>
        </p:nvCxnSpPr>
        <p:spPr>
          <a:xfrm>
            <a:off x="3518044" y="5370705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Z::c5::box-plot-axis-3"/>
          <p:cNvSpPr txBox="1"/>
          <p:nvPr/>
        </p:nvSpPr>
        <p:spPr>
          <a:xfrm>
            <a:off x="2543263" y="5307205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9.395</a:t>
            </a:r>
          </a:p>
        </p:txBody>
      </p:sp>
      <p:cxnSp>
        <p:nvCxnSpPr>
          <p:cNvPr id="21" name="VIZ::c5::box-plot-grid-4"/>
          <p:cNvCxnSpPr/>
          <p:nvPr/>
        </p:nvCxnSpPr>
        <p:spPr>
          <a:xfrm>
            <a:off x="3518044" y="4964173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VIZ::c5::box-plot-axis-4"/>
          <p:cNvSpPr txBox="1"/>
          <p:nvPr/>
        </p:nvSpPr>
        <p:spPr>
          <a:xfrm>
            <a:off x="2543263" y="4900673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9.89</a:t>
            </a:r>
          </a:p>
        </p:txBody>
      </p:sp>
      <p:cxnSp>
        <p:nvCxnSpPr>
          <p:cNvPr id="23" name="VIZ::c5::box-plot-0-whisker"/>
          <p:cNvCxnSpPr/>
          <p:nvPr/>
        </p:nvCxnSpPr>
        <p:spPr>
          <a:xfrm>
            <a:off x="4751751.75" y="6105748"/>
            <a:ext cx="0.0" cy="410639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Z::c5::box-plot-0-whisker-cap-0"/>
          <p:cNvCxnSpPr/>
          <p:nvPr/>
        </p:nvCxnSpPr>
        <p:spPr>
          <a:xfrm>
            <a:off x="4495719.75" y="6516387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VIZ::c5::box-plot-0-whisker-cap-1"/>
          <p:cNvCxnSpPr/>
          <p:nvPr/>
        </p:nvCxnSpPr>
        <p:spPr>
          <a:xfrm>
            <a:off x="4495719.75" y="6105748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VIZ::c5::box-plot-0-quartiles"/>
          <p:cNvSpPr/>
          <p:nvPr/>
        </p:nvSpPr>
        <p:spPr>
          <a:xfrm>
            <a:off x="4495719" y="6167344"/>
            <a:ext cx="512064" cy="287447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VIZ::c5::box-plot-0-median"/>
          <p:cNvCxnSpPr/>
          <p:nvPr/>
        </p:nvCxnSpPr>
        <p:spPr>
          <a:xfrm>
            <a:off x="4495719.75" y="6311068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IZ::c5::box-plot-0-category" title="{&quot;category&quot;:&quot;Control&quot;,&quot;quartiles&quot;:{&quot;n&quot;:4,&quot;min&quot;:8.0,&quot;q1&quot;:8.075,&quot;median&quot;:8.25,&quot;q3&quot;:8.425,&quot;max&quot;:8.5}}"/>
          <p:cNvSpPr txBox="1"/>
          <p:nvPr/>
        </p:nvSpPr>
        <p:spPr>
          <a:xfrm>
            <a:off x="4203111" y="6723348"/>
            <a:ext cx="1097280" cy="384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Control</a:t>
            </a:r>
          </a:p>
        </p:txBody>
      </p:sp>
      <p:cxnSp>
        <p:nvCxnSpPr>
          <p:cNvPr id="29" name="VIZ::c5::box-plot-1-whisker"/>
          <p:cNvCxnSpPr/>
          <p:nvPr/>
        </p:nvCxnSpPr>
        <p:spPr>
          <a:xfrm>
            <a:off x="7219167.25" y="5038088"/>
            <a:ext cx="0.0" cy="1314044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VIZ::c5::box-plot-1-whisker-cap-0"/>
          <p:cNvCxnSpPr/>
          <p:nvPr/>
        </p:nvCxnSpPr>
        <p:spPr>
          <a:xfrm>
            <a:off x="6963135.25" y="6352132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VIZ::c5::box-plot-1-whisker-cap-1"/>
          <p:cNvCxnSpPr/>
          <p:nvPr/>
        </p:nvCxnSpPr>
        <p:spPr>
          <a:xfrm>
            <a:off x="6963135.25" y="5038088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VIZ::c5::box-plot-1-quartiles"/>
          <p:cNvSpPr/>
          <p:nvPr/>
        </p:nvSpPr>
        <p:spPr>
          <a:xfrm>
            <a:off x="6963135" y="5284471"/>
            <a:ext cx="512064" cy="759682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VIZ::c5::box-plot-1-median"/>
          <p:cNvCxnSpPr/>
          <p:nvPr/>
        </p:nvCxnSpPr>
        <p:spPr>
          <a:xfrm>
            <a:off x="6963135.25" y="5654046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VIZ::c5::box-plot-1-category" title="{&quot;category&quot;:&quot;Treatment&quot;,&quot;quartiles&quot;:{&quot;n&quot;:4,&quot;min&quot;:8.2,&quot;q1&quot;:8.575,&quot;median&quot;:9.05,&quot;q3&quot;:9.5,&quot;max&quot;:9.8}}"/>
          <p:cNvSpPr txBox="1"/>
          <p:nvPr/>
        </p:nvSpPr>
        <p:spPr>
          <a:xfrm>
            <a:off x="6670527" y="6723348"/>
            <a:ext cx="1097280" cy="384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Treatment</a:t>
            </a:r>
          </a:p>
        </p:txBody>
      </p:sp>
      <p:sp>
        <p:nvSpPr>
          <p:cNvPr id="8" name="VIZ::Interpretation" title="Visembler report text roles: text heading, narrative interpretation" descr="VisualizerSemantic: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,&quot;x&quot;:946.7075151515152,&quot;y&quot;:339.136,&quot;w&quot;:592.04,&quot;h&quot;:134.56}"/>
          <p:cNvSpPr/>
          <p:nvPr/>
        </p:nvSpPr>
        <p:spPr>
          <a:xfrm>
            <a:off x="6614473" y="2369481"/>
            <a:ext cx="4136476" cy="9401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Interpretation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00" b="0" i="0">
                <a:solidFill>
                  <a:srgbClr val="253649"/>
                </a:solidFill>
                <a:latin typeface="Arial Narrow"/>
              </a:rPr>
              <a:t>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</a:t>
            </a:r>
          </a:p>
        </p:txBody>
      </p:sp>
      <p:sp>
        <p:nvSpPr>
          <p:cNvPr id="10" name="VIZ::Recommendation" title="Visembler report text roles: text heading, conclusion next step, risk decision, action status" descr="VisualizerSemantic: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,&quot;x&quot;:14.0,&quot;y&quot;:1376.04,&quot;w&quot;:1572.0,&quot;h&quot;:105.28000000000002}"/>
          <p:cNvSpPr/>
          <p:nvPr/>
        </p:nvSpPr>
        <p:spPr>
          <a:xfrm>
            <a:off x="97815" y="9614142"/>
            <a:ext cx="10983278" cy="73557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Recommendation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Stage a limited treatment rollout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Pause expansion if the quality guardrail moves outside its agreed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graphicFrame>
        <p:nvGraphicFramePr>
          <p:cNvPr id="35" name="VIZ::Cohort evidence" descr="VisualizerSemantic: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,&quot;x&quot;:14.0,&quot;y&quot;:1083.04,&quot;w&quot;:1572.0,&quot;h&quot;:259.0}"/>
          <p:cNvGraphicFramePr>
            <a:graphicFrameLocks noGrp="1"/>
          </p:cNvGraphicFramePr>
          <p:nvPr/>
        </p:nvGraphicFramePr>
        <p:xfrm>
          <a:off x="97815" y="7567004"/>
          <a:ext cx="10983278" cy="1809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819"/>
                <a:gridCol w="2745819"/>
                <a:gridCol w="2745819"/>
                <a:gridCol w="2745821"/>
              </a:tblGrid>
              <a:tr h="452396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Eligible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Quality guardrail</a:t>
                      </a:r>
                    </a:p>
                  </a:txBody>
                  <a:tcPr/>
                </a:tc>
              </a:tr>
              <a:tr h="45239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5239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5239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Holdout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Monitor mix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6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week_1&quot;,&quot;name&quot;:&quot;Week&quot;,&quot;nullable&quot;:false,&quot;profile&quot;:{&quot;distinct&quot;:4,&quot;missing&quot;:0},&quot;semantic_tags&quot;:[],&quot;type&quot;:&quot;categorical&quot;},{&quot;id&quot;:&quot;cohort_2&quot;,&quot;name&quot;:&quot;Cohort&quot;,&quot;nullable&quot;:false,&quot;profile&quot;:{&quot;distinct&quot;:2,&quot;missing&quot;:0},&quot;semantic_tags&quot;:[&quot;cohort&quot;,&quot;status&quot;],&quot;type&quot;:&quot;categorical&quot;},{&quot;id&quot;:&quot;conversion_3&quot;,&quot;name&quot;:&quot;Conversion&quot;,&quot;nullable&quot;:false,&quot;profile&quot;:{&quot;distinct&quot;:8,&quot;missing&quot;:0},&quot;semantic_tags&quot;:[],&quot;type&quot;:&quot;number&quot;,&quot;unit&quot;:&quot;&quot;}],&quot;id&quot;:&quot;dataset-muqbqv9w-jj5s59&quot;,&quot;metadata&quot;:{&quot;header&quot;:{&quot;confidence&quot;:0.8333333333333334,&quot;present&quot;:true,&quot;source_row&quot;:0}},&quot;name&quot;:&quot;Pasted data&quot;,&quot;revision&quot;:1,&quot;rows&quot;:[[&quot;W1&quot;,&quot;Control&quot;,8],[&quot;W1&quot;,&quot;Treatment&quot;,8.2],[&quot;W2&quot;,&quot;Control&quot;,8.1],[&quot;W2&quot;,&quot;Treatment&quot;,8.7],[&quot;W3&quot;,&quot;Control&quot;,8.4],[&quot;W3&quot;,&quot;Treatment&quot;,9.4],[&quot;W4&quot;,&quot;Control&quot;,8.5],[&quot;W4&quot;,&quot;Treatment&quot;,9.8]],&quot;source&quot;:{&quot;imported_at&quot;:&quot;2026-10-02T02:08:50.132Z&quot;,&quot;kind&quot;:&quot;clipboard&quot;,&quot;label&quot;:&quot;TSV&quot;},&quot;warnings&quot;:[]},{&quot;fields&quot;:[{&quot;id&quot;:&quot;cohort_1&quot;,&quot;name&quot;:&quot;Cohort&quot;,&quot;nullable&quot;:false,&quot;profile&quot;:{&quot;distinct&quot;:2,&quot;missing&quot;:0},&quot;semantic_tags&quot;:[&quot;cohort&quot;,&quot;status&quot;],&quot;type&quot;:&quot;categorical&quot;},{&quot;id&quot;:&quot;conversion_2&quot;,&quot;name&quot;:&quot;Conversion&quot;,&quot;nullable&quot;:false,&quot;profile&quot;:{&quot;distinct&quot;:8,&quot;missing&quot;:0},&quot;semantic_tags&quot;:[],&quot;type&quot;:&quot;number&quot;,&quot;unit&quot;:&quot;&quot;}],&quot;id&quot;:&quot;dataset-muqbqxer-e9kumf&quot;,&quot;metadata&quot;:{&quot;header&quot;:{&quot;confidence&quot;:1,&quot;present&quot;:true,&quot;source_row&quot;:0}},&quot;name&quot;:&quot;Pasted data&quot;,&quot;revision&quot;:1,&quot;rows&quot;:[[&quot;Control&quot;,8],[&quot;Control&quot;,8.1],[&quot;Control&quot;,8.4],[&quot;Control&quot;,8.5],[&quot;Treatment&quot;,8.2],[&quot;Treatment&quot;,8.7],[&quot;Treatment&quot;,9.4],[&quot;Treatment&quot;,9.8]],&quot;source&quot;:{&quot;imported_at&quot;:&quot;2026-10-02T02:08:52.899Z&quot;,&quot;kind&quot;:&quot;clipboard&quot;,&quot;label&quot;:&quot;TSV&quot;},&quot;warnings&quot;:[]}],&quot;groups&quot;:{},&quot;items&quot;:[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},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},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},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},{&quot;composition_role&quot;:&quot;supporting_analysis&quot;,&quot;data&quot;:[],&quot;dataset_id&quot;:&quot;dataset-muqbqxer-e9kumf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},{&quot;composition_role&quot;:&quot;primary_analysis&quot;,&quot;data&quot;:[],&quot;dataset_id&quot;:&quot;dataset-muqbqv9w-jj5s59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},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},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},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}],&quot;layoutPreset&quot;:&quot;comparison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