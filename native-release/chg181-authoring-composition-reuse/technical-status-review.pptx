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842792" cy="121919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>
                <a:latin typeface="Arial"/>
              </a:defRPr>
            </a:pPr>
            <a:r>
              <a:t>Critical measurement trend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Measurement</c:v>
                </c:pt>
              </c:strCache>
            </c:strRef>
          </c:tx>
          <c:spPr>
            <a:ln>
              <a:solidFill>
                <a:srgbClr val="1769D1"/>
              </a:solidFill>
            </a:ln>
          </c:spPr>
          <c:cat>
            <c:strRef>
              <c:f>Sheet1!$A$2:$A$6</c:f>
              <c:strCache>
                <c:ptCount val="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94.1</c:v>
                </c:pt>
                <c:pt idx="1">
                  <c:v>94.6</c:v>
                </c:pt>
                <c:pt idx="2">
                  <c:v>95.0</c:v>
                </c:pt>
                <c:pt idx="3">
                  <c:v>94.8</c:v>
                </c:pt>
                <c:pt idx="4">
                  <c:v>95.2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95.25500000000001"/>
          <c:min val="94.04499999999999"/>
        </c:scaling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>
                <a:latin typeface="Arial"/>
              </a:defRPr>
            </a:pPr>
            <a:r>
              <a:t>Yield by shift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Yield</c:v>
                </c:pt>
              </c:strCache>
            </c:strRef>
          </c:tx>
          <c:spPr>
            <a:ln>
              <a:solidFill>
                <a:srgbClr val="1769D1"/>
              </a:solidFill>
            </a:ln>
          </c:spPr>
          <c:cat>
            <c:strRef>
              <c:f>Sheet1!$A$2:$A$4</c:f>
              <c:strCache>
                <c:ptCount val="3"/>
                <c:pt idx="0">
                  <c:v>A</c:v>
                </c:pt>
                <c:pt idx="1">
                  <c:v>B</c:v>
                </c:pt>
                <c:pt idx="2">
                  <c:v>C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94.1</c:v>
                </c:pt>
                <c:pt idx="1">
                  <c:v>94.6</c:v>
                </c:pt>
                <c:pt idx="2">
                  <c:v>95.0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95.045"/>
          <c:min val="94.05499999999999"/>
        </c:scaling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4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IZ::Executive Statement" title="Visembler report text roles: text heading, report headline" descr="VisualizerSemantic:{&quot;body&quot;:&quot;Shift B recovered yield after chamber maintenance. Keep the recipe locked through the next paired-lot check and hand off the evidence to Quality and Equipment Engineering.&quot;,&quot;composition_role&quot;:&quot;report_headline&quot;,&quot;element&quot;:&quot;Executive Statement&quot;,&quot;engine&quot;:&quot;TextEngine&quot;,&quot;groupId&quot;:null,&quot;id&quot;:&quot;c1&quot;,&quot;locked&quot;:false,&quot;message_role&quot;:&quot;Headline&quot;,&quot;order&quot;:0,&quot;section_id&quot;:&quot;opening&quot;,&quot;section_title&quot;:&quot;Operating summary&quot;,&quot;text&quot;:&quot;Shift B recovered yield after chamber maintenance. Keep the recipe locked through the next paired-lot check and hand off the evidence to Quality and Equipment Engineering.&quot;,&quot;title&quot;:&quot;Executive Statement&quot;,&quot;type&quot;:&quot;text&quot;,&quot;weight&quot;:1,&quot;z&quot;:1,&quot;x&quot;:14.0,&quot;y&quot;:40.0,&quot;w&quot;:1059.44,&quot;h&quot;:120.96000000000001}"/>
          <p:cNvSpPr/>
          <p:nvPr/>
        </p:nvSpPr>
        <p:spPr>
          <a:xfrm>
            <a:off x="77374" y="221069"/>
            <a:ext cx="5855254" cy="668515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950" b="1" i="0">
                <a:solidFill>
                  <a:srgbClr val="1C2B3E"/>
                </a:solidFill>
                <a:latin typeface="Arial"/>
              </a:rPr>
              <a:t>Executive Statement</a:t>
            </a:r>
            <a:r>
              <a:rPr sz="1400" b="1" i="0">
                <a:solidFill>
                  <a:srgbClr val="172B43"/>
                </a:solidFill>
                <a:latin typeface="Arial Narrow"/>
              </a:rPr>
              <a:t> · Shift B recovered yield after chamber maintenance. Keep the recipe locked through the next paired-lot check and hand off the evidence to Quality and Equipment Engineering.</a:t>
            </a:r>
          </a:p>
        </p:txBody>
      </p:sp>
      <p:sp>
        <p:nvSpPr>
          <p:cNvPr id="3" name="VIZ::Report context" title="Visembler report text roles: text heading, context subhead" descr="VisualizerSemantic:{&quot;body&quot;:&quot;Line 4 · shifts A–C · chamber A controls · capacity release review.&quot;,&quot;composition_role&quot;:&quot;context&quot;,&quot;element&quot;:&quot;Body Narrative&quot;,&quot;engine&quot;:&quot;TextEngine&quot;,&quot;groupId&quot;:null,&quot;id&quot;:&quot;c2&quot;,&quot;locked&quot;:false,&quot;message_role&quot;:&quot;Context&quot;,&quot;order&quot;:1,&quot;section_id&quot;:&quot;opening&quot;,&quot;section_title&quot;:&quot;Operating summary&quot;,&quot;text&quot;:&quot;Line 4 · shifts A–C · chamber A controls · capacity release review.&quot;,&quot;title&quot;:&quot;Report context&quot;,&quot;type&quot;:&quot;text&quot;,&quot;weight&quot;:1,&quot;z&quot;:2,&quot;x&quot;:1087.44,&quot;y&quot;:64.48,&quot;w&quot;:498.56,&quot;h&quot;:72.0}"/>
          <p:cNvSpPr/>
          <p:nvPr/>
        </p:nvSpPr>
        <p:spPr>
          <a:xfrm>
            <a:off x="6010003" y="356364"/>
            <a:ext cx="2755414" cy="397926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950" b="1" i="0">
                <a:solidFill>
                  <a:srgbClr val="1C2B3E"/>
                </a:solidFill>
                <a:latin typeface="Arial"/>
              </a:rPr>
              <a:t>Report context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374A60"/>
                </a:solidFill>
                <a:latin typeface="Arial Narrow"/>
              </a:rPr>
              <a:t>Line 4 · shifts A–C · chamber A controls · capacity release review.</a:t>
            </a:r>
          </a:p>
        </p:txBody>
      </p:sp>
      <p:sp>
        <p:nvSpPr>
          <p:cNvPr id="4" name="VIZ::First pass yield KPI" title="Visembler report text roles: metric title, metric value" descr="VisualizerSemantic:{&quot;capability_overrides&quot;:{&quot;target&quot;:96},&quot;composition_role&quot;:&quot;hero_metric&quot;,&quot;delta&quot;:0.9,&quot;element&quot;:&quot;Hero KPI&quot;,&quot;engine&quot;:&quot;MetricEngine&quot;,&quot;groupId&quot;:null,&quot;id&quot;:&quot;c3&quot;,&quot;locked&quot;:false,&quot;message_role&quot;:&quot;Supporting Evidence&quot;,&quot;order&quot;:2,&quot;section_id&quot;:&quot;performance&quot;,&quot;section_title&quot;:&quot;Performance&quot;,&quot;showTitle&quot;:true,&quot;target&quot;:96,&quot;title&quot;:&quot;First pass yield&quot;,&quot;type&quot;:&quot;metric&quot;,&quot;unit&quot;:&quot;%&quot;,&quot;value&quot;:95,&quot;weight&quot;:1,&quot;z&quot;:3,&quot;x&quot;:14.0,&quot;y&quot;:1986.671811764706,&quot;w&quot;:872.4800000000001,&quot;h&quot;:205.0}"/>
          <p:cNvSpPr/>
          <p:nvPr/>
        </p:nvSpPr>
        <p:spPr>
          <a:xfrm>
            <a:off x="77374" y="10979827"/>
            <a:ext cx="4821974" cy="1132983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First pass yield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400" b="1" i="0">
                <a:solidFill>
                  <a:srgbClr val="17324E"/>
                </a:solidFill>
                <a:latin typeface="Arial"/>
              </a:rPr>
              <a:t>95%</a:t>
            </a:r>
          </a:p>
        </p:txBody>
      </p:sp>
      <p:sp>
        <p:nvSpPr>
          <p:cNvPr id="5" name="VIZ::Unplanned downtime KPI" title="Visembler report text roles: metric title, metric value" descr="VisualizerSemantic:{&quot;capability_overrides&quot;:{&quot;target&quot;:6},&quot;composition_role&quot;:&quot;hero_metric&quot;,&quot;delta&quot;:-1.7,&quot;element&quot;:&quot;Hero KPI&quot;,&quot;engine&quot;:&quot;MetricEngine&quot;,&quot;groupId&quot;:null,&quot;id&quot;:&quot;c4&quot;,&quot;locked&quot;:false,&quot;message_role&quot;:&quot;Supporting Evidence&quot;,&quot;order&quot;:3,&quot;section_id&quot;:&quot;performance&quot;,&quot;section_title&quot;:&quot;Performance&quot;,&quot;showTitle&quot;:true,&quot;target&quot;:6,&quot;title&quot;:&quot;Unplanned downtime&quot;,&quot;type&quot;:&quot;metric&quot;,&quot;unit&quot;:&quot;h&quot;,&quot;value&quot;:8.3,&quot;weight&quot;:1,&quot;z&quot;:4,&quot;x&quot;:900.4800000000001,&quot;y&quot;:1986.671811764706,&quot;w&quot;:685.52,&quot;h&quot;:205.0}"/>
          <p:cNvSpPr/>
          <p:nvPr/>
        </p:nvSpPr>
        <p:spPr>
          <a:xfrm>
            <a:off x="4976723" y="10979827"/>
            <a:ext cx="3788694" cy="1132983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Unplanned downtime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400" b="1" i="0">
                <a:solidFill>
                  <a:srgbClr val="17324E"/>
                </a:solidFill>
                <a:latin typeface="Arial"/>
              </a:rPr>
              <a:t>8.3 h</a:t>
            </a:r>
          </a:p>
        </p:txBody>
      </p:sp>
      <p:graphicFrame>
        <p:nvGraphicFramePr>
          <p:cNvPr id="14" name="VIZ::Yield by shift" descr="VisualizerSemantic:{&quot;composition_role&quot;:&quot;primary_analysis&quot;,&quot;data&quot;:[[&quot;A&quot;,94.1],[&quot;B&quot;,94.6],[&quot;C&quot;,95]],&quot;dataset_id&quot;:&quot;dataset-muk98qct-f10n67&quot;,&quot;element&quot;:&quot;Line Chart&quot;,&quot;engine&quot;:&quot;CoreChartEngine&quot;,&quot;groupId&quot;:null,&quot;id&quot;:&quot;c5&quot;,&quot;locked&quot;:false,&quot;mapping&quot;:{&quot;category&quot;:&quot;shift_1&quot;,&quot;value&quot;:&quot;yield_2&quot;,&quot;x&quot;:&quot;shift_1&quot;,&quot;y&quot;:&quot;yield_2&quot;},&quot;message_role&quot;:&quot;Primary Evidence&quot;,&quot;order&quot;:4,&quot;section_id&quot;:&quot;analysis&quot;,&quot;section_title&quot;:&quot;Analysis&quot;,&quot;showTitle&quot;:true,&quot;title&quot;:&quot;Yield by shift&quot;,&quot;type&quot;:&quot;chart&quot;,&quot;weight&quot;:1,&quot;z&quot;:5,&quot;rows&quot;:[{&quot;label&quot;:&quot;A&quot;,&quot;value&quot;:94.1},{&quot;label&quot;:&quot;B&quot;,&quot;value&quot;:94.6},{&quot;label&quot;:&quot;C&quot;,&quot;value&quot;:95}],&quot;observations&quot;:[{&quot;label&quot;:&quot;A&quot;,&quot;value&quot;:94.1},{&quot;label&quot;:&quot;B&quot;,&quot;value&quot;:94.6},{&quot;label&quot;:&quot;C&quot;,&quot;value&quot;:95}],&quot;x&quot;:14.0,&quot;y&quot;:194.96,&quot;w&quot;:872.4800000000001,&quot;h&quot;:423.40941176470596}"/>
          <p:cNvGraphicFramePr>
            <a:graphicFrameLocks noGrp="1"/>
          </p:cNvGraphicFramePr>
          <p:nvPr/>
        </p:nvGraphicFramePr>
        <p:xfrm>
          <a:off x="77374" y="1077494"/>
          <a:ext cx="4821974" cy="2340076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15" name="VIZ::Critical measurement trend" descr="VisualizerSemantic:{&quot;composition_role&quot;:&quot;primary_analysis&quot;,&quot;dataset_id&quot;:&quot;dataset-muk98sh6-0f2cmi&quot;,&quot;element&quot;:&quot;SPC Control Chart&quot;,&quot;engine&quot;:&quot;EngineeringChartEngine&quot;,&quot;groupId&quot;:null,&quot;id&quot;:&quot;c6&quot;,&quot;locked&quot;:false,&quot;lower_limit&quot;:null,&quot;mapping&quot;:{&quot;specification_high&quot;:&quot;usl_4&quot;,&quot;specification_low&quot;:&quot;lsl_3&quot;,&quot;time&quot;:&quot;time_1&quot;,&quot;value&quot;:&quot;measurement_2&quot;,&quot;x&quot;:&quot;time_1&quot;,&quot;y&quot;:&quot;measurement_2&quot;},&quot;message_role&quot;:&quot;Primary Evidence&quot;,&quot;observations&quot;:[{&quot;label&quot;:&quot;1&quot;,&quot;value&quot;:94.1},{&quot;label&quot;:&quot;2&quot;,&quot;value&quot;:94.6},{&quot;label&quot;:&quot;3&quot;,&quot;value&quot;:95},{&quot;label&quot;:&quot;4&quot;,&quot;value&quot;:94.8},{&quot;label&quot;:&quot;5&quot;,&quot;value&quot;:95.2}],&quot;order&quot;:5,&quot;section_id&quot;:&quot;analysis&quot;,&quot;section_title&quot;:&quot;Analysis&quot;,&quot;title&quot;:&quot;Critical measurement trend&quot;,&quot;type&quot;:&quot;engineering&quot;,&quot;upper_limit&quot;:null,&quot;weight&quot;:1,&quot;z&quot;:6,&quot;data&quot;:[[&quot;1&quot;,94.1],[&quot;2&quot;,94.6],[&quot;3&quot;,95],[&quot;4&quot;,94.8],[&quot;5&quot;,95.2]],&quot;rows&quot;:[{&quot;label&quot;:&quot;1&quot;,&quot;value&quot;:94.1},{&quot;label&quot;:&quot;2&quot;,&quot;value&quot;:94.6},{&quot;label&quot;:&quot;3&quot;,&quot;value&quot;:95},{&quot;label&quot;:&quot;4&quot;,&quot;value&quot;:94.8},{&quot;label&quot;:&quot;5&quot;,&quot;value&quot;:95.2}],&quot;x&quot;:900.4800000000001,&quot;y&quot;:240.3252941176471,&quot;w&quot;:685.52,&quot;h&quot;:332.6788235294118}"/>
          <p:cNvGraphicFramePr>
            <a:graphicFrameLocks noGrp="1"/>
          </p:cNvGraphicFramePr>
          <p:nvPr/>
        </p:nvGraphicFramePr>
        <p:xfrm>
          <a:off x="4976723" y="1328216"/>
          <a:ext cx="3788694" cy="1838631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VIZ::Body Narrative" title="Visembler report text roles: text heading, narrative interpretation" descr="VisualizerSemantic:{&quot;body&quot;:&quot;Yield recovered from 94.1% on shift A to 95.0% on shift C, while the control sample remains within specification. Keep the recipe locked until the next paired-lot check closes the two open items.&quot;,&quot;composition_role&quot;:&quot;narrative_interpretation&quot;,&quot;element&quot;:&quot;Body Narrative&quot;,&quot;engine&quot;:&quot;TextEngine&quot;,&quot;groupId&quot;:null,&quot;id&quot;:&quot;c12&quot;,&quot;locked&quot;:false,&quot;message_role&quot;:&quot;Context&quot;,&quot;order&quot;:6,&quot;section_id&quot;:&quot;analysis&quot;,&quot;section_title&quot;:&quot;Shift interpretation&quot;,&quot;text&quot;:&quot;Yield recovered from 94.1% on shift A to 95.0% on shift C, while the control sample remains within specification. Keep the recipe locked until the next paired-lot check closes the two open items.&quot;,&quot;title&quot;:&quot;Body Narrative&quot;,&quot;type&quot;:&quot;text&quot;,&quot;weight&quot;:1,&quot;z&quot;:12,&quot;x&quot;:14.0,&quot;y&quot;:626.369411764706,&quot;w&quot;:1572.0,&quot;h&quot;:116.0}"/>
          <p:cNvSpPr/>
          <p:nvPr/>
        </p:nvSpPr>
        <p:spPr>
          <a:xfrm>
            <a:off x="77374" y="3461783"/>
            <a:ext cx="8688042" cy="641102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Body Narrative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150" b="0" i="0">
                <a:solidFill>
                  <a:srgbClr val="253649"/>
                </a:solidFill>
                <a:latin typeface="Arial"/>
              </a:rPr>
              <a:t>Yield recovered from 94.1% on shift A to 95.0% on shift C, while the control sample remains within specification. Keep the recipe locked until the next paired-lot check closes the two open items.</a:t>
            </a:r>
          </a:p>
        </p:txBody>
      </p:sp>
      <p:sp>
        <p:nvSpPr>
          <p:cNvPr id="9" name="VIZ::Process Flow"/>
          <p:cNvSpPr/>
          <p:nvPr/>
        </p:nvSpPr>
        <p:spPr>
          <a:xfrm>
            <a:off x="2151893" y="4290795"/>
            <a:ext cx="4539005" cy="939547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82296" bIns="82296"/>
          <a:lstStyle/>
          <a:p>
            <a:pPr algn="ctr">
              <a:defRPr sz="1100" b="1">
                <a:solidFill>
                  <a:srgbClr val="1D1D1F"/>
                </a:solidFill>
                <a:latin typeface="Arial"/>
              </a:defRPr>
            </a:pPr>
          </a:p>
        </p:txBody>
      </p:sp>
      <p:sp>
        <p:nvSpPr>
          <p:cNvPr id="11" name="VIZ::Evidence Card" title="Visembler report text roles: text heading, narrative interpretation, evidence detail, action status" descr="VisualizerSemantic:{&quot;composition_role&quot;:&quot;detailed_evidence&quot;,&quot;detail&quot;:&quot;Sample: 30 parts · method: inline metrology · source: shift B inspection.&quot;,&quot;element&quot;:&quot;Evidence Card&quot;,&quot;engine&quot;:&quot;EvidenceCompositeEngine&quot;,&quot;groupId&quot;:null,&quot;id&quot;:&quot;c9&quot;,&quot;locked&quot;:false,&quot;message_role&quot;:&quot;Primary Evidence&quot;,&quot;order&quot;:9,&quot;section_id&quot;:&quot;evidence&quot;,&quot;section_title&quot;:&quot;Operating evidence&quot;,&quot;statement&quot;:&quot;Measurement system remains within the qualified reference range.&quot;,&quot;status&quot;:&quot;Verified&quot;,&quot;title&quot;:&quot;Evidence Card&quot;,&quot;type&quot;:&quot;evidence&quot;,&quot;weight&quot;:1,&quot;z&quot;:9,&quot;x&quot;:14.0,&quot;y&quot;:1314.8798117647061,&quot;w&quot;:1572.0,&quot;h&quot;:296.032}"/>
          <p:cNvSpPr/>
          <p:nvPr/>
        </p:nvSpPr>
        <p:spPr>
          <a:xfrm>
            <a:off x="77374" y="7267005"/>
            <a:ext cx="8688042" cy="1636093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789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Evidence Card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150" b="0" i="0">
                <a:solidFill>
                  <a:srgbClr val="253649"/>
                </a:solidFill>
                <a:latin typeface="Arial"/>
              </a:rPr>
              <a:t>Measurement system remains within the qualified reference range.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050" b="0" i="0">
                <a:solidFill>
                  <a:srgbClr val="37485C"/>
                </a:solidFill>
                <a:latin typeface="Arial"/>
              </a:rPr>
              <a:t>Sample: 30 parts · method: inline metrology · source: shift B inspection.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4F43"/>
                </a:solidFill>
                <a:latin typeface="Arial"/>
              </a:rPr>
              <a:t>Verified</a:t>
            </a:r>
          </a:p>
        </p:txBody>
      </p:sp>
      <p:sp>
        <p:nvSpPr>
          <p:cNvPr id="12" name="VIZ::Risk Callout" title="Visembler report text roles: text heading, risk decision, evidence detail, action status" descr="VisualizerSemantic:{&quot;composition_role&quot;:&quot;decision_risk&quot;,&quot;detail&quot;:&quot;Keep the recipe locked and attach the next-shift control evidence.&quot;,&quot;element&quot;:&quot;Risk Callout&quot;,&quot;engine&quot;:&quot;DecisionCompositeEngine&quot;,&quot;groupId&quot;:null,&quot;id&quot;:&quot;c10&quot;,&quot;locked&quot;:false,&quot;message_role&quot;:&quot;Risk&quot;,&quot;order&quot;:10,&quot;section_id&quot;:&quot;decision&quot;,&quot;section_title&quot;:&quot;Decision&quot;,&quot;statement&quot;:&quot;Hold added capacity until the paired-lot check closes&quot;,&quot;status&quot;:&quot;Review&quot;,&quot;title&quot;:&quot;Risk Callout&quot;,&quot;type&quot;:&quot;decision&quot;,&quot;weight&quot;:1,&quot;z&quot;:10,&quot;x&quot;:14.0,&quot;y&quot;:1644.911811764706,&quot;w&quot;:1572.0,&quot;h&quot;:105.28000000000002}"/>
          <p:cNvSpPr/>
          <p:nvPr/>
        </p:nvSpPr>
        <p:spPr>
          <a:xfrm>
            <a:off x="77374" y="9091007"/>
            <a:ext cx="8688042" cy="581856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Risk Callout</a:t>
            </a:r>
            <a:r>
              <a:rPr sz="1100" b="1" i="0">
                <a:solidFill>
                  <a:srgbClr val="682B31"/>
                </a:solidFill>
                <a:latin typeface="Arial"/>
              </a:rPr>
              <a:t> · Hold added capacity until the paired-lot check closes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050" b="0" i="0">
                <a:solidFill>
                  <a:srgbClr val="37485C"/>
                </a:solidFill>
                <a:latin typeface="Arial"/>
              </a:rPr>
              <a:t>Keep the recipe locked and attach the next-shift control evidence.</a:t>
            </a:r>
            <a:r>
              <a:rPr sz="1050" b="1" i="0">
                <a:solidFill>
                  <a:srgbClr val="2B4F43"/>
                </a:solidFill>
                <a:latin typeface="Arial"/>
              </a:rPr>
              <a:t> · Review</a:t>
            </a:r>
          </a:p>
        </p:txBody>
      </p:sp>
      <p:sp>
        <p:nvSpPr>
          <p:cNvPr id="13" name="VIZ::Project Card" title="Visembler report text roles: text heading, conclusion next step, evidence detail, action status" descr="VisualizerSemantic:{&quot;composition_role&quot;:&quot;action_status&quot;,&quot;detail&quot;:&quot;Owner: Equipment Engineering · due next shift · evidence: paired control lot.&quot;,&quot;element&quot;:&quot;Project Card&quot;,&quot;engine&quot;:&quot;ProjectCompositeEngine&quot;,&quot;groupId&quot;:null,&quot;id&quot;:&quot;c11&quot;,&quot;locked&quot;:false,&quot;message_role&quot;:&quot;Action&quot;,&quot;order&quot;:11,&quot;section_id&quot;:&quot;delivery&quot;,&quot;section_title&quot;:&quot;Next steps&quot;,&quot;statement&quot;:&quot;Complete chamber verification and update the runbook.&quot;,&quot;status&quot;:&quot;Active&quot;,&quot;title&quot;:&quot;Project Card&quot;,&quot;type&quot;:&quot;project&quot;,&quot;weight&quot;:1,&quot;z&quot;:11,&quot;x&quot;:14.0,&quot;y&quot;:1784.191811764706,&quot;w&quot;:1572.0,&quot;h&quot;:168.48000000000002}"/>
          <p:cNvSpPr/>
          <p:nvPr/>
        </p:nvSpPr>
        <p:spPr>
          <a:xfrm>
            <a:off x="77374" y="9860772"/>
            <a:ext cx="8688042" cy="931146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Project Card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250" b="1" i="0">
                <a:solidFill>
                  <a:srgbClr val="17324E"/>
                </a:solidFill>
                <a:latin typeface="Arial"/>
              </a:rPr>
              <a:t>Complete chamber verification and update the runbook.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050" b="0" i="0">
                <a:solidFill>
                  <a:srgbClr val="37485C"/>
                </a:solidFill>
                <a:latin typeface="Arial"/>
              </a:rPr>
              <a:t>Owner: Equipment Engineering · due next shift · evidence: paired control lot.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4F43"/>
                </a:solidFill>
                <a:latin typeface="Arial"/>
              </a:rPr>
              <a:t>Active</a:t>
            </a:r>
          </a:p>
        </p:txBody>
      </p:sp>
      <p:sp>
        <p:nvSpPr>
          <p:cNvPr id="16" name="VIZ::DiagramTitle::Process Flow::1" descr="VisualizerDiagramContinuation:{&quot;item_id&quot;:&quot;c8&quot;,&quot;page&quot;:1,&quot;page_count&quot;:1,&quot;direction&quot;:&quot;right&quot;}"/>
          <p:cNvSpPr txBox="1"/>
          <p:nvPr/>
        </p:nvSpPr>
        <p:spPr>
          <a:xfrm>
            <a:off x="2206757" y="4309083"/>
            <a:ext cx="4429277" cy="228600"/>
          </a:xfrm>
          <a:prstGeom prst="rect">
            <a:avLst/>
          </a:prstGeom>
          <a:noFill/>
        </p:spPr>
        <p:txBody>
          <a:bodyPr wrap="none" lIns="45720" rIns="45720" tIns="22860" bIns="22860" anchor="ctr">
            <a:spAutoFit/>
          </a:bodyPr>
          <a:lstStyle/>
          <a:p>
            <a:pPr algn="ctr">
              <a:lnSpc>
                <a:spcPts val="1288"/>
              </a:lnSpc>
              <a:spcAft>
                <a:spcPts val="0"/>
              </a:spcAft>
              <a:defRPr sz="1150" b="1">
                <a:solidFill>
                  <a:srgbClr val="233449"/>
                </a:solidFill>
                <a:latin typeface="Arial"/>
              </a:defRPr>
            </a:pPr>
            <a:r>
              <a:t>Process Flow</a:t>
            </a:r>
          </a:p>
        </p:txBody>
      </p:sp>
      <p:sp>
        <p:nvSpPr>
          <p:cNvPr id="17" name="VIZ::Process Flow::Detect::node-1" descr="VisualizerSemantic:{&quot;composition_role&quot;:&quot;causal_evidence&quot;,&quot;edges&quot;:[[&quot;Detect&quot;,&quot;Contain&quot;],[&quot;Contain&quot;,&quot;Verify&quot;],[&quot;Verify&quot;,&quot;Release&quot;]],&quot;element&quot;:&quot;Process Flow&quot;,&quot;engine&quot;:&quot;DiagramEngine&quot;,&quot;groupId&quot;:null,&quot;id&quot;:&quot;c8&quot;,&quot;locked&quot;:false,&quot;message_role&quot;:&quot;Primary Evidence&quot;,&quot;nodes&quot;:[&quot;Detect&quot;,&quot;Contain&quot;,&quot;Verify&quot;,&quot;Release&quot;],&quot;order&quot;:7,&quot;section_id&quot;:&quot;evidence&quot;,&quot;section_title&quot;:&quot;Response workflow&quot;,&quot;title&quot;:&quot;Process Flow&quot;,&quot;type&quot;:&quot;diagram&quot;,&quot;weight&quot;:1,&quot;z&quot;:8,&quot;x&quot;:389.36,&quot;y&quot;:776.369411764706,&quot;w&quot;:821.28,&quot;h&quot;:170.0}"/>
          <p:cNvSpPr/>
          <p:nvPr/>
        </p:nvSpPr>
        <p:spPr>
          <a:xfrm>
            <a:off x="2206757" y="4632552"/>
            <a:ext cx="956443" cy="493776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Detect</a:t>
            </a:r>
          </a:p>
        </p:txBody>
      </p:sp>
      <p:sp>
        <p:nvSpPr>
          <p:cNvPr id="18" name="VIZ::Process Flow::Contain::node-2" descr="VisualizerDiagramNode:{&quot;item_id&quot;:&quot;c8&quot;,&quot;node_index&quot;:1,&quot;label&quot;:&quot;Contain&quot;,&quot;page&quot;:1,&quot;page_count&quot;:1,&quot;direction&quot;:&quot;right&quot;}"/>
          <p:cNvSpPr/>
          <p:nvPr/>
        </p:nvSpPr>
        <p:spPr>
          <a:xfrm>
            <a:off x="3364368" y="4632552"/>
            <a:ext cx="956443" cy="493776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Contain</a:t>
            </a:r>
          </a:p>
        </p:txBody>
      </p:sp>
      <p:sp>
        <p:nvSpPr>
          <p:cNvPr id="19" name="VIZ::Process Flow::Verify::node-3" descr="VisualizerDiagramNode:{&quot;item_id&quot;:&quot;c8&quot;,&quot;node_index&quot;:2,&quot;label&quot;:&quot;Verify&quot;,&quot;page&quot;:1,&quot;page_count&quot;:1,&quot;direction&quot;:&quot;right&quot;}"/>
          <p:cNvSpPr/>
          <p:nvPr/>
        </p:nvSpPr>
        <p:spPr>
          <a:xfrm>
            <a:off x="4521979" y="4632552"/>
            <a:ext cx="956443" cy="493776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Verify</a:t>
            </a:r>
          </a:p>
        </p:txBody>
      </p:sp>
      <p:sp>
        <p:nvSpPr>
          <p:cNvPr id="20" name="VIZ::Process Flow::Release::node-4" descr="VisualizerDiagramNode:{&quot;item_id&quot;:&quot;c8&quot;,&quot;node_index&quot;:3,&quot;label&quot;:&quot;Release&quot;,&quot;page&quot;:1,&quot;page_count&quot;:1,&quot;direction&quot;:&quot;right&quot;}"/>
          <p:cNvSpPr/>
          <p:nvPr/>
        </p:nvSpPr>
        <p:spPr>
          <a:xfrm>
            <a:off x="5679590" y="4632552"/>
            <a:ext cx="956443" cy="493776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Release</a:t>
            </a:r>
          </a:p>
        </p:txBody>
      </p:sp>
      <p:cxnSp>
        <p:nvCxnSpPr>
          <p:cNvPr id="21" name="VIZ::DiagramEdge::Process Flow::1" descr="VisualizerSemanticEdge:{&quot;item_id&quot;:&quot;c8&quot;,&quot;edge_index&quot;:0,&quot;source&quot;:&quot;Detect&quot;,&quot;target&quot;:&quot;Contain&quot;,&quot;continuation&quot;:false}"/>
          <p:cNvCxnSpPr/>
          <p:nvPr/>
        </p:nvCxnSpPr>
        <p:spPr>
          <a:xfrm>
            <a:off x="3167772" y="4879440"/>
            <a:ext cx="192024" cy="0"/>
          </a:xfrm>
          <a:prstGeom prst="line">
            <a:avLst/>
          </a:prstGeom>
          <a:ln w="19050">
            <a:solidFill>
              <a:srgbClr val="435B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VIZ::DiagramEdge::Process Flow::2" descr="VisualizerSemanticEdge:{&quot;item_id&quot;:&quot;c8&quot;,&quot;edge_index&quot;:1,&quot;source&quot;:&quot;Contain&quot;,&quot;target&quot;:&quot;Verify&quot;,&quot;continuation&quot;:false}"/>
          <p:cNvCxnSpPr/>
          <p:nvPr/>
        </p:nvCxnSpPr>
        <p:spPr>
          <a:xfrm>
            <a:off x="4325383" y="4879440"/>
            <a:ext cx="192024" cy="0"/>
          </a:xfrm>
          <a:prstGeom prst="line">
            <a:avLst/>
          </a:prstGeom>
          <a:ln w="19050">
            <a:solidFill>
              <a:srgbClr val="435B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VIZ::DiagramEdge::Process Flow::3" descr="VisualizerSemanticEdge:{&quot;item_id&quot;:&quot;c8&quot;,&quot;edge_index&quot;:2,&quot;source&quot;:&quot;Verify&quot;,&quot;target&quot;:&quot;Release&quot;,&quot;continuation&quot;:false}"/>
          <p:cNvCxnSpPr/>
          <p:nvPr/>
        </p:nvCxnSpPr>
        <p:spPr>
          <a:xfrm>
            <a:off x="5482994" y="4879440"/>
            <a:ext cx="192024" cy="0"/>
          </a:xfrm>
          <a:prstGeom prst="line">
            <a:avLst/>
          </a:prstGeom>
          <a:ln w="19050">
            <a:solidFill>
              <a:srgbClr val="435B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4" name="VIZ::Clean Table" descr="VisualizerSemantic:{&quot;composition_role&quot;:&quot;detailed_evidence&quot;,&quot;customTable&quot;:{&quot;headers&quot;:[&quot;Tool&quot;,&quot;Chamber&quot;,&quot;Measure&quot;,&quot;Owner&quot;,&quot;Status&quot;],&quot;rows&quot;:[[&quot;ETCH-08&quot;,&quot;A&quot;,&quot;Pressure&quot;,&quot;Equipment Eng.&quot;,&quot;Open&quot;],[&quot;ETCH-07&quot;,&quot;C&quot;,&quot;Flow&quot;,&quot;Process Eng.&quot;,&quot;Stable&quot;],[&quot;MET-02&quot;,&quot;B&quot;,&quot;Yield&quot;,&quot;Quality&quot;,&quot;Verified&quot;]]},&quot;element&quot;:&quot;Clean Table&quot;,&quot;engine&quot;:&quot;TableEngine&quot;,&quot;groupId&quot;:null,&quot;id&quot;:&quot;c7&quot;,&quot;locked&quot;:false,&quot;message_role&quot;:&quot;Primary Evidence&quot;,&quot;order&quot;:8,&quot;rows&quot;:[[&quot;ETCH-08&quot;,&quot;A&quot;,&quot;Pressure&quot;,&quot;Equipment Eng.&quot;,&quot;Open&quot;],[&quot;ETCH-07&quot;,&quot;C&quot;,&quot;Flow&quot;,&quot;Process Eng.&quot;,&quot;Stable&quot;],[&quot;MET-02&quot;,&quot;B&quot;,&quot;Yield&quot;,&quot;Quality&quot;,&quot;Verified&quot;]],&quot;section_id&quot;:&quot;evidence&quot;,&quot;section_title&quot;:&quot;Operating evidence&quot;,&quot;title&quot;:&quot;Clean Table&quot;,&quot;type&quot;:&quot;table&quot;,&quot;weight&quot;:1,&quot;z&quot;:7,&quot;x&quot;:14.0,&quot;y&quot;:954.369411764706,&quot;w&quot;:1572.0,&quot;h&quot;:348.5104}"/>
          <p:cNvGraphicFramePr>
            <a:graphicFrameLocks noGrp="1"/>
          </p:cNvGraphicFramePr>
          <p:nvPr/>
        </p:nvGraphicFramePr>
        <p:xfrm>
          <a:off x="77374" y="5274556"/>
          <a:ext cx="8688042" cy="19261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608"/>
                <a:gridCol w="1737608"/>
                <a:gridCol w="1737608"/>
                <a:gridCol w="1737608"/>
                <a:gridCol w="1737610"/>
              </a:tblGrid>
              <a:tr h="481532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Tool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Chamber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Measure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Owner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Status</a:t>
                      </a:r>
                    </a:p>
                  </a:txBody>
                  <a:tcPr/>
                </a:tc>
              </a:tr>
              <a:tr h="481532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ETCH-08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Pressure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Equipment Eng.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Open</a:t>
                      </a:r>
                    </a:p>
                  </a:txBody>
                  <a:tcPr/>
                </a:tc>
              </a:tr>
              <a:tr h="481532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ETCH-07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Flow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Process Eng.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Stable</a:t>
                      </a:r>
                    </a:p>
                  </a:txBody>
                  <a:tcPr/>
                </a:tc>
              </a:tr>
              <a:tr h="481532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MET-02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Yield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Quality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Verified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5" name="VIZ::SemanticReport" descr="VisualizerSemanticReport:{&quot;authoring_schema&quot;:&quot;authoring-p0-v1&quot;,&quot;canvas&quot;:{&quot;height&quot;:900,&quot;width&quot;:1600},&quot;crossFilter&quot;:null,&quot;crossFilters&quot;:[],&quot;datasets&quot;:[{&quot;fields&quot;:[{&quot;id&quot;:&quot;shift_1&quot;,&quot;name&quot;:&quot;Shift&quot;,&quot;nullable&quot;:false,&quot;profile&quot;:{&quot;distinct&quot;:3,&quot;missing&quot;:0},&quot;semantic_tags&quot;:[],&quot;type&quot;:&quot;categorical&quot;},{&quot;id&quot;:&quot;yield_2&quot;,&quot;name&quot;:&quot;Yield&quot;,&quot;nullable&quot;:false,&quot;profile&quot;:{&quot;distinct&quot;:3,&quot;missing&quot;:0},&quot;semantic_tags&quot;:[&quot;value&quot;],&quot;type&quot;:&quot;number&quot;,&quot;unit&quot;:&quot;&quot;}],&quot;id&quot;:&quot;dataset-muk98qct-f10n67&quot;,&quot;metadata&quot;:{&quot;header&quot;:{&quot;confidence&quot;:1,&quot;present&quot;:true,&quot;source_row&quot;:0}},&quot;name&quot;:&quot;Pasted data&quot;,&quot;revision&quot;:1,&quot;rows&quot;:[[&quot;A&quot;,94.1],[&quot;B&quot;,94.6],[&quot;C&quot;,95]],&quot;source&quot;:{&quot;imported_at&quot;:&quot;2026-09-27T20:12:07.661Z&quot;,&quot;kind&quot;:&quot;clipboard&quot;,&quot;label&quot;:&quot;TSV&quot;},&quot;warnings&quot;:[]},{&quot;fields&quot;:[{&quot;id&quot;:&quot;time_1&quot;,&quot;name&quot;:&quot;Time&quot;,&quot;nullable&quot;:false,&quot;profile&quot;:{&quot;distinct&quot;:5,&quot;missing&quot;:0},&quot;semantic_tags&quot;:[&quot;time&quot;],&quot;type&quot;:&quot;integer&quot;,&quot;unit&quot;:&quot;&quot;},{&quot;id&quot;:&quot;measurement_2&quot;,&quot;name&quot;:&quot;Measurement&quot;,&quot;nullable&quot;:false,&quot;profile&quot;:{&quot;distinct&quot;:5,&quot;missing&quot;:0},&quot;semantic_tags&quot;:[&quot;value&quot;],&quot;type&quot;:&quot;number&quot;,&quot;unit&quot;:&quot;&quot;},{&quot;id&quot;:&quot;lsl_3&quot;,&quot;name&quot;:&quot;LSL&quot;,&quot;nullable&quot;:false,&quot;profile&quot;:{&quot;distinct&quot;:1,&quot;missing&quot;:0},&quot;semantic_tags&quot;:[&quot;specification_low&quot;],&quot;type&quot;:&quot;integer&quot;,&quot;unit&quot;:&quot;&quot;},{&quot;id&quot;:&quot;usl_4&quot;,&quot;name&quot;:&quot;USL&quot;,&quot;nullable&quot;:false,&quot;profile&quot;:{&quot;distinct&quot;:1,&quot;missing&quot;:0},&quot;semantic_tags&quot;:[&quot;specification_high&quot;],&quot;type&quot;:&quot;integer&quot;,&quot;unit&quot;:&quot;&quot;}],&quot;id&quot;:&quot;dataset-muk98sh6-0f2cmi&quot;,&quot;metadata&quot;:{&quot;header&quot;:{&quot;confidence&quot;:1,&quot;present&quot;:true,&quot;source_row&quot;:0}},&quot;name&quot;:&quot;Pasted data&quot;,&quot;revision&quot;:1,&quot;rows&quot;:[[1,94.1,92,97],[2,94.6,92,97],[3,95,92,97],[4,94.8,92,97],[5,95.2,92,97]],&quot;source&quot;:{&quot;imported_at&quot;:&quot;2026-09-27T20:12:10.410Z&quot;,&quot;kind&quot;:&quot;clipboard&quot;,&quot;label&quot;:&quot;TSV&quot;},&quot;warnings&quot;:[{&quot;code&quot;:&quot;invalid_date&quot;,&quot;field&quot;:&quot;time_1&quot;,&quot;message&quot;:&quot;Time contains an invalid date; the original text was retained.&quot;,&quot;row&quot;:2},{&quot;code&quot;:&quot;invalid_date&quot;,&quot;field&quot;:&quot;time_1&quot;,&quot;message&quot;:&quot;Time contains an invalid date; the original text was retained.&quot;,&quot;row&quot;:3},{&quot;code&quot;:&quot;invalid_date&quot;,&quot;field&quot;:&quot;time_1&quot;,&quot;message&quot;:&quot;Time contains an invalid date; the original text was retained.&quot;,&quot;row&quot;:4},{&quot;code&quot;:&quot;invalid_date&quot;,&quot;field&quot;:&quot;time_1&quot;,&quot;message&quot;:&quot;Time contains an invalid date; the original text was retained.&quot;,&quot;row&quot;:5},{&quot;code&quot;:&quot;invalid_date&quot;,&quot;field&quot;:&quot;time_1&quot;,&quot;message&quot;:&quot;Time contains an invalid date; the original text was retained.&quot;,&quot;row&quot;:6}]}],&quot;groups&quot;:{},&quot;items&quot;:[{&quot;body&quot;:&quot;Shift B recovered yield after chamber maintenance. Keep the recipe locked through the next paired-lot check and hand off the evidence to Quality and Equipment Engineering.&quot;,&quot;composition_role&quot;:&quot;report_headline&quot;,&quot;element&quot;:&quot;Executive Statement&quot;,&quot;engine&quot;:&quot;TextEngine&quot;,&quot;groupId&quot;:null,&quot;id&quot;:&quot;c1&quot;,&quot;locked&quot;:false,&quot;message_role&quot;:&quot;Headline&quot;,&quot;order&quot;:0,&quot;section_id&quot;:&quot;opening&quot;,&quot;section_title&quot;:&quot;Operating summary&quot;,&quot;text&quot;:&quot;Shift B recovered yield after chamber maintenance. Keep the recipe locked through the next paired-lot check and hand off the evidence to Quality and Equipment Engineering.&quot;,&quot;title&quot;:&quot;Executive Statement&quot;,&quot;type&quot;:&quot;text&quot;,&quot;weight&quot;:1,&quot;z&quot;:1},{&quot;body&quot;:&quot;Line 4 · shifts A–C · chamber A controls · capacity release review.&quot;,&quot;composition_role&quot;:&quot;context&quot;,&quot;element&quot;:&quot;Body Narrative&quot;,&quot;engine&quot;:&quot;TextEngine&quot;,&quot;groupId&quot;:null,&quot;id&quot;:&quot;c2&quot;,&quot;locked&quot;:false,&quot;message_role&quot;:&quot;Context&quot;,&quot;order&quot;:1,&quot;section_id&quot;:&quot;opening&quot;,&quot;section_title&quot;:&quot;Operating summary&quot;,&quot;text&quot;:&quot;Line 4 · shifts A–C · chamber A controls · capacity release review.&quot;,&quot;title&quot;:&quot;Report context&quot;,&quot;type&quot;:&quot;text&quot;,&quot;weight&quot;:1,&quot;z&quot;:2},{&quot;capability_overrides&quot;:{&quot;target&quot;:96},&quot;composition_role&quot;:&quot;hero_metric&quot;,&quot;delta&quot;:0.9,&quot;element&quot;:&quot;Hero KPI&quot;,&quot;engine&quot;:&quot;MetricEngine&quot;,&quot;groupId&quot;:null,&quot;id&quot;:&quot;c3&quot;,&quot;locked&quot;:false,&quot;message_role&quot;:&quot;Supporting Evidence&quot;,&quot;order&quot;:2,&quot;section_id&quot;:&quot;performance&quot;,&quot;section_title&quot;:&quot;Performance&quot;,&quot;showTitle&quot;:true,&quot;target&quot;:96,&quot;title&quot;:&quot;First pass yield&quot;,&quot;type&quot;:&quot;metric&quot;,&quot;unit&quot;:&quot;%&quot;,&quot;value&quot;:95,&quot;weight&quot;:1,&quot;z&quot;:3},{&quot;capability_overrides&quot;:{&quot;target&quot;:6},&quot;composition_role&quot;:&quot;hero_metric&quot;,&quot;delta&quot;:-1.7,&quot;element&quot;:&quot;Hero KPI&quot;,&quot;engine&quot;:&quot;MetricEngine&quot;,&quot;groupId&quot;:null,&quot;id&quot;:&quot;c4&quot;,&quot;locked&quot;:false,&quot;message_role&quot;:&quot;Supporting Evidence&quot;,&quot;order&quot;:3,&quot;section_id&quot;:&quot;performance&quot;,&quot;section_title&quot;:&quot;Performance&quot;,&quot;showTitle&quot;:true,&quot;target&quot;:6,&quot;title&quot;:&quot;Unplanned downtime&quot;,&quot;type&quot;:&quot;metric&quot;,&quot;unit&quot;:&quot;h&quot;,&quot;value&quot;:8.3,&quot;weight&quot;:1,&quot;z&quot;:4},{&quot;composition_role&quot;:&quot;primary_analysis&quot;,&quot;data&quot;:[],&quot;dataset_id&quot;:&quot;dataset-muk98qct-f10n67&quot;,&quot;element&quot;:&quot;Line Chart&quot;,&quot;engine&quot;:&quot;CoreChartEngine&quot;,&quot;groupId&quot;:null,&quot;id&quot;:&quot;c5&quot;,&quot;locked&quot;:false,&quot;mapping&quot;:{&quot;category&quot;:&quot;shift_1&quot;,&quot;value&quot;:&quot;yield_2&quot;,&quot;x&quot;:&quot;shift_1&quot;,&quot;y&quot;:&quot;yield_2&quot;},&quot;message_role&quot;:&quot;Primary Evidence&quot;,&quot;order&quot;:4,&quot;section_id&quot;:&quot;analysis&quot;,&quot;section_title&quot;:&quot;Analysis&quot;,&quot;showTitle&quot;:true,&quot;title&quot;:&quot;Yield by shift&quot;,&quot;type&quot;:&quot;chart&quot;,&quot;weight&quot;:1,&quot;z&quot;:5},{&quot;composition_role&quot;:&quot;primary_analysis&quot;,&quot;dataset_id&quot;:&quot;dataset-muk98sh6-0f2cmi&quot;,&quot;element&quot;:&quot;SPC Control Chart&quot;,&quot;engine&quot;:&quot;EngineeringChartEngine&quot;,&quot;groupId&quot;:null,&quot;id&quot;:&quot;c6&quot;,&quot;locked&quot;:false,&quot;lower_limit&quot;:null,&quot;mapping&quot;:{&quot;specification_high&quot;:&quot;usl_4&quot;,&quot;specification_low&quot;:&quot;lsl_3&quot;,&quot;time&quot;:&quot;time_1&quot;,&quot;value&quot;:&quot;measurement_2&quot;,&quot;x&quot;:&quot;time_1&quot;,&quot;y&quot;:&quot;measurement_2&quot;},&quot;message_role&quot;:&quot;Primary Evidence&quot;,&quot;observations&quot;:[],&quot;order&quot;:5,&quot;section_id&quot;:&quot;analysis&quot;,&quot;section_title&quot;:&quot;Analysis&quot;,&quot;title&quot;:&quot;Critical measurement trend&quot;,&quot;type&quot;:&quot;engineering&quot;,&quot;upper_limit&quot;:null,&quot;weight&quot;:1,&quot;z&quot;:6},{&quot;composition_role&quot;:&quot;detailed_evidence&quot;,&quot;customTable&quot;:{&quot;headers&quot;:[&quot;Tool&quot;,&quot;Chamber&quot;,&quot;Measure&quot;,&quot;Owner&quot;,&quot;Status&quot;],&quot;rows&quot;:[[&quot;ETCH-08&quot;,&quot;A&quot;,&quot;Pressure&quot;,&quot;Equipment Eng.&quot;,&quot;Open&quot;],[&quot;ETCH-07&quot;,&quot;C&quot;,&quot;Flow&quot;,&quot;Process Eng.&quot;,&quot;Stable&quot;],[&quot;MET-02&quot;,&quot;B&quot;,&quot;Yield&quot;,&quot;Quality&quot;,&quot;Verified&quot;]]},&quot;element&quot;:&quot;Clean Table&quot;,&quot;engine&quot;:&quot;TableEngine&quot;,&quot;groupId&quot;:null,&quot;id&quot;:&quot;c7&quot;,&quot;locked&quot;:false,&quot;message_role&quot;:&quot;Primary Evidence&quot;,&quot;order&quot;:8,&quot;rows&quot;:[[&quot;ETCH-08&quot;,&quot;A&quot;,&quot;Pressure&quot;,&quot;Equipment Eng.&quot;,&quot;Open&quot;],[&quot;ETCH-07&quot;,&quot;C&quot;,&quot;Flow&quot;,&quot;Process Eng.&quot;,&quot;Stable&quot;],[&quot;MET-02&quot;,&quot;B&quot;,&quot;Yield&quot;,&quot;Quality&quot;,&quot;Verified&quot;]],&quot;section_id&quot;:&quot;evidence&quot;,&quot;section_title&quot;:&quot;Operating evidence&quot;,&quot;title&quot;:&quot;Clean Table&quot;,&quot;type&quot;:&quot;table&quot;,&quot;weight&quot;:1,&quot;z&quot;:7},{&quot;composition_role&quot;:&quot;causal_evidence&quot;,&quot;edges&quot;:[[&quot;Detect&quot;,&quot;Contain&quot;],[&quot;Contain&quot;,&quot;Verify&quot;],[&quot;Verify&quot;,&quot;Release&quot;]],&quot;element&quot;:&quot;Process Flow&quot;,&quot;engine&quot;:&quot;DiagramEngine&quot;,&quot;groupId&quot;:null,&quot;id&quot;:&quot;c8&quot;,&quot;locked&quot;:false,&quot;message_role&quot;:&quot;Primary Evidence&quot;,&quot;nodes&quot;:[&quot;Detect&quot;,&quot;Contain&quot;,&quot;Verify&quot;,&quot;Release&quot;],&quot;order&quot;:7,&quot;section_id&quot;:&quot;evidence&quot;,&quot;section_title&quot;:&quot;Response workflow&quot;,&quot;title&quot;:&quot;Process Flow&quot;,&quot;type&quot;:&quot;diagram&quot;,&quot;weight&quot;:1,&quot;z&quot;:8},{&quot;composition_role&quot;:&quot;detailed_evidence&quot;,&quot;detail&quot;:&quot;Sample: 30 parts · method: inline metrology · source: shift B inspection.&quot;,&quot;element&quot;:&quot;Evidence Card&quot;,&quot;engine&quot;:&quot;EvidenceCompositeEngine&quot;,&quot;groupId&quot;:null,&quot;id&quot;:&quot;c9&quot;,&quot;locked&quot;:false,&quot;message_role&quot;:&quot;Primary Evidence&quot;,&quot;order&quot;:9,&quot;section_id&quot;:&quot;evidence&quot;,&quot;section_title&quot;:&quot;Operating evidence&quot;,&quot;statement&quot;:&quot;Measurement system remains within the qualified reference range.&quot;,&quot;status&quot;:&quot;Verified&quot;,&quot;title&quot;:&quot;Evidence Card&quot;,&quot;type&quot;:&quot;evidence&quot;,&quot;weight&quot;:1,&quot;z&quot;:9},{&quot;composition_role&quot;:&quot;decision_risk&quot;,&quot;detail&quot;:&quot;Keep the recipe locked and attach the next-shift control evidence.&quot;,&quot;element&quot;:&quot;Risk Callout&quot;,&quot;engine&quot;:&quot;DecisionCompositeEngine&quot;,&quot;groupId&quot;:null,&quot;id&quot;:&quot;c10&quot;,&quot;locked&quot;:false,&quot;message_role&quot;:&quot;Risk&quot;,&quot;order&quot;:10,&quot;section_id&quot;:&quot;decision&quot;,&quot;section_title&quot;:&quot;Decision&quot;,&quot;statement&quot;:&quot;Hold added capacity until the paired-lot check closes&quot;,&quot;status&quot;:&quot;Review&quot;,&quot;title&quot;:&quot;Risk Callout&quot;,&quot;type&quot;:&quot;decision&quot;,&quot;weight&quot;:1,&quot;z&quot;:10},{&quot;composition_role&quot;:&quot;action_status&quot;,&quot;detail&quot;:&quot;Owner: Equipment Engineering · due next shift · evidence: paired control lot.&quot;,&quot;element&quot;:&quot;Project Card&quot;,&quot;engine&quot;:&quot;ProjectCompositeEngine&quot;,&quot;groupId&quot;:null,&quot;id&quot;:&quot;c11&quot;,&quot;locked&quot;:false,&quot;message_role&quot;:&quot;Action&quot;,&quot;order&quot;:11,&quot;section_id&quot;:&quot;delivery&quot;,&quot;section_title&quot;:&quot;Next steps&quot;,&quot;statement&quot;:&quot;Complete chamber verification and update the runbook.&quot;,&quot;status&quot;:&quot;Active&quot;,&quot;title&quot;:&quot;Project Card&quot;,&quot;type&quot;:&quot;project&quot;,&quot;weight&quot;:1,&quot;z&quot;:11},{&quot;body&quot;:&quot;Yield recovered from 94.1% on shift A to 95.0% on shift C, while the control sample remains within specification. Keep the recipe locked until the next paired-lot check closes the two open items.&quot;,&quot;composition_role&quot;:&quot;narrative_interpretation&quot;,&quot;element&quot;:&quot;Body Narrative&quot;,&quot;engine&quot;:&quot;TextEngine&quot;,&quot;groupId&quot;:null,&quot;id&quot;:&quot;c12&quot;,&quot;locked&quot;:false,&quot;message_role&quot;:&quot;Context&quot;,&quot;order&quot;:6,&quot;section_id&quot;:&quot;analysis&quot;,&quot;section_title&quot;:&quot;Shift interpretation&quot;,&quot;text&quot;:&quot;Yield recovered from 94.1% on shift A to 95.0% on shift C, while the control sample remains within specification. Keep the recipe locked until the next paired-lot check closes the two open items.&quot;,&quot;title&quot;:&quot;Body Narrative&quot;,&quot;type&quot;:&quot;text&quot;,&quot;weight&quot;:1,&quot;z&quot;:12}],&quot;layoutPreset&quot;:&quot;technical&quot;,&quot;mode&quot;:&quot;smart&quot;,&quot;nextId&quot;:13,&quot;schema_version&quot;:1}"/>
          <p:cNvSpPr txBox="1"/>
          <p:nvPr/>
        </p:nvSpPr>
        <p:spPr>
          <a:xfrm>
            <a:off x="0" y="0"/>
            <a:ext cx="1" cy="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