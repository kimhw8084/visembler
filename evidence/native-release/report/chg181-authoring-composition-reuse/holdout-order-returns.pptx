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538972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Orders by month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 by month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1280</c:v>
                </c:pt>
                <c:pt idx="1">
                  <c:v>1395</c:v>
                </c:pt>
                <c:pt idx="2">
                  <c:v>1522</c:v>
                </c:pt>
                <c:pt idx="3">
                  <c:v>1611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Returns by month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Returns by month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38</c:v>
                </c:pt>
                <c:pt idx="2">
                  <c:v>35</c:v>
                </c:pt>
                <c:pt idx="3">
                  <c:v>31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Title" descr="VisualizerSemantic:{&quot;body&quot;:&quot;Order volume rose while returns fell across the spring launch.&quot;,&quot;composition_role&quot;:&quot;report_headline&quot;,&quot;element&quot;:&quot;Hero Title&quot;,&quot;engine&quot;:&quot;TextEngine&quot;,&quot;groupId&quot;:null,&quot;h&quot;:109.76,&quot;id&quot;:&quot;c9&quot;,&quot;locked&quot;:false,&quot;message_role&quot;:&quot;Headline&quot;,&quot;order&quot;:0,&quot;section_id&quot;:&quot;opening&quot;,&quot;section_title&quot;:&quot;Overview&quot;,&quot;showTitle&quot;:false,&quot;text&quot;:&quot;Order volume rose while returns fell across the spring launch.&quot;,&quot;textAlign&quot;:&quot;left&quot;,&quot;title&quot;:&quot;Hero Title&quot;,&quot;type&quot;:&quot;text&quot;,&quot;w&quot;:1059.44,&quot;weight&quot;:1.1,&quot;x&quot;:14.0,&quot;y&quot;:40.0,&quot;z&quot;:9}"/>
          <p:cNvSpPr/>
          <p:nvPr/>
        </p:nvSpPr>
        <p:spPr>
          <a:xfrm>
            <a:off x="83466" y="238474"/>
            <a:ext cx="6316230" cy="65437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Hero Title</a:t>
            </a:r>
          </a:p>
          <a:p>
            <a:pPr>
              <a:defRPr sz="1000"/>
            </a:pPr>
            <a:r>
              <a:t>Order volume rose while returns fell across the spring launch.</a:t>
            </a:r>
          </a:p>
        </p:txBody>
      </p:sp>
      <p:sp>
        <p:nvSpPr>
          <p:cNvPr id="3" name="VIZ::Body Narrative" descr="VisualizerSemantic:{&quot;body&quot;:&quot;Monthly operating review · Jan–Apr · Source: order and returns ledger.&quot;,&quot;composition_role&quot;:&quot;context&quot;,&quot;element&quot;:&quot;Body Narrative&quot;,&quot;engine&quot;:&quot;TextEngine&quot;,&quot;groupId&quot;:null,&quot;h&quot;:72.0,&quot;id&quot;:&quot;c10&quot;,&quot;locked&quot;:false,&quot;message_role&quot;:&quot;Context&quot;,&quot;order&quot;:1,&quot;section_id&quot;:&quot;opening&quot;,&quot;section_title&quot;:&quot;Overview&quot;,&quot;showTitle&quot;:false,&quot;text&quot;:&quot;Monthly operating review · Jan–Apr · Source: order and returns ledger.&quot;,&quot;textAlign&quot;:&quot;left&quot;,&quot;title&quot;:&quot;Body Narrative&quot;,&quot;type&quot;:&quot;text&quot;,&quot;w&quot;:498.56,&quot;weight&quot;:1.1,&quot;x&quot;:1087.44,&quot;y&quot;:58.88,&quot;z&quot;:10}"/>
          <p:cNvSpPr/>
          <p:nvPr/>
        </p:nvSpPr>
        <p:spPr>
          <a:xfrm>
            <a:off x="6483162" y="351034"/>
            <a:ext cx="2972343" cy="42925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Body Narrative</a:t>
            </a:r>
          </a:p>
          <a:p>
            <a:pPr>
              <a:defRPr sz="1000"/>
            </a:pPr>
            <a:r>
              <a:t>Monthly operating review · Jan–Apr · Source: order and returns ledger.</a:t>
            </a:r>
          </a:p>
        </p:txBody>
      </p:sp>
      <p:sp>
        <p:nvSpPr>
          <p:cNvPr id="4" name="VIZ::April orders KPI" descr="VisualizerSemantic:{&quot;capability_overrides&quot;:{&quot;target&quot;:null},&quot;composition_role&quot;:&quot;hero_metric&quot;,&quot;delta&quot;:331,&quot;element&quot;:&quot;Hero KPI&quot;,&quot;engine&quot;:&quot;MetricEngine&quot;,&quot;groupId&quot;:null,&quot;h&quot;:186.0,&quot;id&quot;:&quot;c3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April orders&quot;,&quot;type&quot;:&quot;metric&quot;,&quot;unit&quot;:&quot;&quot;,&quot;value&quot;:1611,&quot;w&quot;:447.76,&quot;weight&quot;:1.15,&quot;x&quot;:676.48,&quot;y&quot;:185.26,&quot;z&quot;:3}"/>
          <p:cNvSpPr/>
          <p:nvPr/>
        </p:nvSpPr>
        <p:spPr>
          <a:xfrm>
            <a:off x="4033077" y="1104493"/>
            <a:ext cx="2669481" cy="110890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April orders</a:t>
            </a:r>
          </a:p>
          <a:p>
            <a:pPr>
              <a:defRPr b="1" sz="2400"/>
            </a:pPr>
            <a:r>
              <a:t>1611</a:t>
            </a:r>
          </a:p>
        </p:txBody>
      </p:sp>
      <p:sp>
        <p:nvSpPr>
          <p:cNvPr id="5" name="VIZ::Order growth since January KPI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h&quot;:186.0,&quot;id&quot;:&quot;c4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order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Order growth since January&quot;,&quot;type&quot;:&quot;metric&quot;,&quot;unit&quot;:&quot;orders&quot;,&quot;value&quot;:331,&quot;w&quot;:447.76,&quot;weight&quot;:1.15,&quot;x&quot;:1138.24,&quot;y&quot;:185.26,&quot;z&quot;:4}"/>
          <p:cNvSpPr/>
          <p:nvPr/>
        </p:nvSpPr>
        <p:spPr>
          <a:xfrm>
            <a:off x="6786024" y="1104493"/>
            <a:ext cx="2669481" cy="110890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Order growth since January</a:t>
            </a:r>
          </a:p>
          <a:p>
            <a:pPr>
              <a:defRPr b="1" sz="2400"/>
            </a:pPr>
            <a:r>
              <a:t>331 orders</a:t>
            </a:r>
          </a:p>
        </p:txBody>
      </p:sp>
      <p:sp>
        <p:nvSpPr>
          <p:cNvPr id="6" name="VIZ::Monthly returns KPI" descr="VisualizerSemantic:{&quot;after&quot;:31,&quot;before&quot;:42,&quot;composition_role&quot;:&quot;hero_metric&quot;,&quot;element&quot;:&quot;Before/After KPI&quot;,&quot;engine&quot;:&quot;ComparisonEngine&quot;,&quot;groupId&quot;:null,&quot;h&quot;:189.0,&quot;id&quot;:&quot;c5&quot;,&quot;locked&quot;:false,&quot;message_role&quot;:&quot;Supporting Evidence&quot;,&quot;order&quot;:4,&quot;section_id&quot;:&quot;performance&quot;,&quot;section_title&quot;:&quot;Performance&quot;,&quot;showTitle&quot;:true,&quot;textAlign&quot;:&quot;left&quot;,&quot;title&quot;:&quot;Monthly returns&quot;,&quot;type&quot;:&quot;comparison&quot;,&quot;unit&quot;:&quot;&quot;,&quot;w&quot;:648.48,&quot;weight&quot;:1.15,&quot;x&quot;:14.0,&quot;y&quot;:183.76,&quot;z&quot;:5}"/>
          <p:cNvSpPr/>
          <p:nvPr/>
        </p:nvSpPr>
        <p:spPr>
          <a:xfrm>
            <a:off x="83466" y="1095550"/>
            <a:ext cx="3866145" cy="1126791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Monthly returns</a:t>
            </a:r>
          </a:p>
          <a:p>
            <a:pPr>
              <a:defRPr b="1" sz="2400"/>
            </a:pPr>
            <a:r>
              <a:t>42 → 31</a:t>
            </a:r>
          </a:p>
        </p:txBody>
      </p:sp>
      <p:graphicFrame>
        <p:nvGraphicFramePr>
          <p:cNvPr id="7" name="Chart 6" descr="VisualizerSemantic:{&quot;brush&quot;:[0,4],&quot;composition_role&quot;:&quot;primary_analysis&quot;,&quot;cross&quot;:null,&quot;data&quot;:[[&quot;Jan&quot;,1280],[&quot;Feb&quot;,1395],[&quot;Mar&quot;,1522],[&quot;Apr&quot;,1611]],&quot;dataset_id&quot;:&quot;dataset-mufqpj9e-b0nclt&quot;,&quot;drill&quot;:null,&quot;element&quot;:&quot;Line Chart&quot;,&quot;engine&quot;:&quot;CoreChartEngine&quot;,&quot;groupId&quot;:null,&quot;h&quot;:364.79999999999995,&quot;id&quot;:&quot;c1&quot;,&quot;locked&quot;:false,&quot;mapping&quot;:{&quot;category&quot;:&quot;month_1&quot;,&quot;value&quot;:&quot;orders_2&quot;,&quot;x&quot;:&quot;month_1&quot;,&quot;y&quot;:&quot;orders_2&quot;},&quot;message_role&quot;:&quot;Primary Evidence&quot;,&quot;order&quot;:5,&quot;revealed&quot;:true,&quot;rows&quot;:[{&quot;label&quot;:&quot;Jan&quot;,&quot;value&quot;:1280},{&quot;label&quot;:&quot;Feb&quot;,&quot;value&quot;:1395},{&quot;label&quot;:&quot;Mar&quot;,&quot;value&quot;:1522},{&quot;label&quot;:&quot;Apr&quot;,&quot;value&quot;:1611}],&quot;section_id&quot;:&quot;analysis&quot;,&quot;section_title&quot;:&quot;Analysis&quot;,&quot;showTitle&quot;:true,&quot;textAlign&quot;:&quot;left&quot;,&quot;title&quot;:&quot;Orders by month&quot;,&quot;type&quot;:&quot;chart&quot;,&quot;variant&quot;:&quot;line&quot;,&quot;w&quot;:751.7090909090908,&quot;weight&quot;:1.8,&quot;x&quot;:805.0654545454545,&quot;y&quot;:406.76,&quot;z&quot;:1,&quot;observations&quot;:[{&quot;label&quot;:&quot;Jan&quot;,&quot;value&quot;:1280},{&quot;label&quot;:&quot;Feb&quot;,&quot;value&quot;:1395},{&quot;label&quot;:&quot;Mar&quot;,&quot;value&quot;:1522},{&quot;label&quot;:&quot;Apr&quot;,&quot;value&quot;:1611}]}"/>
          <p:cNvGraphicFramePr>
            <a:graphicFrameLocks noGrp="1"/>
          </p:cNvGraphicFramePr>
          <p:nvPr/>
        </p:nvGraphicFramePr>
        <p:xfrm>
          <a:off x="4799685" y="2425045"/>
          <a:ext cx="4481582" cy="217488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 descr="VisualizerSemantic:{&quot;brush&quot;:[0,4],&quot;composition_role&quot;:&quot;supporting_analysis&quot;,&quot;cross&quot;:null,&quot;data&quot;:[[&quot;Jan&quot;,42],[&quot;Feb&quot;,38],[&quot;Mar&quot;,35],[&quot;Apr&quot;,31]],&quot;dataset_id&quot;:&quot;dataset-mufqpj9e-b0nclt&quot;,&quot;drill&quot;:null,&quot;element&quot;:&quot;Line Chart&quot;,&quot;engine&quot;:&quot;CoreChartEngine&quot;,&quot;groupId&quot;:null,&quot;h&quot;:320.0,&quot;id&quot;:&quot;c2&quot;,&quot;locked&quot;:false,&quot;mapping&quot;:{&quot;category&quot;:&quot;month_1&quot;,&quot;value&quot;:&quot;orders_2&quot;,&quot;x&quot;:&quot;month_1&quot;,&quot;y&quot;:&quot;returns_3&quot;},&quot;message_role&quot;:&quot;Supporting Evidence&quot;,&quot;order&quot;:6,&quot;revealed&quot;:true,&quot;rows&quot;:[{&quot;label&quot;:&quot;Jan&quot;,&quot;value&quot;:42},{&quot;label&quot;:&quot;Feb&quot;,&quot;value&quot;:38},{&quot;label&quot;:&quot;Mar&quot;,&quot;value&quot;:35},{&quot;label&quot;:&quot;Apr&quot;,&quot;value&quot;:31}],&quot;section_id&quot;:&quot;analysis&quot;,&quot;section_title&quot;:&quot;Analysis&quot;,&quot;showTitle&quot;:true,&quot;textAlign&quot;:&quot;left&quot;,&quot;title&quot;:&quot;Returns by month&quot;,&quot;type&quot;:&quot;chart&quot;,&quot;variant&quot;:&quot;line&quot;,&quot;w&quot;:659.3939393939394,&quot;weight&quot;:1.8,&quot;x&quot;:470.3030303030303,&quot;y&quot;:779.56,&quot;z&quot;:2,&quot;observations&quot;:[{&quot;label&quot;:&quot;Jan&quot;,&quot;value&quot;:42},{&quot;label&quot;:&quot;Feb&quot;,&quot;value&quot;:38},{&quot;label&quot;:&quot;Mar&quot;,&quot;value&quot;:35},{&quot;label&quot;:&quot;Apr&quot;,&quot;value&quot;:31}]}"/>
          <p:cNvGraphicFramePr>
            <a:graphicFrameLocks noGrp="1"/>
          </p:cNvGraphicFramePr>
          <p:nvPr/>
        </p:nvGraphicFramePr>
        <p:xfrm>
          <a:off x="2803879" y="4647625"/>
          <a:ext cx="3931212" cy="190779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VIZ::Body Narrative" descr="VisualizerSemantic:{&quot;body&quot;:&quot;Order volume increased through the spring launch. Returns declined each month; continue weekly review while the fulfillment mix changes.&quot;,&quot;composition_role&quot;:&quot;narrative_interpretation&quot;,&quot;element&quot;:&quot;Body Narrative&quot;,&quot;engine&quot;:&quot;TextEngine&quot;,&quot;groupId&quot;:null,&quot;h&quot;:116.0,&quot;id&quot;:&quot;c11&quot;,&quot;locked&quot;:false,&quot;message_role&quot;:&quot;Supporting Evidence&quot;,&quot;order&quot;:7,&quot;section_id&quot;:&quot;analysis&quot;,&quot;section_title&quot;:&quot;Analysis&quot;,&quot;showTitle&quot;:false,&quot;text&quot;:&quot;Order volume increased through the spring launch. Returns declined each month; continue weekly review while the fulfillment mix changes.&quot;,&quot;textAlign&quot;:&quot;left&quot;,&quot;title&quot;:&quot;Body Narrative&quot;,&quot;type&quot;:&quot;text&quot;,&quot;w&quot;:747.8399999999999,&quot;weight&quot;:1.1,&quot;x&quot;:43.22545454545457,&quot;y&quot;:531.16,&quot;z&quot;:11}"/>
          <p:cNvSpPr/>
          <p:nvPr/>
        </p:nvSpPr>
        <p:spPr>
          <a:xfrm>
            <a:off x="257704" y="3166700"/>
            <a:ext cx="4458515" cy="69157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Body Narrative</a:t>
            </a:r>
          </a:p>
          <a:p>
            <a:pPr>
              <a:defRPr sz="1000"/>
            </a:pPr>
            <a:r>
              <a:t>Order volume increased through the spring launch. Returns declined each month; continue weekly review while the fulfillment mix changes.</a:t>
            </a:r>
          </a:p>
        </p:txBody>
      </p:sp>
      <p:sp>
        <p:nvSpPr>
          <p:cNvPr id="11" name="VIZ::Review path"/>
          <p:cNvSpPr/>
          <p:nvPr/>
        </p:nvSpPr>
        <p:spPr>
          <a:xfrm>
            <a:off x="2729338" y="6758123"/>
            <a:ext cx="4080295" cy="150834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649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2" name="VIZ::Risk Callout" descr="VisualizerSemantic:{&quot;composition_role&quot;:&quot;decision_risk&quot;,&quot;detail&quot;:&quot;Check the fulfillment mix before changing the spring capacity plan.&quot;,&quot;element&quot;:&quot;Risk Callout&quot;,&quot;engine&quot;:&quot;DecisionCompositeEngine&quot;,&quot;groupId&quot;:null,&quot;h&quot;:105.28000000000002,&quot;id&quot;:&quot;c7&quot;,&quot;locked&quot;:false,&quot;message_role&quot;:&quot;Risk&quot;,&quot;order&quot;:10,&quot;section_id&quot;:&quot;decision&quot;,&quot;section_title&quot;:&quot;Decision&quot;,&quot;showTitle&quot;:false,&quot;statement&quot;:&quot;Review rising orders alongside falling returns&quot;,&quot;status&quot;:&quot;Review&quot;,&quot;textAlign&quot;:&quot;left&quot;,&quot;title&quot;:&quot;Risk Callout&quot;,&quot;type&quot;:&quot;decision&quot;,&quot;w&quot;:1572.0,&quot;weight&quot;:1.15,&quot;x&quot;:14.0,&quot;y&quot;:1794.86,&quot;z&quot;:7}"/>
          <p:cNvSpPr/>
          <p:nvPr/>
        </p:nvSpPr>
        <p:spPr>
          <a:xfrm>
            <a:off x="83466" y="10700699"/>
            <a:ext cx="9372039" cy="62766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Risk Callout</a:t>
            </a:r>
          </a:p>
          <a:p>
            <a:pPr>
              <a:defRPr sz="1000"/>
            </a:pPr>
            <a:r>
              <a:t>Review rising orders alongside falling returns</a:t>
            </a:r>
            <a:br/>
            <a:r>
              <a:t>Check the fulfillment mix before changing the spring capacity plan.</a:t>
            </a:r>
            <a:br/>
            <a:r>
              <a:t>Review</a:t>
            </a:r>
          </a:p>
        </p:txBody>
      </p:sp>
      <p:sp>
        <p:nvSpPr>
          <p:cNvPr id="13" name="VIZ::Key Takeaway" descr="VisualizerSemantic:{&quot;body&quot;:&quot;Next step: review the return mix before changing fulfillment capacity.&quot;,&quot;composition_role&quot;:&quot;conclusion&quot;,&quot;element&quot;:&quot;Key Takeaway&quot;,&quot;engine&quot;:&quot;TextEngine&quot;,&quot;groupId&quot;:null,&quot;h&quot;:96.0,&quot;id&quot;:&quot;c12&quot;,&quot;locked&quot;:false,&quot;message_role&quot;:&quot;Supporting Evidence&quot;,&quot;order&quot;:11,&quot;section_id&quot;:&quot;delivery&quot;,&quot;section_title&quot;:&quot;Next steps&quot;,&quot;showTitle&quot;:false,&quot;text&quot;:&quot;Next step: review the return mix before changing fulfillment capacity.&quot;,&quot;textAlign&quot;:&quot;left&quot;,&quot;title&quot;:&quot;Key Takeaway&quot;,&quot;type&quot;:&quot;text&quot;,&quot;w&quot;:1572.0,&quot;weight&quot;:1.1,&quot;x&quot;:14.0,&quot;y&quot;:1934.1399999999999,&quot;z&quot;:12}"/>
          <p:cNvSpPr/>
          <p:nvPr/>
        </p:nvSpPr>
        <p:spPr>
          <a:xfrm>
            <a:off x="83466" y="11531067"/>
            <a:ext cx="9372039" cy="57233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Key Takeaway</a:t>
            </a:r>
          </a:p>
          <a:p>
            <a:pPr>
              <a:defRPr sz="1000"/>
            </a:pPr>
            <a:r>
              <a:t>Next step: review the return mix before changing fulfillment capacity.</a:t>
            </a:r>
          </a:p>
        </p:txBody>
      </p:sp>
      <p:graphicFrame>
        <p:nvGraphicFramePr>
          <p:cNvPr id="14" name="VIZ::Order and return evidence" descr="VisualizerSemantic:{&quot;composition_role&quot;:&quot;detailed_evidence&quot;,&quot;customTable&quot;:{&quot;headers&quot;:[&quot;Month&quot;,&quot;Orders&quot;,&quot;Returns&quot;],&quot;rows&quot;:[[&quot;Jan&quot;,1280,42],[&quot;Feb&quot;,1395,38],[&quot;Mar&quot;,1522,35],[&quot;Apr&quot;,1611,31],[&quot;Change&quot;,331,&quot;−11&quot;]]},&quot;element&quot;:&quot;Clean Table&quot;,&quot;engine&quot;:&quot;TableEngine&quot;,&quot;groupId&quot;:null,&quot;h&quot;:366.3,&quot;id&quot;:&quot;c6&quot;,&quot;locked&quot;:false,&quot;message_role&quot;:&quot;Primary Evidence&quot;,&quot;order&quot;:8,&quot;rows&quot;:[[&quot;Jan&quot;,1280,42],[&quot;Feb&quot;,1395,38],[&quot;Mar&quot;,1522,35],[&quot;Apr&quot;,1611,31],[&quot;Change&quot;,331,&quot;−11&quot;]],&quot;section_id&quot;:&quot;evidence&quot;,&quot;section_title&quot;:&quot;Evidence&quot;,&quot;showTitle&quot;:true,&quot;textAlign&quot;:&quot;left&quot;,&quot;title&quot;:&quot;Order and return evidence&quot;,&quot;type&quot;:&quot;table&quot;,&quot;w&quot;:1572.0,&quot;weight&quot;:1.55,&quot;x&quot;:14.0,&quot;y&quot;:1394.56,&quot;z&quot;:6}"/>
          <p:cNvGraphicFramePr>
            <a:graphicFrameLocks noGrp="1"/>
          </p:cNvGraphicFramePr>
          <p:nvPr/>
        </p:nvGraphicFramePr>
        <p:xfrm>
          <a:off x="83466" y="8314168"/>
          <a:ext cx="9372039" cy="2183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4013"/>
                <a:gridCol w="3124013"/>
                <a:gridCol w="3124013"/>
              </a:tblGrid>
              <a:tr h="363971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Returns</a:t>
                      </a:r>
                    </a:p>
                  </a:txBody>
                  <a:tcPr/>
                </a:tc>
              </a:tr>
              <a:tr h="363971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42</a:t>
                      </a:r>
                    </a:p>
                  </a:txBody>
                  <a:tcPr/>
                </a:tc>
              </a:tr>
              <a:tr h="363971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38</a:t>
                      </a:r>
                    </a:p>
                  </a:txBody>
                  <a:tcPr/>
                </a:tc>
              </a:tr>
              <a:tr h="363971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35</a:t>
                      </a:r>
                    </a:p>
                  </a:txBody>
                  <a:tcPr/>
                </a:tc>
              </a:tr>
              <a:tr h="363971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1611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31</a:t>
                      </a:r>
                    </a:p>
                  </a:txBody>
                  <a:tcPr/>
                </a:tc>
              </a:tr>
              <a:tr h="36397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−11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VIZ::DiagramTitle::Review path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784202" y="6776411"/>
            <a:ext cx="3970567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Review path</a:t>
            </a:r>
          </a:p>
        </p:txBody>
      </p:sp>
      <p:sp>
        <p:nvSpPr>
          <p:cNvPr id="16" name="VIZ::Review path::Track order growth::node-1" descr="VisualizerSemantic:{&quot;composition_role&quot;:&quot;causal_evidence&quot;,&quot;direction&quot;:&quot;right&quot;,&quot;edges&quot;:[[&quot;Track order growth&quot;,&quot;Check return trend&quot;],[&quot;Check return trend&quot;,&quot;Review fulfillment mix&quot;],[&quot;Review fulfillment mix&quot;,&quot;Adjust capacity&quot;]],&quot;element&quot;:&quot;Process Flow&quot;,&quot;engine&quot;:&quot;DiagramEngine&quot;,&quot;groupId&quot;:null,&quot;h&quot;:253.0,&quot;id&quot;:&quot;c8&quot;,&quot;locked&quot;:false,&quot;message_role&quot;:&quot;Supporting Evidence&quot;,&quot;nodes&quot;:[&quot;Track order growth&quot;,&quot;Check return trend&quot;,&quot;Review fulfillment mix&quot;,&quot;Adjust capacity&quot;],&quot;order&quot;:9,&quot;section_id&quot;:&quot;evidence&quot;,&quot;section_title&quot;:&quot;Evidence&quot;,&quot;showTitle&quot;:true,&quot;textAlign&quot;:&quot;left&quot;,&quot;title&quot;:&quot;Review path&quot;,&quot;type&quot;:&quot;diagram&quot;,&quot;w&quot;:684.4,&quot;weight&quot;:1.5,&quot;x&quot;:457.8,&quot;y&quot;:1133.56,&quot;z&quot;:8}"/>
          <p:cNvSpPr/>
          <p:nvPr/>
        </p:nvSpPr>
        <p:spPr>
          <a:xfrm>
            <a:off x="2784202" y="7319513"/>
            <a:ext cx="84176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Track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order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growth</a:t>
            </a:r>
          </a:p>
        </p:txBody>
      </p:sp>
      <p:sp>
        <p:nvSpPr>
          <p:cNvPr id="17" name="VIZ::Review path::Check return trend::node-2" descr="VisualizerDiagramNode:{&quot;item_id&quot;:&quot;c8&quot;,&quot;node_index&quot;:1,&quot;label&quot;:&quot;Check return trend&quot;,&quot;page&quot;:1,&quot;page_count&quot;:1,&quot;direction&quot;:&quot;right&quot;}"/>
          <p:cNvSpPr/>
          <p:nvPr/>
        </p:nvSpPr>
        <p:spPr>
          <a:xfrm>
            <a:off x="3827135" y="7319513"/>
            <a:ext cx="84176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Check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return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trend</a:t>
            </a:r>
          </a:p>
        </p:txBody>
      </p:sp>
      <p:sp>
        <p:nvSpPr>
          <p:cNvPr id="18" name="VIZ::Review path::Review fulfillment mix::node-3" descr="VisualizerDiagramNode:{&quot;item_id&quot;:&quot;c8&quot;,&quot;node_index&quot;:2,&quot;label&quot;:&quot;Review fulfillment mix&quot;,&quot;page&quot;:1,&quot;page_count&quot;:1,&quot;direction&quot;:&quot;right&quot;}"/>
          <p:cNvSpPr/>
          <p:nvPr/>
        </p:nvSpPr>
        <p:spPr>
          <a:xfrm>
            <a:off x="4870068" y="7319513"/>
            <a:ext cx="84176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Review fu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lfillment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mix</a:t>
            </a:r>
          </a:p>
        </p:txBody>
      </p:sp>
      <p:sp>
        <p:nvSpPr>
          <p:cNvPr id="19" name="VIZ::Review path::Adjust capacity::node-4" descr="VisualizerDiagramNode:{&quot;item_id&quot;:&quot;c8&quot;,&quot;node_index&quot;:3,&quot;label&quot;:&quot;Adjust capacity&quot;,&quot;page&quot;:1,&quot;page_count&quot;:1,&quot;direction&quot;:&quot;right&quot;}"/>
          <p:cNvSpPr/>
          <p:nvPr/>
        </p:nvSpPr>
        <p:spPr>
          <a:xfrm>
            <a:off x="5913001" y="7319513"/>
            <a:ext cx="84176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Adjust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capacity</a:t>
            </a:r>
          </a:p>
        </p:txBody>
      </p:sp>
      <p:cxnSp>
        <p:nvCxnSpPr>
          <p:cNvPr id="20" name="VIZ::DiagramEdge::Review path::1" descr="VisualizerSemanticEdge:{&quot;item_id&quot;:&quot;c8&quot;,&quot;edge_index&quot;:0,&quot;source&quot;:&quot;Track order growth&quot;,&quot;target&quot;:&quot;Check return trend&quot;,&quot;continuation&quot;:false}"/>
          <p:cNvCxnSpPr/>
          <p:nvPr/>
        </p:nvCxnSpPr>
        <p:spPr>
          <a:xfrm>
            <a:off x="3630539" y="7631169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VIZ::DiagramEdge::Review path::2" descr="VisualizerSemanticEdge:{&quot;item_id&quot;:&quot;c8&quot;,&quot;edge_index&quot;:1,&quot;source&quot;:&quot;Check return trend&quot;,&quot;target&quot;:&quot;Review fulfillment mix&quot;,&quot;continuation&quot;:false}"/>
          <p:cNvCxnSpPr/>
          <p:nvPr/>
        </p:nvCxnSpPr>
        <p:spPr>
          <a:xfrm>
            <a:off x="4673472" y="7631169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VIZ::DiagramEdge::Review path::3" descr="VisualizerSemanticEdge:{&quot;item_id&quot;:&quot;c8&quot;,&quot;edge_index&quot;:2,&quot;source&quot;:&quot;Review fulfillment mix&quot;,&quot;target&quot;:&quot;Adjust capacity&quot;,&quot;continuation&quot;:false}"/>
          <p:cNvCxnSpPr/>
          <p:nvPr/>
        </p:nvCxnSpPr>
        <p:spPr>
          <a:xfrm>
            <a:off x="5716405" y="7631169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month_1&quot;,&quot;name&quot;:&quot;Month&quot;,&quot;nullable&quot;:false,&quot;profile&quot;:{&quot;distinct&quot;:4,&quot;missing&quot;:0},&quot;semantic_tags&quot;:[],&quot;type&quot;:&quot;string&quot;},{&quot;id&quot;:&quot;orders_2&quot;,&quot;name&quot;:&quot;Orders&quot;,&quot;nullable&quot;:false,&quot;profile&quot;:{&quot;distinct&quot;:4,&quot;missing&quot;:0},&quot;semantic_tags&quot;:[],&quot;type&quot;:&quot;integer&quot;,&quot;unit&quot;:&quot;&quot;},{&quot;id&quot;:&quot;returns_3&quot;,&quot;name&quot;:&quot;Returns&quot;,&quot;nullable&quot;:false,&quot;profile&quot;:{&quot;distinct&quot;:4,&quot;missing&quot;:0},&quot;semantic_tags&quot;:[],&quot;type&quot;:&quot;integer&quot;,&quot;unit&quot;:&quot;&quot;}],&quot;id&quot;:&quot;dataset-mufqpj9e-b0nclt&quot;,&quot;metadata&quot;:{&quot;header&quot;:{&quot;confidence&quot;:0.8333333333333334,&quot;present&quot;:true,&quot;source_row&quot;:0}},&quot;name&quot;:&quot;Pasted data&quot;,&quot;revision&quot;:2,&quot;rows&quot;:[[&quot;Jan&quot;,1280,42],[&quot;Feb&quot;,1395,38],[&quot;Mar&quot;,1522,35],[&quot;Apr&quot;,1611,31]],&quot;source&quot;:{&quot;imported_at&quot;:&quot;2026-09-24T16:22:14.210Z&quot;,&quot;kind&quot;:&quot;clipboard&quot;,&quot;label&quot;:&quot;TSV&quot;},&quot;warnings&quot;:[]}],&quot;groups&quot;:{},&quot;items&quot;:[{&quot;brush&quot;:[0,4],&quot;composition_role&quot;:&quot;primary_analysis&quot;,&quot;cross&quot;:null,&quot;data&quot;:[[&quot;Baseline&quot;,72],[&quot;Pilot&quot;,78],[&quot;Validation&quot;,84],[&quot;Release&quot;,91],[&quot;Sustain&quot;,94]],&quot;dataset_id&quot;:&quot;dataset-mufqpj9e-b0nclt&quot;,&quot;drill&quot;:null,&quot;element&quot;:&quot;Line Chart&quot;,&quot;engine&quot;:&quot;CoreChartEngine&quot;,&quot;groupId&quot;:null,&quot;h&quot;:320,&quot;id&quot;:&quot;c1&quot;,&quot;locked&quot;:false,&quot;mapping&quot;:{&quot;category&quot;:&quot;month_1&quot;,&quot;value&quot;:&quot;orders_2&quot;,&quot;x&quot;:&quot;month_1&quot;,&quot;y&quot;:&quot;orders_2&quot;},&quot;message_role&quot;:&quot;Primary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Orders by month&quot;,&quot;type&quot;:&quot;chart&quot;,&quot;variant&quot;:&quot;line&quot;,&quot;w&quot;:520,&quot;weight&quot;:1.8,&quot;x&quot;:14,&quot;y&quot;:14,&quot;z&quot;:1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fqpj9e-b0nclt&quot;,&quot;drill&quot;:null,&quot;element&quot;:&quot;Line Chart&quot;,&quot;engine&quot;:&quot;CoreChartEngine&quot;,&quot;groupId&quot;:null,&quot;h&quot;:320,&quot;id&quot;:&quot;c2&quot;,&quot;locked&quot;:false,&quot;mapping&quot;:{&quot;category&quot;:&quot;month_1&quot;,&quot;value&quot;:&quot;orders_2&quot;,&quot;x&quot;:&quot;month_1&quot;,&quot;y&quot;:&quot;returns_3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turns by month&quot;,&quot;type&quot;:&quot;chart&quot;,&quot;variant&quot;:&quot;line&quot;,&quot;w&quot;:520,&quot;weight&quot;:1.8,&quot;x&quot;:38,&quot;y&quot;:38,&quot;z&quot;:2},{&quot;capability_overrides&quot;:{&quot;target&quot;:null},&quot;composition_role&quot;:&quot;hero_metric&quot;,&quot;delta&quot;:331,&quot;element&quot;:&quot;Hero KPI&quot;,&quot;engine&quot;:&quot;MetricEngine&quot;,&quot;groupId&quot;:null,&quot;h&quot;:152.32000000000002,&quot;id&quot;:&quot;c3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April orders&quot;,&quot;type&quot;:&quot;metric&quot;,&quot;unit&quot;:&quot;&quot;,&quot;value&quot;:1611,&quot;w&quot;:520,&quot;weight&quot;:1.15,&quot;x&quot;:572,&quot;y&quot;:14,&quot;z&quot;:3},{&quot;capability_overrides&quot;:{&quot;target&quot;:null},&quot;composition_role&quot;:&quot;hero_metric&quot;,&quot;delta&quot;:null,&quot;element&quot;:&quot;Hero KPI&quot;,&quot;engine&quot;:&quot;MetricEngine&quot;,&quot;groupId&quot;:null,&quot;h&quot;:152.32000000000002,&quot;id&quot;:&quot;c4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order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Order growth since January&quot;,&quot;type&quot;:&quot;metric&quot;,&quot;unit&quot;:&quot;orders&quot;,&quot;value&quot;:331,&quot;w&quot;:520,&quot;weight&quot;:1.15,&quot;x&quot;:572,&quot;y&quot;:180.32000000000002,&quot;z&quot;:4},{&quot;after&quot;:31,&quot;before&quot;:42,&quot;composition_role&quot;:&quot;hero_metric&quot;,&quot;element&quot;:&quot;Before/After KPI&quot;,&quot;engine&quot;:&quot;ComparisonEngine&quot;,&quot;groupId&quot;:null,&quot;h&quot;:150,&quot;id&quot;:&quot;c5&quot;,&quot;locked&quot;:false,&quot;message_role&quot;:&quot;Supporting Evidence&quot;,&quot;order&quot;:4,&quot;section_id&quot;:&quot;performance&quot;,&quot;section_title&quot;:&quot;Performance&quot;,&quot;showTitle&quot;:true,&quot;textAlign&quot;:&quot;left&quot;,&quot;title&quot;:&quot;Monthly returns&quot;,&quot;type&quot;:&quot;comparison&quot;,&quot;unit&quot;:&quot;&quot;,&quot;w&quot;:430,&quot;weight&quot;:1.15,&quot;x&quot;:1106,&quot;y&quot;:14,&quot;z&quot;:5},{&quot;composition_role&quot;:&quot;detailed_evidence&quot;,&quot;customTable&quot;:{&quot;headers&quot;:[&quot;Month&quot;,&quot;Orders&quot;,&quot;Returns&quot;],&quot;rows&quot;:[[&quot;Jan&quot;,1280,42],[&quot;Feb&quot;,1395,38],[&quot;Mar&quot;,1522,35],[&quot;Apr&quot;,1611,31],[&quot;Change&quot;,331,&quot;−11&quot;]]},&quot;element&quot;:&quot;Clean Table&quot;,&quot;engine&quot;:&quot;TableEngine&quot;,&quot;groupId&quot;:null,&quot;h&quot;:259,&quot;id&quot;:&quot;c6&quot;,&quot;locked&quot;:false,&quot;message_role&quot;:&quot;Primary Evidence&quot;,&quot;order&quot;:8,&quot;rows&quot;:[[&quot;Jan&quot;,1280,42],[&quot;Feb&quot;,1395,38],[&quot;Mar&quot;,1522,35],[&quot;Apr&quot;,1611,31],[&quot;Change&quot;,331,&quot;−11&quot;]],&quot;section_id&quot;:&quot;evidence&quot;,&quot;section_title&quot;:&quot;Evidence&quot;,&quot;showTitle&quot;:true,&quot;textAlign&quot;:&quot;left&quot;,&quot;title&quot;:&quot;Order and return evidence&quot;,&quot;type&quot;:&quot;table&quot;,&quot;w&quot;:480,&quot;weight&quot;:1.55,&quot;x&quot;:1106,&quot;y&quot;:178,&quot;z&quot;:6},{&quot;composition_role&quot;:&quot;decision_risk&quot;,&quot;detail&quot;:&quot;Check the fulfillment mix before changing the spring capacity plan.&quot;,&quot;element&quot;:&quot;Risk Callout&quot;,&quot;engine&quot;:&quot;DecisionCompositeEngine&quot;,&quot;groupId&quot;:null,&quot;h&quot;:94,&quot;id&quot;:&quot;c7&quot;,&quot;locked&quot;:false,&quot;message_role&quot;:&quot;Risk&quot;,&quot;order&quot;:10,&quot;section_id&quot;:&quot;decision&quot;,&quot;section_title&quot;:&quot;Decision&quot;,&quot;showTitle&quot;:false,&quot;statement&quot;:&quot;Review rising orders alongside falling returns&quot;,&quot;status&quot;:&quot;Review&quot;,&quot;textAlign&quot;:&quot;left&quot;,&quot;title&quot;:&quot;Risk Callout&quot;,&quot;type&quot;:&quot;decision&quot;,&quot;w&quot;:400,&quot;weight&quot;:1.15,&quot;x&quot;:572,&quot;y&quot;:346.64000000000004,&quot;z&quot;:7},{&quot;composition_role&quot;:&quot;causal_evidence&quot;,&quot;direction&quot;:&quot;right&quot;,&quot;edges&quot;:[[&quot;Track order growth&quot;,&quot;Check return trend&quot;],[&quot;Check return trend&quot;,&quot;Review fulfillment mix&quot;],[&quot;Review fulfillment mix&quot;,&quot;Adjust capacity&quot;]],&quot;element&quot;:&quot;Process Flow&quot;,&quot;engine&quot;:&quot;DiagramEngine&quot;,&quot;groupId&quot;:null,&quot;h&quot;:220,&quot;id&quot;:&quot;c8&quot;,&quot;locked&quot;:false,&quot;message_role&quot;:&quot;Supporting Evidence&quot;,&quot;nodes&quot;:[&quot;Track order growth&quot;,&quot;Check return trend&quot;,&quot;Review fulfillment mix&quot;,&quot;Adjust capacity&quot;],&quot;order&quot;:9,&quot;section_id&quot;:&quot;evidence&quot;,&quot;section_title&quot;:&quot;Evidence&quot;,&quot;showTitle&quot;:true,&quot;textAlign&quot;:&quot;left&quot;,&quot;title&quot;:&quot;Review path&quot;,&quot;type&quot;:&quot;diagram&quot;,&quot;w&quot;:520,&quot;weight&quot;:1.5,&quot;x&quot;:14,&quot;y&quot;:372,&quot;z&quot;:8},{&quot;body&quot;:&quot;Order volume rose while returns fell across the spring launch.&quot;,&quot;composition_role&quot;:&quot;report_headline&quot;,&quot;element&quot;:&quot;Hero Title&quot;,&quot;engine&quot;:&quot;TextEngine&quot;,&quot;groupId&quot;:null,&quot;h&quot;:109.76,&quot;id&quot;:&quot;c9&quot;,&quot;locked&quot;:false,&quot;message_role&quot;:&quot;Headline&quot;,&quot;order&quot;:0,&quot;section_id&quot;:&quot;opening&quot;,&quot;section_title&quot;:&quot;Overview&quot;,&quot;showTitle&quot;:false,&quot;text&quot;:&quot;Order volume rose while returns fell across the spring launch.&quot;,&quot;textAlign&quot;:&quot;left&quot;,&quot;title&quot;:&quot;Hero Title&quot;,&quot;type&quot;:&quot;text&quot;,&quot;w&quot;:520,&quot;weight&quot;:1.1,&quot;x&quot;:986,&quot;y&quot;:451,&quot;z&quot;:9},{&quot;body&quot;:&quot;Monthly operating review · Jan–Apr · Source: order and returns ledger.&quot;,&quot;composition_role&quot;:&quot;context&quot;,&quot;element&quot;:&quot;Body Narrative&quot;,&quot;engine&quot;:&quot;TextEngine&quot;,&quot;groupId&quot;:null,&quot;h&quot;:116,&quot;id&quot;:&quot;c10&quot;,&quot;locked&quot;:false,&quot;message_role&quot;:&quot;Context&quot;,&quot;order&quot;:1,&quot;section_id&quot;:&quot;opening&quot;,&quot;section_title&quot;:&quot;Overview&quot;,&quot;showTitle&quot;:false,&quot;text&quot;:&quot;Monthly operating review · Jan–Apr · Source: order and returns ledger.&quot;,&quot;textAlign&quot;:&quot;left&quot;,&quot;title&quot;:&quot;Body Narrative&quot;,&quot;type&quot;:&quot;text&quot;,&quot;w&quot;:500,&quot;weight&quot;:1.1,&quot;x&quot;:548,&quot;y&quot;:574.76,&quot;z&quot;:10},{&quot;body&quot;:&quot;Order volume increased through the spring launch. Returns declined each month; continue weekly review while the fulfillment mix changes.&quot;,&quot;composition_role&quot;:&quot;narrative_interpretation&quot;,&quot;element&quot;:&quot;Body Narrative&quot;,&quot;engine&quot;:&quot;TextEngine&quot;,&quot;groupId&quot;:null,&quot;h&quot;:116,&quot;id&quot;:&quot;c11&quot;,&quot;locked&quot;:false,&quot;message_role&quot;:&quot;Supporting Evidence&quot;,&quot;order&quot;:7,&quot;section_id&quot;:&quot;analysis&quot;,&quot;section_title&quot;:&quot;Analysis&quot;,&quot;showTitle&quot;:false,&quot;text&quot;:&quot;Order volume increased through the spring launch. Returns declined each month; continue weekly review while the fulfillment mix changes.&quot;,&quot;textAlign&quot;:&quot;left&quot;,&quot;title&quot;:&quot;Body Narrative&quot;,&quot;type&quot;:&quot;text&quot;,&quot;w&quot;:500,&quot;weight&quot;:1.1,&quot;x&quot;:1062,&quot;y&quot;:574.76,&quot;z&quot;:11},{&quot;body&quot;:&quot;Next step: review the return mix before changing fulfillment capacity.&quot;,&quot;composition_role&quot;:&quot;conclusion&quot;,&quot;element&quot;:&quot;Key Takeaway&quot;,&quot;engine&quot;:&quot;TextEngine&quot;,&quot;groupId&quot;:null,&quot;h&quot;:96,&quot;id&quot;:&quot;c12&quot;,&quot;locked&quot;:false,&quot;message_role&quot;:&quot;Supporting Evidence&quot;,&quot;order&quot;:11,&quot;section_id&quot;:&quot;delivery&quot;,&quot;section_title&quot;:&quot;Next steps&quot;,&quot;showTitle&quot;:false,&quot;text&quot;:&quot;Next step: review the return mix before changing fulfillment capacity.&quot;,&quot;textAlign&quot;:&quot;left&quot;,&quot;title&quot;:&quot;Key Takeaway&quot;,&quot;type&quot;:&quot;text&quot;,&quot;w&quot;:460.2,&quot;weight&quot;:1.1,&quot;x&quot;:14,&quot;y&quot;:606,&quot;z&quot;:12}],&quot;layoutPreset&quot;:&quot;review&quot;,&quot;mode&quot;:&quot;smart&quot;,&quot;nextId&quot;:13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