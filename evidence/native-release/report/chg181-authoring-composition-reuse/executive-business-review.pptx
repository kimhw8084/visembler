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102488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Quarterly retention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Quarterly retention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91.8</c:v>
                </c:pt>
                <c:pt idx="1">
                  <c:v>93.2</c:v>
                </c:pt>
                <c:pt idx="2">
                  <c:v>94.1</c:v>
                </c:pt>
                <c:pt idx="3">
                  <c:v>94.6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descr="VisualizerSemantic:{&quot;body&quot;:&quot;Revenue grew across all three regions. Retention improved in the West, while the South remains below the 95 percent target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Revenue grew across all three regions. Retention improved in the West, while the South remains below the 95 percent target.&quot;,&quot;title&quot;:&quot;Executive Statement&quot;,&quot;type&quot;:&quot;text&quot;,&quot;weight&quot;:1,&quot;z&quot;:1,&quot;x&quot;:14.0,&quot;y&quot;:40.0,&quot;w&quot;:1059.44,&quot;h&quot;:122.93120000000002}"/>
          <p:cNvSpPr/>
          <p:nvPr/>
        </p:nvSpPr>
        <p:spPr>
          <a:xfrm>
            <a:off x="106680" y="304799"/>
            <a:ext cx="8072931" cy="93673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Executive Statement</a:t>
            </a:r>
          </a:p>
          <a:p>
            <a:pPr>
              <a:defRPr sz="1000"/>
            </a:pPr>
            <a:r>
              <a:t>Revenue grew across all three regions. Retention improved in the West, while the South remains below the 95 percent target.</a:t>
            </a:r>
          </a:p>
        </p:txBody>
      </p:sp>
      <p:sp>
        <p:nvSpPr>
          <p:cNvPr id="3" name="VIZ::Quarterly context" descr="VisualizerSemantic:{&quot;body&quot;:&quot;Quarterly business review · Q1–Q4 · three regions · revenue and retention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Quarterly business review · Q1–Q4 · three regions · revenue and retention.&quot;,&quot;title&quot;:&quot;Quarterly context&quot;,&quot;type&quot;:&quot;text&quot;,&quot;weight&quot;:1,&quot;z&quot;:2,&quot;x&quot;:1087.44,&quot;y&quot;:65.46560000000001,&quot;w&quot;:498.56,&quot;h&quot;:72.0}"/>
          <p:cNvSpPr/>
          <p:nvPr/>
        </p:nvSpPr>
        <p:spPr>
          <a:xfrm>
            <a:off x="8286291" y="498847"/>
            <a:ext cx="3799026" cy="548639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Quarterly context</a:t>
            </a:r>
          </a:p>
          <a:p>
            <a:pPr>
              <a:defRPr sz="1000"/>
            </a:pPr>
            <a:r>
              <a:t>Quarterly business review · Q1–Q4 · three regions · revenue and retention.</a:t>
            </a:r>
          </a:p>
        </p:txBody>
      </p:sp>
      <p:sp>
        <p:nvSpPr>
          <p:cNvPr id="4" name="VIZ::Retention KPI" descr="VisualizerSemantic:{&quot;capability_overrides&quot;:{&quot;target&quot;:95},&quot;composition_role&quot;:&quot;hero_metric&quot;,&quot;delta&quot;:2.8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5,&quot;title&quot;:&quot;Retention&quot;,&quot;type&quot;:&quot;metric&quot;,&quot;unit&quot;:&quot;%&quot;,&quot;value&quot;:94.6,&quot;weight&quot;:1,&quot;z&quot;:3,&quot;x&quot;:676.48,&quot;y&quot;:202.43120000000002,&quot;w&quot;:447.76,&quot;h&quot;:205.0}"/>
          <p:cNvSpPr/>
          <p:nvPr/>
        </p:nvSpPr>
        <p:spPr>
          <a:xfrm>
            <a:off x="5154777" y="1542525"/>
            <a:ext cx="3411930" cy="1562099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Retention</a:t>
            </a:r>
          </a:p>
          <a:p>
            <a:pPr>
              <a:defRPr b="1" sz="2400"/>
            </a:pPr>
            <a:r>
              <a:t>94.6%</a:t>
            </a:r>
          </a:p>
        </p:txBody>
      </p:sp>
      <p:sp>
        <p:nvSpPr>
          <p:cNvPr id="5" name="VIZ::Regional revenue KPI" descr="VisualizerSemantic:{&quot;composition_role&quot;:&quot;hero_metric&quot;,&quot;delta&quot;:null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&quot;},&quot;order&quot;:3,&quot;section_id&quot;:&quot;performance&quot;,&quot;section_title&quot;:&quot;Performance&quot;,&quot;showTitle&quot;:true,&quot;target&quot;:null,&quot;title&quot;:&quot;Regional revenue&quot;,&quot;type&quot;:&quot;metric&quot;,&quot;unit&quot;:&quot;&quot;,&quot;value&quot;:551,&quot;weight&quot;:1,&quot;z&quot;:4,&quot;x&quot;:14.0,&quot;y&quot;:196.93120000000002,&quot;w&quot;:648.48,&quot;h&quot;:200.0}"/>
          <p:cNvSpPr/>
          <p:nvPr/>
        </p:nvSpPr>
        <p:spPr>
          <a:xfrm>
            <a:off x="106680" y="1500615"/>
            <a:ext cx="4941416" cy="1523999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Regional revenue</a:t>
            </a:r>
          </a:p>
          <a:p>
            <a:pPr>
              <a:defRPr b="1" sz="2400"/>
            </a:pPr>
            <a:r>
              <a:t>551</a:t>
            </a:r>
          </a:p>
        </p:txBody>
      </p:sp>
      <p:sp>
        <p:nvSpPr>
          <p:cNvPr id="6" name="VIZ::Quarterly retention KPI" descr="VisualizerSemantic:{&quot;after&quot;:94.6,&quot;before&quot;:91.8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order&quot;:4,&quot;section_id&quot;:&quot;performance&quot;,&quot;section_title&quot;:&quot;Performance&quot;,&quot;showTitle&quot;:true,&quot;title&quot;:&quot;Quarterly retention&quot;,&quot;type&quot;:&quot;comparison&quot;,&quot;unit&quot;:&quot;%&quot;,&quot;weight&quot;:1,&quot;z&quot;:5,&quot;x&quot;:1138.24,&quot;y&quot;:196.93120000000002,&quot;w&quot;:447.76,&quot;h&quot;:216.0}"/>
          <p:cNvSpPr/>
          <p:nvPr/>
        </p:nvSpPr>
        <p:spPr>
          <a:xfrm>
            <a:off x="8673387" y="1500615"/>
            <a:ext cx="3411930" cy="1645919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Quarterly retention</a:t>
            </a:r>
          </a:p>
          <a:p>
            <a:pPr>
              <a:defRPr b="1" sz="2400"/>
            </a:pPr>
            <a:r>
              <a:t>91.8 → 94.6</a:t>
            </a:r>
          </a:p>
          <a:p>
            <a:pPr>
              <a:defRPr sz="900"/>
            </a:pPr>
            <a:r>
              <a:t>%</a:t>
            </a:r>
          </a:p>
        </p:txBody>
      </p:sp>
      <p:graphicFrame>
        <p:nvGraphicFramePr>
          <p:cNvPr id="7" name="Chart 6" descr="VisualizerSemantic:{&quot;composition_role&quot;:&quot;primary_analysis&quot;,&quot;data&quot;:[[&quot;Q1&quot;,91.8],[&quot;Q2&quot;,93.2],[&quot;Q3&quot;,94.1],[&quot;Q4&quot;,94.6]],&quot;dataset_id&quot;:&quot;dataset-mufqnhco-f8rdrc&quot;,&quot;element&quot;:&quot;Line Chart&quot;,&quot;engine&quot;:&quot;CoreChartEngine&quot;,&quot;groupId&quot;:null,&quot;id&quot;:&quot;c6&quot;,&quot;locked&quot;:false,&quot;mapping&quot;:{&quot;category&quot;:&quot;quarter_1&quot;,&quot;value&quot;:&quot;retention_2&quot;,&quot;x&quot;:&quot;quarter_1&quot;,&quot;y&quot;:&quot;retention_2&quot;},&quot;message_role&quot;:&quot;Primary Evidence&quot;,&quot;order&quot;:5,&quot;section_id&quot;:&quot;analysis&quot;,&quot;section_title&quot;:&quot;Analysis&quot;,&quot;showTitle&quot;:true,&quot;title&quot;:&quot;Quarterly retention&quot;,&quot;type&quot;:&quot;chart&quot;,&quot;weight&quot;:1,&quot;z&quot;:6,&quot;rows&quot;:[{&quot;label&quot;:&quot;Q1&quot;,&quot;value&quot;:91.8},{&quot;label&quot;:&quot;Q2&quot;,&quot;value&quot;:93.2},{&quot;label&quot;:&quot;Q3&quot;,&quot;value&quot;:94.1},{&quot;label&quot;:&quot;Q4&quot;,&quot;value&quot;:94.6}],&quot;observations&quot;:[{&quot;label&quot;:&quot;Q1&quot;,&quot;value&quot;:91.8},{&quot;label&quot;:&quot;Q2&quot;,&quot;value&quot;:93.2},{&quot;label&quot;:&quot;Q3&quot;,&quot;value&quot;:94.1},{&quot;label&quot;:&quot;Q4&quot;,&quot;value&quot;:94.6}],&quot;x&quot;:470.3030303030303,&quot;y&quot;:446.9312,&quot;w&quot;:659.3939393939394,&quot;h&quot;:320.0}"/>
          <p:cNvGraphicFramePr>
            <a:graphicFrameLocks noGrp="1"/>
          </p:cNvGraphicFramePr>
          <p:nvPr/>
        </p:nvGraphicFramePr>
        <p:xfrm>
          <a:off x="3583708" y="3405615"/>
          <a:ext cx="5024581" cy="243839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VIZ::Risk Callout" descr="VisualizerSemantic:{&quot;composition_role&quot;:&quot;decision_risk&quot;,&quot;detail&quot;:&quot;Close the South retention gap before the next review.&quot;,&quot;element&quot;:&quot;Risk Callout&quot;,&quot;engine&quot;:&quot;DecisionCompositeEngine&quot;,&quot;groupId&quot;:null,&quot;id&quot;:&quot;c8&quot;,&quot;locked&quot;:false,&quot;message_role&quot;:&quot;Risk&quot;,&quot;order&quot;:7,&quot;section_id&quot;:&quot;decision&quot;,&quot;section_title&quot;:&quot;Decision&quot;,&quot;statement&quot;:&quot;Proceed with monitored revenue recovery&quot;,&quot;status&quot;:&quot;Review&quot;,&quot;title&quot;:&quot;Risk Callout&quot;,&quot;type&quot;:&quot;decision&quot;,&quot;weight&quot;:1,&quot;z&quot;:8,&quot;x&quot;:14.0,&quot;y&quot;:1093.9312,&quot;w&quot;:1572.0,&quot;h&quot;:101.52000000000001}"/>
          <p:cNvSpPr/>
          <p:nvPr/>
        </p:nvSpPr>
        <p:spPr>
          <a:xfrm>
            <a:off x="106680" y="8335754"/>
            <a:ext cx="11978638" cy="77358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Risk Callout</a:t>
            </a:r>
          </a:p>
          <a:p>
            <a:pPr>
              <a:defRPr sz="1000"/>
            </a:pPr>
            <a:r>
              <a:t>Proceed with monitored revenue recovery</a:t>
            </a:r>
            <a:br/>
            <a:r>
              <a:t>Close the South retention gap before the next review.</a:t>
            </a:r>
            <a:br/>
            <a:r>
              <a:t>Review</a:t>
            </a:r>
          </a:p>
        </p:txBody>
      </p:sp>
      <p:sp>
        <p:nvSpPr>
          <p:cNvPr id="10" name="VIZ::Key Takeaway" descr="VisualizerSemantic:{&quot;body&quot;:&quot;Next step: close the South retention gap before the next quarterly review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8,&quot;section_id&quot;:&quot;delivery&quot;,&quot;section_title&quot;:&quot;Decision and next step&quot;,&quot;text&quot;:&quot;Next step: close the South retention gap before the next quarterly review.&quot;,&quot;title&quot;:&quot;Key Takeaway&quot;,&quot;type&quot;:&quot;text&quot;,&quot;weight&quot;:1,&quot;z&quot;:9,&quot;x&quot;:14.0,&quot;y&quot;:1229.4512,&quot;w&quot;:1572.0,&quot;h&quot;:100.80000000000001}"/>
          <p:cNvSpPr/>
          <p:nvPr/>
        </p:nvSpPr>
        <p:spPr>
          <a:xfrm>
            <a:off x="106680" y="9368417"/>
            <a:ext cx="11978638" cy="76809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Key Takeaway</a:t>
            </a:r>
          </a:p>
          <a:p>
            <a:pPr>
              <a:defRPr sz="1000"/>
            </a:pPr>
            <a:r>
              <a:t>Next step: close the South retention gap before the next quarterly review.</a:t>
            </a:r>
          </a:p>
        </p:txBody>
      </p:sp>
      <p:graphicFrame>
        <p:nvGraphicFramePr>
          <p:cNvPr id="11" name="VIZ::Clean Table" descr="VisualizerSemantic:{&quot;composition_role&quot;:&quot;detailed_evidence&quot;,&quot;customTable&quot;:{&quot;headers&quot;:[&quot;Region&quot;,&quot;Revenue&quot;,&quot;Retention&quot;,&quot;Status&quot;],&quot;rows&quot;:[[&quot;North&quot;,184,&quot;94.1%&quot;,&quot;Watch&quot;],[&quot;South&quot;,156,&quot;92.8%&quot;,&quot;Below target&quot;],[&quot;West&quot;,211,&quot;95.0%&quot;,&quot;On plan&quot;]]},&quot;element&quot;:&quot;Clean Table&quot;,&quot;engine&quot;:&quot;TableEngine&quot;,&quot;groupId&quot;:null,&quot;id&quot;:&quot;c7&quot;,&quot;locked&quot;:false,&quot;message_role&quot;:&quot;Primary Evidence&quot;,&quot;order&quot;:6,&quot;rows&quot;:[[&quot;North&quot;,184,&quot;94.1%&quot;,&quot;Watch&quot;],[&quot;South&quot;,156,&quot;92.8%&quot;,&quot;Below target&quot;],[&quot;West&quot;,211,&quot;95.0%&quot;,&quot;On plan&quot;]],&quot;section_id&quot;:&quot;evidence&quot;,&quot;section_title&quot;:&quot;Regional evidence&quot;,&quot;title&quot;:&quot;Clean Table&quot;,&quot;type&quot;:&quot;table&quot;,&quot;weight&quot;:1,&quot;z&quot;:7,&quot;x&quot;:14.0,&quot;y&quot;:800.9312,&quot;w&quot;:1572.0,&quot;h&quot;:259.0}"/>
          <p:cNvGraphicFramePr>
            <a:graphicFrameLocks noGrp="1"/>
          </p:cNvGraphicFramePr>
          <p:nvPr/>
        </p:nvGraphicFramePr>
        <p:xfrm>
          <a:off x="106680" y="6103095"/>
          <a:ext cx="11978638" cy="19735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4659"/>
                <a:gridCol w="2994659"/>
                <a:gridCol w="2994659"/>
                <a:gridCol w="2994661"/>
              </a:tblGrid>
              <a:tr h="493394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Status</a:t>
                      </a:r>
                    </a:p>
                  </a:txBody>
                  <a:tcPr/>
                </a:tc>
              </a:tr>
              <a:tr h="493394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Watch</a:t>
                      </a:r>
                    </a:p>
                  </a:txBody>
                  <a:tcPr/>
                </a:tc>
              </a:tr>
              <a:tr h="493394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Below target</a:t>
                      </a:r>
                    </a:p>
                  </a:txBody>
                  <a:tcPr/>
                </a:tc>
              </a:tr>
              <a:tr h="493397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211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On plan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quarter_1&quot;,&quot;name&quot;:&quot;Quarter&quot;,&quot;nullable&quot;:false,&quot;profile&quot;:{&quot;distinct&quot;:4,&quot;missing&quot;:0},&quot;semantic_tags&quot;:[],&quot;type&quot;:&quot;string&quot;},{&quot;id&quot;:&quot;retention_2&quot;,&quot;name&quot;:&quot;Retention&quot;,&quot;nullable&quot;:false,&quot;profile&quot;:{&quot;distinct&quot;:4,&quot;missing&quot;:0},&quot;semantic_tags&quot;:[],&quot;type&quot;:&quot;number&quot;,&quot;unit&quot;:&quot;&quot;}],&quot;id&quot;:&quot;dataset-mufqnhco-f8rdrc&quot;,&quot;metadata&quot;:{&quot;header&quot;:{&quot;confidence&quot;:0.75,&quot;present&quot;:true,&quot;source_row&quot;:0}},&quot;name&quot;:&quot;Pasted data&quot;,&quot;revision&quot;:1,&quot;rows&quot;:[[&quot;Q1&quot;,91.8],[&quot;Q2&quot;,93.2],[&quot;Q3&quot;,94.1],[&quot;Q4&quot;,94.6]],&quot;source&quot;:{&quot;imported_at&quot;:&quot;2026-09-24T16:20:38.424Z&quot;,&quot;kind&quot;:&quot;clipboard&quot;,&quot;label&quot;:&quot;TSV&quot;},&quot;warnings&quot;:[]}],&quot;groups&quot;:{},&quot;items&quot;:[{&quot;body&quot;:&quot;Revenue grew across all three regions. Retention improved in the West, while the South remains below the 95 percent target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Revenue grew across all three regions. Retention improved in the West, while the South remains below the 95 percent target.&quot;,&quot;title&quot;:&quot;Executive Statement&quot;,&quot;type&quot;:&quot;text&quot;,&quot;weight&quot;:1,&quot;z&quot;:1},{&quot;body&quot;:&quot;Quarterly business review · Q1–Q4 · three regions · revenue and retention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Quarterly business review · Q1–Q4 · three regions · revenue and retention.&quot;,&quot;title&quot;:&quot;Quarterly context&quot;,&quot;type&quot;:&quot;text&quot;,&quot;weight&quot;:1,&quot;z&quot;:2},{&quot;capability_overrides&quot;:{&quot;target&quot;:95},&quot;composition_role&quot;:&quot;hero_metric&quot;,&quot;delta&quot;:2.8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5,&quot;title&quot;:&quot;Retention&quot;,&quot;type&quot;:&quot;metric&quot;,&quot;unit&quot;:&quot;%&quot;,&quot;value&quot;:94.6,&quot;weight&quot;:1,&quot;z&quot;:3},{&quot;composition_role&quot;:&quot;hero_metric&quot;,&quot;delta&quot;:null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&quot;},&quot;order&quot;:3,&quot;section_id&quot;:&quot;performance&quot;,&quot;section_title&quot;:&quot;Performance&quot;,&quot;showTitle&quot;:true,&quot;target&quot;:null,&quot;title&quot;:&quot;Regional revenue&quot;,&quot;type&quot;:&quot;metric&quot;,&quot;unit&quot;:&quot;&quot;,&quot;value&quot;:551,&quot;weight&quot;:1,&quot;z&quot;:4},{&quot;after&quot;:94.6,&quot;before&quot;:91.8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order&quot;:4,&quot;section_id&quot;:&quot;performance&quot;,&quot;section_title&quot;:&quot;Performance&quot;,&quot;showTitle&quot;:true,&quot;title&quot;:&quot;Quarterly retention&quot;,&quot;type&quot;:&quot;comparison&quot;,&quot;unit&quot;:&quot;%&quot;,&quot;weight&quot;:1,&quot;z&quot;:5},{&quot;composition_role&quot;:&quot;primary_analysis&quot;,&quot;data&quot;:[],&quot;dataset_id&quot;:&quot;dataset-mufqnhco-f8rdrc&quot;,&quot;element&quot;:&quot;Line Chart&quot;,&quot;engine&quot;:&quot;CoreChartEngine&quot;,&quot;groupId&quot;:null,&quot;id&quot;:&quot;c6&quot;,&quot;locked&quot;:false,&quot;mapping&quot;:{&quot;category&quot;:&quot;quarter_1&quot;,&quot;value&quot;:&quot;retention_2&quot;,&quot;x&quot;:&quot;quarter_1&quot;,&quot;y&quot;:&quot;retention_2&quot;},&quot;message_role&quot;:&quot;Primary Evidence&quot;,&quot;order&quot;:5,&quot;section_id&quot;:&quot;analysis&quot;,&quot;section_title&quot;:&quot;Analysis&quot;,&quot;showTitle&quot;:true,&quot;title&quot;:&quot;Quarterly retention&quot;,&quot;type&quot;:&quot;chart&quot;,&quot;weight&quot;:1,&quot;z&quot;:6},{&quot;composition_role&quot;:&quot;detailed_evidence&quot;,&quot;customTable&quot;:{&quot;headers&quot;:[&quot;Region&quot;,&quot;Revenue&quot;,&quot;Retention&quot;,&quot;Status&quot;],&quot;rows&quot;:[[&quot;North&quot;,184,&quot;94.1%&quot;,&quot;Watch&quot;],[&quot;South&quot;,156,&quot;92.8%&quot;,&quot;Below target&quot;],[&quot;West&quot;,211,&quot;95.0%&quot;,&quot;On plan&quot;]]},&quot;element&quot;:&quot;Clean Table&quot;,&quot;engine&quot;:&quot;TableEngine&quot;,&quot;groupId&quot;:null,&quot;id&quot;:&quot;c7&quot;,&quot;locked&quot;:false,&quot;message_role&quot;:&quot;Primary Evidence&quot;,&quot;order&quot;:6,&quot;rows&quot;:[[&quot;North&quot;,184,&quot;94.1%&quot;,&quot;Watch&quot;],[&quot;South&quot;,156,&quot;92.8%&quot;,&quot;Below target&quot;],[&quot;West&quot;,211,&quot;95.0%&quot;,&quot;On plan&quot;]],&quot;section_id&quot;:&quot;evidence&quot;,&quot;section_title&quot;:&quot;Regional evidence&quot;,&quot;title&quot;:&quot;Clean Table&quot;,&quot;type&quot;:&quot;table&quot;,&quot;weight&quot;:1,&quot;z&quot;:7},{&quot;composition_role&quot;:&quot;decision_risk&quot;,&quot;detail&quot;:&quot;Close the South retention gap before the next review.&quot;,&quot;element&quot;:&quot;Risk Callout&quot;,&quot;engine&quot;:&quot;DecisionCompositeEngine&quot;,&quot;groupId&quot;:null,&quot;id&quot;:&quot;c8&quot;,&quot;locked&quot;:false,&quot;message_role&quot;:&quot;Risk&quot;,&quot;order&quot;:7,&quot;section_id&quot;:&quot;decision&quot;,&quot;section_title&quot;:&quot;Decision&quot;,&quot;statement&quot;:&quot;Proceed with monitored revenue recovery&quot;,&quot;status&quot;:&quot;Review&quot;,&quot;title&quot;:&quot;Risk Callout&quot;,&quot;type&quot;:&quot;decision&quot;,&quot;weight&quot;:1,&quot;z&quot;:8},{&quot;body&quot;:&quot;Next step: close the South retention gap before the next quarterly review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8,&quot;section_id&quot;:&quot;delivery&quot;,&quot;section_title&quot;:&quot;Decision and next step&quot;,&quot;text&quot;:&quot;Next step: close the South retention gap before the next quarterly review.&quot;,&quot;title&quot;:&quot;Key Takeaway&quot;,&quot;type&quot;:&quot;text&quot;,&quot;weight&quot;:1,&quot;z&quot;:9}],&quot;layoutPreset&quot;:&quot;executive&quot;,&quot;mode&quot;:&quot;smart&quot;,&quot;nextId&quot;:10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