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10100" cy="12191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Yield by shift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Yield by shift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94.1</c:v>
                </c:pt>
                <c:pt idx="1">
                  <c:v>94.6</c:v>
                </c:pt>
                <c:pt idx="2">
                  <c:v>95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Critical measurement trend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Critical measurement trend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94.1</c:v>
                </c:pt>
                <c:pt idx="1">
                  <c:v>94.6</c:v>
                </c:pt>
                <c:pt idx="2">
                  <c:v>95</c:v>
                </c:pt>
                <c:pt idx="3">
                  <c:v>94.8</c:v>
                </c:pt>
                <c:pt idx="4">
                  <c:v>95.2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Executive Statement" descr="VisualizerSemantic:{&quot;body&quot;:&quot;Shift B recovered yield after chamber maintenance. Keep the recipe locked through the next paired-lot check and hand off the evidence to Quality and Equipment Engineering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Operating summary&quot;,&quot;text&quot;:&quot;Shift B recovered yield after chamber maintenance. Keep the recipe locked through the next paired-lot check and hand off the evidence to Quality and Equipment Engineering.&quot;,&quot;title&quot;:&quot;Executive Statement&quot;,&quot;type&quot;:&quot;text&quot;,&quot;weight&quot;:1,&quot;z&quot;:1,&quot;x&quot;:14.0,&quot;y&quot;:40.0,&quot;w&quot;:1059.44,&quot;h&quot;:120.96000000000001}"/>
          <p:cNvSpPr/>
          <p:nvPr/>
        </p:nvSpPr>
        <p:spPr>
          <a:xfrm>
            <a:off x="71838" y="205252"/>
            <a:ext cx="5436317" cy="620683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Executive Statement</a:t>
            </a:r>
          </a:p>
          <a:p>
            <a:pPr>
              <a:defRPr sz="1000"/>
            </a:pPr>
            <a:r>
              <a:t>Shift B recovered yield after chamber maintenance. Keep the recipe locked through the next paired-lot check and hand off the evidence to Quality and Equipment Engineering.</a:t>
            </a:r>
          </a:p>
        </p:txBody>
      </p:sp>
      <p:sp>
        <p:nvSpPr>
          <p:cNvPr id="3" name="VIZ::Report context" descr="VisualizerSemantic:{&quot;body&quot;:&quot;Line 4 · shifts A–C · chamber A controls · capacity release review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Operating summary&quot;,&quot;text&quot;:&quot;Line 4 · shifts A–C · chamber A controls · capacity release review.&quot;,&quot;title&quot;:&quot;Report context&quot;,&quot;type&quot;:&quot;text&quot;,&quot;weight&quot;:1,&quot;z&quot;:2,&quot;x&quot;:1087.44,&quot;y&quot;:64.48,&quot;w&quot;:498.56,&quot;h&quot;:72.0}"/>
          <p:cNvSpPr/>
          <p:nvPr/>
        </p:nvSpPr>
        <p:spPr>
          <a:xfrm>
            <a:off x="5579994" y="330867"/>
            <a:ext cx="2558267" cy="369454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Report context</a:t>
            </a:r>
          </a:p>
          <a:p>
            <a:pPr>
              <a:defRPr sz="1000"/>
            </a:pPr>
            <a:r>
              <a:t>Line 4 · shifts A–C · chamber A controls · capacity release review.</a:t>
            </a:r>
          </a:p>
        </p:txBody>
      </p:sp>
      <p:sp>
        <p:nvSpPr>
          <p:cNvPr id="4" name="VIZ::First pass yield KPI" descr="VisualizerSemantic:{&quot;capability_overrides&quot;:{&quot;target&quot;:96},&quot;composition_role&quot;:&quot;hero_metric&quot;,&quot;delta&quot;:0.9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96,&quot;title&quot;:&quot;First pass yield&quot;,&quot;type&quot;:&quot;metric&quot;,&quot;unit&quot;:&quot;%&quot;,&quot;value&quot;:95,&quot;weight&quot;:1,&quot;z&quot;:3,&quot;x&quot;:14.0,&quot;y&quot;:194.96,&quot;w&quot;:872.4800000000001,&quot;h&quot;:206.0}"/>
          <p:cNvSpPr/>
          <p:nvPr/>
        </p:nvSpPr>
        <p:spPr>
          <a:xfrm>
            <a:off x="71838" y="1000400"/>
            <a:ext cx="4476967" cy="105705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E6E73"/>
                </a:solidFill>
                <a:latin typeface="Arial"/>
              </a:defRPr>
            </a:pPr>
            <a:r>
              <a:t>First pass yield</a:t>
            </a:r>
          </a:p>
          <a:p>
            <a:pPr>
              <a:defRPr b="1" sz="2400"/>
            </a:pPr>
            <a:r>
              <a:t>95%</a:t>
            </a:r>
          </a:p>
        </p:txBody>
      </p:sp>
      <p:sp>
        <p:nvSpPr>
          <p:cNvPr id="5" name="VIZ::Unplanned downtime KPI" descr="VisualizerSemantic:{&quot;capability_overrides&quot;:{&quot;target&quot;:6},&quot;composition_role&quot;:&quot;hero_metric&quot;,&quot;delta&quot;:-1.7,&quot;element&quot;:&quot;Hero KPI&quot;,&quot;engine&quot;:&quot;MetricEngine&quot;,&quot;groupId&quot;:null,&quot;id&quot;:&quot;c4&quot;,&quot;locked&quot;:false,&quot;message_role&quot;:&quot;Supporting Evidence&quot;,&quot;order&quot;:3,&quot;section_id&quot;:&quot;performance&quot;,&quot;section_title&quot;:&quot;Performance&quot;,&quot;showTitle&quot;:true,&quot;target&quot;:6,&quot;title&quot;:&quot;Unplanned downtime&quot;,&quot;type&quot;:&quot;metric&quot;,&quot;unit&quot;:&quot;h&quot;,&quot;value&quot;:8.3,&quot;weight&quot;:1,&quot;z&quot;:4,&quot;x&quot;:900.4800000000001,&quot;y&quot;:194.96,&quot;w&quot;:685.52,&quot;h&quot;:206.0}"/>
          <p:cNvSpPr/>
          <p:nvPr/>
        </p:nvSpPr>
        <p:spPr>
          <a:xfrm>
            <a:off x="4620644" y="1000400"/>
            <a:ext cx="3517617" cy="105705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E6E73"/>
                </a:solidFill>
                <a:latin typeface="Arial"/>
              </a:defRPr>
            </a:pPr>
            <a:r>
              <a:t>Unplanned downtime</a:t>
            </a:r>
          </a:p>
          <a:p>
            <a:pPr>
              <a:defRPr b="1" sz="2400"/>
            </a:pPr>
            <a:r>
              <a:t>8.3 h</a:t>
            </a:r>
          </a:p>
        </p:txBody>
      </p:sp>
      <p:graphicFrame>
        <p:nvGraphicFramePr>
          <p:cNvPr id="6" name="Chart 5" descr="VisualizerSemantic:{&quot;composition_role&quot;:&quot;primary_analysis&quot;,&quot;data&quot;:[[&quot;A&quot;,94.1],[&quot;B&quot;,94.6],[&quot;C&quot;,95]],&quot;dataset_id&quot;:&quot;dataset-mufqo6cm-khy4mc&quot;,&quot;element&quot;:&quot;Line Chart&quot;,&quot;engine&quot;:&quot;CoreChartEngine&quot;,&quot;groupId&quot;:null,&quot;id&quot;:&quot;c5&quot;,&quot;locked&quot;:false,&quot;mapping&quot;:{&quot;category&quot;:&quot;shift_1&quot;,&quot;value&quot;:&quot;yield_2&quot;,&quot;x&quot;:&quot;shift_1&quot;,&quot;y&quot;:&quot;yield_2&quot;},&quot;message_role&quot;:&quot;Primary Evidence&quot;,&quot;order&quot;:4,&quot;section_id&quot;:&quot;analysis&quot;,&quot;section_title&quot;:&quot;Analysis&quot;,&quot;showTitle&quot;:true,&quot;title&quot;:&quot;Yield by shift&quot;,&quot;type&quot;:&quot;chart&quot;,&quot;weight&quot;:1,&quot;z&quot;:5,&quot;rows&quot;:[{&quot;label&quot;:&quot;A&quot;,&quot;value&quot;:94.1},{&quot;label&quot;:&quot;B&quot;,&quot;value&quot;:94.6},{&quot;label&quot;:&quot;C&quot;,&quot;value&quot;:95}],&quot;observations&quot;:[{&quot;label&quot;:&quot;A&quot;,&quot;value&quot;:94.1},{&quot;label&quot;:&quot;B&quot;,&quot;value&quot;:94.6},{&quot;label&quot;:&quot;C&quot;,&quot;value&quot;:95}],&quot;x&quot;:775.8399999999999,&quot;y&quot;:434.96000000000004,&quot;w&quot;:810.1600000000001,&quot;h&quot;:393.16588235294125}"/>
          <p:cNvGraphicFramePr>
            <a:graphicFrameLocks noGrp="1"/>
          </p:cNvGraphicFramePr>
          <p:nvPr/>
        </p:nvGraphicFramePr>
        <p:xfrm>
          <a:off x="3981077" y="2231915"/>
          <a:ext cx="4157184" cy="2017457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Chart 6" descr="VisualizerSemantic:{&quot;composition_role&quot;:&quot;primary_analysis&quot;,&quot;dataset_id&quot;:&quot;dataset-mufqo8h8-rrlb7b&quot;,&quot;element&quot;:&quot;SPC Control Chart&quot;,&quot;engine&quot;:&quot;EngineeringChartEngine&quot;,&quot;groupId&quot;:null,&quot;id&quot;:&quot;c6&quot;,&quot;locked&quot;:false,&quot;lower_limit&quot;:null,&quot;mapping&quot;:{&quot;specification_high&quot;:&quot;usl_4&quot;,&quot;specification_low&quot;:&quot;lsl_3&quot;,&quot;time&quot;:&quot;time_1&quot;,&quot;value&quot;:&quot;measurement_2&quot;,&quot;x&quot;:&quot;time_1&quot;,&quot;y&quot;:&quot;measurement_2&quot;},&quot;message_role&quot;:&quot;Primary Evidence&quot;,&quot;observations&quot;:[{&quot;label&quot;:&quot;1&quot;,&quot;value&quot;:94.1},{&quot;label&quot;:&quot;2&quot;,&quot;value&quot;:94.6},{&quot;label&quot;:&quot;3&quot;,&quot;value&quot;:95},{&quot;label&quot;:&quot;4&quot;,&quot;value&quot;:94.8},{&quot;label&quot;:&quot;5&quot;,&quot;value&quot;:95.2}],&quot;order&quot;:5,&quot;section_id&quot;:&quot;analysis&quot;,&quot;section_title&quot;:&quot;Analysis&quot;,&quot;title&quot;:&quot;Critical measurement trend&quot;,&quot;type&quot;:&quot;engineering&quot;,&quot;upper_limit&quot;:null,&quot;weight&quot;:1,&quot;z&quot;:6,&quot;data&quot;:[[&quot;1&quot;,94.1],[&quot;2&quot;,94.6],[&quot;3&quot;,95],[&quot;4&quot;,94.8],[&quot;5&quot;,95.2]],&quot;rows&quot;:[{&quot;label&quot;:&quot;1&quot;,&quot;value&quot;:94.1},{&quot;label&quot;:&quot;2&quot;,&quot;value&quot;:94.6},{&quot;label&quot;:&quot;3&quot;,&quot;value&quot;:95},{&quot;label&quot;:&quot;4&quot;,&quot;value&quot;:94.8},{&quot;label&quot;:&quot;5&quot;,&quot;value&quot;:95.2}],&quot;x&quot;:365.6242424242424,&quot;y&quot;:836.1258823529413,&quot;w&quot;:868.7515151515152,&quot;h&quot;:421.6}"/>
          <p:cNvGraphicFramePr>
            <a:graphicFrameLocks noGrp="1"/>
          </p:cNvGraphicFramePr>
          <p:nvPr/>
        </p:nvGraphicFramePr>
        <p:xfrm>
          <a:off x="1876132" y="4290423"/>
          <a:ext cx="4457835" cy="2163361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VIZ::Body Narrative" descr="VisualizerSemantic:{&quot;body&quot;:&quot;Yield recovered from 94.1% on shift A to 95.0% on shift C, while the control sample remains within specification. Keep the recipe locked until the next paired-lot check closes the two open items.&quot;,&quot;composition_role&quot;:&quot;narrative_interpretation&quot;,&quot;element&quot;:&quot;Body Narrative&quot;,&quot;engine&quot;:&quot;TextEngine&quot;,&quot;groupId&quot;:null,&quot;id&quot;:&quot;c12&quot;,&quot;locked&quot;:false,&quot;message_role&quot;:&quot;Context&quot;,&quot;order&quot;:6,&quot;section_id&quot;:&quot;analysis&quot;,&quot;section_title&quot;:&quot;Shift interpretation&quot;,&quot;text&quot;:&quot;Yield recovered from 94.1% on shift A to 95.0% on shift C, while the control sample remains within specification. Keep the recipe locked until the next paired-lot check closes the two open items.&quot;,&quot;title&quot;:&quot;Body Narrative&quot;,&quot;type&quot;:&quot;text&quot;,&quot;weight&quot;:1,&quot;z&quot;:12,&quot;x&quot;:14.0,&quot;y&quot;:573.5429411764707,&quot;w&quot;:747.8399999999999,&quot;h&quot;:116.0}"/>
          <p:cNvSpPr/>
          <p:nvPr/>
        </p:nvSpPr>
        <p:spPr>
          <a:xfrm>
            <a:off x="71838" y="2943028"/>
            <a:ext cx="3837400" cy="595232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Body Narrative</a:t>
            </a:r>
          </a:p>
          <a:p>
            <a:pPr>
              <a:defRPr sz="1000"/>
            </a:pPr>
            <a:r>
              <a:t>Yield recovered from 94.1% on shift A to 95.0% on shift C, while the control sample remains within specification. Keep the recipe locked until the next paired-lot check closes the two open items.</a:t>
            </a:r>
          </a:p>
        </p:txBody>
      </p:sp>
      <p:sp>
        <p:nvSpPr>
          <p:cNvPr id="9" name="VIZ::Process Flow"/>
          <p:cNvSpPr/>
          <p:nvPr/>
        </p:nvSpPr>
        <p:spPr>
          <a:xfrm>
            <a:off x="1997928" y="6628249"/>
            <a:ext cx="4214244" cy="872323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100" b="1">
                <a:solidFill>
                  <a:srgbClr val="1D1D1F"/>
                </a:solidFill>
                <a:latin typeface="Arial"/>
              </a:defRPr>
            </a:pPr>
          </a:p>
        </p:txBody>
      </p:sp>
      <p:sp>
        <p:nvSpPr>
          <p:cNvPr id="11" name="VIZ::Evidence Card" descr="VisualizerSemantic:{&quot;composition_role&quot;:&quot;detailed_evidence&quot;,&quot;detail&quot;:&quot;Sample: 30 parts · method: inline metrology · source: shift B inspection.&quot;,&quot;element&quot;:&quot;Evidence Card&quot;,&quot;engine&quot;:&quot;EvidenceCompositeEngine&quot;,&quot;groupId&quot;:null,&quot;id&quot;:&quot;c9&quot;,&quot;locked&quot;:false,&quot;message_role&quot;:&quot;Primary Evidence&quot;,&quot;order&quot;:9,&quot;section_id&quot;:&quot;evidence&quot;,&quot;section_title&quot;:&quot;Operating evidence&quot;,&quot;statement&quot;:&quot;Measurement system remains within the qualified reference range.&quot;,&quot;status&quot;:&quot;Verified&quot;,&quot;title&quot;:&quot;Evidence Card&quot;,&quot;type&quot;:&quot;evidence&quot;,&quot;weight&quot;:1,&quot;z&quot;:9,&quot;x&quot;:14.0,&quot;y&quot;:1788.1658823529415,&quot;w&quot;:1572.0,&quot;h&quot;:255.2}"/>
          <p:cNvSpPr/>
          <p:nvPr/>
        </p:nvSpPr>
        <p:spPr>
          <a:xfrm>
            <a:off x="71838" y="9175638"/>
            <a:ext cx="8066423" cy="1309510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Evidence Card</a:t>
            </a:r>
          </a:p>
          <a:p>
            <a:pPr>
              <a:defRPr sz="1000"/>
            </a:pPr>
            <a:r>
              <a:t>Measurement system remains within the qualified reference range.</a:t>
            </a:r>
            <a:br/>
            <a:r>
              <a:t>Sample: 30 parts · method: inline metrology · source: shift B inspection.</a:t>
            </a:r>
            <a:br/>
            <a:r>
              <a:t>Verified</a:t>
            </a:r>
          </a:p>
        </p:txBody>
      </p:sp>
      <p:sp>
        <p:nvSpPr>
          <p:cNvPr id="12" name="VIZ::Risk Callout" descr="VisualizerSemantic:{&quot;composition_role&quot;:&quot;decision_risk&quot;,&quot;detail&quot;:&quot;Keep the recipe locked and attach the next-shift control evidence.&quot;,&quot;element&quot;:&quot;Risk Callout&quot;,&quot;engine&quot;:&quot;DecisionCompositeEngine&quot;,&quot;groupId&quot;:null,&quot;id&quot;:&quot;c10&quot;,&quot;locked&quot;:false,&quot;message_role&quot;:&quot;Risk&quot;,&quot;order&quot;:10,&quot;section_id&quot;:&quot;decision&quot;,&quot;section_title&quot;:&quot;Decision&quot;,&quot;statement&quot;:&quot;Hold added capacity until the paired-lot check closes&quot;,&quot;status&quot;:&quot;Review&quot;,&quot;title&quot;:&quot;Risk Callout&quot;,&quot;type&quot;:&quot;decision&quot;,&quot;weight&quot;:1,&quot;z&quot;:10,&quot;x&quot;:14.0,&quot;y&quot;:2077.3658823529413,&quot;w&quot;:1572.0,&quot;h&quot;:94.0}"/>
          <p:cNvSpPr/>
          <p:nvPr/>
        </p:nvSpPr>
        <p:spPr>
          <a:xfrm>
            <a:off x="71838" y="10659613"/>
            <a:ext cx="8066423" cy="482343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Risk Callout</a:t>
            </a:r>
          </a:p>
          <a:p>
            <a:pPr>
              <a:defRPr sz="1000"/>
            </a:pPr>
            <a:r>
              <a:t>Hold added capacity until the paired-lot check closes</a:t>
            </a:r>
            <a:br/>
            <a:r>
              <a:t>Keep the recipe locked and attach the next-shift control evidence.</a:t>
            </a:r>
            <a:br/>
            <a:r>
              <a:t>Review</a:t>
            </a:r>
          </a:p>
        </p:txBody>
      </p:sp>
      <p:sp>
        <p:nvSpPr>
          <p:cNvPr id="13" name="VIZ::Project Card" descr="VisualizerSemantic:{&quot;composition_role&quot;:&quot;action_status&quot;,&quot;detail&quot;:&quot;Owner: Equipment Engineering · due next shift · evidence: paired control lot.&quot;,&quot;element&quot;:&quot;Project Card&quot;,&quot;engine&quot;:&quot;ProjectCompositeEngine&quot;,&quot;groupId&quot;:null,&quot;id&quot;:&quot;c11&quot;,&quot;locked&quot;:false,&quot;message_role&quot;:&quot;Action&quot;,&quot;order&quot;:11,&quot;section_id&quot;:&quot;delivery&quot;,&quot;section_title&quot;:&quot;Next steps&quot;,&quot;statement&quot;:&quot;Complete chamber verification and update the runbook.&quot;,&quot;status&quot;:&quot;Active&quot;,&quot;title&quot;:&quot;Project Card&quot;,&quot;type&quot;:&quot;project&quot;,&quot;weight&quot;:1,&quot;z&quot;:11,&quot;x&quot;:14.0,&quot;y&quot;:2205.3658823529413,&quot;w&quot;:1572.0,&quot;h&quot;:156.0}"/>
          <p:cNvSpPr/>
          <p:nvPr/>
        </p:nvSpPr>
        <p:spPr>
          <a:xfrm>
            <a:off x="71838" y="11316421"/>
            <a:ext cx="8066423" cy="800484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Project Card</a:t>
            </a:r>
          </a:p>
          <a:p>
            <a:pPr>
              <a:defRPr sz="1000"/>
            </a:pPr>
            <a:r>
              <a:t>Complete chamber verification and update the runbook.</a:t>
            </a:r>
            <a:br/>
            <a:r>
              <a:t>Owner: Equipment Engineering · due next shift · evidence: paired control lot.</a:t>
            </a:r>
            <a:br/>
            <a:r>
              <a:t>Active</a:t>
            </a:r>
          </a:p>
        </p:txBody>
      </p:sp>
      <p:sp>
        <p:nvSpPr>
          <p:cNvPr id="14" name="VIZ::DiagramTitle::Process Flow::1" descr="VisualizerDiagramContinuation:{&quot;item_id&quot;:&quot;c8&quot;,&quot;page&quot;:1,&quot;page_count&quot;:1,&quot;direction&quot;:&quot;right&quot;}"/>
          <p:cNvSpPr txBox="1"/>
          <p:nvPr/>
        </p:nvSpPr>
        <p:spPr>
          <a:xfrm>
            <a:off x="2052792" y="6646537"/>
            <a:ext cx="4104516" cy="228600"/>
          </a:xfrm>
          <a:prstGeom prst="rect">
            <a:avLst/>
          </a:prstGeom>
          <a:noFill/>
        </p:spPr>
        <p:txBody>
          <a:bodyPr wrap="none" lIns="45720" rIns="45720" tIns="22860" bIns="22860" anchor="ctr">
            <a:spAutoFit/>
          </a:bodyPr>
          <a:lstStyle/>
          <a:p>
            <a:pPr algn="ctr">
              <a:lnSpc>
                <a:spcPts val="1288"/>
              </a:lnSpc>
              <a:spcAft>
                <a:spcPts val="0"/>
              </a:spcAft>
              <a:defRPr sz="1150" b="1">
                <a:solidFill>
                  <a:srgbClr val="233449"/>
                </a:solidFill>
                <a:latin typeface="Arial"/>
              </a:defRPr>
            </a:pPr>
            <a:r>
              <a:t>Process Flow</a:t>
            </a:r>
          </a:p>
        </p:txBody>
      </p:sp>
      <p:sp>
        <p:nvSpPr>
          <p:cNvPr id="15" name="VIZ::Process Flow::Detect::node-1" descr="VisualizerSemantic:{&quot;composition_role&quot;:&quot;causal_evidence&quot;,&quot;edges&quot;:[[&quot;Detect&quot;,&quot;Contain&quot;],[&quot;Contain&quot;,&quot;Verify&quot;],[&quot;Verify&quot;,&quot;Release&quot;]],&quot;element&quot;:&quot;Process Flow&quot;,&quot;engine&quot;:&quot;DiagramEngine&quot;,&quot;groupId&quot;:null,&quot;id&quot;:&quot;c8&quot;,&quot;locked&quot;:false,&quot;message_role&quot;:&quot;Primary Evidence&quot;,&quot;nodes&quot;:[&quot;Detect&quot;,&quot;Contain&quot;,&quot;Verify&quot;,&quot;Release&quot;],&quot;order&quot;:7,&quot;section_id&quot;:&quot;evidence&quot;,&quot;section_title&quot;:&quot;Response workflow&quot;,&quot;title&quot;:&quot;Process Flow&quot;,&quot;type&quot;:&quot;diagram&quot;,&quot;weight&quot;:1,&quot;z&quot;:8,&quot;x&quot;:389.36,&quot;y&quot;:1291.7258823529414,&quot;w&quot;:821.28,&quot;h&quot;:170.0}"/>
          <p:cNvSpPr/>
          <p:nvPr/>
        </p:nvSpPr>
        <p:spPr>
          <a:xfrm>
            <a:off x="2052792" y="6936394"/>
            <a:ext cx="875253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Detect</a:t>
            </a:r>
          </a:p>
        </p:txBody>
      </p:sp>
      <p:sp>
        <p:nvSpPr>
          <p:cNvPr id="16" name="VIZ::Process Flow::Contain::node-2" descr="VisualizerDiagramNode:{&quot;item_id&quot;:&quot;c8&quot;,&quot;node_index&quot;:1,&quot;label&quot;:&quot;Contain&quot;,&quot;page&quot;:1,&quot;page_count&quot;:1,&quot;direction&quot;:&quot;right&quot;}"/>
          <p:cNvSpPr/>
          <p:nvPr/>
        </p:nvSpPr>
        <p:spPr>
          <a:xfrm>
            <a:off x="3129213" y="6936394"/>
            <a:ext cx="875253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Contain</a:t>
            </a:r>
          </a:p>
        </p:txBody>
      </p:sp>
      <p:sp>
        <p:nvSpPr>
          <p:cNvPr id="17" name="VIZ::Process Flow::Verify::node-3" descr="VisualizerDiagramNode:{&quot;item_id&quot;:&quot;c8&quot;,&quot;node_index&quot;:2,&quot;label&quot;:&quot;Verify&quot;,&quot;page&quot;:1,&quot;page_count&quot;:1,&quot;direction&quot;:&quot;right&quot;}"/>
          <p:cNvSpPr/>
          <p:nvPr/>
        </p:nvSpPr>
        <p:spPr>
          <a:xfrm>
            <a:off x="4205634" y="6936394"/>
            <a:ext cx="875253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Verify</a:t>
            </a:r>
          </a:p>
        </p:txBody>
      </p:sp>
      <p:sp>
        <p:nvSpPr>
          <p:cNvPr id="18" name="VIZ::Process Flow::Release::node-4" descr="VisualizerDiagramNode:{&quot;item_id&quot;:&quot;c8&quot;,&quot;node_index&quot;:3,&quot;label&quot;:&quot;Release&quot;,&quot;page&quot;:1,&quot;page_count&quot;:1,&quot;direction&quot;:&quot;right&quot;}"/>
          <p:cNvSpPr/>
          <p:nvPr/>
        </p:nvSpPr>
        <p:spPr>
          <a:xfrm>
            <a:off x="5282055" y="6936394"/>
            <a:ext cx="875253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Release</a:t>
            </a:r>
          </a:p>
        </p:txBody>
      </p:sp>
      <p:cxnSp>
        <p:nvCxnSpPr>
          <p:cNvPr id="19" name="VIZ::DiagramEdge::Process Flow::1" descr="VisualizerSemanticEdge:{&quot;item_id&quot;:&quot;c8&quot;,&quot;edge_index&quot;:0,&quot;source&quot;:&quot;Detect&quot;,&quot;target&quot;:&quot;Contain&quot;,&quot;continuation&quot;:false}"/>
          <p:cNvCxnSpPr/>
          <p:nvPr/>
        </p:nvCxnSpPr>
        <p:spPr>
          <a:xfrm>
            <a:off x="2932617" y="7183282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VIZ::DiagramEdge::Process Flow::2" descr="VisualizerSemanticEdge:{&quot;item_id&quot;:&quot;c8&quot;,&quot;edge_index&quot;:1,&quot;source&quot;:&quot;Contain&quot;,&quot;target&quot;:&quot;Verify&quot;,&quot;continuation&quot;:false}"/>
          <p:cNvCxnSpPr/>
          <p:nvPr/>
        </p:nvCxnSpPr>
        <p:spPr>
          <a:xfrm>
            <a:off x="4009038" y="7183282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VIZ::DiagramEdge::Process Flow::3" descr="VisualizerSemanticEdge:{&quot;item_id&quot;:&quot;c8&quot;,&quot;edge_index&quot;:2,&quot;source&quot;:&quot;Verify&quot;,&quot;target&quot;:&quot;Release&quot;,&quot;continuation&quot;:false}"/>
          <p:cNvCxnSpPr/>
          <p:nvPr/>
        </p:nvCxnSpPr>
        <p:spPr>
          <a:xfrm>
            <a:off x="5085459" y="7183282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VIZ::Clean Table" descr="VisualizerSemantic:{&quot;composition_role&quot;:&quot;detailed_evidence&quot;,&quot;customTable&quot;:{&quot;headers&quot;:[&quot;Tool&quot;,&quot;Chamber&quot;,&quot;Measure&quot;,&quot;Owner&quot;,&quot;Status&quot;],&quot;rows&quot;:[[&quot;ETCH-08&quot;,&quot;A&quot;,&quot;Pressure&quot;,&quot;Equipment Eng.&quot;,&quot;Open&quot;],[&quot;ETCH-07&quot;,&quot;C&quot;,&quot;Flow&quot;,&quot;Process Eng.&quot;,&quot;Stable&quot;],[&quot;MET-02&quot;,&quot;B&quot;,&quot;Yield&quot;,&quot;Quality&quot;,&quot;Verified&quot;]]},&quot;element&quot;:&quot;Clean Table&quot;,&quot;engine&quot;:&quot;TableEngine&quot;,&quot;groupId&quot;:null,&quot;id&quot;:&quot;c7&quot;,&quot;locked&quot;:false,&quot;message_role&quot;:&quot;Primary Evidence&quot;,&quot;order&quot;:8,&quot;rows&quot;:[[&quot;ETCH-08&quot;,&quot;A&quot;,&quot;Pressure&quot;,&quot;Equipment Eng.&quot;,&quot;Open&quot;],[&quot;ETCH-07&quot;,&quot;C&quot;,&quot;Flow&quot;,&quot;Process Eng.&quot;,&quot;Stable&quot;],[&quot;MET-02&quot;,&quot;B&quot;,&quot;Yield&quot;,&quot;Quality&quot;,&quot;Verified&quot;]],&quot;section_id&quot;:&quot;evidence&quot;,&quot;section_title&quot;:&quot;Operating evidence&quot;,&quot;title&quot;:&quot;Clean Table&quot;,&quot;type&quot;:&quot;table&quot;,&quot;weight&quot;:1,&quot;z&quot;:7,&quot;x&quot;:14.0,&quot;y&quot;:1469.7258823529414,&quot;w&quot;:1572.0,&quot;h&quot;:300.44}"/>
          <p:cNvGraphicFramePr>
            <a:graphicFrameLocks noGrp="1"/>
          </p:cNvGraphicFramePr>
          <p:nvPr/>
        </p:nvGraphicFramePr>
        <p:xfrm>
          <a:off x="71838" y="7541622"/>
          <a:ext cx="8066423" cy="15416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3284"/>
                <a:gridCol w="1613284"/>
                <a:gridCol w="1613284"/>
                <a:gridCol w="1613284"/>
                <a:gridCol w="1613287"/>
              </a:tblGrid>
              <a:tr h="385412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Tool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Chamber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Measure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Status</a:t>
                      </a:r>
                    </a:p>
                  </a:txBody>
                  <a:tcPr/>
                </a:tc>
              </a:tr>
              <a:tr h="385412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ETCH-08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Pressure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Equipment Eng.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Open</a:t>
                      </a:r>
                    </a:p>
                  </a:txBody>
                  <a:tcPr/>
                </a:tc>
              </a:tr>
              <a:tr h="385412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ETCH-07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Process Eng.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Stable</a:t>
                      </a:r>
                    </a:p>
                  </a:txBody>
                  <a:tcPr/>
                </a:tc>
              </a:tr>
              <a:tr h="385415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MET-02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Yield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Quality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Verified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3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shift_1&quot;,&quot;name&quot;:&quot;Shift&quot;,&quot;nullable&quot;:false,&quot;profile&quot;:{&quot;distinct&quot;:3,&quot;missing&quot;:0},&quot;semantic_tags&quot;:[],&quot;type&quot;:&quot;categorical&quot;},{&quot;id&quot;:&quot;yield_2&quot;,&quot;name&quot;:&quot;Yield&quot;,&quot;nullable&quot;:false,&quot;profile&quot;:{&quot;distinct&quot;:3,&quot;missing&quot;:0},&quot;semantic_tags&quot;:[&quot;value&quot;],&quot;type&quot;:&quot;number&quot;,&quot;unit&quot;:&quot;&quot;}],&quot;id&quot;:&quot;dataset-mufqo6cm-khy4mc&quot;,&quot;metadata&quot;:{&quot;header&quot;:{&quot;confidence&quot;:1,&quot;present&quot;:true,&quot;source_row&quot;:0}},&quot;name&quot;:&quot;Pasted data&quot;,&quot;revision&quot;:1,&quot;rows&quot;:[[&quot;A&quot;,94.1],[&quot;B&quot;,94.6],[&quot;C&quot;,95]],&quot;source&quot;:{&quot;imported_at&quot;:&quot;2026-09-24T16:21:10.822Z&quot;,&quot;kind&quot;:&quot;clipboard&quot;,&quot;label&quot;:&quot;TSV&quot;},&quot;warnings&quot;:[]},{&quot;fields&quot;:[{&quot;id&quot;:&quot;time_1&quot;,&quot;name&quot;:&quot;Time&quot;,&quot;nullable&quot;:false,&quot;profile&quot;:{&quot;distinct&quot;:5,&quot;missing&quot;:0},&quot;semantic_tags&quot;:[&quot;time&quot;],&quot;type&quot;:&quot;integer&quot;,&quot;unit&quot;:&quot;&quot;},{&quot;id&quot;:&quot;measurement_2&quot;,&quot;name&quot;:&quot;Measurement&quot;,&quot;nullable&quot;:false,&quot;profile&quot;:{&quot;distinct&quot;:5,&quot;missing&quot;:0},&quot;semantic_tags&quot;:[&quot;value&quot;],&quot;type&quot;:&quot;number&quot;,&quot;unit&quot;:&quot;&quot;},{&quot;id&quot;:&quot;lsl_3&quot;,&quot;name&quot;:&quot;LSL&quot;,&quot;nullable&quot;:false,&quot;profile&quot;:{&quot;distinct&quot;:1,&quot;missing&quot;:0},&quot;semantic_tags&quot;:[&quot;specification_low&quot;],&quot;type&quot;:&quot;integer&quot;,&quot;unit&quot;:&quot;&quot;},{&quot;id&quot;:&quot;usl_4&quot;,&quot;name&quot;:&quot;USL&quot;,&quot;nullable&quot;:false,&quot;profile&quot;:{&quot;distinct&quot;:1,&quot;missing&quot;:0},&quot;semantic_tags&quot;:[&quot;specification_high&quot;],&quot;type&quot;:&quot;integer&quot;,&quot;unit&quot;:&quot;&quot;}],&quot;id&quot;:&quot;dataset-mufqo8h8-rrlb7b&quot;,&quot;metadata&quot;:{&quot;header&quot;:{&quot;confidence&quot;:1,&quot;present&quot;:true,&quot;source_row&quot;:0}},&quot;name&quot;:&quot;Pasted data&quot;,&quot;revision&quot;:1,&quot;rows&quot;:[[1,94.1,92,97],[2,94.6,92,97],[3,95,92,97],[4,94.8,92,97],[5,95.2,92,97]],&quot;source&quot;:{&quot;imported_at&quot;:&quot;2026-09-24T16:21:13.580Z&quot;,&quot;kind&quot;:&quot;clipboard&quot;,&quot;label&quot;:&quot;TSV&quot;},&quot;warnings&quot;:[{&quot;code&quot;:&quot;invalid_date&quot;,&quot;field&quot;:&quot;time_1&quot;,&quot;message&quot;:&quot;Time contains an invalid date; the original text was retained.&quot;,&quot;row&quot;:2},{&quot;code&quot;:&quot;invalid_date&quot;,&quot;field&quot;:&quot;time_1&quot;,&quot;message&quot;:&quot;Time contains an invalid date; the original text was retained.&quot;,&quot;row&quot;:3},{&quot;code&quot;:&quot;invalid_date&quot;,&quot;field&quot;:&quot;time_1&quot;,&quot;message&quot;:&quot;Time contains an invalid date; the original text was retained.&quot;,&quot;row&quot;:4},{&quot;code&quot;:&quot;invalid_date&quot;,&quot;field&quot;:&quot;time_1&quot;,&quot;message&quot;:&quot;Time contains an invalid date; the original text was retained.&quot;,&quot;row&quot;:5},{&quot;code&quot;:&quot;invalid_date&quot;,&quot;field&quot;:&quot;time_1&quot;,&quot;message&quot;:&quot;Time contains an invalid date; the original text was retained.&quot;,&quot;row&quot;:6}]}],&quot;groups&quot;:{},&quot;items&quot;:[{&quot;body&quot;:&quot;Shift B recovered yield after chamber maintenance. Keep the recipe locked through the next paired-lot check and hand off the evidence to Quality and Equipment Engineering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Operating summary&quot;,&quot;text&quot;:&quot;Shift B recovered yield after chamber maintenance. Keep the recipe locked through the next paired-lot check and hand off the evidence to Quality and Equipment Engineering.&quot;,&quot;title&quot;:&quot;Executive Statement&quot;,&quot;type&quot;:&quot;text&quot;,&quot;weight&quot;:1,&quot;z&quot;:1},{&quot;body&quot;:&quot;Line 4 · shifts A–C · chamber A controls · capacity release review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Operating summary&quot;,&quot;text&quot;:&quot;Line 4 · shifts A–C · chamber A controls · capacity release review.&quot;,&quot;title&quot;:&quot;Report context&quot;,&quot;type&quot;:&quot;text&quot;,&quot;weight&quot;:1,&quot;z&quot;:2},{&quot;capability_overrides&quot;:{&quot;target&quot;:96},&quot;composition_role&quot;:&quot;hero_metric&quot;,&quot;delta&quot;:0.9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96,&quot;title&quot;:&quot;First pass yield&quot;,&quot;type&quot;:&quot;metric&quot;,&quot;unit&quot;:&quot;%&quot;,&quot;value&quot;:95,&quot;weight&quot;:1,&quot;z&quot;:3},{&quot;capability_overrides&quot;:{&quot;target&quot;:6},&quot;composition_role&quot;:&quot;hero_metric&quot;,&quot;delta&quot;:-1.7,&quot;element&quot;:&quot;Hero KPI&quot;,&quot;engine&quot;:&quot;MetricEngine&quot;,&quot;groupId&quot;:null,&quot;id&quot;:&quot;c4&quot;,&quot;locked&quot;:false,&quot;message_role&quot;:&quot;Supporting Evidence&quot;,&quot;order&quot;:3,&quot;section_id&quot;:&quot;performance&quot;,&quot;section_title&quot;:&quot;Performance&quot;,&quot;showTitle&quot;:true,&quot;target&quot;:6,&quot;title&quot;:&quot;Unplanned downtime&quot;,&quot;type&quot;:&quot;metric&quot;,&quot;unit&quot;:&quot;h&quot;,&quot;value&quot;:8.3,&quot;weight&quot;:1,&quot;z&quot;:4},{&quot;composition_role&quot;:&quot;primary_analysis&quot;,&quot;data&quot;:[],&quot;dataset_id&quot;:&quot;dataset-mufqo6cm-khy4mc&quot;,&quot;element&quot;:&quot;Line Chart&quot;,&quot;engine&quot;:&quot;CoreChartEngine&quot;,&quot;groupId&quot;:null,&quot;id&quot;:&quot;c5&quot;,&quot;locked&quot;:false,&quot;mapping&quot;:{&quot;category&quot;:&quot;shift_1&quot;,&quot;value&quot;:&quot;yield_2&quot;,&quot;x&quot;:&quot;shift_1&quot;,&quot;y&quot;:&quot;yield_2&quot;},&quot;message_role&quot;:&quot;Primary Evidence&quot;,&quot;order&quot;:4,&quot;section_id&quot;:&quot;analysis&quot;,&quot;section_title&quot;:&quot;Analysis&quot;,&quot;showTitle&quot;:true,&quot;title&quot;:&quot;Yield by shift&quot;,&quot;type&quot;:&quot;chart&quot;,&quot;weight&quot;:1,&quot;z&quot;:5},{&quot;composition_role&quot;:&quot;primary_analysis&quot;,&quot;dataset_id&quot;:&quot;dataset-mufqo8h8-rrlb7b&quot;,&quot;element&quot;:&quot;SPC Control Chart&quot;,&quot;engine&quot;:&quot;EngineeringChartEngine&quot;,&quot;groupId&quot;:null,&quot;id&quot;:&quot;c6&quot;,&quot;locked&quot;:false,&quot;lower_limit&quot;:null,&quot;mapping&quot;:{&quot;specification_high&quot;:&quot;usl_4&quot;,&quot;specification_low&quot;:&quot;lsl_3&quot;,&quot;time&quot;:&quot;time_1&quot;,&quot;value&quot;:&quot;measurement_2&quot;,&quot;x&quot;:&quot;time_1&quot;,&quot;y&quot;:&quot;measurement_2&quot;},&quot;message_role&quot;:&quot;Primary Evidence&quot;,&quot;observations&quot;:[],&quot;order&quot;:5,&quot;section_id&quot;:&quot;analysis&quot;,&quot;section_title&quot;:&quot;Analysis&quot;,&quot;title&quot;:&quot;Critical measurement trend&quot;,&quot;type&quot;:&quot;engineering&quot;,&quot;upper_limit&quot;:null,&quot;weight&quot;:1,&quot;z&quot;:6},{&quot;composition_role&quot;:&quot;detailed_evidence&quot;,&quot;customTable&quot;:{&quot;headers&quot;:[&quot;Tool&quot;,&quot;Chamber&quot;,&quot;Measure&quot;,&quot;Owner&quot;,&quot;Status&quot;],&quot;rows&quot;:[[&quot;ETCH-08&quot;,&quot;A&quot;,&quot;Pressure&quot;,&quot;Equipment Eng.&quot;,&quot;Open&quot;],[&quot;ETCH-07&quot;,&quot;C&quot;,&quot;Flow&quot;,&quot;Process Eng.&quot;,&quot;Stable&quot;],[&quot;MET-02&quot;,&quot;B&quot;,&quot;Yield&quot;,&quot;Quality&quot;,&quot;Verified&quot;]]},&quot;element&quot;:&quot;Clean Table&quot;,&quot;engine&quot;:&quot;TableEngine&quot;,&quot;groupId&quot;:null,&quot;id&quot;:&quot;c7&quot;,&quot;locked&quot;:false,&quot;message_role&quot;:&quot;Primary Evidence&quot;,&quot;order&quot;:8,&quot;rows&quot;:[[&quot;ETCH-08&quot;,&quot;A&quot;,&quot;Pressure&quot;,&quot;Equipment Eng.&quot;,&quot;Open&quot;],[&quot;ETCH-07&quot;,&quot;C&quot;,&quot;Flow&quot;,&quot;Process Eng.&quot;,&quot;Stable&quot;],[&quot;MET-02&quot;,&quot;B&quot;,&quot;Yield&quot;,&quot;Quality&quot;,&quot;Verified&quot;]],&quot;section_id&quot;:&quot;evidence&quot;,&quot;section_title&quot;:&quot;Operating evidence&quot;,&quot;title&quot;:&quot;Clean Table&quot;,&quot;type&quot;:&quot;table&quot;,&quot;weight&quot;:1,&quot;z&quot;:7},{&quot;composition_role&quot;:&quot;causal_evidence&quot;,&quot;edges&quot;:[[&quot;Detect&quot;,&quot;Contain&quot;],[&quot;Contain&quot;,&quot;Verify&quot;],[&quot;Verify&quot;,&quot;Release&quot;]],&quot;element&quot;:&quot;Process Flow&quot;,&quot;engine&quot;:&quot;DiagramEngine&quot;,&quot;groupId&quot;:null,&quot;id&quot;:&quot;c8&quot;,&quot;locked&quot;:false,&quot;message_role&quot;:&quot;Primary Evidence&quot;,&quot;nodes&quot;:[&quot;Detect&quot;,&quot;Contain&quot;,&quot;Verify&quot;,&quot;Release&quot;],&quot;order&quot;:7,&quot;section_id&quot;:&quot;evidence&quot;,&quot;section_title&quot;:&quot;Response workflow&quot;,&quot;title&quot;:&quot;Process Flow&quot;,&quot;type&quot;:&quot;diagram&quot;,&quot;weight&quot;:1,&quot;z&quot;:8},{&quot;composition_role&quot;:&quot;detailed_evidence&quot;,&quot;detail&quot;:&quot;Sample: 30 parts · method: inline metrology · source: shift B inspection.&quot;,&quot;element&quot;:&quot;Evidence Card&quot;,&quot;engine&quot;:&quot;EvidenceCompositeEngine&quot;,&quot;groupId&quot;:null,&quot;id&quot;:&quot;c9&quot;,&quot;locked&quot;:false,&quot;message_role&quot;:&quot;Primary Evidence&quot;,&quot;order&quot;:9,&quot;section_id&quot;:&quot;evidence&quot;,&quot;section_title&quot;:&quot;Operating evidence&quot;,&quot;statement&quot;:&quot;Measurement system remains within the qualified reference range.&quot;,&quot;status&quot;:&quot;Verified&quot;,&quot;title&quot;:&quot;Evidence Card&quot;,&quot;type&quot;:&quot;evidence&quot;,&quot;weight&quot;:1,&quot;z&quot;:9},{&quot;composition_role&quot;:&quot;decision_risk&quot;,&quot;detail&quot;:&quot;Keep the recipe locked and attach the next-shift control evidence.&quot;,&quot;element&quot;:&quot;Risk Callout&quot;,&quot;engine&quot;:&quot;DecisionCompositeEngine&quot;,&quot;groupId&quot;:null,&quot;id&quot;:&quot;c10&quot;,&quot;locked&quot;:false,&quot;message_role&quot;:&quot;Risk&quot;,&quot;order&quot;:10,&quot;section_id&quot;:&quot;decision&quot;,&quot;section_title&quot;:&quot;Decision&quot;,&quot;statement&quot;:&quot;Hold added capacity until the paired-lot check closes&quot;,&quot;status&quot;:&quot;Review&quot;,&quot;title&quot;:&quot;Risk Callout&quot;,&quot;type&quot;:&quot;decision&quot;,&quot;weight&quot;:1,&quot;z&quot;:10},{&quot;composition_role&quot;:&quot;action_status&quot;,&quot;detail&quot;:&quot;Owner: Equipment Engineering · due next shift · evidence: paired control lot.&quot;,&quot;element&quot;:&quot;Project Card&quot;,&quot;engine&quot;:&quot;ProjectCompositeEngine&quot;,&quot;groupId&quot;:null,&quot;id&quot;:&quot;c11&quot;,&quot;locked&quot;:false,&quot;message_role&quot;:&quot;Action&quot;,&quot;order&quot;:11,&quot;section_id&quot;:&quot;delivery&quot;,&quot;section_title&quot;:&quot;Next steps&quot;,&quot;statement&quot;:&quot;Complete chamber verification and update the runbook.&quot;,&quot;status&quot;:&quot;Active&quot;,&quot;title&quot;:&quot;Project Card&quot;,&quot;type&quot;:&quot;project&quot;,&quot;weight&quot;:1,&quot;z&quot;:11},{&quot;body&quot;:&quot;Yield recovered from 94.1% on shift A to 95.0% on shift C, while the control sample remains within specification. Keep the recipe locked until the next paired-lot check closes the two open items.&quot;,&quot;composition_role&quot;:&quot;narrative_interpretation&quot;,&quot;element&quot;:&quot;Body Narrative&quot;,&quot;engine&quot;:&quot;TextEngine&quot;,&quot;groupId&quot;:null,&quot;id&quot;:&quot;c12&quot;,&quot;locked&quot;:false,&quot;message_role&quot;:&quot;Context&quot;,&quot;order&quot;:6,&quot;section_id&quot;:&quot;analysis&quot;,&quot;section_title&quot;:&quot;Shift interpretation&quot;,&quot;text&quot;:&quot;Yield recovered from 94.1% on shift A to 95.0% on shift C, while the control sample remains within specification. Keep the recipe locked until the next paired-lot check closes the two open items.&quot;,&quot;title&quot;:&quot;Body Narrative&quot;,&quot;type&quot;:&quot;text&quot;,&quot;weight&quot;:1,&quot;z&quot;:12}],&quot;layoutPreset&quot;:&quot;technical&quot;,&quot;mode&quot;:&quot;smart&quot;,&quot;nextId&quot;:13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