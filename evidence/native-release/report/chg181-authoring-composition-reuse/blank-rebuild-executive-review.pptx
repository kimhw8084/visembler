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237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4332" y="298093"/>
            <a:ext cx="7895287" cy="9161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West revenue leads East by 25 units in the regional review.</a:t>
            </a:r>
          </a:p>
        </p:txBody>
      </p:sp>
      <p:sp>
        <p:nvSpPr>
          <p:cNvPr id="3" name="VIZ::Body Narrative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103952" y="487870"/>
            <a:ext cx="3715429" cy="5365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676.48,&quot;y&quot;:202.43120000000002,&quot;w&quot;:447.76,&quot;h&quot;:205.0}"/>
          <p:cNvSpPr/>
          <p:nvPr/>
        </p:nvSpPr>
        <p:spPr>
          <a:xfrm>
            <a:off x="5041346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1138.24,&quot;y&quot;:202.43120000000002,&quot;w&quot;:447.76,&quot;h&quot;:205.0}"/>
          <p:cNvSpPr/>
          <p:nvPr/>
        </p:nvSpPr>
        <p:spPr>
          <a:xfrm>
            <a:off x="8482530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4.0,&quot;y&quot;:196.93120000000002,&quot;w&quot;:648.48,&quot;h&quot;:216.0}"/>
          <p:cNvSpPr/>
          <p:nvPr/>
        </p:nvSpPr>
        <p:spPr>
          <a:xfrm>
            <a:off x="104332" y="1467594"/>
            <a:ext cx="4832681" cy="160970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fqpb9e-pmlrpw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851.22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6343587" y="3330675"/>
          <a:ext cx="4914015" cy="23847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fqpb9e-pmlrpw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470.3030303030303,&quot;y&quot;:774.9312,&quot;w&quot;:659.3939393939394,&quot;h&quot;:320.0}"/>
          <p:cNvGraphicFramePr>
            <a:graphicFrameLocks noGrp="1"/>
          </p:cNvGraphicFramePr>
          <p:nvPr/>
        </p:nvGraphicFramePr>
        <p:xfrm>
          <a:off x="3504849" y="5775036"/>
          <a:ext cx="4914015" cy="238474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89.38303030303041,&quot;y&quot;:446.9312,&quot;w&quot;:747.8399999999999,&quot;h&quot;:116.0}"/>
          <p:cNvSpPr/>
          <p:nvPr/>
        </p:nvSpPr>
        <p:spPr>
          <a:xfrm>
            <a:off x="666111" y="3330675"/>
            <a:ext cx="5573144" cy="86446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384.9312,&quot;w&quot;:1572.0,&quot;h&quot;:101.52000000000001}"/>
          <p:cNvSpPr/>
          <p:nvPr/>
        </p:nvSpPr>
        <p:spPr>
          <a:xfrm>
            <a:off x="104332" y="10320953"/>
            <a:ext cx="11715049" cy="7565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2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520.4512,&quot;w&quot;:1572.0,&quot;h&quot;:100.80000000000001}"/>
          <p:cNvSpPr/>
          <p:nvPr/>
        </p:nvSpPr>
        <p:spPr>
          <a:xfrm>
            <a:off x="104332" y="11330891"/>
            <a:ext cx="11715049" cy="75119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1128.9312,&quot;w&quot;:1572.0,&quot;h&quot;:222.0}"/>
          <p:cNvGraphicFramePr>
            <a:graphicFrameLocks noGrp="1"/>
          </p:cNvGraphicFramePr>
          <p:nvPr/>
        </p:nvGraphicFramePr>
        <p:xfrm>
          <a:off x="104332" y="8413158"/>
          <a:ext cx="11715049" cy="165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2"/>
                <a:gridCol w="2928762"/>
                <a:gridCol w="2928762"/>
                <a:gridCol w="2928763"/>
              </a:tblGrid>
              <a:tr h="5514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514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514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pb9e-pmlrpw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6:22:03.842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pb9e-pmlrpw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pb9e-pmlrpw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