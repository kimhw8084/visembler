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0124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Conversion by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by week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W1</c:v>
                </c:pt>
                <c:pt idx="1">
                  <c:v>W1</c:v>
                </c:pt>
                <c:pt idx="2">
                  <c:v>W2</c:v>
                </c:pt>
                <c:pt idx="3">
                  <c:v>W2</c:v>
                </c:pt>
                <c:pt idx="4">
                  <c:v>W3</c:v>
                </c:pt>
                <c:pt idx="5">
                  <c:v>W3</c:v>
                </c:pt>
                <c:pt idx="6">
                  <c:v>W4</c:v>
                </c:pt>
                <c:pt idx="7">
                  <c:v>W4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8.2</c:v>
                </c:pt>
                <c:pt idx="2">
                  <c:v>8.1</c:v>
                </c:pt>
                <c:pt idx="3">
                  <c:v>8.7</c:v>
                </c:pt>
                <c:pt idx="4">
                  <c:v>8.4</c:v>
                </c:pt>
                <c:pt idx="5">
                  <c:v>9.4</c:v>
                </c:pt>
                <c:pt idx="6">
                  <c:v>8.5</c:v>
                </c:pt>
                <c:pt idx="7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Outcome distribution by cohort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Outcome distribution by cohort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Control</c:v>
                </c:pt>
                <c:pt idx="1">
                  <c:v>Control</c:v>
                </c:pt>
                <c:pt idx="2">
                  <c:v>Control</c:v>
                </c:pt>
                <c:pt idx="3">
                  <c:v>Control</c:v>
                </c:pt>
                <c:pt idx="4">
                  <c:v>Treatment</c:v>
                </c:pt>
                <c:pt idx="5">
                  <c:v>Treatment</c:v>
                </c:pt>
                <c:pt idx="6">
                  <c:v>Treatment</c:v>
                </c:pt>
                <c:pt idx="7">
                  <c:v>Treatment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8.1</c:v>
                </c:pt>
                <c:pt idx="2">
                  <c:v>8.4</c:v>
                </c:pt>
                <c:pt idx="3">
                  <c:v>8.5</c:v>
                </c:pt>
                <c:pt idx="4">
                  <c:v>8.2</c:v>
                </c:pt>
                <c:pt idx="5">
                  <c:v>8.7</c:v>
                </c:pt>
                <c:pt idx="6">
                  <c:v>9.4</c:v>
                </c:pt>
                <c:pt idx="7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105886" y="302530"/>
            <a:ext cx="8012835" cy="91485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The treatment cohort improved conversion across four weeks. The quality guardrail remained inside its agreed range; the sample does not establish long-term retention.</a:t>
            </a:r>
          </a:p>
        </p:txBody>
      </p:sp>
      <p:sp>
        <p:nvSpPr>
          <p:cNvPr id="3" name="VIZ::Hypothesis and context" descr="VisualizerSemantic: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8224607" y="487679"/>
            <a:ext cx="3770745" cy="54455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Hypothesis and context</a:t>
            </a:r>
          </a:p>
          <a:p>
            <a:pPr>
              <a:defRPr sz="1000"/>
            </a:pPr>
            <a:r>
              <a:t>Eligible new-account cohorts · W1–W4 · randomized control and treatment · conversion and quality guardrail.</a:t>
            </a:r>
          </a:p>
        </p:txBody>
      </p:sp>
      <p:sp>
        <p:nvSpPr>
          <p:cNvPr id="4" name="VIZ::Treatment conversion KPI" descr="VisualizerSemantic: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,&quot;x&quot;:900.4800000000001,&quot;y&quot;:200.46,&quot;w&quot;:685.52,&quot;h&quot;:205.0}"/>
          <p:cNvSpPr/>
          <p:nvPr/>
        </p:nvSpPr>
        <p:spPr>
          <a:xfrm>
            <a:off x="6810577" y="1516134"/>
            <a:ext cx="5184775" cy="155047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Treatment conversion</a:t>
            </a:r>
          </a:p>
          <a:p>
            <a:pPr>
              <a:defRPr b="1" sz="2400"/>
            </a:pPr>
            <a:r>
              <a:t>9.8%</a:t>
            </a:r>
          </a:p>
        </p:txBody>
      </p:sp>
      <p:sp>
        <p:nvSpPr>
          <p:cNvPr id="5" name="VIZ::Treatment conversion · Week 1 to 4 KPI" descr="VisualizerSemantic: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,&quot;x&quot;:14.0,&quot;y&quot;:194.96,&quot;w&quot;:872.4800000000001,&quot;h&quot;:216.0}"/>
          <p:cNvSpPr/>
          <p:nvPr/>
        </p:nvSpPr>
        <p:spPr>
          <a:xfrm>
            <a:off x="105886" y="1474536"/>
            <a:ext cx="6598805" cy="163366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Treatment conversion · Week 1 to 4</a:t>
            </a:r>
          </a:p>
          <a:p>
            <a:pPr>
              <a:defRPr b="1" sz="2400"/>
            </a:pPr>
            <a:r>
              <a:t>8.2 → 9.8</a:t>
            </a:r>
          </a:p>
          <a:p>
            <a:pPr>
              <a:defRPr sz="900"/>
            </a:pPr>
            <a:r>
              <a:t>%</a:t>
            </a:r>
          </a:p>
        </p:txBody>
      </p:sp>
      <p:graphicFrame>
        <p:nvGraphicFramePr>
          <p:cNvPr id="6" name="Chart 5" descr="VisualizerSemantic:{&quot;composition_role&quot;:&quot;primary_analysis&quot;,&quot;data&quot;:[[&quot;W1&quot;,8],[&quot;W1&quot;,8.2],[&quot;W2&quot;,8.1],[&quot;W2&quot;,8.7],[&quot;W3&quot;,8.4],[&quot;W3&quot;,9.4],[&quot;W4&quot;,8.5],[&quot;W4&quot;,9.8]],&quot;dataset_id&quot;:&quot;dataset-mufqnxpa-13qsj4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,&quot;row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observation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x&quot;:811.6593939393938,&quot;y&quot;:444.96000000000004,&quot;w&quot;:738.5212121212122,&quot;h&quot;:358.40000000000003}"/>
          <p:cNvGraphicFramePr>
            <a:graphicFrameLocks noGrp="1"/>
          </p:cNvGraphicFramePr>
          <p:nvPr/>
        </p:nvGraphicFramePr>
        <p:xfrm>
          <a:off x="6138803" y="3365354"/>
          <a:ext cx="5585638" cy="271067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 descr="VisualizerSemantic:{&quot;composition_role&quot;:&quot;supporting_analysis&quot;,&quot;data&quot;:[[&quot;Control&quot;,8],[&quot;Control&quot;,8.1],[&quot;Control&quot;,8.4],[&quot;Control&quot;,8.5],[&quot;Treatment&quot;,8.2],[&quot;Treatment&quot;,8.7],[&quot;Treatment&quot;,9.4],[&quot;Treatment&quot;,9.8]],&quot;dataset_id&quot;:&quot;dataset-mufqnzxc-ji702g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,&quot;row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observation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x&quot;:424.1454545454546,&quot;y&quot;:811.3600000000001,&quot;w&quot;:751.7090909090908,&quot;h&quot;:364.79999999999995}"/>
          <p:cNvGraphicFramePr>
            <a:graphicFrameLocks noGrp="1"/>
          </p:cNvGraphicFramePr>
          <p:nvPr/>
        </p:nvGraphicFramePr>
        <p:xfrm>
          <a:off x="3207929" y="6136538"/>
          <a:ext cx="5685381" cy="275908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Interpretation" descr="VisualizerSemantic: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,&quot;x&quot;:49.819393939393876,&quot;y&quot;:566.1600000000001,&quot;w&quot;:747.8399999999999,&quot;h&quot;:116.0}"/>
          <p:cNvSpPr/>
          <p:nvPr/>
        </p:nvSpPr>
        <p:spPr>
          <a:xfrm>
            <a:off x="376798" y="4282023"/>
            <a:ext cx="5656118" cy="8773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Interpretation</a:t>
            </a:r>
          </a:p>
          <a:p>
            <a:pPr>
              <a:defRPr sz="1000"/>
            </a:pPr>
            <a:r>
              <a:t>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</a:t>
            </a:r>
          </a:p>
        </p:txBody>
      </p:sp>
      <p:sp>
        <p:nvSpPr>
          <p:cNvPr id="10" name="VIZ::Recommendation" descr="VisualizerSemantic: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,&quot;x&quot;:14.0,&quot;y&quot;:1503.16,&quot;w&quot;:1572.0,&quot;h&quot;:94.0}"/>
          <p:cNvSpPr/>
          <p:nvPr/>
        </p:nvSpPr>
        <p:spPr>
          <a:xfrm>
            <a:off x="105886" y="11368811"/>
            <a:ext cx="11889467" cy="71094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Recommendation</a:t>
            </a:r>
          </a:p>
          <a:p>
            <a:pPr>
              <a:defRPr sz="1000"/>
            </a:pPr>
            <a:r>
              <a:t>Stage a limited treatment rollout</a:t>
            </a:r>
            <a:br/>
            <a:r>
              <a:t>Pause expansion if the quality guardrail moves outside its agreed range.</a:t>
            </a:r>
            <a:br/>
            <a:r>
              <a:t>Review</a:t>
            </a:r>
          </a:p>
        </p:txBody>
      </p:sp>
      <p:graphicFrame>
        <p:nvGraphicFramePr>
          <p:cNvPr id="11" name="VIZ::Cohort evidence" descr="VisualizerSemantic: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,&quot;x&quot;:14.0,&quot;y&quot;:1210.16,&quot;w&quot;:1572.0,&quot;h&quot;:259.0}"/>
          <p:cNvGraphicFramePr>
            <a:graphicFrameLocks noGrp="1"/>
          </p:cNvGraphicFramePr>
          <p:nvPr/>
        </p:nvGraphicFramePr>
        <p:xfrm>
          <a:off x="105886" y="9152772"/>
          <a:ext cx="11889467" cy="1958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2366"/>
                <a:gridCol w="2972366"/>
                <a:gridCol w="2972366"/>
                <a:gridCol w="2972369"/>
              </a:tblGrid>
              <a:tr h="48972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Eligible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Quality guardrail</a:t>
                      </a:r>
                    </a:p>
                  </a:txBody>
                  <a:tcPr/>
                </a:tc>
              </a:tr>
              <a:tr h="48972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8972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8972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Monitor mix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_1&quot;,&quot;name&quot;:&quot;Week&quot;,&quot;nullable&quot;:false,&quot;profile&quot;:{&quot;distinct&quot;:4,&quot;missing&quot;:0},&quot;semantic_tags&quot;:[],&quot;type&quot;:&quot;categorical&quot;},{&quot;id&quot;:&quot;cohort_2&quot;,&quot;name&quot;:&quot;Cohort&quot;,&quot;nullable&quot;:false,&quot;profile&quot;:{&quot;distinct&quot;:2,&quot;missing&quot;:0},&quot;semantic_tags&quot;:[&quot;cohort&quot;,&quot;status&quot;],&quot;type&quot;:&quot;categorical&quot;},{&quot;id&quot;:&quot;conversion_3&quot;,&quot;name&quot;:&quot;Conversion&quot;,&quot;nullable&quot;:false,&quot;profile&quot;:{&quot;distinct&quot;:8,&quot;missing&quot;:0},&quot;semantic_tags&quot;:[],&quot;type&quot;:&quot;number&quot;,&quot;unit&quot;:&quot;&quot;}],&quot;id&quot;:&quot;dataset-mufqnxpa-13qsj4&quot;,&quot;metadata&quot;:{&quot;header&quot;:{&quot;confidence&quot;:0.8333333333333334,&quot;present&quot;:true,&quot;source_row&quot;:0}},&quot;name&quot;:&quot;Pasted data&quot;,&quot;revision&quot;:1,&quot;rows&quot;:[[&quot;W1&quot;,&quot;Control&quot;,8],[&quot;W1&quot;,&quot;Treatment&quot;,8.2],[&quot;W2&quot;,&quot;Control&quot;,8.1],[&quot;W2&quot;,&quot;Treatment&quot;,8.7],[&quot;W3&quot;,&quot;Control&quot;,8.4],[&quot;W3&quot;,&quot;Treatment&quot;,9.4],[&quot;W4&quot;,&quot;Control&quot;,8.5],[&quot;W4&quot;,&quot;Treatment&quot;,9.8]],&quot;source&quot;:{&quot;imported_at&quot;:&quot;2026-09-24T16:20:59.614Z&quot;,&quot;kind&quot;:&quot;clipboard&quot;,&quot;label&quot;:&quot;TSV&quot;},&quot;warnings&quot;:[]},{&quot;fields&quot;:[{&quot;id&quot;:&quot;cohort_1&quot;,&quot;name&quot;:&quot;Cohort&quot;,&quot;nullable&quot;:false,&quot;profile&quot;:{&quot;distinct&quot;:2,&quot;missing&quot;:0},&quot;semantic_tags&quot;:[&quot;cohort&quot;,&quot;status&quot;],&quot;type&quot;:&quot;categorical&quot;},{&quot;id&quot;:&quot;conversion_2&quot;,&quot;name&quot;:&quot;Conversion&quot;,&quot;nullable&quot;:false,&quot;profile&quot;:{&quot;distinct&quot;:8,&quot;missing&quot;:0},&quot;semantic_tags&quot;:[],&quot;type&quot;:&quot;number&quot;,&quot;unit&quot;:&quot;&quot;}],&quot;id&quot;:&quot;dataset-mufqnzxc-ji702g&quot;,&quot;metadata&quot;:{&quot;header&quot;:{&quot;confidence&quot;:1,&quot;present&quot;:true,&quot;source_row&quot;:0}},&quot;name&quot;:&quot;Pasted data&quot;,&quot;revision&quot;:1,&quot;rows&quot;:[[&quot;Control&quot;,8],[&quot;Control&quot;,8.1],[&quot;Control&quot;,8.4],[&quot;Control&quot;,8.5],[&quot;Treatment&quot;,8.2],[&quot;Treatment&quot;,8.7],[&quot;Treatment&quot;,9.4],[&quot;Treatment&quot;,9.8]],&quot;source&quot;:{&quot;imported_at&quot;:&quot;2026-09-24T16:21:02.496Z&quot;,&quot;kind&quot;:&quot;clipboard&quot;,&quot;label&quot;:&quot;TSV&quot;},&quot;warnings&quot;:[]}],&quot;groups&quot;:{},&quot;items&quot;:[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},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},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},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},{&quot;composition_role&quot;:&quot;supporting_analysis&quot;,&quot;data&quot;:[],&quot;dataset_id&quot;:&quot;dataset-mufqnzxc-ji702g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},{&quot;composition_role&quot;:&quot;primary_analysis&quot;,&quot;data&quot;:[],&quot;dataset_id&quot;:&quot;dataset-mufqnxpa-13qsj4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},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},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},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}],&quot;layoutPreset&quot;:&quot;comparison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