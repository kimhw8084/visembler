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341813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Line Chart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 Chart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88.1</c:v>
                </c:pt>
                <c:pt idx="1">
                  <c:v>90.4</c:v>
                </c:pt>
                <c:pt idx="2">
                  <c:v>92.7</c:v>
                </c:pt>
                <c:pt idx="3">
                  <c:v>94.2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KPI KPI" descr="VisualizerSemantic:{&quot;composition_role&quot;:&quot;hero_metric&quot;,&quot;delta&quot;:-1.1,&quot;element&quot;:&quot;Hero KPI&quot;,&quot;engine&quot;:&quot;MetricEngine&quot;,&quot;groupId&quot;:null,&quot;id&quot;:&quot;c1&quot;,&quot;locked&quot;:false,&quot;message_role&quot;:&quot;Supporting Evidence&quot;,&quot;metrics&quot;:[{&quot;label&quot;:&quot;Output&quot;,&quot;value&quot;:null},{&quot;label&quot;:&quot;Quality&quot;,&quot;value&quot;:null},{&quot;label&quot;:&quot;Cycle&quot;,&quot;value&quot;:null}],&quot;order&quot;:0,&quot;section_id&quot;:&quot;performance&quot;,&quot;section_title&quot;:&quot;Performance&quot;,&quot;target&quot;:95,&quot;title&quot;:&quot;Hero KPI&quot;,&quot;type&quot;:&quot;metric&quot;,&quot;unit&quot;:&quot;%&quot;,&quot;value&quot;:94.2,&quot;weight&quot;:1,&quot;z&quot;:1,&quot;x&quot;:14.0,&quot;y&quot;:40.0,&quot;w&quot;:1572.0,&quot;h&quot;:152.32000000000002}"/>
          <p:cNvSpPr/>
          <p:nvPr/>
        </p:nvSpPr>
        <p:spPr>
          <a:xfrm>
            <a:off x="64240" y="183546"/>
            <a:ext cx="7213330" cy="69894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Hero KPI</a:t>
            </a:r>
          </a:p>
          <a:p>
            <a:pPr>
              <a:defRPr b="1" sz="2400"/>
            </a:pPr>
            <a:r>
              <a:t>94.2%</a:t>
            </a:r>
          </a:p>
        </p:txBody>
      </p:sp>
      <p:graphicFrame>
        <p:nvGraphicFramePr>
          <p:cNvPr id="3" name="Chart 2" descr="VisualizerSemantic:{&quot;brush&quot;:[0,3],&quot;composition_role&quot;:&quot;primary_analysis&quot;,&quot;data&quot;:[[&quot;W1&quot;,88.1],[&quot;W2&quot;,90.4],[&quot;W3&quot;,92.7],[&quot;W4&quot;,94.2]],&quot;element&quot;:&quot;Line Chart&quot;,&quot;engine&quot;:&quot;CoreChartEngine&quot;,&quot;groupId&quot;:null,&quot;id&quot;:&quot;c2&quot;,&quot;locked&quot;:false,&quot;message_role&quot;:&quot;Primary Evidence&quot;,&quot;order&quot;:1,&quot;revealed&quot;:true,&quot;rows&quot;:[{&quot;label&quot;:&quot;W1&quot;,&quot;value&quot;:88.1},{&quot;label&quot;:&quot;W2&quot;,&quot;value&quot;:90.4},{&quot;label&quot;:&quot;W3&quot;,&quot;value&quot;:92.7},{&quot;label&quot;:&quot;W4&quot;,&quot;value&quot;:94.2}],&quot;section_id&quot;:&quot;analysis&quot;,&quot;section_title&quot;:&quot;Analysis&quot;,&quot;title&quot;:&quot;Line Chart&quot;,&quot;type&quot;:&quot;chart&quot;,&quot;weight&quot;:1,&quot;z&quot;:2,&quot;x&quot;:470.3030303030303,&quot;y&quot;:226.32000000000002,&quot;w&quot;:659.3939393939394,&quot;h&quot;:320.0}"/>
          <p:cNvGraphicFramePr>
            <a:graphicFrameLocks noGrp="1"/>
          </p:cNvGraphicFramePr>
          <p:nvPr/>
        </p:nvGraphicFramePr>
        <p:xfrm>
          <a:off x="2158047" y="1038500"/>
          <a:ext cx="3025716" cy="146836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VIZ::Risk Callout" descr="VisualizerSemantic:{&quot;composition_role&quot;:&quot;decision_risk&quot;,&quot;detail&quot;:&quot;Hold affected W07 material until die-level deltas return inside the qualified window.&quot;,&quot;element&quot;:&quot;Risk Callout&quot;,&quot;engine&quot;:&quot;DecisionCompositeEngine&quot;,&quot;groupId&quot;:null,&quot;id&quot;:&quot;c4&quot;,&quot;locked&quot;:false,&quot;message_role&quot;:&quot;Risk&quot;,&quot;order&quot;:3,&quot;section_id&quot;:&quot;decision&quot;,&quot;section_title&quot;:&quot;Decision&quot;,&quot;statement&quot;:&quot;Etch chamber drift is the leading operational risk&quot;,&quot;status&quot;:&quot;Containment active&quot;,&quot;title&quot;:&quot;Risk Callout&quot;,&quot;type&quot;:&quot;decision&quot;,&quot;weight&quot;:1,&quot;z&quot;:4,&quot;x&quot;:14.0,&quot;y&quot;:2358.32,&quot;w&quot;:1572.0,&quot;h&quot;:94.0}"/>
          <p:cNvSpPr/>
          <p:nvPr/>
        </p:nvSpPr>
        <p:spPr>
          <a:xfrm>
            <a:off x="64240" y="10821465"/>
            <a:ext cx="7213330" cy="43133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Etch chamber drift is the leading operational risk</a:t>
            </a:r>
            <a:br/>
            <a:r>
              <a:t>Hold affected W07 material until die-level deltas return inside the qualified window.</a:t>
            </a:r>
            <a:br/>
            <a:r>
              <a:t>Containment active</a:t>
            </a:r>
          </a:p>
        </p:txBody>
      </p:sp>
      <p:sp>
        <p:nvSpPr>
          <p:cNvPr id="6" name="VIZ::Project Card" descr="VisualizerSemantic:{&quot;composition_role&quot;:&quot;action_status&quot;,&quot;detail&quot;:&quot;Owner · Process Engineering · verify before the next production release.&quot;,&quot;element&quot;:&quot;Project Card&quot;,&quot;engine&quot;:&quot;ProjectCompositeEngine&quot;,&quot;groupId&quot;:null,&quot;id&quot;:&quot;c5&quot;,&quot;locked&quot;:false,&quot;message_role&quot;:&quot;Action&quot;,&quot;order&quot;:4,&quot;section_id&quot;:&quot;delivery&quot;,&quot;section_title&quot;:&quot;Next steps&quot;,&quot;statement&quot;:&quot;W07 yield recovery&quot;,&quot;status&quot;:&quot;Verification&quot;,&quot;title&quot;:&quot;Project Card&quot;,&quot;type&quot;:&quot;project&quot;,&quot;weight&quot;:1,&quot;z&quot;:5,&quot;x&quot;:14.0,&quot;y&quot;:2486.32,&quot;w&quot;:1572.0,&quot;h&quot;:156.0}"/>
          <p:cNvSpPr/>
          <p:nvPr/>
        </p:nvSpPr>
        <p:spPr>
          <a:xfrm>
            <a:off x="64240" y="11408810"/>
            <a:ext cx="7213330" cy="71582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Project Card</a:t>
            </a:r>
          </a:p>
          <a:p>
            <a:pPr>
              <a:defRPr sz="1000"/>
            </a:pPr>
            <a:r>
              <a:t>W07 yield recovery</a:t>
            </a:r>
            <a:br/>
            <a:r>
              <a:t>Owner · Process Engineering · verify before the next production release.</a:t>
            </a:r>
            <a:br/>
            <a:r>
              <a:t>Verification</a:t>
            </a:r>
          </a:p>
        </p:txBody>
      </p:sp>
      <p:sp>
        <p:nvSpPr>
          <p:cNvPr id="7" name="VIZ::Process Flow::continuation-reference" descr="VisualizerSemantic:{&quot;direction&quot;:&quot;down&quot;,&quot;edges&quot;:[[&quot;Define affected wafer scope and customer impact&quot;,&quot;Contain material from the suspect process window&quot;],[&quot;Contain material from the suspect process window&quot;,&quot;Verify measurement method against qualified standards&quot;],[&quot;Verify measurement method against qualified standards&quot;,&quot;Compare affected and reference wafer populations&quot;],[&quot;Compare affected and reference wafer populations&quot;,&quot;Inspect etch tool and chamber process history&quot;],[&quot;Inspect etch tool and chamber process history&quot;,&quot;Correlate recipe settings with die-level yield loss&quot;],[&quot;Correlate recipe settings with die-level yield loss&quot;,&quot;Confirm the physical defect signature by inspection&quot;],[&quot;Confirm the physical defect signature by inspection&quot;,&quot;Apply corrective action and verify effectiveness&quot;],[&quot;Apply corrective action and verify effectiveness&quot;,&quot;Release production after engineering approval&quot;]],&quot;element&quot;:&quot;Process Flow&quot;,&quot;engine&quot;:&quot;DiagramEngine&quot;,&quot;groupId&quot;:null,&quot;id&quot;:&quot;c6&quot;,&quot;locked&quot;:false,&quot;message_role&quot;:&quot;Supporting Evidence&quot;,&quot;nodes&quot;:[&quot;Define affected wafer scope and customer impact&quot;,&quot;Contain material from the suspect process window&quot;,&quot;Verify measurement method against qualified standards&quot;,&quot;Compare affected and reference wafer populations&quot;,&quot;Inspect etch tool and chamber process history&quot;,&quot;Correlate recipe settings with die-level yield loss&quot;,&quot;Confirm the physical defect signature by inspection&quot;,&quot;Apply corrective action and verify effectiveness&quot;,&quot;Release production after engineering approval&quot;],&quot;order&quot;:5,&quot;showTitle&quot;:false,&quot;textAlign&quot;:&quot;left&quot;,&quot;title&quot;:&quot;Process Flow&quot;,&quot;type&quot;:&quot;diagram&quot;,&quot;weight&quot;:1.5,&quot;z&quot;:6,&quot;x&quot;:620.0,&quot;y&quot;:580.32,&quot;w&quot;:360.0,&quot;h&quot;:1514.0}"/>
          <p:cNvSpPr/>
          <p:nvPr/>
        </p:nvSpPr>
        <p:spPr>
          <a:xfrm>
            <a:off x="2844952" y="2662876"/>
            <a:ext cx="1651907" cy="6947190"/>
          </a:xfrm>
          <a:prstGeom prst="roundRect">
            <a:avLst/>
          </a:prstGeom>
          <a:solidFill>
            <a:srgbClr val="F5F8FC"/>
          </a:solidFill>
          <a:ln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square"/>
          <a:lstStyle/>
          <a:p>
            <a:pPr algn="ctr">
              <a:defRPr sz="850" b="1">
                <a:solidFill>
                  <a:srgbClr val="233449"/>
                </a:solidFill>
                <a:latin typeface="Arial"/>
              </a:defRPr>
            </a:pPr>
            <a:r>
              <a:t>Diagram continues on slides 2–2</a:t>
            </a:r>
          </a:p>
        </p:txBody>
      </p:sp>
      <p:graphicFrame>
        <p:nvGraphicFramePr>
          <p:cNvPr id="8" name="VIZ::Clean Table" descr="VisualizerSemantic:{&quot;composition_role&quot;:&quot;detailed_evidence&quot;,&quot;customTable&quot;:{&quot;headers&quot;:[&quot;Action&quot;,&quot;Owner&quot;,&quot;Due&quot;,&quot;Status&quot;],&quot;rows&quot;:[[&quot;Verify etch chamber&quot;,&quot;Process Eng.&quot;,&quot;Sep 30&quot;,&quot;Open&quot;],[&quot;Review inline sampling&quot;,&quot;Quality&quot;,&quot;Oct 02&quot;,&quot;In progress&quot;]]},&quot;element&quot;:&quot;Clean Table&quot;,&quot;engine&quot;:&quot;TableEngine&quot;,&quot;groupId&quot;:null,&quot;id&quot;:&quot;c3&quot;,&quot;locked&quot;:false,&quot;message_role&quot;:&quot;Primary Evidence&quot;,&quot;order&quot;:2,&quot;section_id&quot;:&quot;evidence&quot;,&quot;section_title&quot;:&quot;Evidence&quot;,&quot;title&quot;:&quot;Clean Table&quot;,&quot;type&quot;:&quot;table&quot;,&quot;weight&quot;:1,&quot;z&quot;:3,&quot;x&quot;:14.0,&quot;y&quot;:2102.32,&quot;w&quot;:1572.0,&quot;h&quot;:222.0}"/>
          <p:cNvGraphicFramePr>
            <a:graphicFrameLocks noGrp="1"/>
          </p:cNvGraphicFramePr>
          <p:nvPr/>
        </p:nvGraphicFramePr>
        <p:xfrm>
          <a:off x="64240" y="9646775"/>
          <a:ext cx="7213330" cy="1018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3332"/>
                <a:gridCol w="1803332"/>
                <a:gridCol w="1803332"/>
                <a:gridCol w="1803334"/>
              </a:tblGrid>
              <a:tr h="33955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Status</a:t>
                      </a:r>
                    </a:p>
                  </a:txBody>
                  <a:tcPr/>
                </a:tc>
              </a:tr>
              <a:tr h="339558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Verify etch chamber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Process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Sep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Open</a:t>
                      </a:r>
                    </a:p>
                  </a:txBody>
                  <a:tcPr/>
                </a:tc>
              </a:tr>
              <a:tr h="33956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Review inline 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Oct 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VIZ::SemanticReport" descr="VisualizerSemanticReport:{&quot;authoring_schema&quot;:&quot;authoring-p0-v1&quot;,&quot;canvas&quot;:{&quot;height&quot;:900,&quot;width&quot;:1600},&quot;crossFilter&quot;:null,&quot;crossFilters&quot;:[],&quot;datasets&quot;:[],&quot;groups&quot;:{},&quot;items&quot;:[{&quot;composition_role&quot;:&quot;hero_metric&quot;,&quot;delta&quot;:-1.1,&quot;element&quot;:&quot;Hero KPI&quot;,&quot;engine&quot;:&quot;MetricEngine&quot;,&quot;groupId&quot;:null,&quot;id&quot;:&quot;c1&quot;,&quot;locked&quot;:false,&quot;message_role&quot;:&quot;Supporting Evidence&quot;,&quot;metrics&quot;:[{&quot;label&quot;:&quot;Output&quot;,&quot;value&quot;:null},{&quot;label&quot;:&quot;Quality&quot;,&quot;value&quot;:null},{&quot;label&quot;:&quot;Cycle&quot;,&quot;value&quot;:null}],&quot;order&quot;:0,&quot;section_id&quot;:&quot;performance&quot;,&quot;section_title&quot;:&quot;Performance&quot;,&quot;target&quot;:95,&quot;title&quot;:&quot;Hero KPI&quot;,&quot;type&quot;:&quot;metric&quot;,&quot;unit&quot;:&quot;%&quot;,&quot;value&quot;:94.2,&quot;weight&quot;:1,&quot;z&quot;:1},{&quot;brush&quot;:[0,3],&quot;composition_role&quot;:&quot;primary_analysis&quot;,&quot;data&quot;:[[&quot;W1&quot;,88.1],[&quot;W2&quot;,90.4],[&quot;W3&quot;,92.7],[&quot;W4&quot;,94.2]],&quot;element&quot;:&quot;Line Chart&quot;,&quot;engine&quot;:&quot;CoreChartEngine&quot;,&quot;groupId&quot;:null,&quot;id&quot;:&quot;c2&quot;,&quot;locked&quot;:false,&quot;message_role&quot;:&quot;Primary Evidence&quot;,&quot;order&quot;:1,&quot;revealed&quot;:true,&quot;rows&quot;:[{&quot;label&quot;:&quot;W1&quot;,&quot;value&quot;:88.1},{&quot;label&quot;:&quot;W2&quot;,&quot;value&quot;:90.4},{&quot;label&quot;:&quot;W3&quot;,&quot;value&quot;:92.7},{&quot;label&quot;:&quot;W4&quot;,&quot;value&quot;:94.2}],&quot;section_id&quot;:&quot;analysis&quot;,&quot;section_title&quot;:&quot;Analysis&quot;,&quot;title&quot;:&quot;Line Chart&quot;,&quot;type&quot;:&quot;chart&quot;,&quot;weight&quot;:1,&quot;z&quot;:2},{&quot;composition_role&quot;:&quot;detailed_evidence&quot;,&quot;customTable&quot;:{&quot;headers&quot;:[&quot;Action&quot;,&quot;Owner&quot;,&quot;Due&quot;,&quot;Status&quot;],&quot;rows&quot;:[[&quot;Verify etch chamber&quot;,&quot;Process Eng.&quot;,&quot;Sep 30&quot;,&quot;Open&quot;],[&quot;Review inline sampling&quot;,&quot;Quality&quot;,&quot;Oct 02&quot;,&quot;In progress&quot;]]},&quot;element&quot;:&quot;Clean Table&quot;,&quot;engine&quot;:&quot;TableEngine&quot;,&quot;groupId&quot;:null,&quot;id&quot;:&quot;c3&quot;,&quot;locked&quot;:false,&quot;message_role&quot;:&quot;Primary Evidence&quot;,&quot;order&quot;:2,&quot;section_id&quot;:&quot;evidence&quot;,&quot;section_title&quot;:&quot;Evidence&quot;,&quot;title&quot;:&quot;Clean Table&quot;,&quot;type&quot;:&quot;table&quot;,&quot;weight&quot;:1,&quot;z&quot;:3},{&quot;composition_role&quot;:&quot;decision_risk&quot;,&quot;detail&quot;:&quot;Hold affected W07 material until die-level deltas return inside the qualified window.&quot;,&quot;element&quot;:&quot;Risk Callout&quot;,&quot;engine&quot;:&quot;DecisionCompositeEngine&quot;,&quot;groupId&quot;:null,&quot;id&quot;:&quot;c4&quot;,&quot;locked&quot;:false,&quot;message_role&quot;:&quot;Risk&quot;,&quot;order&quot;:3,&quot;section_id&quot;:&quot;decision&quot;,&quot;section_title&quot;:&quot;Decision&quot;,&quot;statement&quot;:&quot;Etch chamber drift is the leading operational risk&quot;,&quot;status&quot;:&quot;Containment active&quot;,&quot;title&quot;:&quot;Risk Callout&quot;,&quot;type&quot;:&quot;decision&quot;,&quot;weight&quot;:1,&quot;z&quot;:4},{&quot;composition_role&quot;:&quot;action_status&quot;,&quot;detail&quot;:&quot;Owner · Process Engineering · verify before the next production release.&quot;,&quot;element&quot;:&quot;Project Card&quot;,&quot;engine&quot;:&quot;ProjectCompositeEngine&quot;,&quot;groupId&quot;:null,&quot;id&quot;:&quot;c5&quot;,&quot;locked&quot;:false,&quot;message_role&quot;:&quot;Action&quot;,&quot;order&quot;:4,&quot;section_id&quot;:&quot;delivery&quot;,&quot;section_title&quot;:&quot;Next steps&quot;,&quot;statement&quot;:&quot;W07 yield recovery&quot;,&quot;status&quot;:&quot;Verification&quot;,&quot;title&quot;:&quot;Project Card&quot;,&quot;type&quot;:&quot;project&quot;,&quot;weight&quot;:1,&quot;z&quot;:5},{&quot;direction&quot;:&quot;down&quot;,&quot;edges&quot;:[[&quot;Define affected wafer scope and customer impact&quot;,&quot;Contain material from the suspect process window&quot;],[&quot;Contain material from the suspect process window&quot;,&quot;Verify measurement method against qualified standards&quot;],[&quot;Verify measurement method against qualified standards&quot;,&quot;Compare affected and reference wafer populations&quot;],[&quot;Compare affected and reference wafer populations&quot;,&quot;Inspect etch tool and chamber process history&quot;],[&quot;Inspect etch tool and chamber process history&quot;,&quot;Correlate recipe settings with die-level yield loss&quot;],[&quot;Correlate recipe settings with die-level yield loss&quot;,&quot;Confirm the physical defect signature by inspection&quot;],[&quot;Confirm the physical defect signature by inspection&quot;,&quot;Apply corrective action and verify effectiveness&quot;],[&quot;Apply corrective action and verify effectiveness&quot;,&quot;Release production after engineering approval&quot;]],&quot;element&quot;:&quot;Process Flow&quot;,&quot;engine&quot;:&quot;DiagramEngine&quot;,&quot;groupId&quot;:null,&quot;id&quot;:&quot;c6&quot;,&quot;locked&quot;:false,&quot;message_role&quot;:&quot;Supporting Evidence&quot;,&quot;nodes&quot;:[&quot;Define affected wafer scope and customer impact&quot;,&quot;Contain material from the suspect process window&quot;,&quot;Verify measurement method against qualified standards&quot;,&quot;Compare affected and reference wafer populations&quot;,&quot;Inspect etch tool and chamber process history&quot;,&quot;Correlate recipe settings with die-level yield loss&quot;,&quot;Confirm the physical defect signature by inspection&quot;,&quot;Apply corrective action and verify effectiveness&quot;,&quot;Release production after engineering approval&quot;],&quot;order&quot;:5,&quot;showTitle&quot;:false,&quot;textAlign&quot;:&quot;left&quot;,&quot;title&quot;:&quot;Process Flow&quot;,&quot;type&quot;:&quot;diagram&quot;,&quot;weight&quot;:1.5,&quot;z&quot;:6}],&quot;layoutPreset&quot;:&quot;editorial&quot;,&quot;mode&quot;:&quot;smart&quot;,&quot;nextId&quot;:7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DiagramTitle::Process Flow::1" descr="VisualizerDiagramContinuation:{&quot;item_id&quot;:&quot;c6&quot;,&quot;page&quot;:1,&quot;page_count&quot;:1,&quot;direction&quot;:&quot;down&quot;}"/>
          <p:cNvSpPr txBox="1"/>
          <p:nvPr/>
        </p:nvSpPr>
        <p:spPr>
          <a:xfrm>
            <a:off x="512064" y="384048"/>
            <a:ext cx="6317685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 · Continued 1/1</a:t>
            </a:r>
          </a:p>
        </p:txBody>
      </p:sp>
      <p:sp>
        <p:nvSpPr>
          <p:cNvPr id="3" name="VIZ::Process Flow::Define affected wafer scope and customer impact::node-1" descr="VisualizerDiagramNode:{&quot;item_id&quot;:&quot;c6&quot;,&quot;node_index&quot;:0,&quot;label&quot;:&quot;Define affected wafer scope and customer impact&quot;,&quot;page&quot;:1,&quot;page_count&quot;:1,&quot;direction&quot;:&quot;down&quot;}"/>
          <p:cNvSpPr/>
          <p:nvPr/>
        </p:nvSpPr>
        <p:spPr>
          <a:xfrm>
            <a:off x="512064" y="667512"/>
            <a:ext cx="631768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Define affected wafer scope and customer impact</a:t>
            </a:r>
          </a:p>
        </p:txBody>
      </p:sp>
      <p:sp>
        <p:nvSpPr>
          <p:cNvPr id="4" name="VIZ::Process Flow::Contain material from the suspect process window::node-2" descr="VisualizerDiagramNode:{&quot;item_id&quot;:&quot;c6&quot;,&quot;node_index&quot;:1,&quot;label&quot;:&quot;Contain material from the suspect process window&quot;,&quot;page&quot;:1,&quot;page_count&quot;:1,&quot;direction&quot;:&quot;down&quot;}"/>
          <p:cNvSpPr/>
          <p:nvPr/>
        </p:nvSpPr>
        <p:spPr>
          <a:xfrm>
            <a:off x="512064" y="1435608"/>
            <a:ext cx="631768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Contain material from the suspect process window</a:t>
            </a:r>
          </a:p>
        </p:txBody>
      </p:sp>
      <p:sp>
        <p:nvSpPr>
          <p:cNvPr id="5" name="VIZ::Process Flow::Verify measurement method against qualified standards::node-3" descr="VisualizerDiagramNode:{&quot;item_id&quot;:&quot;c6&quot;,&quot;node_index&quot;:2,&quot;label&quot;:&quot;Verify measurement method against qualified standards&quot;,&quot;page&quot;:1,&quot;page_count&quot;:1,&quot;direction&quot;:&quot;down&quot;}"/>
          <p:cNvSpPr/>
          <p:nvPr/>
        </p:nvSpPr>
        <p:spPr>
          <a:xfrm>
            <a:off x="512064" y="2203704"/>
            <a:ext cx="631768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measurement method against qualified standards</a:t>
            </a:r>
          </a:p>
        </p:txBody>
      </p:sp>
      <p:sp>
        <p:nvSpPr>
          <p:cNvPr id="6" name="VIZ::Process Flow::Compare affected and reference wafer populations::node-4" descr="VisualizerDiagramNode:{&quot;item_id&quot;:&quot;c6&quot;,&quot;node_index&quot;:3,&quot;label&quot;:&quot;Compare affected and reference wafer populations&quot;,&quot;page&quot;:1,&quot;page_count&quot;:1,&quot;direction&quot;:&quot;down&quot;}"/>
          <p:cNvSpPr/>
          <p:nvPr/>
        </p:nvSpPr>
        <p:spPr>
          <a:xfrm>
            <a:off x="512064" y="2971800"/>
            <a:ext cx="631768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 and reference wafer populations</a:t>
            </a:r>
          </a:p>
        </p:txBody>
      </p:sp>
      <p:sp>
        <p:nvSpPr>
          <p:cNvPr id="7" name="VIZ::Process Flow::Inspect etch tool and chamber process history::node-5" descr="VisualizerDiagramNode:{&quot;item_id&quot;:&quot;c6&quot;,&quot;node_index&quot;:4,&quot;label&quot;:&quot;Inspect etch tool and chamber process history&quot;,&quot;page&quot;:1,&quot;page_count&quot;:1,&quot;direction&quot;:&quot;down&quot;}"/>
          <p:cNvSpPr/>
          <p:nvPr/>
        </p:nvSpPr>
        <p:spPr>
          <a:xfrm>
            <a:off x="512064" y="3739896"/>
            <a:ext cx="631768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Inspect etch tool and chamber process history</a:t>
            </a:r>
          </a:p>
        </p:txBody>
      </p:sp>
      <p:sp>
        <p:nvSpPr>
          <p:cNvPr id="8" name="VIZ::Process Flow::Correlate recipe settings with die-level yield loss::node-6" descr="VisualizerDiagramNode:{&quot;item_id&quot;:&quot;c6&quot;,&quot;node_index&quot;:5,&quot;label&quot;:&quot;Correlate recipe settings with die-level yield loss&quot;,&quot;page&quot;:1,&quot;page_count&quot;:1,&quot;direction&quot;:&quot;down&quot;}"/>
          <p:cNvSpPr/>
          <p:nvPr/>
        </p:nvSpPr>
        <p:spPr>
          <a:xfrm>
            <a:off x="512064" y="4507992"/>
            <a:ext cx="631768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Correlate recipe settings with die-level yield loss</a:t>
            </a:r>
          </a:p>
        </p:txBody>
      </p:sp>
      <p:sp>
        <p:nvSpPr>
          <p:cNvPr id="9" name="VIZ::Process Flow::Confirm the physical defect signature by inspection::node-7" descr="VisualizerDiagramNode:{&quot;item_id&quot;:&quot;c6&quot;,&quot;node_index&quot;:6,&quot;label&quot;:&quot;Confirm the physical defect signature by inspection&quot;,&quot;page&quot;:1,&quot;page_count&quot;:1,&quot;direction&quot;:&quot;down&quot;}"/>
          <p:cNvSpPr/>
          <p:nvPr/>
        </p:nvSpPr>
        <p:spPr>
          <a:xfrm>
            <a:off x="512064" y="5276088"/>
            <a:ext cx="631768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 the physical defect signature by inspection</a:t>
            </a:r>
          </a:p>
        </p:txBody>
      </p:sp>
      <p:sp>
        <p:nvSpPr>
          <p:cNvPr id="10" name="VIZ::Process Flow::Apply corrective action and verify effectiveness::node-8" descr="VisualizerDiagramNode:{&quot;item_id&quot;:&quot;c6&quot;,&quot;node_index&quot;:7,&quot;label&quot;:&quot;Apply corrective action and verify effectiveness&quot;,&quot;page&quot;:1,&quot;page_count&quot;:1,&quot;direction&quot;:&quot;down&quot;}"/>
          <p:cNvSpPr/>
          <p:nvPr/>
        </p:nvSpPr>
        <p:spPr>
          <a:xfrm>
            <a:off x="512064" y="6044184"/>
            <a:ext cx="631768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Apply corrective action and verify effectiveness</a:t>
            </a:r>
          </a:p>
        </p:txBody>
      </p:sp>
      <p:sp>
        <p:nvSpPr>
          <p:cNvPr id="11" name="VIZ::Process Flow::Release production after engineering approval::node-9" descr="VisualizerDiagramNode:{&quot;item_id&quot;:&quot;c6&quot;,&quot;node_index&quot;:8,&quot;label&quot;:&quot;Release production after engineering approval&quot;,&quot;page&quot;:1,&quot;page_count&quot;:1,&quot;direction&quot;:&quot;down&quot;}"/>
          <p:cNvSpPr/>
          <p:nvPr/>
        </p:nvSpPr>
        <p:spPr>
          <a:xfrm>
            <a:off x="512064" y="6812280"/>
            <a:ext cx="6317685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 production after engineering approval</a:t>
            </a:r>
          </a:p>
        </p:txBody>
      </p:sp>
      <p:cxnSp>
        <p:nvCxnSpPr>
          <p:cNvPr id="12" name="VIZ::DiagramEdge::Process Flow::1" descr="VisualizerSemanticEdge:{&quot;item_id&quot;:&quot;c6&quot;,&quot;edge_index&quot;:0,&quot;source&quot;:&quot;Define affected wafer scope and customer impact&quot;,&quot;target&quot;:&quot;Contain material from the suspect process window&quot;,&quot;continuation&quot;:false}"/>
          <p:cNvCxnSpPr/>
          <p:nvPr/>
        </p:nvCxnSpPr>
        <p:spPr>
          <a:xfrm>
            <a:off x="3670906" y="1165860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VIZ::DiagramEdge::Process Flow::2" descr="VisualizerSemanticEdge:{&quot;item_id&quot;:&quot;c6&quot;,&quot;edge_index&quot;:1,&quot;source&quot;:&quot;Contain material from the suspect process window&quot;,&quot;target&quot;:&quot;Verify measurement method against qualified standards&quot;,&quot;continuation&quot;:false}"/>
          <p:cNvCxnSpPr/>
          <p:nvPr/>
        </p:nvCxnSpPr>
        <p:spPr>
          <a:xfrm>
            <a:off x="3670906" y="1933956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VIZ::DiagramEdge::Process Flow::3" descr="VisualizerSemanticEdge:{&quot;item_id&quot;:&quot;c6&quot;,&quot;edge_index&quot;:2,&quot;source&quot;:&quot;Verify measurement method against qualified standards&quot;,&quot;target&quot;:&quot;Compare affected and reference wafer populations&quot;,&quot;continuation&quot;:false}"/>
          <p:cNvCxnSpPr/>
          <p:nvPr/>
        </p:nvCxnSpPr>
        <p:spPr>
          <a:xfrm>
            <a:off x="3670906" y="2702052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VIZ::DiagramEdge::Process Flow::4" descr="VisualizerSemanticEdge:{&quot;item_id&quot;:&quot;c6&quot;,&quot;edge_index&quot;:3,&quot;source&quot;:&quot;Compare affected and reference wafer populations&quot;,&quot;target&quot;:&quot;Inspect etch tool and chamber process history&quot;,&quot;continuation&quot;:false}"/>
          <p:cNvCxnSpPr/>
          <p:nvPr/>
        </p:nvCxnSpPr>
        <p:spPr>
          <a:xfrm>
            <a:off x="3670906" y="3470148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VIZ::DiagramEdge::Process Flow::5" descr="VisualizerSemanticEdge:{&quot;item_id&quot;:&quot;c6&quot;,&quot;edge_index&quot;:4,&quot;source&quot;:&quot;Inspect etch tool and chamber process history&quot;,&quot;target&quot;:&quot;Correlate recipe settings with die-level yield loss&quot;,&quot;continuation&quot;:false}"/>
          <p:cNvCxnSpPr/>
          <p:nvPr/>
        </p:nvCxnSpPr>
        <p:spPr>
          <a:xfrm>
            <a:off x="3670906" y="4238244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VIZ::DiagramEdge::Process Flow::6" descr="VisualizerSemanticEdge:{&quot;item_id&quot;:&quot;c6&quot;,&quot;edge_index&quot;:5,&quot;source&quot;:&quot;Correlate recipe settings with die-level yield loss&quot;,&quot;target&quot;:&quot;Confirm the physical defect signature by inspection&quot;,&quot;continuation&quot;:false}"/>
          <p:cNvCxnSpPr/>
          <p:nvPr/>
        </p:nvCxnSpPr>
        <p:spPr>
          <a:xfrm>
            <a:off x="3670906" y="5006340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VIZ::DiagramEdge::Process Flow::7" descr="VisualizerSemanticEdge:{&quot;item_id&quot;:&quot;c6&quot;,&quot;edge_index&quot;:6,&quot;source&quot;:&quot;Confirm the physical defect signature by inspection&quot;,&quot;target&quot;:&quot;Apply corrective action and verify effectiveness&quot;,&quot;continuation&quot;:false}"/>
          <p:cNvCxnSpPr/>
          <p:nvPr/>
        </p:nvCxnSpPr>
        <p:spPr>
          <a:xfrm>
            <a:off x="3670906" y="5774436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VIZ::DiagramEdge::Process Flow::8" descr="VisualizerSemanticEdge:{&quot;item_id&quot;:&quot;c6&quot;,&quot;edge_index&quot;:7,&quot;source&quot;:&quot;Apply corrective action and verify effectiveness&quot;,&quot;target&quot;:&quot;Release production after engineering approval&quot;,&quot;continuation&quot;:false}"/>
          <p:cNvCxnSpPr/>
          <p:nvPr/>
        </p:nvCxnSpPr>
        <p:spPr>
          <a:xfrm>
            <a:off x="3670906" y="6542532"/>
            <a:ext cx="0" cy="265176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