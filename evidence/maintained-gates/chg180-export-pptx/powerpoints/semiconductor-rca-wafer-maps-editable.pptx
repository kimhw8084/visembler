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2443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tch chamber RCA" descr="VisualizerSemantic: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,&quot;x&quot;:14.0,&quot;y&quot;:433.59999999999997,&quot;w&quot;:1572.0,&quot;h&quot;:109.0}"/>
          <p:cNvSpPr/>
          <p:nvPr/>
        </p:nvSpPr>
        <p:spPr>
          <a:xfrm>
            <a:off x="106679" y="3304032"/>
            <a:ext cx="11978638" cy="83057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Etch chamber RCA</a:t>
            </a:r>
          </a:p>
          <a:p>
            <a:pPr>
              <a:defRPr sz="1000"/>
            </a:pPr>
            <a:r>
              <a:t>W07 on lot L2407 shows a localized die-level yield loss after ETCH-08 chamber A processing. Negative affected-reference deltas cluster in the upper-right die region; confirm chamber condition and requalify REC-17 before release.</a:t>
            </a:r>
          </a:p>
        </p:txBody>
      </p:sp>
      <p:sp>
        <p:nvSpPr>
          <p:cNvPr id="5" name="VIZ::W07 affected yield by die::spatial-panel" descr="VisualizerSemantic: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,&quot;observations&quot;:[{&quot;x&quot;:0,&quot;y&quot;:0,&quot;value&quot;:98.1},{&quot;x&quot;:1,&quot;y&quot;:0,&quot;value&quot;:96.0},{&quot;x&quot;:0,&quot;y&quot;:1,&quot;value&quot;:0},{&quot;x&quot;:1,&quot;y&quot;:1,&quot;value&quot;:null}],&quot;wafer_id&quot;:&quot;W07&quot;,&quot;lot_id&quot;:&quot;L2407&quot;,&quot;tool&quot;:&quot;ETCH-08&quot;,&quot;chamber&quot;:&quot;A&quot;,&quot;recipe&quot;:&quot;REC-17&quot;,&quot;process&quot;:&quot;Etch&quot;,&quot;x&quot;:433.40000000000003,&quot;y&quot;:40.0,&quot;w&quot;:359.59999999999997,&quot;h&quot;:359.59999999999997}"/>
          <p:cNvSpPr/>
          <p:nvPr/>
        </p:nvSpPr>
        <p:spPr>
          <a:xfrm>
            <a:off x="3302507" y="304800"/>
            <a:ext cx="2740151" cy="274015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Z::W07 affected yield by die::title"/>
          <p:cNvSpPr txBox="1"/>
          <p:nvPr/>
        </p:nvSpPr>
        <p:spPr>
          <a:xfrm>
            <a:off x="3412113" y="400705"/>
            <a:ext cx="2520938" cy="246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affected yield by die</a:t>
            </a:r>
          </a:p>
        </p:txBody>
      </p:sp>
      <p:sp>
        <p:nvSpPr>
          <p:cNvPr id="7" name="VIZ::W07 affected yield by die::metadata"/>
          <p:cNvSpPr txBox="1"/>
          <p:nvPr/>
        </p:nvSpPr>
        <p:spPr>
          <a:xfrm>
            <a:off x="3412113" y="683894"/>
            <a:ext cx="2520938" cy="438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Value 0 to 98.1</a:t>
            </a:r>
          </a:p>
        </p:txBody>
      </p:sp>
      <p:sp>
        <p:nvSpPr>
          <p:cNvPr id="8" name="VIZ::W07 affected yield by die::wafer-outline"/>
          <p:cNvSpPr/>
          <p:nvPr/>
        </p:nvSpPr>
        <p:spPr>
          <a:xfrm>
            <a:off x="4068630" y="1305947"/>
            <a:ext cx="1207903" cy="1207903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Z::W07 affected yield by die::orientation-notch"/>
          <p:cNvSpPr/>
          <p:nvPr/>
        </p:nvSpPr>
        <p:spPr>
          <a:xfrm>
            <a:off x="4626862" y="1302290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Z::W07 affected yield by die::orientation"/>
          <p:cNvSpPr txBox="1"/>
          <p:nvPr/>
        </p:nvSpPr>
        <p:spPr>
          <a:xfrm>
            <a:off x="4515555" y="1159643"/>
            <a:ext cx="84553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1" name="VIZ::W07 affected yield by die::die-1" descr="VisualizerSemanticDie:{&quot;index&quot;:0,&quot;x&quot;:0,&quot;y&quot;:0,&quot;value&quot;:98.1,&quot;delta&quot;:null,&quot;reference_value&quot;:null,&quot;affected_value&quot;:null}"/>
          <p:cNvSpPr/>
          <p:nvPr/>
        </p:nvSpPr>
        <p:spPr>
          <a:xfrm>
            <a:off x="4246350" y="2245538"/>
            <a:ext cx="90592" cy="90592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Z::W07 affected yield by die::die-2" descr="VisualizerSemanticDie:{&quot;index&quot;:1,&quot;x&quot;:1,&quot;y&quot;:0,&quot;value&quot;:96.0,&quot;delta&quot;:null,&quot;reference_value&quot;:null,&quot;affected_value&quot;:null}"/>
          <p:cNvSpPr/>
          <p:nvPr/>
        </p:nvSpPr>
        <p:spPr>
          <a:xfrm>
            <a:off x="5008222" y="2245538"/>
            <a:ext cx="90592" cy="90592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IZ::W07 affected yield by die::die-3" descr="VisualizerSemanticDie:{&quot;index&quot;:2,&quot;x&quot;:0,&quot;y&quot;:1,&quot;value&quot;:0,&quot;delta&quot;:null,&quot;reference_value&quot;:null,&quot;affected_value&quot;:null}"/>
          <p:cNvSpPr/>
          <p:nvPr/>
        </p:nvSpPr>
        <p:spPr>
          <a:xfrm>
            <a:off x="4246350" y="1483666"/>
            <a:ext cx="90592" cy="90592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W07 affected yield by die::die-4" descr="VisualizerSemanticDie:{&quot;index&quot;:3,&quot;x&quot;:1,&quot;y&quot;:1,&quot;value&quot;:null,&quot;delta&quot;:null,&quot;reference_value&quot;:null,&quot;affected_value&quot;:null}"/>
          <p:cNvSpPr/>
          <p:nvPr/>
        </p:nvSpPr>
        <p:spPr>
          <a:xfrm>
            <a:off x="5008222" y="1483666"/>
            <a:ext cx="90592" cy="90592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W07 affected yield by die::legend-title"/>
          <p:cNvSpPr txBox="1"/>
          <p:nvPr/>
        </p:nvSpPr>
        <p:spPr>
          <a:xfrm>
            <a:off x="3412235" y="2550426"/>
            <a:ext cx="252069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6" name="VIZ::W07 affected yield by die::legend-1"/>
          <p:cNvSpPr/>
          <p:nvPr/>
        </p:nvSpPr>
        <p:spPr>
          <a:xfrm>
            <a:off x="3412235" y="2760738"/>
            <a:ext cx="259757" cy="109606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W07 affected yield by die::legend-2"/>
          <p:cNvSpPr/>
          <p:nvPr/>
        </p:nvSpPr>
        <p:spPr>
          <a:xfrm>
            <a:off x="3694852" y="2760738"/>
            <a:ext cx="259757" cy="109606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W07 affected yield by die::legend-3"/>
          <p:cNvSpPr/>
          <p:nvPr/>
        </p:nvSpPr>
        <p:spPr>
          <a:xfrm>
            <a:off x="3977469" y="2760738"/>
            <a:ext cx="259757" cy="109606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W07 affected yield by die::legend-4"/>
          <p:cNvSpPr/>
          <p:nvPr/>
        </p:nvSpPr>
        <p:spPr>
          <a:xfrm>
            <a:off x="4260086" y="2760738"/>
            <a:ext cx="259757" cy="109606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W07 affected yield by die::legend-5"/>
          <p:cNvSpPr/>
          <p:nvPr/>
        </p:nvSpPr>
        <p:spPr>
          <a:xfrm>
            <a:off x="4542703" y="2760738"/>
            <a:ext cx="259757" cy="109606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W07 affected yield by die::legend-6"/>
          <p:cNvSpPr/>
          <p:nvPr/>
        </p:nvSpPr>
        <p:spPr>
          <a:xfrm>
            <a:off x="4825321" y="2760738"/>
            <a:ext cx="259757" cy="109606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W07 affected yield by die::legend-7"/>
          <p:cNvSpPr/>
          <p:nvPr/>
        </p:nvSpPr>
        <p:spPr>
          <a:xfrm>
            <a:off x="5107938" y="2760738"/>
            <a:ext cx="259757" cy="109606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W07 affected yield by die::legend-8"/>
          <p:cNvSpPr/>
          <p:nvPr/>
        </p:nvSpPr>
        <p:spPr>
          <a:xfrm>
            <a:off x="5390555" y="2760738"/>
            <a:ext cx="259757" cy="109606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W07 affected yield by die::legend-9"/>
          <p:cNvSpPr/>
          <p:nvPr/>
        </p:nvSpPr>
        <p:spPr>
          <a:xfrm>
            <a:off x="5673172" y="2760738"/>
            <a:ext cx="259757" cy="109606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W07 affected yield by die::legend-low"/>
          <p:cNvSpPr txBox="1"/>
          <p:nvPr/>
        </p:nvSpPr>
        <p:spPr>
          <a:xfrm>
            <a:off x="3412235" y="2893204"/>
            <a:ext cx="75620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0</a:t>
            </a:r>
          </a:p>
        </p:txBody>
      </p:sp>
      <p:sp>
        <p:nvSpPr>
          <p:cNvPr id="26" name="VIZ::W07 affected yield by die::legend-high"/>
          <p:cNvSpPr txBox="1"/>
          <p:nvPr/>
        </p:nvSpPr>
        <p:spPr>
          <a:xfrm>
            <a:off x="5176721" y="2893204"/>
            <a:ext cx="75620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98.1</a:t>
            </a:r>
          </a:p>
        </p:txBody>
      </p:sp>
      <p:sp>
        <p:nvSpPr>
          <p:cNvPr id="27" name="VIZ::W07 signed affected − reference::spatial-panel" descr="VisualizerSemantic: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,&quot;observations&quot;:[{&quot;x&quot;:0,&quot;y&quot;:0,&quot;value&quot;:null,&quot;reference_value&quot;:100.0,&quot;affected_value&quot;:100.0,&quot;delta&quot;:0.0},{&quot;x&quot;:1,&quot;y&quot;:0,&quot;value&quot;:null,&quot;reference_value&quot;:100.0,&quot;affected_value&quot;:95.0,&quot;delta&quot;:-5.0},{&quot;x&quot;:0,&quot;y&quot;:1,&quot;value&quot;:null,&quot;reference_value&quot;:100.0,&quot;affected_value&quot;:102.0,&quot;delta&quot;:2.0},{&quot;x&quot;:1,&quot;y&quot;:1,&quot;value&quot;:null,&quot;reference_value&quot;:102.0,&quot;affected_value&quot;:null,&quot;delta&quot;:null}],&quot;wafer_id&quot;:&quot;W07&quot;,&quot;lot_id&quot;:&quot;L2407&quot;,&quot;tool&quot;:&quot;ETCH-08&quot;,&quot;chamber&quot;:&quot;A&quot;,&quot;recipe&quot;:&quot;REC-17&quot;,&quot;process&quot;:&quot;Etch&quot;,&quot;x&quot;:807.0,&quot;y&quot;:40.0,&quot;w&quot;:359.59999999999997,&quot;h&quot;:359.59999999999997}"/>
          <p:cNvSpPr/>
          <p:nvPr/>
        </p:nvSpPr>
        <p:spPr>
          <a:xfrm>
            <a:off x="6149339" y="304800"/>
            <a:ext cx="2740151" cy="274015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W07 signed affected − reference::title"/>
          <p:cNvSpPr txBox="1"/>
          <p:nvPr/>
        </p:nvSpPr>
        <p:spPr>
          <a:xfrm>
            <a:off x="6258945" y="400705"/>
            <a:ext cx="2520938" cy="2466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signed affected − reference</a:t>
            </a:r>
          </a:p>
        </p:txBody>
      </p:sp>
      <p:sp>
        <p:nvSpPr>
          <p:cNvPr id="29" name="VIZ::W07 signed affected − reference::metadata"/>
          <p:cNvSpPr txBox="1"/>
          <p:nvPr/>
        </p:nvSpPr>
        <p:spPr>
          <a:xfrm>
            <a:off x="6258945" y="683894"/>
            <a:ext cx="2520938" cy="438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Delta -5 to +2</a:t>
            </a:r>
          </a:p>
        </p:txBody>
      </p:sp>
      <p:sp>
        <p:nvSpPr>
          <p:cNvPr id="30" name="VIZ::W07 signed affected − reference::wafer-outline"/>
          <p:cNvSpPr/>
          <p:nvPr/>
        </p:nvSpPr>
        <p:spPr>
          <a:xfrm>
            <a:off x="6915462" y="1305947"/>
            <a:ext cx="1207903" cy="1207903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W07 signed affected − reference::orientation-notch"/>
          <p:cNvSpPr/>
          <p:nvPr/>
        </p:nvSpPr>
        <p:spPr>
          <a:xfrm>
            <a:off x="7473694" y="1302290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W07 signed affected − reference::orientation"/>
          <p:cNvSpPr txBox="1"/>
          <p:nvPr/>
        </p:nvSpPr>
        <p:spPr>
          <a:xfrm>
            <a:off x="7362387" y="1159643"/>
            <a:ext cx="845532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33" name="VIZ::W07 signed affected − reference::die-1" descr="VisualizerSemanticDie:{&quot;index&quot;:0,&quot;x&quot;:0,&quot;y&quot;:0,&quot;value&quot;:null,&quot;delta&quot;:0.0,&quot;reference_value&quot;:100.0,&quot;affected_value&quot;:100.0}"/>
          <p:cNvSpPr/>
          <p:nvPr/>
        </p:nvSpPr>
        <p:spPr>
          <a:xfrm>
            <a:off x="7093182" y="2245538"/>
            <a:ext cx="90592" cy="90592"/>
          </a:xfrm>
          <a:prstGeom prst="rect">
            <a:avLst/>
          </a:prstGeom>
          <a:solidFill>
            <a:srgbClr val="B4BC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W07 signed affected − reference::die-2" descr="VisualizerSemanticDie:{&quot;index&quot;:1,&quot;x&quot;:1,&quot;y&quot;:0,&quot;value&quot;:null,&quot;delta&quot;:-5.0,&quot;reference_value&quot;:100.0,&quot;affected_value&quot;:95.0}"/>
          <p:cNvSpPr/>
          <p:nvPr/>
        </p:nvSpPr>
        <p:spPr>
          <a:xfrm>
            <a:off x="7855054" y="2245538"/>
            <a:ext cx="90592" cy="90592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W07 signed affected − reference::die-3" descr="VisualizerSemanticDie:{&quot;index&quot;:2,&quot;x&quot;:0,&quot;y&quot;:1,&quot;value&quot;:null,&quot;delta&quot;:2.0,&quot;reference_value&quot;:100.0,&quot;affected_value&quot;:102.0}"/>
          <p:cNvSpPr/>
          <p:nvPr/>
        </p:nvSpPr>
        <p:spPr>
          <a:xfrm>
            <a:off x="7093182" y="1483666"/>
            <a:ext cx="90592" cy="90592"/>
          </a:xfrm>
          <a:prstGeom prst="rect">
            <a:avLst/>
          </a:prstGeom>
          <a:solidFill>
            <a:srgbClr val="BC909C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W07 signed affected − reference::die-4" descr="VisualizerSemanticDie:{&quot;index&quot;:3,&quot;x&quot;:1,&quot;y&quot;:1,&quot;value&quot;:null,&quot;delta&quot;:null,&quot;reference_value&quot;:102.0,&quot;affected_value&quot;:null}"/>
          <p:cNvSpPr/>
          <p:nvPr/>
        </p:nvSpPr>
        <p:spPr>
          <a:xfrm>
            <a:off x="7855054" y="1483666"/>
            <a:ext cx="90592" cy="90592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W07 signed affected − reference::legend-title"/>
          <p:cNvSpPr txBox="1"/>
          <p:nvPr/>
        </p:nvSpPr>
        <p:spPr>
          <a:xfrm>
            <a:off x="6259067" y="2550426"/>
            <a:ext cx="252069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SIGNED DELTA · AFFECTED − REFERENCE</a:t>
            </a:r>
          </a:p>
        </p:txBody>
      </p:sp>
      <p:sp>
        <p:nvSpPr>
          <p:cNvPr id="38" name="VIZ::W07 signed affected − reference::legend-1"/>
          <p:cNvSpPr/>
          <p:nvPr/>
        </p:nvSpPr>
        <p:spPr>
          <a:xfrm>
            <a:off x="6259067" y="2760738"/>
            <a:ext cx="259757" cy="109606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W07 signed affected − reference::legend-2"/>
          <p:cNvSpPr/>
          <p:nvPr/>
        </p:nvSpPr>
        <p:spPr>
          <a:xfrm>
            <a:off x="6541684" y="2760738"/>
            <a:ext cx="259757" cy="109606"/>
          </a:xfrm>
          <a:prstGeom prst="rect">
            <a:avLst/>
          </a:prstGeom>
          <a:solidFill>
            <a:srgbClr val="56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W07 signed affected − reference::legend-3"/>
          <p:cNvSpPr/>
          <p:nvPr/>
        </p:nvSpPr>
        <p:spPr>
          <a:xfrm>
            <a:off x="6824301" y="2760738"/>
            <a:ext cx="259757" cy="109606"/>
          </a:xfrm>
          <a:prstGeom prst="rect">
            <a:avLst/>
          </a:prstGeom>
          <a:solidFill>
            <a:srgbClr val="758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W07 signed affected − reference::legend-4"/>
          <p:cNvSpPr/>
          <p:nvPr/>
        </p:nvSpPr>
        <p:spPr>
          <a:xfrm>
            <a:off x="7106918" y="2760738"/>
            <a:ext cx="259757" cy="109606"/>
          </a:xfrm>
          <a:prstGeom prst="rect">
            <a:avLst/>
          </a:prstGeom>
          <a:solidFill>
            <a:srgbClr val="94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W07 signed affected − reference::legend-5"/>
          <p:cNvSpPr/>
          <p:nvPr/>
        </p:nvSpPr>
        <p:spPr>
          <a:xfrm>
            <a:off x="7389535" y="2760738"/>
            <a:ext cx="259757" cy="109606"/>
          </a:xfrm>
          <a:prstGeom prst="rect">
            <a:avLst/>
          </a:prstGeom>
          <a:solidFill>
            <a:srgbClr val="B4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W07 signed affected − reference::legend-6"/>
          <p:cNvSpPr/>
          <p:nvPr/>
        </p:nvSpPr>
        <p:spPr>
          <a:xfrm>
            <a:off x="7672153" y="2760738"/>
            <a:ext cx="259757" cy="109606"/>
          </a:xfrm>
          <a:prstGeom prst="rect">
            <a:avLst/>
          </a:prstGeom>
          <a:solidFill>
            <a:srgbClr val="B9A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W07 signed affected − reference::legend-7"/>
          <p:cNvSpPr/>
          <p:nvPr/>
        </p:nvSpPr>
        <p:spPr>
          <a:xfrm>
            <a:off x="7954770" y="2760738"/>
            <a:ext cx="259757" cy="109606"/>
          </a:xfrm>
          <a:prstGeom prst="rect">
            <a:avLst/>
          </a:prstGeom>
          <a:solidFill>
            <a:srgbClr val="BE8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W07 signed affected − reference::legend-8"/>
          <p:cNvSpPr/>
          <p:nvPr/>
        </p:nvSpPr>
        <p:spPr>
          <a:xfrm>
            <a:off x="8237387" y="2760738"/>
            <a:ext cx="259757" cy="109606"/>
          </a:xfrm>
          <a:prstGeom prst="rect">
            <a:avLst/>
          </a:prstGeom>
          <a:solidFill>
            <a:srgbClr val="C4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W07 signed affected − reference::legend-9"/>
          <p:cNvSpPr/>
          <p:nvPr/>
        </p:nvSpPr>
        <p:spPr>
          <a:xfrm>
            <a:off x="8520004" y="2760738"/>
            <a:ext cx="259757" cy="109606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W07 signed affected − reference::legend-low"/>
          <p:cNvSpPr txBox="1"/>
          <p:nvPr/>
        </p:nvSpPr>
        <p:spPr>
          <a:xfrm>
            <a:off x="6259067" y="2893204"/>
            <a:ext cx="75620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-5</a:t>
            </a:r>
          </a:p>
        </p:txBody>
      </p:sp>
      <p:sp>
        <p:nvSpPr>
          <p:cNvPr id="48" name="VIZ::W07 signed affected − reference::legend-high"/>
          <p:cNvSpPr txBox="1"/>
          <p:nvPr/>
        </p:nvSpPr>
        <p:spPr>
          <a:xfrm>
            <a:off x="8023553" y="2893204"/>
            <a:ext cx="75620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+5</a:t>
            </a:r>
          </a:p>
        </p:txBody>
      </p:sp>
      <p:sp>
        <p:nvSpPr>
          <p:cNvPr id="49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die_x&quot;,&quot;name&quot;:&quot;Die X&quot;,&quot;type&quot;:&quot;integer&quot;},{&quot;id&quot;:&quot;die_y&quot;,&quot;name&quot;:&quot;Die Y&quot;,&quot;type&quot;:&quot;integer&quot;},{&quot;id&quot;:&quot;yield&quot;,&quot;name&quot;:&quot;Yield&quot;,&quot;type&quot;:&quot;number&quot;},{&quot;id&quot;:&quot;reference&quot;,&quot;name&quot;:&quot;Reference&quot;,&quot;type&quot;:&quot;number&quot;},{&quot;id&quot;:&quot;affected&quot;,&quot;name&quot;:&quot;Affected&quot;,&quot;type&quot;:&quot;number&quot;},{&quot;id&quot;:&quot;wafer&quot;,&quot;name&quot;:&quot;Wafer&quot;,&quot;type&quot;:&quot;identifier&quot;},{&quot;id&quot;:&quot;lot&quot;,&quot;name&quot;:&quot;Lot&quot;,&quot;type&quot;:&quot;identifier&quot;},{&quot;id&quot;:&quot;tool&quot;,&quot;name&quot;:&quot;Tool&quot;,&quot;type&quot;:&quot;categorical&quot;},{&quot;id&quot;:&quot;chamber&quot;,&quot;name&quot;:&quot;Chamber&quot;,&quot;type&quot;:&quot;categorical&quot;},{&quot;id&quot;:&quot;recipe&quot;,&quot;name&quot;:&quot;Recipe&quot;,&quot;type&quot;:&quot;categorical&quot;},{&quot;id&quot;:&quot;process&quot;,&quot;name&quot;:&quot;Process&quot;,&quot;type&quot;:&quot;categorical&quot;}],&quot;id&quot;:&quot;d-wafer&quot;,&quot;name&quot;:&quot;W07 etch yield and reference data&quot;,&quot;rows&quot;:[[0,0,98.1,100.0,100.0,&quot;W07&quot;,&quot;L2407&quot;,&quot;ETCH-08&quot;,&quot;A&quot;,&quot;REC-17&quot;,&quot;Etch&quot;],[1,0,96.0,100.0,95.0,&quot;W07&quot;,&quot;L2407&quot;,&quot;ETCH-08&quot;,&quot;A&quot;,&quot;REC-17&quot;,&quot;Etch&quot;],[0,1,0,100.0,102.0,&quot;W07&quot;,&quot;L2407&quot;,&quot;ETCH-08&quot;,&quot;A&quot;,&quot;REC-17&quot;,&quot;Etch&quot;],[1,1,null,102.0,null,&quot;W07&quot;,&quot;L2407&quot;,&quot;ETCH-08&quot;,&quot;A&quot;,&quot;REC-17&quot;,&quot;Etch&quot;]]}],&quot;groups&quot;:{},&quot;items&quot;:[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},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},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}],&quot;layoutPreset&quot;:&quot;technic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