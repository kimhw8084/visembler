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1010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 by shift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measurement trend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1838" y="205252"/>
            <a:ext cx="5436317" cy="62068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  <a:r>
              <a:rPr sz="1300" b="1" i="0">
                <a:solidFill>
                  <a:srgbClr val="172B43"/>
                </a:solidFill>
                <a:latin typeface="Arial Narrow"/>
              </a:rPr>
              <a:t> · 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5579994" y="330867"/>
            <a:ext cx="2558267" cy="36945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Report context</a:t>
            </a:r>
            <a:r>
              <a:rPr sz="1050" b="0" i="0">
                <a:solidFill>
                  <a:srgbClr val="374A60"/>
                </a:solidFill>
                <a:latin typeface="Arial Narrow"/>
              </a:rPr>
              <a:t> · Line 4 · shifts A–C · chamber A controls · capacity release review.</a:t>
            </a:r>
          </a:p>
        </p:txBody>
      </p:sp>
      <p:sp>
        <p:nvSpPr>
          <p:cNvPr id="4" name="VIZ::First pass yield KPI" title="Visembler report text roles: metric title, metric value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4.96,&quot;w&quot;:872.4800000000001,&quot;h&quot;:206.0}"/>
          <p:cNvSpPr/>
          <p:nvPr/>
        </p:nvSpPr>
        <p:spPr>
          <a:xfrm>
            <a:off x="71838" y="1000400"/>
            <a:ext cx="4476967" cy="105705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First pass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95%</a:t>
            </a:r>
          </a:p>
        </p:txBody>
      </p:sp>
      <p:sp>
        <p:nvSpPr>
          <p:cNvPr id="5" name="VIZ::Unplanned downtime KPI" title="Visembler report text roles: metric title, metric value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4.96,&quot;w&quot;:685.52,&quot;h&quot;:206.0}"/>
          <p:cNvSpPr/>
          <p:nvPr/>
        </p:nvSpPr>
        <p:spPr>
          <a:xfrm>
            <a:off x="4620644" y="1000400"/>
            <a:ext cx="3517617" cy="105705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Unplanned downtime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8.3 h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A&quot;,94.1],[&quot;B&quot;,94.6],[&quot;C&quot;,95]],&quot;dataset_id&quot;:&quot;dataset-mugj6ue4-0ufspj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775.8399999999999,&quot;y&quot;:434.96000000000004,&quot;w&quot;:810.1600000000001,&quot;h&quot;:393.16588235294125}"/>
          <p:cNvGraphicFramePr>
            <a:graphicFrameLocks noGrp="1"/>
          </p:cNvGraphicFramePr>
          <p:nvPr/>
        </p:nvGraphicFramePr>
        <p:xfrm>
          <a:off x="3981077" y="2231915"/>
          <a:ext cx="4157184" cy="201745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primary_analysis&quot;,&quot;dataset_id&quot;:&quot;dataset-mugj6whv-gp5c7n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365.6242424242424,&quot;y&quot;:836.1258823529413,&quot;w&quot;:868.7515151515152,&quot;h&quot;:421.6}"/>
          <p:cNvGraphicFramePr>
            <a:graphicFrameLocks noGrp="1"/>
          </p:cNvGraphicFramePr>
          <p:nvPr/>
        </p:nvGraphicFramePr>
        <p:xfrm>
          <a:off x="1876132" y="4290423"/>
          <a:ext cx="4457835" cy="216336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573.5429411764707,&quot;w&quot;:747.8399999999999,&quot;h&quot;:116.0}"/>
          <p:cNvSpPr/>
          <p:nvPr/>
        </p:nvSpPr>
        <p:spPr>
          <a:xfrm>
            <a:off x="71838" y="2943028"/>
            <a:ext cx="3837400" cy="59523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950" b="0" i="0">
                <a:solidFill>
                  <a:srgbClr val="253649"/>
                </a:solidFill>
                <a:latin typeface="Arial Narrow"/>
              </a:rP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1997928" y="6628249"/>
            <a:ext cx="4214244" cy="87232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788.1658823529415,&quot;w&quot;:1572.0,&quot;h&quot;:255.2}"/>
          <p:cNvSpPr/>
          <p:nvPr/>
        </p:nvSpPr>
        <p:spPr>
          <a:xfrm>
            <a:off x="71838" y="9175638"/>
            <a:ext cx="8066423" cy="130951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32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2077.3658823529413,&quot;w&quot;:1572.0,&quot;h&quot;:94.0}"/>
          <p:cNvSpPr/>
          <p:nvPr/>
        </p:nvSpPr>
        <p:spPr>
          <a:xfrm>
            <a:off x="71838" y="10659613"/>
            <a:ext cx="8066423" cy="48234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Hold added capacity until the paired-lot check closes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Keep the recipe locked and attach the next-shift control evidence.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Review</a:t>
            </a:r>
          </a:p>
        </p:txBody>
      </p:sp>
      <p:sp>
        <p:nvSpPr>
          <p:cNvPr id="13" name="VIZ::Project Card" title="Visembler report text roles: text heading, conclusion next step, evidence detail, action status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2205.3658823529413,&quot;w&quot;:1572.0,&quot;h&quot;:156.0}"/>
          <p:cNvSpPr/>
          <p:nvPr/>
        </p:nvSpPr>
        <p:spPr>
          <a:xfrm>
            <a:off x="71838" y="11316421"/>
            <a:ext cx="8066423" cy="80048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Complete chamber verification and update the runbook.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Equipment Engineering · due next shift · evidence: paired control lot.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  <p:sp>
        <p:nvSpPr>
          <p:cNvPr id="14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052792" y="6646537"/>
            <a:ext cx="4104516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5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1291.7258823529414,&quot;w&quot;:821.28,&quot;h&quot;:170.0}"/>
          <p:cNvSpPr/>
          <p:nvPr/>
        </p:nvSpPr>
        <p:spPr>
          <a:xfrm>
            <a:off x="2052792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6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129213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7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205634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18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282055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19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2932617" y="718328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009038" y="718328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085459" y="718328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1469.7258823529414,&quot;w&quot;:1572.0,&quot;h&quot;:300.44}"/>
          <p:cNvGraphicFramePr>
            <a:graphicFrameLocks noGrp="1"/>
          </p:cNvGraphicFramePr>
          <p:nvPr/>
        </p:nvGraphicFramePr>
        <p:xfrm>
          <a:off x="71838" y="7541622"/>
          <a:ext cx="8066423" cy="1541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284"/>
                <a:gridCol w="1613284"/>
                <a:gridCol w="1613284"/>
                <a:gridCol w="1613284"/>
                <a:gridCol w="1613287"/>
              </a:tblGrid>
              <a:tr h="38541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38541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38541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38541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gj6ue4-0ufspj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09-25T05:39:31.036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gj6whv-gp5c7n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09-25T05:39:33.763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gj6ue4-0ufspj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gj6whv-gp5c7n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