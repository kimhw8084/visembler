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84279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Measurement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25500000000001"/>
          <c:min val="94.04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045"/>
          <c:min val="94.05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77374" y="221069"/>
            <a:ext cx="5855254" cy="6685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  <a:r>
              <a:rPr sz="1400" b="1" i="0">
                <a:solidFill>
                  <a:srgbClr val="172B43"/>
                </a:solidFill>
                <a:latin typeface="Arial Narrow"/>
              </a:rPr>
              <a:t> · 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title="Visembler report text roles: text heading, context subhead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6010003" y="356364"/>
            <a:ext cx="2755414" cy="3979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Report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74A60"/>
                </a:solidFill>
                <a:latin typeface="Arial Narrow"/>
              </a:rPr>
              <a:t>Line 4 · shifts A–C · chamber A controls · capacity release review.</a:t>
            </a:r>
          </a:p>
        </p:txBody>
      </p:sp>
      <p:sp>
        <p:nvSpPr>
          <p:cNvPr id="4" name="VIZ::First pass yield KPI" title="Visembler report text roles: metric title, metric value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1986.671811764706,&quot;w&quot;:872.4800000000001,&quot;h&quot;:205.0}"/>
          <p:cNvSpPr/>
          <p:nvPr/>
        </p:nvSpPr>
        <p:spPr>
          <a:xfrm>
            <a:off x="77374" y="10979827"/>
            <a:ext cx="482197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First pass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95%</a:t>
            </a:r>
          </a:p>
        </p:txBody>
      </p:sp>
      <p:sp>
        <p:nvSpPr>
          <p:cNvPr id="5" name="VIZ::Unplanned downtime KPI" title="Visembler report text roles: metric title, metric value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900.4800000000001,&quot;y&quot;:1986.671811764706,&quot;w&quot;:685.52,&quot;h&quot;:205.0}"/>
          <p:cNvSpPr/>
          <p:nvPr/>
        </p:nvSpPr>
        <p:spPr>
          <a:xfrm>
            <a:off x="4976723" y="10979827"/>
            <a:ext cx="378869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Unplanned downtime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8.3 h</a:t>
            </a:r>
          </a:p>
        </p:txBody>
      </p:sp>
      <p:graphicFrame>
        <p:nvGraphicFramePr>
          <p:cNvPr id="14" name="VIZ::Yield by shift" descr="VisualizerSemantic:{&quot;composition_role&quot;:&quot;primary_analysis&quot;,&quot;data&quot;:[[&quot;A&quot;,94.1],[&quot;B&quot;,94.6],[&quot;C&quot;,95]],&quot;dataset_id&quot;:&quot;dataset-mupndwei-7totdu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1},{&quot;label&quot;:&quot;B&quot;,&quot;value&quot;:94.6},{&quot;label&quot;:&quot;C&quot;,&quot;value&quot;:95}],&quot;observations&quot;:[{&quot;label&quot;:&quot;A&quot;,&quot;value&quot;:94.1},{&quot;label&quot;:&quot;B&quot;,&quot;value&quot;:94.6},{&quot;label&quot;:&quot;C&quot;,&quot;value&quot;:95}],&quot;x&quot;:14.0,&quot;y&quot;:194.96,&quot;w&quot;:872.4800000000001,&quot;h&quot;:423.40941176470596}"/>
          <p:cNvGraphicFramePr>
            <a:graphicFrameLocks noGrp="1"/>
          </p:cNvGraphicFramePr>
          <p:nvPr/>
        </p:nvGraphicFramePr>
        <p:xfrm>
          <a:off x="77374" y="1077494"/>
          <a:ext cx="4821974" cy="234007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Critical measurement trend" descr="VisualizerSemantic:{&quot;composition_role&quot;:&quot;primary_analysis&quot;,&quot;dataset_id&quot;:&quot;dataset-mupndyhw-8dlvu0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900.4800000000001,&quot;y&quot;:240.3252941176471,&quot;w&quot;:685.52,&quot;h&quot;:332.6788235294118}"/>
          <p:cNvGraphicFramePr>
            <a:graphicFrameLocks noGrp="1"/>
          </p:cNvGraphicFramePr>
          <p:nvPr/>
        </p:nvGraphicFramePr>
        <p:xfrm>
          <a:off x="4976723" y="1328216"/>
          <a:ext cx="3788694" cy="18386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VIZ::Body Narrative" title="Visembler report text roles: text heading, narrative interpretation" descr="VisualizerSemantic: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,&quot;x&quot;:14.0,&quot;y&quot;:626.369411764706,&quot;w&quot;:1572.0,&quot;h&quot;:116.0}"/>
          <p:cNvSpPr/>
          <p:nvPr/>
        </p:nvSpPr>
        <p:spPr>
          <a:xfrm>
            <a:off x="77374" y="3461783"/>
            <a:ext cx="8688042" cy="64110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Yield recovered from 94.1% on shift A to 95.0% on shift C, while the control sample remains within specification. Keep the recipe locked until the next paired-lot check closes the two open items.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2151893" y="4290795"/>
            <a:ext cx="4539005" cy="9395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title="Visembler report text roles: text heading, narrative interpretation, evidence detail, action status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314.8798117647061,&quot;w&quot;:1572.0,&quot;h&quot;:296.032}"/>
          <p:cNvSpPr/>
          <p:nvPr/>
        </p:nvSpPr>
        <p:spPr>
          <a:xfrm>
            <a:off x="77374" y="7267005"/>
            <a:ext cx="8688042" cy="163609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89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Measurement system remains within the qualified reference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Sample: 30 parts · method: inline metrology · source: shift B inspection.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1644.911811764706,&quot;w&quot;:1572.0,&quot;h&quot;:105.28000000000002}"/>
          <p:cNvSpPr/>
          <p:nvPr/>
        </p:nvSpPr>
        <p:spPr>
          <a:xfrm>
            <a:off x="77374" y="9091007"/>
            <a:ext cx="8688042" cy="58185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  <a:r>
              <a:rPr sz="1100" b="1" i="0">
                <a:solidFill>
                  <a:srgbClr val="682B31"/>
                </a:solidFill>
                <a:latin typeface="Arial"/>
              </a:rPr>
              <a:t> · Hold added capacity until the paired-lot check closes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Keep the recipe locked and attach the next-shift control evidence.</a:t>
            </a:r>
            <a:r>
              <a:rPr sz="1050" b="1" i="0">
                <a:solidFill>
                  <a:srgbClr val="2B4F43"/>
                </a:solidFill>
                <a:latin typeface="Arial"/>
              </a:rPr>
              <a:t> · Review</a:t>
            </a:r>
          </a:p>
        </p:txBody>
      </p:sp>
      <p:sp>
        <p:nvSpPr>
          <p:cNvPr id="13" name="VIZ::Project Card" title="Visembler report text roles: text heading, conclusion next step, evidence detail, action status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1784.191811764706,&quot;w&quot;:1572.0,&quot;h&quot;:168.48000000000002}"/>
          <p:cNvSpPr/>
          <p:nvPr/>
        </p:nvSpPr>
        <p:spPr>
          <a:xfrm>
            <a:off x="77374" y="9860772"/>
            <a:ext cx="8688042" cy="931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Complete chamber verification and update the runbook.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Owner: Equipment Engineering · due next shift · evidence: paired control lot.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Active</a:t>
            </a:r>
          </a:p>
        </p:txBody>
      </p:sp>
      <p:sp>
        <p:nvSpPr>
          <p:cNvPr id="16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206757" y="4309083"/>
            <a:ext cx="442927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7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776.369411764706,&quot;w&quot;:821.28,&quot;h&quot;:170.0}"/>
          <p:cNvSpPr/>
          <p:nvPr/>
        </p:nvSpPr>
        <p:spPr>
          <a:xfrm>
            <a:off x="2206757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8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364368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9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521979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20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679590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21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3167772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325383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482994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954.369411764706,&quot;w&quot;:1572.0,&quot;h&quot;:348.5104}"/>
          <p:cNvGraphicFramePr>
            <a:graphicFrameLocks noGrp="1"/>
          </p:cNvGraphicFramePr>
          <p:nvPr/>
        </p:nvGraphicFramePr>
        <p:xfrm>
          <a:off x="77374" y="5274556"/>
          <a:ext cx="8688042" cy="192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608"/>
                <a:gridCol w="1737608"/>
                <a:gridCol w="1737608"/>
                <a:gridCol w="1737608"/>
                <a:gridCol w="1737610"/>
              </a:tblGrid>
              <a:tr h="48153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3,&quot;missing&quot;:0},&quot;semantic_tags&quot;:[],&quot;type&quot;:&quot;categorical&quot;},{&quot;id&quot;:&quot;yield_2&quot;,&quot;name&quot;:&quot;Yield&quot;,&quot;nullable&quot;:false,&quot;profile&quot;:{&quot;distinct&quot;:3,&quot;missing&quot;:0},&quot;semantic_tags&quot;:[&quot;value&quot;],&quot;type&quot;:&quot;number&quot;,&quot;unit&quot;:&quot;&quot;}],&quot;id&quot;:&quot;dataset-mupndwei-7totdu&quot;,&quot;metadata&quot;:{&quot;header&quot;:{&quot;confidence&quot;:1,&quot;present&quot;:true,&quot;source_row&quot;:0}},&quot;name&quot;:&quot;Pasted data&quot;,&quot;revision&quot;:1,&quot;rows&quot;:[[&quot;A&quot;,94.1],[&quot;B&quot;,94.6],[&quot;C&quot;,95]],&quot;source&quot;:{&quot;imported_at&quot;:&quot;2026-10-01T14:46:54.282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pndyhw-8dlvu0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10-01T14:46:56.996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omposition_role&quot;:&quot;primary_analysis&quot;,&quot;data&quot;:[],&quot;dataset_id&quot;:&quot;dataset-mupndwei-7totdu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pndyhw-8dlvu0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