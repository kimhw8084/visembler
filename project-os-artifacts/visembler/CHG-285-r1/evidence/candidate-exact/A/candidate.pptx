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387740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Quarterly Northline renewal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Renewal rate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Sheet1!$A$2:$A$9</c:f>
              <c:strCache>
                <c:ptCount val="8"/>
                <c:pt idx="0">
                  <c:v>FY24 Q3 | Enterprise renewal cohort</c:v>
                </c:pt>
                <c:pt idx="1">
                  <c:v>FY24 Q4 | Enterprise renewal cohort</c:v>
                </c:pt>
                <c:pt idx="2">
                  <c:v>FY25 Q1 | Enterprise renewal cohort</c:v>
                </c:pt>
                <c:pt idx="3">
                  <c:v>FY25 Q2 | Enterprise renewal cohort</c:v>
                </c:pt>
                <c:pt idx="4">
                  <c:v>FY25 Q3 | Enterprise renewal cohort</c:v>
                </c:pt>
                <c:pt idx="5">
                  <c:v>FY25 Q4 | Enterprise renewal cohort</c:v>
                </c:pt>
                <c:pt idx="6">
                  <c:v>FY26 Q1 | Enterprise renewal cohort</c:v>
                </c:pt>
                <c:pt idx="7">
                  <c:v>FY26 Q2 | Enterprise renewal cohort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86.2</c:v>
                </c:pt>
                <c:pt idx="1">
                  <c:v>87.1</c:v>
                </c:pt>
                <c:pt idx="2">
                  <c:v>88.0</c:v>
                </c:pt>
                <c:pt idx="3">
                  <c:v>87.9</c:v>
                </c:pt>
                <c:pt idx="4">
                  <c:v>89.2</c:v>
                </c:pt>
                <c:pt idx="5">
                  <c:v>90.1</c:v>
                </c:pt>
                <c:pt idx="6">
                  <c:v>90.7</c:v>
                </c:pt>
                <c:pt idx="7">
                  <c:v>91.4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one"/>
        <c:txPr>
          <a:bodyPr rot="-2700000"/>
          <a:lstStyle/>
          <a:p>
            <a:pPr>
              <a:defRPr sz="706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1.66000000000001"/>
          <c:min val="85.94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Protect renewals before accelerating Northline acquisition spend.&quot;,&quot;composition_role&quot;:&quot;report_headline&quot;,&quot;element&quot;:&quot;Executive Statement&quot;,&quot;engine&quot;:&quot;TextEngine&quot;,&quot;groupId&quot;:null,&quot;h&quot;:122.93120000000002,&quot;id&quot;:&quot;c1&quot;,&quot;locked&quot;:false,&quot;message_role&quot;:&quot;Headline&quot;,&quot;order&quot;:0,&quot;section_id&quot;:&quot;opening&quot;,&quot;section_title&quot;:&quot;Executive summary&quot;,&quot;text&quot;:&quot;Protect renewals before accelerating Northline acquisition spend.&quot;,&quot;title&quot;:&quot;Executive Statement&quot;,&quot;type&quot;:&quot;text&quot;,&quot;w&quot;:1059.44,&quot;weight&quot;:1,&quot;x&quot;:14.0,&quot;y&quot;:40.0,&quot;z&quot;:1}"/>
          <p:cNvSpPr/>
          <p:nvPr/>
        </p:nvSpPr>
        <p:spPr>
          <a:xfrm>
            <a:off x="99643" y="284693"/>
            <a:ext cx="7540391" cy="8749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Protect renewals before accelerating Northline acquisition spend.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FY26 Q2 close · Northline Field Service · 8 renewal cohorts and 5 market groups · CRM close extract frozen 2026-09-18.&quot;,&quot;composition_role&quot;:&quot;context&quot;,&quot;element&quot;:&quot;Body Narrative&quot;,&quot;engine&quot;:&quot;TextEngine&quot;,&quot;groupId&quot;:null,&quot;h&quot;:72.0,&quot;id&quot;:&quot;c2&quot;,&quot;locked&quot;:false,&quot;message_role&quot;:&quot;Context&quot;,&quot;order&quot;:1,&quot;section_id&quot;:&quot;opening&quot;,&quot;section_title&quot;:&quot;Executive summary&quot;,&quot;text&quot;:&quot;FY26 Q2 close · Northline Field Service · 8 renewal cohorts and 5 market groups · CRM close extract frozen 2026-09-18.&quot;,&quot;title&quot;:&quot;Quarterly context&quot;,&quot;type&quot;:&quot;text&quot;,&quot;w&quot;:498.56,&quot;weight&quot;:1,&quot;x&quot;:1087.44,&quot;y&quot;:65.46560000000001,&quot;z&quot;:2}"/>
          <p:cNvSpPr/>
          <p:nvPr/>
        </p:nvSpPr>
        <p:spPr>
          <a:xfrm>
            <a:off x="7739677" y="465940"/>
            <a:ext cx="3548419" cy="51244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FY26 Q2 close · Northline Field Service · 8 renewal cohorts and 5 market groups · CRM close extract frozen 2026-09-18.</a:t>
            </a:r>
          </a:p>
        </p:txBody>
      </p:sp>
      <p:sp>
        <p:nvSpPr>
          <p:cNvPr id="4" name="VIZ::FY26 Q2 renewal KPI" title="Visembler report text roles: metric title, metric value" descr="VisualizerSemantic:{&quot;capability_overrides&quot;:{&quot;target&quot;:93},&quot;composition_role&quot;:&quot;hero_metric&quot;,&quot;delta&quot;:2.2,&quot;element&quot;:&quot;Hero KPI&quot;,&quot;emphasis&quot;:&quot;hero&quot;,&quot;engine&quot;:&quot;MetricEngine&quot;,&quot;groupId&quot;:null,&quot;h&quot;:179.73760000000001,&quot;id&quot;:&quot;c3&quot;,&quot;locked&quot;:false,&quot;message_role&quot;:&quot;Supporting Evidence&quot;,&quot;order&quot;:2,&quot;section_id&quot;:&quot;performance&quot;,&quot;section_title&quot;:&quot;Performance&quot;,&quot;showTitle&quot;:true,&quot;target&quot;:93,&quot;title&quot;:&quot;FY26 Q2 renewal&quot;,&quot;type&quot;:&quot;metric&quot;,&quot;unit&quot;:&quot;%&quot;,&quot;value&quot;:91.4,&quot;w&quot;:648.48,&quot;weight&quot;:1,&quot;x&quot;:14.0,&quot;y&quot;:1503.7312,&quot;z&quot;:3}"/>
          <p:cNvSpPr/>
          <p:nvPr/>
        </p:nvSpPr>
        <p:spPr>
          <a:xfrm>
            <a:off x="99643" y="10702562"/>
            <a:ext cx="4615451" cy="1279253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FY26 Q2 renewal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91.4%</a:t>
            </a:r>
          </a:p>
        </p:txBody>
      </p:sp>
      <p:sp>
        <p:nvSpPr>
          <p:cNvPr id="5" name="VIZ::Recurring contribution KPI" title="Visembler report text roles: metric title, metric value" descr="VisualizerSemantic:{&quot;capability_overrides&quot;:{&quot;target&quot;:19},&quot;composition_role&quot;:&quot;hero_metric&quot;,&quot;delta&quot;:1.35,&quot;element&quot;:&quot;Hero KPI&quot;,&quot;emphasis&quot;:&quot;prominent&quot;,&quot;engine&quot;:&quot;MetricEngine&quot;,&quot;groupId&quot;:null,&quot;h&quot;:180.0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$M&quot;},&quot;order&quot;:3,&quot;section_id&quot;:&quot;performance&quot;,&quot;section_title&quot;:&quot;Performance&quot;,&quot;showTitle&quot;:true,&quot;target&quot;:19,&quot;title&quot;:&quot;Recurring contribution&quot;,&quot;type&quot;:&quot;metric&quot;,&quot;unit&quot;:&quot;$M&quot;,&quot;value&quot;:18.42,&quot;w&quot;:447.76,&quot;weight&quot;:1,&quot;x&quot;:676.48,&quot;y&quot;:1511.2312,&quot;z&quot;:4}"/>
          <p:cNvSpPr/>
          <p:nvPr/>
        </p:nvSpPr>
        <p:spPr>
          <a:xfrm>
            <a:off x="4814736" y="10755942"/>
            <a:ext cx="3186859" cy="128112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Recurring contribution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18.42 $M</a:t>
            </a:r>
          </a:p>
        </p:txBody>
      </p:sp>
      <p:sp>
        <p:nvSpPr>
          <p:cNvPr id="6" name="VIZ::Renewal recovery since FY25 Q2 KPI" title="Visembler report text roles: metric title, comparison value" descr="VisualizerSemantic:{&quot;after&quot;:91.4,&quot;before&quot;:87.9,&quot;composition_role&quot;:&quot;hero_metric&quot;,&quot;element&quot;:&quot;Before/After KPI&quot;,&quot;engine&quot;:&quot;ComparisonEngine&quot;,&quot;groupId&quot;:null,&quot;h&quot;:195.0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ecovery since FY25 Q2&quot;,&quot;type&quot;:&quot;comparison&quot;,&quot;unit&quot;:&quot;%&quot;,&quot;w&quot;:447.76,&quot;weight&quot;:1,&quot;x&quot;:1138.24,&quot;y&quot;:1503.7312,&quot;z&quot;:5}"/>
          <p:cNvSpPr/>
          <p:nvPr/>
        </p:nvSpPr>
        <p:spPr>
          <a:xfrm>
            <a:off x="8101238" y="10702562"/>
            <a:ext cx="3186859" cy="1387881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Renewal recovery since FY25 Q2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87.9% → 91.4%</a:t>
            </a:r>
          </a:p>
        </p:txBody>
      </p:sp>
      <p:graphicFrame>
        <p:nvGraphicFramePr>
          <p:cNvPr id="12" name="VIZ::Quarterly Northline renewal rate" descr="VisualizerSemantic: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4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cohort_window_1&quot;,&quot;name&quot;:&quot;Cohort window&quot;,&quot;nullable&quot;:false,&quot;profile&quot;:{&quot;distinct&quot;:8,&quot;missing&quot;:0},&quot;semantic_tags&quot;:[],&quot;type&quot;:&quot;string&quot;},{&quot;id&quot;:&quot;renewal_rate_2&quot;,&quot;name&quot;:&quot;Renewal rate&quot;,&quot;nullable&quot;:false,&quot;profile&quot;:{&quot;distinct&quot;:8,&quot;missing&quot;:0},&quot;semantic_tags&quot;:[],&quot;type&quot;:&quot;number&quot;,&quot;unit&quot;:&quot;&quot;}],&quot;id&quot;:&quot;dataset-mujcd7wy-x79epk&quot;,&quot;metadata&quot;:{&quot;header&quot;:{&quot;confidence&quot;:1,&quot;present&quot;:true,&quot;source_row&quot;:0}},&quot;name&quot;:&quot;Pasted data&quot;,&quot;revision&quot;:1,&quot;rows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source&quot;:{&quot;imported_at&quot;:&quot;2026-09-27T04:51:49.714Z&quot;,&quot;kind&quot;:&quot;clipboard&quot;,&quot;label&quot;:&quot;TSV&quot;},&quot;warnings&quot;:[]},&quot;dataset_id&quot;:&quot;dataset-mujcd7wy-x79epk&quot;,&quot;engineering&quot;:{&quot;L&quot;:3,&quot;h&quot;:432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cohort_window_1&quot;,&quot;value&quot;:&quot;renewal_rate_2&quot;,&quot;x&quot;:&quot;cohort_window_1&quot;,&quot;y&quot;:&quot;renewal_rate_2&quot;},&quot;recipe&quot;:null,&quot;recommendations&quot;:[{&quot;confidence&quot;:0.93,&quot;mapping&quot;:{&quot;category&quot;:&quot;cohort_window_1&quot;,&quot;value&quot;:&quot;renewal_rate_2&quot;,&quot;x&quot;:&quot;cohort_window_1&quot;,&quot;y&quot;:&quot;renewal_rate_2&quot;},&quot;reason&quot;:&quot;A horizontal field and numeric measure are available.&quot;,&quot;type&quot;:&quot;Line Chart&quot;},{&quot;confidence&quot;:0.9,&quot;mapping&quot;:{&quot;category&quot;:&quot;cohort_window_1&quot;,&quot;value&quot;:&quot;renewal_rate_2&quot;,&quot;x&quot;:&quot;cohort_window_1&quot;,&quot;y&quot;:&quot;renewal_rate_2&quot;},&quot;reason&quot;:&quot;A shared axis can compare multiple runs when a series field is available.&quot;,&quot;type&quot;:&quot;Multi-Line&quot;},{&quot;confidence&quot;:0.9,&quot;mapping&quot;:{&quot;category&quot;:&quot;cohort_window_1&quot;,&quot;value&quot;:&quot;renewal_rate_2&quot;,&quot;x&quot;:&quot;cohort_window_1&quot;,&quot;y&quot;:&quot;renewal_rate_2&quot;},&quot;reason&quot;:&quot;A category and measured value are available.&quot;,&quot;type&quot;:&quot;Vertical Bar&quot;},{&quot;confidence&quot;:0.87,&quot;mapping&quot;:{&quot;category&quot;:&quot;cohort_window_1&quot;,&quot;value&quot;:&quot;renewal_rate_2&quot;,&quot;x&quot;:&quot;cohort_window_1&quot;,&quot;y&quot;:&quot;renewal_rate_2&quot;},&quot;reason&quot;:&quot;The same trend mapping can show accumulated movement.&quot;,&quot;type&quot;:&quot;Area Chart&quot;},{&quot;confidence&quot;:0.82,&quot;mapping&quot;:{&quot;category&quot;:&quot;cohort_window_1&quot;,&quot;value&quot;:&quot;renewal_rate_2&quot;,&quot;x&quot;:&quot;cohort_window_1&quot;,&quot;y&quot;:&quot;renewal_rate_2&quot;},&quot;reason&quot;:&quot;A horizontal ranking keeps category labels readable.&quot;,&quot;type&quot;:&quot;Horizontal Bar&quot;},{&quot;confidence&quot;:0.8,&quot;mapping&quot;:{&quot;category&quot;:&quot;cohort_window_1&quot;,&quot;value&quot;:&quot;renewal_rate_2&quot;,&quot;x&quot;:&quot;cohort_window_1&quot;,&quot;y&quot;:&quot;renewal_rat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enewal_rate_2&quot;,&quot;id&quot;:&quot;series-1&quot;,&quot;label&quot;:&quot;Renewal rate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dataset_id&quot;:&quot;dataset-mujcd7wy-x79epk&quot;,&quot;element&quot;:&quot;Line Chart&quot;,&quot;engine&quot;:&quot;CoreChartEngine&quot;,&quot;groupId&quot;:null,&quot;h&quot;:432.0,&quot;id&quot;:&quot;c6&quot;,&quot;locked&quot;:false,&quot;mapping&quot;:{&quot;category&quot;:&quot;cohort_window_1&quot;,&quot;value&quot;:&quot;renewal_rate_2&quot;,&quot;x&quot;:&quot;cohort_window_1&quot;,&quot;y&quot;:&quot;renewal_rate_2&quot;},&quot;message_role&quot;:&quot;Primary Evidence&quot;,&quot;order&quot;:5,&quot;rows&quot;:[{&quot;label&quot;:&quot;FY24 Q3 | Enterprise renewal cohort&quot;,&quot;value&quot;:86.2},{&quot;label&quot;:&quot;FY24 Q4 | Enterprise renewal cohort&quot;,&quot;value&quot;:87.1},{&quot;label&quot;:&quot;FY25 Q1 | Enterprise renewal cohort&quot;,&quot;value&quot;:88},{&quot;label&quot;:&quot;FY25 Q2 | Enterprise renewal cohort&quot;,&quot;value&quot;:87.9},{&quot;label&quot;:&quot;FY25 Q3 | Enterprise renewal cohort&quot;,&quot;value&quot;:89.2},{&quot;label&quot;:&quot;FY25 Q4 | Enterprise renewal cohort&quot;,&quot;value&quot;:90.1},{&quot;label&quot;:&quot;FY26 Q1 | Enterprise renewal cohort&quot;,&quot;value&quot;:90.7},{&quot;label&quot;:&quot;FY26 Q2 | Enterprise renewal cohort&quot;,&quot;value&quot;:91.4}],&quot;section_id&quot;:&quot;analysis&quot;,&quot;section_title&quot;:&quot;Analysis&quot;,&quot;showTitle&quot;:true,&quot;statistical_result&quot;:null,&quot;title&quot;:&quot;Quarterly Northline renewal rate&quot;,&quot;transform_recipe&quot;:{&quot;steps&quot;:[]},&quot;type&quot;:&quot;chart&quot;,&quot;w&quot;:890.1818181818181,&quot;weight&quot;:1,&quot;x&quot;:354.90909090909093,&quot;y&quot;:694.9312,&quot;z&quot;:6,&quot;observations&quot;:[{&quot;label&quot;:&quot;FY24 Q3 | Enterprise renewal cohort&quot;,&quot;value&quot;:86.2},{&quot;label&quot;:&quot;FY24 Q4 | Enterprise renewal cohort&quot;,&quot;value&quot;:87.1},{&quot;label&quot;:&quot;FY25 Q1 | Enterprise renewal cohort&quot;,&quot;value&quot;:88},{&quot;label&quot;:&quot;FY25 Q2 | Enterprise renewal cohort&quot;,&quot;value&quot;:87.9},{&quot;label&quot;:&quot;FY25 Q3 | Enterprise renewal cohort&quot;,&quot;value&quot;:89.2},{&quot;label&quot;:&quot;FY25 Q4 | Enterprise renewal cohort&quot;,&quot;value&quot;:90.1},{&quot;label&quot;:&quot;FY26 Q1 | Enterprise renewal cohort&quot;,&quot;value&quot;:90.7},{&quot;label&quot;:&quot;FY26 Q2 | Enterprise renewal cohort&quot;,&quot;value&quot;:91.4}]}"/>
          <p:cNvGraphicFramePr>
            <a:graphicFrameLocks noGrp="1"/>
          </p:cNvGraphicFramePr>
          <p:nvPr/>
        </p:nvGraphicFramePr>
        <p:xfrm>
          <a:off x="2526008" y="4946059"/>
          <a:ext cx="6335724" cy="307469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VIZ::c10::box-plot-titl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market_segment_1&quot;,&quot;name&quot;:&quot;Market segment&quot;,&quot;nullable&quot;:false,&quot;profile&quot;:{&quot;distinct&quot;:4,&quot;missing&quot;:0},&quot;semantic_tags&quot;:[],&quot;type&quot;:&quot;categorical&quot;},{&quot;id&quot;:&quot;contribution_margin_percent_2&quot;,&quot;name&quot;:&quot;Contribution margin percent&quot;,&quot;nullable&quot;:false,&quot;profile&quot;:{&quot;distinct&quot;:16,&quot;missing&quot;:0},&quot;semantic_tags&quot;:[],&quot;type&quot;:&quot;number&quot;,&quot;unit&quot;:&quot;&quot;}],&quot;id&quot;:&quot;dataset-mujcda71-iqsxbm&quot;,&quot;metadata&quot;:{&quot;header&quot;:{&quot;confidence&quot;:0.75,&quot;present&quot;:true,&quot;source_row&quot;:0}},&quot;name&quot;:&quot;Pasted data&quot;,&quot;revision&quot;:1,&quot;rows&quot;:[[&quot;Metro East&quot;,18.4],[&quot;Metro East&quot;,19.1],[&quot;Metro East&quot;,17.8],[&quot;Metro East&quot;,20.2],[&quot;Central Corridor&quot;,24.2],[&quot;Central Corridor&quot;,25],[&quot;Central Corridor&quot;,23.8],[&quot;Central Corridor&quot;,26.1],[&quot;Mountain West&quot;,27.1],[&quot;Mountain West&quot;,28.2],[&quot;Mountain West&quot;,26.9],[&quot;Mountain West&quot;,29],[&quot;Coastal North&quot;,22.2],[&quot;Coastal North&quot;,23.4],[&quot;Coastal North&quot;,21.8],[&quot;Coastal North&quot;,24.1]],&quot;source&quot;:{&quot;imported_at&quot;:&quot;2026-09-27T04:51:52.669Z&quot;,&quot;kind&quot;:&quot;clipboard&quot;,&quot;label&quot;:&quot;TSV&quot;},&quot;warnings&quot;:[]},&quot;dataset_id&quot;:&quot;dataset-mujcda71-iqsxbm&quot;,&quot;engineering&quot;:{&quot;L&quot;:3,&quot;h&quot;:464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market_segment_1&quot;,&quot;value&quot;:&quot;contribution_margin_percent_2&quot;,&quot;x&quot;:&quot;contribution_margin_percent_2&quot;},&quot;recipe&quot;:null,&quot;recommendations&quot;:[{&quot;confidence&quot;:0.9,&quot;mapping&quot;:{&quot;category&quot;:&quot;market_segment_1&quot;,&quot;value&quot;:&quot;contribution_margin_percent_2&quot;,&quot;x&quot;:&quot;contribution_margin_percent_2&quot;},&quot;reason&quot;:&quot;A category and measured value are available.&quot;,&quot;type&quot;:&quot;Vertical Bar&quot;},{&quot;confidence&quot;:0.82,&quot;mapping&quot;:{&quot;category&quot;:&quot;market_segment_1&quot;,&quot;value&quot;:&quot;contribution_margin_percent_2&quot;,&quot;x&quot;:&quot;contribution_margin_percent_2&quot;},&quot;reason&quot;:&quot;A horizontal ranking keeps category labels readable.&quot;,&quot;type&quot;:&quot;Horizontal Bar&quot;},{&quot;confidence&quot;:0.8,&quot;mapping&quot;:{&quot;category&quot;:&quot;market_segment_1&quot;,&quot;value&quot;:&quot;contribution_margin_percent_2&quot;,&quot;x&quot;:&quot;contribution_margin_percent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contribution_margin_percent_2&quot;,&quot;id&quot;:&quot;series-1&quot;,&quot;label&quot;:&quot;Contribution margin percent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detailed_evidence&quot;,&quot;cross&quot;:null,&quot;data&quot;:[[&quot;Metro East&quot;,18.4],[&quot;Metro East&quot;,19.1],[&quot;Metro East&quot;,17.8],[&quot;Metro East&quot;,20.2],[&quot;Central Corridor&quot;,24.2],[&quot;Central Corridor&quot;,25],[&quot;Central Corridor&quot;,23.8],[&quot;Central Corridor&quot;,26.1],[&quot;Mountain West&quot;,27.1],[&quot;Mountain West&quot;,28.2],[&quot;Mountain West&quot;,26.9],[&quot;Mountain West&quot;,29],[&quot;Coastal North&quot;,22.2],[&quot;Coastal North&quot;,23.4],[&quot;Coastal North&quot;,21.8],[&quot;Coastal North&quot;,24.1]],&quot;dataset_id&quot;:&quot;dataset-mujcda71-iqsxbm&quot;,&quot;drill&quot;:null,&quot;element&quot;:&quot;Box Plot&quot;,&quot;engine&quot;:&quot;CoreChartEngine&quot;,&quot;groupId&quot;:null,&quot;h&quot;:464.0,&quot;id&quot;:&quot;c10&quot;,&quot;locked&quot;:false,&quot;mapping&quot;:{&quot;category&quot;:&quot;market_segment_1&quot;,&quot;value&quot;:&quot;contribution_margin_percent_2&quot;,&quot;x&quot;:&quot;contribution_margin_percent_2&quot;},&quot;message_role&quot;:&quot;Supporting Evidence&quot;,&quot;order&quot;:7,&quot;revealed&quot;:true,&quot;rows&quot;:[{&quot;label&quot;:&quot;Metro East&quot;,&quot;value&quot;:18.4},{&quot;label&quot;:&quot;Metro East&quot;,&quot;value&quot;:19.1},{&quot;label&quot;:&quot;Metro East&quot;,&quot;value&quot;:17.8},{&quot;label&quot;:&quot;Metro East&quot;,&quot;value&quot;:20.2},{&quot;label&quot;:&quot;Central Corridor&quot;,&quot;value&quot;:24.2},{&quot;label&quot;:&quot;Central Corridor&quot;,&quot;value&quot;:25},{&quot;label&quot;:&quot;Central Corridor&quot;,&quot;value&quot;:23.8},{&quot;label&quot;:&quot;Central Corridor&quot;,&quot;value&quot;:26.1},{&quot;label&quot;:&quot;Mountain West&quot;,&quot;value&quot;:27.1},{&quot;label&quot;:&quot;Mountain West&quot;,&quot;value&quot;:28.2},{&quot;label&quot;:&quot;Mountain West&quot;,&quot;value&quot;:26.9},{&quot;label&quot;:&quot;Mountain West&quot;,&quot;value&quot;:29},{&quot;label&quot;:&quot;Coastal North&quot;,&quot;value&quot;:22.2},{&quot;label&quot;:&quot;Coastal North&quot;,&quot;value&quot;:23.4},{&quot;label&quot;:&quot;Coastal North&quot;,&quot;value&quot;:21.8},{&quot;label&quot;:&quot;Coastal North&quot;,&quot;value&quot;:24.1}],&quot;section_id&quot;:&quot;evidence&quot;,&quot;section_title&quot;:&quot;Evidence&quot;,&quot;showTitle&quot;:true,&quot;statistical_result&quot;:null,&quot;textAlign&quot;:&quot;left&quot;,&quot;title&quot;:&quot;Supporting distribution&quot;,&quot;transform_recipe&quot;:{&quot;steps&quot;:[]},&quot;type&quot;:&quot;chart&quot;,&quot;variant&quot;:&quot;line&quot;,&quot;w&quot;:956.1212121212121,&quot;weight&quot;:1.8,&quot;x&quot;:25.798818859521816,&quot;y&quot;:196.93120000000002,&quot;z&quot;:10,&quot;observations&quot;:[{&quot;label&quot;:&quot;Metro East&quot;,&quot;value&quot;:18.4},{&quot;label&quot;:&quot;Metro East&quot;,&quot;value&quot;:19.1},{&quot;label&quot;:&quot;Metro East&quot;,&quot;value&quot;:17.8},{&quot;label&quot;:&quot;Metro East&quot;,&quot;value&quot;:20.2},{&quot;label&quot;:&quot;Central Corridor&quot;,&quot;value&quot;:24.2},{&quot;label&quot;:&quot;Central Corridor&quot;,&quot;value&quot;:25},{&quot;label&quot;:&quot;Central Corridor&quot;,&quot;value&quot;:23.8},{&quot;label&quot;:&quot;Central Corridor&quot;,&quot;value&quot;:26.1},{&quot;label&quot;:&quot;Mountain West&quot;,&quot;value&quot;:27.1},{&quot;label&quot;:&quot;Mountain West&quot;,&quot;value&quot;:28.2},{&quot;label&quot;:&quot;Mountain West&quot;,&quot;value&quot;:26.9},{&quot;label&quot;:&quot;Mountain West&quot;,&quot;value&quot;:29},{&quot;label&quot;:&quot;Coastal North&quot;,&quot;value&quot;:22.2},{&quot;label&quot;:&quot;Coastal North&quot;,&quot;value&quot;:23.4},{&quot;label&quot;:&quot;Coastal North&quot;,&quot;value&quot;:21.8},{&quot;label&quot;:&quot;Coastal North&quot;,&quot;value&quot;:24.1}]}"/>
          <p:cNvSpPr txBox="1"/>
          <p:nvPr/>
        </p:nvSpPr>
        <p:spPr>
          <a:xfrm>
            <a:off x="455820" y="1451161"/>
            <a:ext cx="6260634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Supporting distribution</a:t>
            </a:r>
          </a:p>
        </p:txBody>
      </p:sp>
      <p:cxnSp>
        <p:nvCxnSpPr>
          <p:cNvPr id="27" name="VIZ::c10::box-plot-grid-0"/>
          <p:cNvCxnSpPr/>
          <p:nvPr/>
        </p:nvCxnSpPr>
        <p:spPr>
          <a:xfrm>
            <a:off x="1272424" y="3878458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10::box-plot-axis-0"/>
          <p:cNvSpPr txBox="1"/>
          <p:nvPr/>
        </p:nvSpPr>
        <p:spPr>
          <a:xfrm>
            <a:off x="183619" y="3814958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17.24</a:t>
            </a:r>
          </a:p>
        </p:txBody>
      </p:sp>
      <p:cxnSp>
        <p:nvCxnSpPr>
          <p:cNvPr id="29" name="VIZ::c10::box-plot-grid-1"/>
          <p:cNvCxnSpPr/>
          <p:nvPr/>
        </p:nvCxnSpPr>
        <p:spPr>
          <a:xfrm>
            <a:off x="1272424" y="3424372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IZ::c10::box-plot-axis-1"/>
          <p:cNvSpPr txBox="1"/>
          <p:nvPr/>
        </p:nvSpPr>
        <p:spPr>
          <a:xfrm>
            <a:off x="183619" y="3360872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20.32</a:t>
            </a:r>
          </a:p>
        </p:txBody>
      </p:sp>
      <p:cxnSp>
        <p:nvCxnSpPr>
          <p:cNvPr id="31" name="VIZ::c10::box-plot-grid-2"/>
          <p:cNvCxnSpPr/>
          <p:nvPr/>
        </p:nvCxnSpPr>
        <p:spPr>
          <a:xfrm>
            <a:off x="1272424" y="2970286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VIZ::c10::box-plot-axis-2"/>
          <p:cNvSpPr txBox="1"/>
          <p:nvPr/>
        </p:nvSpPr>
        <p:spPr>
          <a:xfrm>
            <a:off x="183619" y="2906786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23.4</a:t>
            </a:r>
          </a:p>
        </p:txBody>
      </p:sp>
      <p:cxnSp>
        <p:nvCxnSpPr>
          <p:cNvPr id="33" name="VIZ::c10::box-plot-grid-3"/>
          <p:cNvCxnSpPr/>
          <p:nvPr/>
        </p:nvCxnSpPr>
        <p:spPr>
          <a:xfrm>
            <a:off x="1272424" y="2516199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10::box-plot-axis-3"/>
          <p:cNvSpPr txBox="1"/>
          <p:nvPr/>
        </p:nvSpPr>
        <p:spPr>
          <a:xfrm>
            <a:off x="183619" y="2452699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26.48</a:t>
            </a:r>
          </a:p>
        </p:txBody>
      </p:sp>
      <p:cxnSp>
        <p:nvCxnSpPr>
          <p:cNvPr id="35" name="VIZ::c10::box-plot-grid-4"/>
          <p:cNvCxnSpPr/>
          <p:nvPr/>
        </p:nvCxnSpPr>
        <p:spPr>
          <a:xfrm>
            <a:off x="1272424" y="2062113"/>
            <a:ext cx="5512080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VIZ::c10::box-plot-axis-4"/>
          <p:cNvSpPr txBox="1"/>
          <p:nvPr/>
        </p:nvSpPr>
        <p:spPr>
          <a:xfrm>
            <a:off x="183619" y="1998613"/>
            <a:ext cx="918680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29.56</a:t>
            </a:r>
          </a:p>
        </p:txBody>
      </p:sp>
      <p:cxnSp>
        <p:nvCxnSpPr>
          <p:cNvPr id="37" name="VIZ::c10::box-plot-0-whisker"/>
          <p:cNvCxnSpPr/>
          <p:nvPr/>
        </p:nvCxnSpPr>
        <p:spPr>
          <a:xfrm>
            <a:off x="1961434.0" y="3442063"/>
            <a:ext cx="0.0" cy="353834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Z::c10::box-plot-0-whisker-cap-0"/>
          <p:cNvCxnSpPr/>
          <p:nvPr/>
        </p:nvCxnSpPr>
        <p:spPr>
          <a:xfrm>
            <a:off x="1705402.0" y="3795897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Z::c10::box-plot-0-whisker-cap-1"/>
          <p:cNvCxnSpPr/>
          <p:nvPr/>
        </p:nvCxnSpPr>
        <p:spPr>
          <a:xfrm>
            <a:off x="1705402.0" y="3442063"/>
            <a:ext cx="512064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Z::c10::box-plot-0-quartiles"/>
          <p:cNvSpPr/>
          <p:nvPr/>
        </p:nvSpPr>
        <p:spPr>
          <a:xfrm>
            <a:off x="1705402" y="3563694"/>
            <a:ext cx="512064" cy="165859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VIZ::c10::box-plot-0-median"/>
          <p:cNvCxnSpPr/>
          <p:nvPr/>
        </p:nvCxnSpPr>
        <p:spPr>
          <a:xfrm>
            <a:off x="1705402.0" y="3655838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VIZ::c10::box-plot-0-category" title="{&quot;category&quot;:&quot;Metro East&quot;,&quot;quartiles&quot;:{&quot;n&quot;:4,&quot;min&quot;:17.8,&quot;q1&quot;:18.25,&quot;median&quot;:18.75,&quot;q3&quot;:19.375,&quot;max&quot;:20.2}}"/>
          <p:cNvSpPr txBox="1"/>
          <p:nvPr/>
        </p:nvSpPr>
        <p:spPr>
          <a:xfrm>
            <a:off x="1412794" y="4027067"/>
            <a:ext cx="1097280" cy="42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Metro East</a:t>
            </a:r>
          </a:p>
        </p:txBody>
      </p:sp>
      <p:cxnSp>
        <p:nvCxnSpPr>
          <p:cNvPr id="43" name="VIZ::c10::box-plot-1-whisker"/>
          <p:cNvCxnSpPr/>
          <p:nvPr/>
        </p:nvCxnSpPr>
        <p:spPr>
          <a:xfrm>
            <a:off x="3339454.0" y="2572223"/>
            <a:ext cx="0.0" cy="33909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IZ::c10::box-plot-1-whisker-cap-0"/>
          <p:cNvCxnSpPr/>
          <p:nvPr/>
        </p:nvCxnSpPr>
        <p:spPr>
          <a:xfrm>
            <a:off x="3083422.0" y="2911313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IZ::c10::box-plot-1-whisker-cap-1"/>
          <p:cNvCxnSpPr/>
          <p:nvPr/>
        </p:nvCxnSpPr>
        <p:spPr>
          <a:xfrm>
            <a:off x="3083422.0" y="2572223"/>
            <a:ext cx="512064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Z::c10::box-plot-1-quartiles"/>
          <p:cNvSpPr/>
          <p:nvPr/>
        </p:nvSpPr>
        <p:spPr>
          <a:xfrm>
            <a:off x="3083422" y="2693853"/>
            <a:ext cx="512064" cy="173231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VIZ::c10::box-plot-1-median"/>
          <p:cNvCxnSpPr/>
          <p:nvPr/>
        </p:nvCxnSpPr>
        <p:spPr>
          <a:xfrm>
            <a:off x="3083422.0" y="2793369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IZ::c10::box-plot-1-category" title="{&quot;category&quot;:&quot;Central Corridor&quot;,&quot;quartiles&quot;:{&quot;n&quot;:4,&quot;min&quot;:23.8,&quot;q1&quot;:24.1,&quot;median&quot;:24.6,&quot;q3&quot;:25.275,&quot;max&quot;:26.1}}"/>
          <p:cNvSpPr txBox="1"/>
          <p:nvPr/>
        </p:nvSpPr>
        <p:spPr>
          <a:xfrm>
            <a:off x="2790814" y="4027067"/>
            <a:ext cx="1097280" cy="42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Central Corridor</a:t>
            </a:r>
          </a:p>
        </p:txBody>
      </p:sp>
      <p:cxnSp>
        <p:nvCxnSpPr>
          <p:cNvPr id="49" name="VIZ::c10::box-plot-2-whisker"/>
          <p:cNvCxnSpPr/>
          <p:nvPr/>
        </p:nvCxnSpPr>
        <p:spPr>
          <a:xfrm>
            <a:off x="4717474.0" y="2144674"/>
            <a:ext cx="0.0" cy="309604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VIZ::c10::box-plot-2-whisker-cap-0"/>
          <p:cNvCxnSpPr/>
          <p:nvPr/>
        </p:nvCxnSpPr>
        <p:spPr>
          <a:xfrm>
            <a:off x="4461442.0" y="2454278"/>
            <a:ext cx="512064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VIZ::c10::box-plot-2-whisker-cap-1"/>
          <p:cNvCxnSpPr/>
          <p:nvPr/>
        </p:nvCxnSpPr>
        <p:spPr>
          <a:xfrm>
            <a:off x="4461442.0" y="2144674"/>
            <a:ext cx="512064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VIZ::c10::box-plot-2-quartiles"/>
          <p:cNvSpPr/>
          <p:nvPr/>
        </p:nvSpPr>
        <p:spPr>
          <a:xfrm>
            <a:off x="4461442" y="2233132"/>
            <a:ext cx="512064" cy="199032"/>
          </a:xfrm>
          <a:prstGeom prst="rect">
            <a:avLst/>
          </a:prstGeom>
          <a:solidFill>
            <a:srgbClr val="B7791F"/>
          </a:solidFill>
          <a:ln w="1524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VIZ::c10::box-plot-2-median"/>
          <p:cNvCxnSpPr/>
          <p:nvPr/>
        </p:nvCxnSpPr>
        <p:spPr>
          <a:xfrm>
            <a:off x="4461442.0" y="2343705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VIZ::c10::box-plot-2-category" title="{&quot;category&quot;:&quot;Mountain West&quot;,&quot;quartiles&quot;:{&quot;n&quot;:4,&quot;min&quot;:26.9,&quot;q1&quot;:27.05,&quot;median&quot;:27.65,&quot;q3&quot;:28.4,&quot;max&quot;:29.0}}"/>
          <p:cNvSpPr txBox="1"/>
          <p:nvPr/>
        </p:nvSpPr>
        <p:spPr>
          <a:xfrm>
            <a:off x="4168834" y="4027067"/>
            <a:ext cx="1097280" cy="42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Mountain West</a:t>
            </a:r>
          </a:p>
        </p:txBody>
      </p:sp>
      <p:cxnSp>
        <p:nvCxnSpPr>
          <p:cNvPr id="55" name="VIZ::c10::box-plot-3-whisker"/>
          <p:cNvCxnSpPr/>
          <p:nvPr/>
        </p:nvCxnSpPr>
        <p:spPr>
          <a:xfrm>
            <a:off x="6095494.0" y="2867084"/>
            <a:ext cx="0.0" cy="339090"/>
          </a:xfrm>
          <a:prstGeom prst="line">
            <a:avLst/>
          </a:prstGeom>
          <a:ln w="17780">
            <a:solidFill>
              <a:srgbClr val="9B4D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VIZ::c10::box-plot-3-whisker-cap-0"/>
          <p:cNvCxnSpPr/>
          <p:nvPr/>
        </p:nvCxnSpPr>
        <p:spPr>
          <a:xfrm>
            <a:off x="5839462.0" y="3206174"/>
            <a:ext cx="512064.0" cy="0"/>
          </a:xfrm>
          <a:prstGeom prst="line">
            <a:avLst/>
          </a:prstGeom>
          <a:ln w="17780">
            <a:solidFill>
              <a:srgbClr val="9B4D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VIZ::c10::box-plot-3-whisker-cap-1"/>
          <p:cNvCxnSpPr/>
          <p:nvPr/>
        </p:nvCxnSpPr>
        <p:spPr>
          <a:xfrm>
            <a:off x="5839462.0" y="2867084"/>
            <a:ext cx="512064.0" cy="0"/>
          </a:xfrm>
          <a:prstGeom prst="line">
            <a:avLst/>
          </a:prstGeom>
          <a:ln w="17780">
            <a:solidFill>
              <a:srgbClr val="9B4D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VIZ::c10::box-plot-3-quartiles"/>
          <p:cNvSpPr/>
          <p:nvPr/>
        </p:nvSpPr>
        <p:spPr>
          <a:xfrm>
            <a:off x="5839462" y="2944485"/>
            <a:ext cx="512064" cy="217460"/>
          </a:xfrm>
          <a:prstGeom prst="rect">
            <a:avLst/>
          </a:prstGeom>
          <a:solidFill>
            <a:srgbClr val="9B4DCA"/>
          </a:solidFill>
          <a:ln w="15240">
            <a:solidFill>
              <a:srgbClr val="9B4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VIZ::c10::box-plot-3-median"/>
          <p:cNvCxnSpPr/>
          <p:nvPr/>
        </p:nvCxnSpPr>
        <p:spPr>
          <a:xfrm>
            <a:off x="5839462.0" y="3058744"/>
            <a:ext cx="512064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VIZ::c10::box-plot-3-category" title="{&quot;category&quot;:&quot;Coastal North&quot;,&quot;quartiles&quot;:{&quot;n&quot;:4,&quot;min&quot;:21.8,&quot;q1&quot;:22.1,&quot;median&quot;:22.799999999999997,&quot;q3&quot;:23.575,&quot;max&quot;:24.1}}"/>
          <p:cNvSpPr txBox="1"/>
          <p:nvPr/>
        </p:nvSpPr>
        <p:spPr>
          <a:xfrm>
            <a:off x="5546854" y="4027067"/>
            <a:ext cx="1097280" cy="429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Coastal North</a:t>
            </a:r>
          </a:p>
        </p:txBody>
      </p:sp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wo enterprise renewals remain unresolved; the cohort sample is directional, not a full-year retention estimate.&quot;,&quot;element&quot;:&quot;Risk Callout&quot;,&quot;engine&quot;:&quot;DecisionCompositeEngine&quot;,&quot;groupId&quot;:null,&quot;h&quot;:174.0,&quot;id&quot;:&quot;c8&quot;,&quot;locked&quot;:false,&quot;message_role&quot;:&quot;Risk&quot;,&quot;order&quot;:8,&quot;section_id&quot;:&quot;decision&quot;,&quot;section_title&quot;:&quot;Decision&quot;,&quot;showTitle&quot;:true,&quot;statement&quot;:&quot;Gate acquisition tranche on Metro East renewals&quot;,&quot;status&quot;:&quot;Review&quot;,&quot;title&quot;:&quot;Risk Callout&quot;,&quot;type&quot;:&quot;decision&quot;,&quot;w&quot;:1572.0,&quot;weight&quot;:1,&quot;x&quot;:14.0,&quot;y&quot;:1160.9312,&quot;z&quot;:8}"/>
          <p:cNvSpPr/>
          <p:nvPr/>
        </p:nvSpPr>
        <p:spPr>
          <a:xfrm>
            <a:off x="99643" y="8262738"/>
            <a:ext cx="11188454" cy="123841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54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Gate acquisition tranche on Metro East renewals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Two enterprise renewals remain unresolved; the cohort sample is directional, not a full-year retention estimate.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hold incremental acquisition spend for two weeks; release the next tranche only after Metro East confirms the 93.0% renewal gate.&quot;,&quot;composition_role&quot;:&quot;conclusion&quot;,&quot;element&quot;:&quot;Key Takeaway&quot;,&quot;engine&quot;:&quot;TextEngine&quot;,&quot;groupId&quot;:null,&quot;h&quot;:100.80000000000001,&quot;id&quot;:&quot;c9&quot;,&quot;locked&quot;:false,&quot;message_role&quot;:&quot;Action&quot;,&quot;order&quot;:9,&quot;section_id&quot;:&quot;delivery&quot;,&quot;section_title&quot;:&quot;Decision and next step&quot;,&quot;text&quot;:&quot;Next step: hold incremental acquisition spend for two weeks; release the next tranche only after Metro East confirms the 93.0% renewal gate.&quot;,&quot;title&quot;:&quot;Key Takeaway&quot;,&quot;type&quot;:&quot;text&quot;,&quot;w&quot;:1572.0,&quot;weight&quot;:1,&quot;x&quot;:14.0,&quot;y&quot;:1368.9312,&quot;z&quot;:9}"/>
          <p:cNvSpPr/>
          <p:nvPr/>
        </p:nvSpPr>
        <p:spPr>
          <a:xfrm>
            <a:off x="99643" y="9743145"/>
            <a:ext cx="11188454" cy="71742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hold incremental acquisition spend for two weeks; release the next tranche only after Metro East confirms the 93.0% renewal gate.</a:t>
            </a:r>
          </a:p>
        </p:txBody>
      </p:sp>
      <p:sp>
        <p:nvSpPr>
          <p:cNvPr id="13" name="VIZ::Quarterly Northline renewal rate::chart-label-band"/>
          <p:cNvSpPr/>
          <p:nvPr/>
        </p:nvSpPr>
        <p:spPr>
          <a:xfrm>
            <a:off x="2652722" y="7328943"/>
            <a:ext cx="6209009" cy="6918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VIZ::Quarterly Northline renewal rate::category-label-axis"/>
          <p:cNvCxnSpPr/>
          <p:nvPr/>
        </p:nvCxnSpPr>
        <p:spPr>
          <a:xfrm>
            <a:off x="3349652" y="7344317"/>
            <a:ext cx="5258651" cy="0"/>
          </a:xfrm>
          <a:prstGeom prst="line">
            <a:avLst/>
          </a:prstGeom>
          <a:ln w="8890">
            <a:solidFill>
              <a:srgbClr val="343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Z::Quarterly Northline renewal rate::category-label-0"/>
          <p:cNvSpPr txBox="1"/>
          <p:nvPr/>
        </p:nvSpPr>
        <p:spPr>
          <a:xfrm>
            <a:off x="3382518" y="7313570"/>
            <a:ext cx="5915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06">
                <a:latin typeface="Arial"/>
              </a:defRPr>
            </a:pPr>
            <a:r>
              <a:t>FY24 Q3 | Enterprise renewal cohort</a:t>
            </a:r>
          </a:p>
        </p:txBody>
      </p:sp>
      <p:sp>
        <p:nvSpPr>
          <p:cNvPr id="16" name="VIZ::Quarterly Northline renewal rate::category-label-1"/>
          <p:cNvSpPr txBox="1"/>
          <p:nvPr/>
        </p:nvSpPr>
        <p:spPr>
          <a:xfrm>
            <a:off x="4039849" y="7313570"/>
            <a:ext cx="5915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06">
                <a:latin typeface="Arial"/>
              </a:defRPr>
            </a:pPr>
            <a:r>
              <a:t>FY24 Q4 | Enterprise renewal cohort</a:t>
            </a:r>
          </a:p>
        </p:txBody>
      </p:sp>
      <p:sp>
        <p:nvSpPr>
          <p:cNvPr id="17" name="VIZ::Quarterly Northline renewal rate::category-label-2"/>
          <p:cNvSpPr txBox="1"/>
          <p:nvPr/>
        </p:nvSpPr>
        <p:spPr>
          <a:xfrm>
            <a:off x="4697181" y="7313570"/>
            <a:ext cx="5915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06">
                <a:latin typeface="Arial"/>
              </a:defRPr>
            </a:pPr>
            <a:r>
              <a:t>FY25 Q1 | Enterprise renewal cohort</a:t>
            </a:r>
          </a:p>
        </p:txBody>
      </p:sp>
      <p:sp>
        <p:nvSpPr>
          <p:cNvPr id="18" name="VIZ::Quarterly Northline renewal rate::category-label-3"/>
          <p:cNvSpPr txBox="1"/>
          <p:nvPr/>
        </p:nvSpPr>
        <p:spPr>
          <a:xfrm>
            <a:off x="5354512" y="7313570"/>
            <a:ext cx="5915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06">
                <a:latin typeface="Arial"/>
              </a:defRPr>
            </a:pPr>
            <a:r>
              <a:t>FY25 Q2 | Enterprise renewal cohort</a:t>
            </a:r>
          </a:p>
        </p:txBody>
      </p:sp>
      <p:sp>
        <p:nvSpPr>
          <p:cNvPr id="19" name="VIZ::Quarterly Northline renewal rate::category-label-4"/>
          <p:cNvSpPr txBox="1"/>
          <p:nvPr/>
        </p:nvSpPr>
        <p:spPr>
          <a:xfrm>
            <a:off x="6011844" y="7313570"/>
            <a:ext cx="5915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06">
                <a:latin typeface="Arial"/>
              </a:defRPr>
            </a:pPr>
            <a:r>
              <a:t>FY25 Q3 | Enterprise renewal cohort</a:t>
            </a:r>
          </a:p>
        </p:txBody>
      </p:sp>
      <p:sp>
        <p:nvSpPr>
          <p:cNvPr id="20" name="VIZ::Quarterly Northline renewal rate::category-label-5"/>
          <p:cNvSpPr txBox="1"/>
          <p:nvPr/>
        </p:nvSpPr>
        <p:spPr>
          <a:xfrm>
            <a:off x="6669175" y="7313570"/>
            <a:ext cx="5915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06">
                <a:latin typeface="Arial"/>
              </a:defRPr>
            </a:pPr>
            <a:r>
              <a:t>FY25 Q4 | Enterprise renewal cohort</a:t>
            </a:r>
          </a:p>
        </p:txBody>
      </p:sp>
      <p:sp>
        <p:nvSpPr>
          <p:cNvPr id="21" name="VIZ::Quarterly Northline renewal rate::category-label-6"/>
          <p:cNvSpPr txBox="1"/>
          <p:nvPr/>
        </p:nvSpPr>
        <p:spPr>
          <a:xfrm>
            <a:off x="7326506" y="7313570"/>
            <a:ext cx="5915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06">
                <a:latin typeface="Arial"/>
              </a:defRPr>
            </a:pPr>
            <a:r>
              <a:t>FY26 Q1 | Enterprise renewal cohort</a:t>
            </a:r>
          </a:p>
        </p:txBody>
      </p:sp>
      <p:sp>
        <p:nvSpPr>
          <p:cNvPr id="22" name="VIZ::Quarterly Northline renewal rate::category-label-7"/>
          <p:cNvSpPr txBox="1"/>
          <p:nvPr/>
        </p:nvSpPr>
        <p:spPr>
          <a:xfrm>
            <a:off x="7983838" y="7313570"/>
            <a:ext cx="591598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706">
                <a:latin typeface="Arial"/>
              </a:defRPr>
            </a:pPr>
            <a:r>
              <a:t>FY26 Q2 | Enterprise renewal cohort</a:t>
            </a:r>
          </a:p>
        </p:txBody>
      </p:sp>
      <p:sp>
        <p:nvSpPr>
          <p:cNvPr id="23" name="VIZ::Quarterly Northline renewal rate::legend-marker-0"/>
          <p:cNvSpPr/>
          <p:nvPr/>
        </p:nvSpPr>
        <p:spPr>
          <a:xfrm>
            <a:off x="3438409" y="7835264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Quarterly Northline renewal rate::legend-label-0"/>
          <p:cNvSpPr txBox="1"/>
          <p:nvPr/>
        </p:nvSpPr>
        <p:spPr>
          <a:xfrm>
            <a:off x="3540009" y="7713280"/>
            <a:ext cx="4979393" cy="30746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1000">
                <a:latin typeface="Arial"/>
              </a:defRPr>
            </a:pPr>
            <a:r>
              <a:t>Renewal rate</a:t>
            </a:r>
          </a:p>
        </p:txBody>
      </p:sp>
      <p:graphicFrame>
        <p:nvGraphicFramePr>
          <p:cNvPr id="25" name="VIZ::Operating evidence · A" descr="VisualizerSemantic:{&quot;composition_role&quot;:&quot;detailed_evidence&quot;,&quot;customTable&quot;:{&quot;headers&quot;:[&quot;Market / account group&quot;,&quot;Renewal %&quot;,&quot;Recurring ARR $M&quot;,&quot;Decision signal&quot;],&quot;rows&quot;:[[&quot;Metro East strategic accounts&quot;,88.7,4.82,&quot;Below release gate&quot;],[&quot;Central Corridor public works&quot;,93.8,3.66,&quot;Within guardrail&quot;],[&quot;Mountain West service depots&quot;,94.1,5.3,&quot;Renewal confirmed&quot;],[&quot;Coastal North utilities&quot;,91.6,4.64,&quot;Two terms open&quot;]]},&quot;element&quot;:&quot;Clean Table&quot;,&quot;engine&quot;:&quot;TableEngine&quot;,&quot;groupId&quot;:null,&quot;h&quot;:429.2,&quot;id&quot;:&quot;c7&quot;,&quot;locked&quot;:false,&quot;message_role&quot;:&quot;Primary Evidence&quot;,&quot;order&quot;:6,&quot;rows&quot;:[[&quot;Metro East strategic accounts&quot;,88.7,4.82,&quot;Below release gate&quot;],[&quot;Central Corridor public works&quot;,93.8,3.66,&quot;Within guardrail&quot;],[&quot;Mountain West service depots&quot;,94.1,5.3,&quot;Renewal confirmed&quot;],[&quot;Coastal North utilities&quot;,91.6,4.64,&quot;Two terms open&quot;]],&quot;section_id&quot;:&quot;evidence&quot;,&quot;section_title&quot;:&quot;Regional evidence&quot;,&quot;showTitle&quot;:true,&quot;title&quot;:&quot;Operating evidence · A&quot;,&quot;type&quot;:&quot;table&quot;,&quot;w&quot;:578.2811501597444,&quot;weight&quot;:1,&quot;x&quot;:995.9200309807339,&quot;y&quot;:214.33120000000002,&quot;z&quot;:7}"/>
          <p:cNvGraphicFramePr>
            <a:graphicFrameLocks noGrp="1"/>
          </p:cNvGraphicFramePr>
          <p:nvPr/>
        </p:nvGraphicFramePr>
        <p:xfrm>
          <a:off x="7088298" y="1525467"/>
          <a:ext cx="4115822" cy="305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955"/>
                <a:gridCol w="1028955"/>
                <a:gridCol w="1028955"/>
                <a:gridCol w="1028957"/>
              </a:tblGrid>
              <a:tr h="61095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Market / account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Renewal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Recurring ARR $M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Decision signal</a:t>
                      </a:r>
                    </a:p>
                  </a:txBody>
                  <a:tcPr/>
                </a:tc>
              </a:tr>
              <a:tr h="61095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Metro East strategic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Below release gate</a:t>
                      </a:r>
                    </a:p>
                  </a:txBody>
                  <a:tcPr/>
                </a:tc>
              </a:tr>
              <a:tr h="61095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Central Corridor public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guardrail</a:t>
                      </a:r>
                    </a:p>
                  </a:txBody>
                  <a:tcPr/>
                </a:tc>
              </a:tr>
              <a:tr h="61095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Mountain West service depots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Renewal confirmed</a:t>
                      </a:r>
                    </a:p>
                  </a:txBody>
                  <a:tcPr/>
                </a:tc>
              </a:tr>
              <a:tr h="61095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Coastal North utilities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Two terms open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1" name="VIZ::SemanticReport" descr="VisualizerSemanticReport:{&quot;authoring_schema&quot;:&quot;authoring-p0-v1&quot;,&quot;canvas&quot;:{&quot;height&quot;:1753,&quot;width&quot;:1600},&quot;crossFilter&quot;:null,&quot;crossFilters&quot;:[],&quot;datasets&quot;:[{&quot;fields&quot;:[{&quot;id&quot;:&quot;cohort_window_1&quot;,&quot;name&quot;:&quot;Cohort window&quot;,&quot;nullable&quot;:false,&quot;profile&quot;:{&quot;distinct&quot;:8,&quot;missing&quot;:0},&quot;semantic_tags&quot;:[],&quot;type&quot;:&quot;string&quot;},{&quot;id&quot;:&quot;renewal_rate_2&quot;,&quot;name&quot;:&quot;Renewal rate&quot;,&quot;nullable&quot;:false,&quot;profile&quot;:{&quot;distinct&quot;:8,&quot;missing&quot;:0},&quot;semantic_tags&quot;:[],&quot;type&quot;:&quot;number&quot;,&quot;unit&quot;:&quot;&quot;}],&quot;id&quot;:&quot;dataset-mujcd7wy-x79epk&quot;,&quot;metadata&quot;:{&quot;header&quot;:{&quot;confidence&quot;:1,&quot;present&quot;:true,&quot;source_row&quot;:0}},&quot;name&quot;:&quot;Pasted data&quot;,&quot;revision&quot;:1,&quot;rows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source&quot;:{&quot;imported_at&quot;:&quot;2026-09-27T04:51:49.714Z&quot;,&quot;kind&quot;:&quot;clipboard&quot;,&quot;label&quot;:&quot;TSV&quot;},&quot;warnings&quot;:[]},{&quot;fields&quot;:[{&quot;id&quot;:&quot;market_segment_1&quot;,&quot;name&quot;:&quot;Market segment&quot;,&quot;nullable&quot;:false,&quot;profile&quot;:{&quot;distinct&quot;:4,&quot;missing&quot;:0},&quot;semantic_tags&quot;:[],&quot;type&quot;:&quot;categorical&quot;},{&quot;id&quot;:&quot;contribution_margin_percent_2&quot;,&quot;name&quot;:&quot;Contribution margin percent&quot;,&quot;nullable&quot;:false,&quot;profile&quot;:{&quot;distinct&quot;:16,&quot;missing&quot;:0},&quot;semantic_tags&quot;:[],&quot;type&quot;:&quot;number&quot;,&quot;unit&quot;:&quot;&quot;}],&quot;id&quot;:&quot;dataset-mujcda71-iqsxbm&quot;,&quot;metadata&quot;:{&quot;header&quot;:{&quot;confidence&quot;:0.75,&quot;present&quot;:true,&quot;source_row&quot;:0}},&quot;name&quot;:&quot;Pasted data&quot;,&quot;revision&quot;:1,&quot;rows&quot;:[[&quot;Metro East&quot;,18.4],[&quot;Metro East&quot;,19.1],[&quot;Metro East&quot;,17.8],[&quot;Metro East&quot;,20.2],[&quot;Central Corridor&quot;,24.2],[&quot;Central Corridor&quot;,25],[&quot;Central Corridor&quot;,23.8],[&quot;Central Corridor&quot;,26.1],[&quot;Mountain West&quot;,27.1],[&quot;Mountain West&quot;,28.2],[&quot;Mountain West&quot;,26.9],[&quot;Mountain West&quot;,29],[&quot;Coastal North&quot;,22.2],[&quot;Coastal North&quot;,23.4],[&quot;Coastal North&quot;,21.8],[&quot;Coastal North&quot;,24.1]],&quot;source&quot;:{&quot;imported_at&quot;:&quot;2026-09-27T04:51:52.669Z&quot;,&quot;kind&quot;:&quot;clipboard&quot;,&quot;label&quot;:&quot;TSV&quot;},&quot;warnings&quot;:[]}],&quot;groups&quot;:{},&quot;items&quot;:[{&quot;body&quot;:&quot;Protect renewals before accelerating Northline acquisition spend.&quot;,&quot;composition_role&quot;:&quot;report_headline&quot;,&quot;element&quot;:&quot;Executive Statement&quot;,&quot;engine&quot;:&quot;TextEngine&quot;,&quot;groupId&quot;:null,&quot;h&quot;:122.93120000000002,&quot;id&quot;:&quot;c1&quot;,&quot;locked&quot;:false,&quot;message_role&quot;:&quot;Headline&quot;,&quot;order&quot;:0,&quot;section_id&quot;:&quot;opening&quot;,&quot;section_title&quot;:&quot;Executive summary&quot;,&quot;text&quot;:&quot;Protect renewals before accelerating Northline acquisition spend.&quot;,&quot;title&quot;:&quot;Executive Statement&quot;,&quot;type&quot;:&quot;text&quot;,&quot;w&quot;:1059.44,&quot;weight&quot;:1,&quot;x&quot;:14,&quot;y&quot;:40,&quot;z&quot;:1},{&quot;body&quot;:&quot;FY26 Q2 close · Northline Field Service · 8 renewal cohorts and 5 market groups · CRM close extract frozen 2026-09-18.&quot;,&quot;composition_role&quot;:&quot;context&quot;,&quot;element&quot;:&quot;Body Narrative&quot;,&quot;engine&quot;:&quot;TextEngine&quot;,&quot;groupId&quot;:null,&quot;h&quot;:72,&quot;id&quot;:&quot;c2&quot;,&quot;locked&quot;:false,&quot;message_role&quot;:&quot;Context&quot;,&quot;order&quot;:1,&quot;section_id&quot;:&quot;opening&quot;,&quot;section_title&quot;:&quot;Executive summary&quot;,&quot;text&quot;:&quot;FY26 Q2 close · Northline Field Service · 8 renewal cohorts and 5 market groups · CRM close extract frozen 2026-09-18.&quot;,&quot;title&quot;:&quot;Quarterly context&quot;,&quot;type&quot;:&quot;text&quot;,&quot;w&quot;:498.56,&quot;weight&quot;:1,&quot;x&quot;:1087.44,&quot;y&quot;:65.46560000000001,&quot;z&quot;:2},{&quot;capability_overrides&quot;:{&quot;target&quot;:93},&quot;composition_role&quot;:&quot;hero_metric&quot;,&quot;delta&quot;:2.2,&quot;element&quot;:&quot;Hero KPI&quot;,&quot;emphasis&quot;:&quot;hero&quot;,&quot;engine&quot;:&quot;MetricEngine&quot;,&quot;groupId&quot;:null,&quot;h&quot;:206,&quot;id&quot;:&quot;c3&quot;,&quot;locked&quot;:false,&quot;message_role&quot;:&quot;Supporting Evidence&quot;,&quot;order&quot;:2,&quot;section_id&quot;:&quot;performance&quot;,&quot;section_title&quot;:&quot;Performance&quot;,&quot;showTitle&quot;:true,&quot;target&quot;:93,&quot;title&quot;:&quot;FY26 Q2 renewal&quot;,&quot;type&quot;:&quot;metric&quot;,&quot;unit&quot;:&quot;%&quot;,&quot;value&quot;:91.4,&quot;w&quot;:648,&quot;weight&quot;:1,&quot;x&quot;:14,&quot;y&quot;:1523.7312,&quot;z&quot;:3},{&quot;capability_overrides&quot;:{&quot;target&quot;:19},&quot;composition_role&quot;:&quot;hero_metric&quot;,&quot;delta&quot;:1.35,&quot;element&quot;:&quot;Hero KPI&quot;,&quot;emphasis&quot;:&quot;prominent&quot;,&quot;engine&quot;:&quot;MetricEngine&quot;,&quot;groupId&quot;:null,&quot;h&quot;:200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$M&quot;},&quot;order&quot;:3,&quot;section_id&quot;:&quot;performance&quot;,&quot;section_title&quot;:&quot;Performance&quot;,&quot;showTitle&quot;:true,&quot;target&quot;:19,&quot;title&quot;:&quot;Recurring contribution&quot;,&quot;type&quot;:&quot;metric&quot;,&quot;unit&quot;:&quot;$M&quot;,&quot;value&quot;:18.42,&quot;w&quot;:447.76,&quot;weight&quot;:1,&quot;x&quot;:676.48,&quot;y&quot;:1523.7312,&quot;z&quot;:4},{&quot;after&quot;:91.4,&quot;before&quot;:87.9,&quot;composition_role&quot;:&quot;hero_metric&quot;,&quot;element&quot;:&quot;Before/After KPI&quot;,&quot;engine&quot;:&quot;ComparisonEngine&quot;,&quot;groupId&quot;:null,&quot;h&quot;:215,&quot;id&quot;:&quot;c5&quot;,&quot;locked&quot;:false,&quot;message_role&quot;:&quot;Supporting Evidence&quot;,&quot;order&quot;:4,&quot;section_id&quot;:&quot;performance&quot;,&quot;section_title&quot;:&quot;Performance&quot;,&quot;showTitle&quot;:true,&quot;title&quot;:&quot;Renewal recovery since FY25 Q2&quot;,&quot;type&quot;:&quot;comparison&quot;,&quot;unit&quot;:&quot;%&quot;,&quot;w&quot;:447.76,&quot;weight&quot;:1,&quot;x&quot;:1138.24,&quot;y&quot;:1523.7312,&quot;z&quot;:5},{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labelPresentationIntent&quot;:{&quot;fields&quot;:[&quot;interval&quot;,&quot;rotation&quot;],&quot;mode&quot;:&quot;authored&quot;},&quot;max&quot;:null,&quot;min&quot;:null,&quot;position&quot;:&quot;bottom&quot;,&quot;precision&quot;:null,&quot;rotation&quot;:4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cohort_window_1&quot;,&quot;name&quot;:&quot;Cohort window&quot;,&quot;nullable&quot;:false,&quot;profile&quot;:{&quot;distinct&quot;:8,&quot;missing&quot;:0},&quot;semantic_tags&quot;:[],&quot;type&quot;:&quot;string&quot;},{&quot;id&quot;:&quot;renewal_rate_2&quot;,&quot;name&quot;:&quot;Renewal rate&quot;,&quot;nullable&quot;:false,&quot;profile&quot;:{&quot;distinct&quot;:8,&quot;missing&quot;:0},&quot;semantic_tags&quot;:[],&quot;type&quot;:&quot;number&quot;,&quot;unit&quot;:&quot;&quot;}],&quot;id&quot;:&quot;dataset-mujcd7wy-x79epk&quot;,&quot;metadata&quot;:{&quot;header&quot;:{&quot;confidence&quot;:1,&quot;present&quot;:true,&quot;source_row&quot;:0}},&quot;name&quot;:&quot;Pasted data&quot;,&quot;revision&quot;:1,&quot;rows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source&quot;:{&quot;imported_at&quot;:&quot;2026-09-27T04:51:49.714Z&quot;,&quot;kind&quot;:&quot;clipboard&quot;,&quot;label&quot;:&quot;TSV&quot;},&quot;warnings&quot;:[]},&quot;dataset_id&quot;:&quot;dataset-mujcd7wy-x79epk&quot;,&quot;engineering&quot;:{&quot;L&quot;:3,&quot;h&quot;:432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cohort_window_1&quot;,&quot;value&quot;:&quot;renewal_rate_2&quot;,&quot;x&quot;:&quot;cohort_window_1&quot;,&quot;y&quot;:&quot;renewal_rate_2&quot;},&quot;recipe&quot;:null,&quot;recommendations&quot;:[{&quot;confidence&quot;:0.93,&quot;mapping&quot;:{&quot;category&quot;:&quot;cohort_window_1&quot;,&quot;value&quot;:&quot;renewal_rate_2&quot;,&quot;x&quot;:&quot;cohort_window_1&quot;,&quot;y&quot;:&quot;renewal_rate_2&quot;},&quot;reason&quot;:&quot;A horizontal field and numeric measure are available.&quot;,&quot;type&quot;:&quot;Line Chart&quot;},{&quot;confidence&quot;:0.9,&quot;mapping&quot;:{&quot;category&quot;:&quot;cohort_window_1&quot;,&quot;value&quot;:&quot;renewal_rate_2&quot;,&quot;x&quot;:&quot;cohort_window_1&quot;,&quot;y&quot;:&quot;renewal_rate_2&quot;},&quot;reason&quot;:&quot;A shared axis can compare multiple runs when a series field is available.&quot;,&quot;type&quot;:&quot;Multi-Line&quot;},{&quot;confidence&quot;:0.9,&quot;mapping&quot;:{&quot;category&quot;:&quot;cohort_window_1&quot;,&quot;value&quot;:&quot;renewal_rate_2&quot;,&quot;x&quot;:&quot;cohort_window_1&quot;,&quot;y&quot;:&quot;renewal_rate_2&quot;},&quot;reason&quot;:&quot;A category and measured value are available.&quot;,&quot;type&quot;:&quot;Vertical Bar&quot;},{&quot;confidence&quot;:0.87,&quot;mapping&quot;:{&quot;category&quot;:&quot;cohort_window_1&quot;,&quot;value&quot;:&quot;renewal_rate_2&quot;,&quot;x&quot;:&quot;cohort_window_1&quot;,&quot;y&quot;:&quot;renewal_rate_2&quot;},&quot;reason&quot;:&quot;The same trend mapping can show accumulated movement.&quot;,&quot;type&quot;:&quot;Area Chart&quot;},{&quot;confidence&quot;:0.82,&quot;mapping&quot;:{&quot;category&quot;:&quot;cohort_window_1&quot;,&quot;value&quot;:&quot;renewal_rate_2&quot;,&quot;x&quot;:&quot;cohort_window_1&quot;,&quot;y&quot;:&quot;renewal_rate_2&quot;},&quot;reason&quot;:&quot;A horizontal ranking keeps category labels readable.&quot;,&quot;type&quot;:&quot;Horizontal Bar&quot;},{&quot;confidence&quot;:0.8,&quot;mapping&quot;:{&quot;category&quot;:&quot;cohort_window_1&quot;,&quot;value&quot;:&quot;renewal_rate_2&quot;,&quot;x&quot;:&quot;cohort_window_1&quot;,&quot;y&quot;:&quot;renewal_rate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renewal_rate_2&quot;,&quot;id&quot;:&quot;series-1&quot;,&quot;label&quot;:&quot;Renewal rate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data&quot;:[[&quot;FY24 Q3 | Enterprise renewal cohort&quot;,86.2],[&quot;FY24 Q4 | Enterprise renewal cohort&quot;,87.1],[&quot;FY25 Q1 | Enterprise renewal cohort&quot;,88],[&quot;FY25 Q2 | Enterprise renewal cohort&quot;,87.9],[&quot;FY25 Q3 | Enterprise renewal cohort&quot;,89.2],[&quot;FY25 Q4 | Enterprise renewal cohort&quot;,90.1],[&quot;FY26 Q1 | Enterprise renewal cohort&quot;,90.7],[&quot;FY26 Q2 | Enterprise renewal cohort&quot;,91.4]],&quot;dataset_id&quot;:&quot;dataset-mujcd7wy-x79epk&quot;,&quot;element&quot;:&quot;Line Chart&quot;,&quot;engine&quot;:&quot;CoreChartEngine&quot;,&quot;groupId&quot;:null,&quot;h&quot;:432,&quot;id&quot;:&quot;c6&quot;,&quot;locked&quot;:false,&quot;mapping&quot;:{&quot;category&quot;:&quot;cohort_window_1&quot;,&quot;value&quot;:&quot;renewal_rate_2&quot;,&quot;x&quot;:&quot;cohort_window_1&quot;,&quot;y&quot;:&quot;renewal_rate_2&quot;},&quot;message_role&quot;:&quot;Primary Evidence&quot;,&quot;order&quot;:5,&quot;rows&quot;:[{&quot;label&quot;:&quot;FY24 Q3 | Enterprise renewal cohort&quot;,&quot;value&quot;:86.2},{&quot;label&quot;:&quot;FY24 Q4 | Enterprise renewal cohort&quot;,&quot;value&quot;:87.1},{&quot;label&quot;:&quot;FY25 Q1 | Enterprise renewal cohort&quot;,&quot;value&quot;:88},{&quot;label&quot;:&quot;FY25 Q2 | Enterprise renewal cohort&quot;,&quot;value&quot;:87.9},{&quot;label&quot;:&quot;FY25 Q3 | Enterprise renewal cohort&quot;,&quot;value&quot;:89.2},{&quot;label&quot;:&quot;FY25 Q4 | Enterprise renewal cohort&quot;,&quot;value&quot;:90.1},{&quot;label&quot;:&quot;FY26 Q1 | Enterprise renewal cohort&quot;,&quot;value&quot;:90.7},{&quot;label&quot;:&quot;FY26 Q2 | Enterprise renewal cohort&quot;,&quot;value&quot;:91.4}],&quot;section_id&quot;:&quot;analysis&quot;,&quot;section_title&quot;:&quot;Analysis&quot;,&quot;showTitle&quot;:true,&quot;statistical_result&quot;:null,&quot;title&quot;:&quot;Quarterly Northline renewal rate&quot;,&quot;transform_recipe&quot;:{&quot;steps&quot;:[]},&quot;type&quot;:&quot;chart&quot;,&quot;w&quot;:890.1818181818181,&quot;weight&quot;:1,&quot;x&quot;:354.90909090909093,&quot;y&quot;:694.9312,&quot;z&quot;:6},{&quot;composition_role&quot;:&quot;detailed_evidence&quot;,&quot;customTable&quot;:{&quot;headers&quot;:[&quot;Market / account group&quot;,&quot;Renewal %&quot;,&quot;Recurring ARR $M&quot;,&quot;Decision signal&quot;],&quot;rows&quot;:[[&quot;Metro East strategic accounts&quot;,88.7,4.82,&quot;Below release gate&quot;],[&quot;Central Corridor public works&quot;,93.8,3.66,&quot;Within guardrail&quot;],[&quot;Mountain West service depots&quot;,94.1,5.3,&quot;Renewal confirmed&quot;],[&quot;Coastal North utilities&quot;,91.6,4.64,&quot;Two terms open&quot;]]},&quot;element&quot;:&quot;Clean Table&quot;,&quot;engine&quot;:&quot;TableEngine&quot;,&quot;groupId&quot;:null,&quot;h&quot;:429.2,&quot;id&quot;:&quot;c7&quot;,&quot;locked&quot;:false,&quot;message_role&quot;:&quot;Primary Evidence&quot;,&quot;order&quot;:6,&quot;rows&quot;:[[&quot;Metro East strategic accounts&quot;,88.7,4.82,&quot;Below release gate&quot;],[&quot;Central Corridor public works&quot;,93.8,3.66,&quot;Within guardrail&quot;],[&quot;Mountain West service depots&quot;,94.1,5.3,&quot;Renewal confirmed&quot;],[&quot;Coastal North utilities&quot;,91.6,4.64,&quot;Two terms open&quot;]],&quot;section_id&quot;:&quot;evidence&quot;,&quot;section_title&quot;:&quot;Regional evidence&quot;,&quot;showTitle&quot;:true,&quot;title&quot;:&quot;Operating evidence · A&quot;,&quot;type&quot;:&quot;table&quot;,&quot;w&quot;:578.2811501597444,&quot;weight&quot;:1,&quot;x&quot;:25.798818859521816,&quot;y&quot;:196.93120000000002,&quot;z&quot;:7},{&quot;composition_role&quot;:&quot;decision_risk&quot;,&quot;detail&quot;:&quot;Two enterprise renewals remain unresolved; the cohort sample is directional, not a full-year retention estimate.&quot;,&quot;element&quot;:&quot;Risk Callout&quot;,&quot;engine&quot;:&quot;DecisionCompositeEngine&quot;,&quot;groupId&quot;:null,&quot;h&quot;:194,&quot;id&quot;:&quot;c8&quot;,&quot;locked&quot;:false,&quot;message_role&quot;:&quot;Risk&quot;,&quot;order&quot;:8,&quot;section_id&quot;:&quot;decision&quot;,&quot;section_title&quot;:&quot;Decision&quot;,&quot;showTitle&quot;:true,&quot;statement&quot;:&quot;Gate acquisition tranche on Metro East renewals&quot;,&quot;status&quot;:&quot;Review&quot;,&quot;title&quot;:&quot;Risk Callout&quot;,&quot;type&quot;:&quot;decision&quot;,&quot;w&quot;:1572,&quot;weight&quot;:1,&quot;x&quot;:14,&quot;y&quot;:1160.9312,&quot;z&quot;:8},{&quot;body&quot;:&quot;Next step: hold incremental acquisition spend for two weeks; release the next tranche only after Metro East confirms the 93.0% renewal gate.&quot;,&quot;composition_role&quot;:&quot;conclusion&quot;,&quot;element&quot;:&quot;Key Takeaway&quot;,&quot;engine&quot;:&quot;TextEngine&quot;,&quot;groupId&quot;:null,&quot;h&quot;:100.80000000000001,&quot;id&quot;:&quot;c9&quot;,&quot;locked&quot;:false,&quot;message_role&quot;:&quot;Action&quot;,&quot;order&quot;:9,&quot;section_id&quot;:&quot;delivery&quot;,&quot;section_title&quot;:&quot;Decision and next step&quot;,&quot;text&quot;:&quot;Next step: hold incremental acquisition spend for two weeks; release the next tranche only after Metro East confirms the 93.0% renewal gate.&quot;,&quot;title&quot;:&quot;Key Takeaway&quot;,&quot;type&quot;:&quot;text&quot;,&quot;w&quot;:1572,&quot;weight&quot;:1,&quot;x&quot;:14,&quot;y&quot;:1388.9312,&quot;z&quot;:9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market_segment_1&quot;,&quot;name&quot;:&quot;Market segment&quot;,&quot;nullable&quot;:false,&quot;profile&quot;:{&quot;distinct&quot;:4,&quot;missing&quot;:0},&quot;semantic_tags&quot;:[],&quot;type&quot;:&quot;categorical&quot;},{&quot;id&quot;:&quot;contribution_margin_percent_2&quot;,&quot;name&quot;:&quot;Contribution margin percent&quot;,&quot;nullable&quot;:false,&quot;profile&quot;:{&quot;distinct&quot;:16,&quot;missing&quot;:0},&quot;semantic_tags&quot;:[],&quot;type&quot;:&quot;number&quot;,&quot;unit&quot;:&quot;&quot;}],&quot;id&quot;:&quot;dataset-mujcda71-iqsxbm&quot;,&quot;metadata&quot;:{&quot;header&quot;:{&quot;confidence&quot;:0.75,&quot;present&quot;:true,&quot;source_row&quot;:0}},&quot;name&quot;:&quot;Pasted data&quot;,&quot;revision&quot;:1,&quot;rows&quot;:[[&quot;Metro East&quot;,18.4],[&quot;Metro East&quot;,19.1],[&quot;Metro East&quot;,17.8],[&quot;Metro East&quot;,20.2],[&quot;Central Corridor&quot;,24.2],[&quot;Central Corridor&quot;,25],[&quot;Central Corridor&quot;,23.8],[&quot;Central Corridor&quot;,26.1],[&quot;Mountain West&quot;,27.1],[&quot;Mountain West&quot;,28.2],[&quot;Mountain West&quot;,26.9],[&quot;Mountain West&quot;,29],[&quot;Coastal North&quot;,22.2],[&quot;Coastal North&quot;,23.4],[&quot;Coastal North&quot;,21.8],[&quot;Coastal North&quot;,24.1]],&quot;source&quot;:{&quot;imported_at&quot;:&quot;2026-09-27T04:51:52.669Z&quot;,&quot;kind&quot;:&quot;clipboard&quot;,&quot;label&quot;:&quot;TSV&quot;},&quot;warnings&quot;:[]},&quot;dataset_id&quot;:&quot;dataset-mujcda71-iqsxbm&quot;,&quot;engineering&quot;:{&quot;L&quot;:3,&quot;h&quot;:464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market_segment_1&quot;,&quot;value&quot;:&quot;contribution_margin_percent_2&quot;,&quot;x&quot;:&quot;contribution_margin_percent_2&quot;},&quot;recipe&quot;:null,&quot;recommendations&quot;:[{&quot;confidence&quot;:0.9,&quot;mapping&quot;:{&quot;category&quot;:&quot;market_segment_1&quot;,&quot;value&quot;:&quot;contribution_margin_percent_2&quot;,&quot;x&quot;:&quot;contribution_margin_percent_2&quot;},&quot;reason&quot;:&quot;A category and measured value are available.&quot;,&quot;type&quot;:&quot;Vertical Bar&quot;},{&quot;confidence&quot;:0.82,&quot;mapping&quot;:{&quot;category&quot;:&quot;market_segment_1&quot;,&quot;value&quot;:&quot;contribution_margin_percent_2&quot;,&quot;x&quot;:&quot;contribution_margin_percent_2&quot;},&quot;reason&quot;:&quot;A horizontal ranking keeps category labels readable.&quot;,&quot;type&quot;:&quot;Horizontal Bar&quot;},{&quot;confidence&quot;:0.8,&quot;mapping&quot;:{&quot;category&quot;:&quot;market_segment_1&quot;,&quot;value&quot;:&quot;contribution_margin_percent_2&quot;,&quot;x&quot;:&quot;contribution_margin_percent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contribution_margin_percent_2&quot;,&quot;id&quot;:&quot;series-1&quot;,&quot;label&quot;:&quot;Contribution margin percent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detailed_evidence&quot;,&quot;cross&quot;:null,&quot;data&quot;:[[18.4,18.4],[19.1,19.1],[17.8,17.8],[20.2,20.2],[24.2,24.2],[25,25],[23.8,23.8],[26.1,26.1],[27.1,27.1],[28.2,28.2],[26.9,26.9],[29,29],[22.2,22.2],[23.4,23.4],[21.8,21.8],[24.1,24.1]],&quot;dataset_id&quot;:&quot;dataset-mujcda71-iqsxbm&quot;,&quot;drill&quot;:null,&quot;element&quot;:&quot;Box Plot&quot;,&quot;engine&quot;:&quot;CoreChartEngine&quot;,&quot;groupId&quot;:null,&quot;h&quot;:464,&quot;id&quot;:&quot;c10&quot;,&quot;locked&quot;:false,&quot;mapping&quot;:{&quot;category&quot;:&quot;market_segment_1&quot;,&quot;value&quot;:&quot;contribution_margin_percent_2&quot;,&quot;x&quot;:&quot;contribution_margin_percent_2&quot;},&quot;message_role&quot;:&quot;Supporting Evidence&quot;,&quot;order&quot;:7,&quot;revealed&quot;:true,&quot;rows&quot;:[{&quot;label&quot;:18.4,&quot;value&quot;:18.4},{&quot;label&quot;:19.1,&quot;value&quot;:19.1},{&quot;label&quot;:17.8,&quot;value&quot;:17.8},{&quot;label&quot;:20.2,&quot;value&quot;:20.2},{&quot;label&quot;:24.2,&quot;value&quot;:24.2},{&quot;label&quot;:25,&quot;value&quot;:25},{&quot;label&quot;:23.8,&quot;value&quot;:23.8},{&quot;label&quot;:26.1,&quot;value&quot;:26.1},{&quot;label&quot;:27.1,&quot;value&quot;:27.1},{&quot;label&quot;:28.2,&quot;value&quot;:28.2},{&quot;label&quot;:26.9,&quot;value&quot;:26.9},{&quot;label&quot;:29,&quot;value&quot;:29},{&quot;label&quot;:22.2,&quot;value&quot;:22.2},{&quot;label&quot;:23.4,&quot;value&quot;:23.4},{&quot;label&quot;:21.8,&quot;value&quot;:21.8},{&quot;label&quot;:24.1,&quot;value&quot;:24.1}],&quot;section_id&quot;:&quot;evidence&quot;,&quot;section_title&quot;:&quot;Evidence&quot;,&quot;showTitle&quot;:true,&quot;statistical_result&quot;:null,&quot;textAlign&quot;:&quot;left&quot;,&quot;title&quot;:&quot;Supporting distribution&quot;,&quot;transform_recipe&quot;:{&quot;steps&quot;:[]},&quot;type&quot;:&quot;chart&quot;,&quot;variant&quot;:&quot;line&quot;,&quot;w&quot;:956.1212121212121,&quot;weight&quot;:1.8,&quot;x&quot;:618.0799690192662,&quot;y&quot;:196.93120000000002,&quot;z&quot;:10}],&quot;layoutPreset&quot;:&quot;executive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