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527360" cy="12191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latin typeface="Arial"/>
              </a:defRPr>
            </a:pPr>
            <a:r>
              <a:t>Dwell hours by destination lane</a:t>
            </a:r>
          </a:p>
        </c:rich>
      </c:tx>
      <c:layout/>
      <c:overlay val="0"/>
    </c:title>
    <c:autoTitleDeleted val="0"/>
    <c:plotArea>
      <c:lineChart>
        <c:grouping val="standard"/>
        <c:varyColors val="0"/>
        <c:ser>
          <c:idx val="0"/>
          <c:order val="0"/>
          <c:tx>
            <c:strRef>
              <c:f>Sheet1!$B$1</c:f>
              <c:strCache>
                <c:ptCount val="1"/>
                <c:pt idx="0">
                  <c:v>Median dwell hours</c:v>
                </c:pt>
              </c:strCache>
            </c:strRef>
          </c:tx>
          <c:spPr>
            <a:ln>
              <a:solidFill>
                <a:srgbClr val="1769D1"/>
              </a:solidFill>
            </a:ln>
          </c:spPr>
          <c:cat>
            <c:strRef>
              <c:f>Sheet1!$A$2:$A$5</c:f>
              <c:strCache>
                <c:ptCount val="4"/>
                <c:pt idx="0">
                  <c:v>Harbor East / SL-26-41</c:v>
                </c:pt>
                <c:pt idx="1">
                  <c:v>North Quay / SL-26-42</c:v>
                </c:pt>
                <c:pt idx="2">
                  <c:v>Port Meridian / SL-26-43</c:v>
                </c:pt>
                <c:pt idx="3">
                  <c:v>South Anchorage / SL-26-44</c:v>
                </c:pt>
              </c:strCache>
            </c:strRef>
          </c:cat>
          <c:val>
            <c:numRef>
              <c:f>Sheet1!$B$2:$B$5</c:f>
              <c:numCache>
                <c:formatCode>General</c:formatCode>
                <c:ptCount val="4"/>
                <c:pt idx="0">
                  <c:v>14.2</c:v>
                </c:pt>
                <c:pt idx="1">
                  <c:v>15.6</c:v>
                </c:pt>
                <c:pt idx="2">
                  <c:v>16.1</c:v>
                </c:pt>
                <c:pt idx="3">
                  <c:v>14.9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one"/>
        <c:txPr>
          <a:bodyPr/>
          <a:lstStyle/>
          <a:p>
            <a:pPr>
              <a:defRPr sz="750">
                <a:latin typeface="Arial"/>
              </a:defRPr>
            </a:pPr>
          </a:p>
        </c:txPr>
        <c:crossAx val="2140495176"/>
        <c:crosses val="autoZero"/>
        <c:auto val="1"/>
        <c:lblAlgn val="ctr"/>
        <c:lblOffset val="100"/>
        <c:noMultiLvlLbl val="0"/>
      </c:catAx>
      <c:valAx>
        <c:axId val="2140495176"/>
        <c:scaling>
          <c:max val="16.195"/>
          <c:min val="14.104999999999999"/>
        </c:scaling>
        <c:delete val="0"/>
        <c:axPos val="l"/>
        <c:majorGridlines/>
        <c:majorTickMark val="out"/>
        <c:minorTickMark val="none"/>
        <c:tickLblPos val="nextTo"/>
        <c:crossAx val="2118791784"/>
        <c:crosses val="autoZero"/>
      </c:valAx>
    </c:plotArea>
    <c:legend>
      <c:legendPos val="b"/>
      <c:layout/>
      <c:overlay val="0"/>
      <c:txPr>
        <a:bodyPr/>
        <a:lstStyle/>
        <a:p>
          <a:pPr>
            <a:defRPr sz="1000">
              <a:latin typeface="Arial"/>
            </a:defRPr>
          </a:pPr>
        </a:p>
      </c:txPr>
    </c:legend>
    <c:plotVisOnly val="1"/>
    <c:dispBlanksAs val="gap"/>
    <c:showDLblsOverMax val="0"/>
  </c:chart>
  <c:txPr>
    <a:bodyPr/>
    <a:lstStyle/>
    <a:p>
      <a:pPr>
        <a:defRPr sz="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Z::Hero Title" title="Visembler report text roles: text heading, report headline" descr="VisualizerSemantic:{&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1572.0,&quot;weight&quot;:1.1,&quot;x&quot;:14.0,&quot;y&quot;:40.0,&quot;z&quot;:1}"/>
          <p:cNvSpPr/>
          <p:nvPr/>
        </p:nvSpPr>
        <p:spPr>
          <a:xfrm>
            <a:off x="92114" y="263183"/>
            <a:ext cx="10343131" cy="722177"/>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Hero Title</a:t>
            </a:r>
          </a:p>
          <a:p>
            <a:pPr algn="l">
              <a:lnSpc>
                <a:spcPct val="100000"/>
              </a:lnSpc>
              <a:spcBef>
                <a:spcPts val="0"/>
              </a:spcBef>
              <a:spcAft>
                <a:spcPts val="50"/>
              </a:spcAft>
            </a:pPr>
            <a:r>
              <a:rPr sz="1750" b="1" i="0">
                <a:solidFill>
                  <a:srgbClr val="172B43"/>
                </a:solidFill>
                <a:latin typeface="Arial"/>
              </a:rPr>
              <a:t>Activate one Saffron Link micro-hub for the late sailing window.</a:t>
            </a:r>
          </a:p>
        </p:txBody>
      </p:sp>
      <p:sp>
        <p:nvSpPr>
          <p:cNvPr id="3" name="VIZ::Median port dwell KPI" title="Visembler report text roles: metric title, metric value" descr="VisualizerSemantic:{&quot;capability_overrides&quot;:{&quot;target&quot;:18},&quot;composition_role&quot;:&quot;hero_metric&quot;,&quot;delta&quot;:-3.8,&quot;element&quot;:&quot;Hero KPI&quot;,&quot;engine&quot;:&quot;MetricEngine&quot;,&quot;groupId&quot;:null,&quot;h&quot;:185.0,&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685.52,&quot;weight&quot;:1.15,&quot;x&quot;:900.4800000000001,&quot;y&quot;:1648.56,&quot;z&quot;:2}"/>
          <p:cNvSpPr/>
          <p:nvPr/>
        </p:nvSpPr>
        <p:spPr>
          <a:xfrm>
            <a:off x="5924798" y="10846865"/>
            <a:ext cx="4510447" cy="1217226"/>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Median port dwell</a:t>
            </a:r>
          </a:p>
          <a:p>
            <a:pPr algn="ctr">
              <a:lnSpc>
                <a:spcPct val="100000"/>
              </a:lnSpc>
              <a:spcBef>
                <a:spcPts val="0"/>
              </a:spcBef>
              <a:spcAft>
                <a:spcPts val="50"/>
              </a:spcAft>
            </a:pPr>
            <a:r>
              <a:rPr sz="2400" b="1" i="0">
                <a:solidFill>
                  <a:srgbClr val="17324E"/>
                </a:solidFill>
                <a:latin typeface="Arial"/>
              </a:rPr>
              <a:t>14.2 h</a:t>
            </a:r>
          </a:p>
        </p:txBody>
      </p:sp>
      <p:sp>
        <p:nvSpPr>
          <p:cNvPr id="4" name="VIZ::Baseline vs pilot dwell KPI" title="Visembler report text roles: metric title, comparison value" descr="VisualizerSemantic:{&quot;after&quot;:14.2,&quot;before&quot;:18,&quot;composition_role&quot;:&quot;hero_metric&quot;,&quot;element&quot;:&quot;Before/After KPI&quot;,&quot;engine&quot;:&quot;ComparisonEngine&quot;,&quot;groupId&quot;:null,&quot;h&quot;:19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872.4800000000001,&quot;weight&quot;:1.15,&quot;x&quot;:14.0,&quot;y&quot;:1643.56,&quot;z&quot;:3}"/>
          <p:cNvSpPr/>
          <p:nvPr/>
        </p:nvSpPr>
        <p:spPr>
          <a:xfrm>
            <a:off x="92114" y="10813967"/>
            <a:ext cx="5740569" cy="1283022"/>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Baseline vs pilot dwell</a:t>
            </a:r>
          </a:p>
          <a:p>
            <a:pPr algn="ctr">
              <a:lnSpc>
                <a:spcPct val="100000"/>
              </a:lnSpc>
              <a:spcBef>
                <a:spcPts val="0"/>
              </a:spcBef>
              <a:spcAft>
                <a:spcPts val="50"/>
              </a:spcAft>
            </a:pPr>
            <a:r>
              <a:rPr sz="2000" b="1" i="0">
                <a:solidFill>
                  <a:srgbClr val="17324E"/>
                </a:solidFill>
                <a:latin typeface="Arial"/>
              </a:rPr>
              <a:t>18 h → 14.2 h</a:t>
            </a:r>
          </a:p>
        </p:txBody>
      </p:sp>
      <p:graphicFrame>
        <p:nvGraphicFramePr>
          <p:cNvPr id="11" name="VIZ::Dwell hours by destination lan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labelPresentationIntent&quot;:{&quot;fields&quot;:[&quot;interval&quot;,&quot;rotation&quot;],&quot;mode&quot;:&quot;authored&quot;},&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77.59999999999997,&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778.0848484848484,&quot;weight&quot;:1.8,&quot;x&quot;:107.93757575757581,&quot;y&quot;:183.76,&quot;z&quot;:4,&quot;observations&quot;:[{&quot;label&quot;:&quot;Harbor East / SL-26-41&quot;,&quot;value&quot;:14.2},{&quot;label&quot;:&quot;North Quay / SL-26-42&quot;,&quot;value&quot;:15.6},{&quot;label&quot;:&quot;Port Meridian / SL-26-43&quot;,&quot;value&quot;:16.1},{&quot;label&quot;:&quot;South Anchorage / SL-26-44&quot;,&quot;value&quot;:14.9}]}"/>
          <p:cNvGraphicFramePr>
            <a:graphicFrameLocks noGrp="1"/>
          </p:cNvGraphicFramePr>
          <p:nvPr/>
        </p:nvGraphicFramePr>
        <p:xfrm>
          <a:off x="710186" y="1209067"/>
          <a:ext cx="5119487" cy="2484457"/>
        </p:xfrm>
        <a:graphic>
          <a:graphicData uri="http://schemas.openxmlformats.org/drawingml/2006/chart">
            <c:chart xmlns:c="http://schemas.openxmlformats.org/drawingml/2006/chart" r:id="rId4"/>
          </a:graphicData>
        </a:graphic>
      </p:graphicFrame>
      <p:sp>
        <p:nvSpPr>
          <p:cNvPr id="20" name="VIZ::c5::box-plot-titl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quot;Harbor East&quot;,0],[&quot;Harbor East&quot;,5],[&quot;Harbor East&quot;,0],[&quot;North Quay&quot;,8],[&quot;North Quay&quot;,0],[&quot;North Quay&quot;,4],[&quot;Port Meridian&quot;,13],[&quot;Port Meridian&quot;,7],[&quot;Port Meridian&quot;,0],[&quot;South Anchorage&quot;,3],[&quot;South Anchorage&quot;,0],[&quot;South Anchorage&quot;,2]],&quot;dataset_id&quot;:&quot;dataset-mujd0lfp-1q9e7e&quot;,&quot;drill&quot;:null,&quot;element&quot;:&quot;Box Plot&quot;,&quot;engine&quot;:&quot;CoreChartEngine&quot;,&quot;groupId&quot;:null,&quot;h&quot;:371.2,&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764.8969696969697,&quot;weight&quot;:1.8,&quot;x&quot;:417.55151515151516,&quot;y&quot;:569.3599999999999,&quot;z&quot;:5,&quot;observation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
          <p:cNvSpPr txBox="1"/>
          <p:nvPr/>
        </p:nvSpPr>
        <p:spPr>
          <a:xfrm>
            <a:off x="2948630" y="3782796"/>
            <a:ext cx="4630098" cy="246379"/>
          </a:xfrm>
          <a:prstGeom prst="rect">
            <a:avLst/>
          </a:prstGeom>
          <a:noFill/>
        </p:spPr>
        <p:txBody>
          <a:bodyPr wrap="none" anchor="ctr" lIns="25400" rIns="25400" tIns="0" bIns="0">
            <a:spAutoFit/>
          </a:bodyPr>
          <a:lstStyle/>
          <a:p>
            <a:pPr algn="ctr">
              <a:defRPr sz="1200" b="1">
                <a:latin typeface="Arial"/>
              </a:defRPr>
            </a:pPr>
            <a:r>
              <a:t>Temperature excursion distribution</a:t>
            </a:r>
          </a:p>
        </p:txBody>
      </p:sp>
      <p:cxnSp>
        <p:nvCxnSpPr>
          <p:cNvPr id="21" name="VIZ::c5::box-plot-grid-0"/>
          <p:cNvCxnSpPr/>
          <p:nvPr/>
        </p:nvCxnSpPr>
        <p:spPr>
          <a:xfrm>
            <a:off x="3552556" y="5577921"/>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2" name="VIZ::c5::box-plot-axis-0"/>
          <p:cNvSpPr txBox="1"/>
          <p:nvPr/>
        </p:nvSpPr>
        <p:spPr>
          <a:xfrm>
            <a:off x="2747322" y="5514421"/>
            <a:ext cx="679417" cy="152400"/>
          </a:xfrm>
          <a:prstGeom prst="rect">
            <a:avLst/>
          </a:prstGeom>
          <a:noFill/>
        </p:spPr>
        <p:txBody>
          <a:bodyPr wrap="none" tIns="0" bIns="0" anchor="ctr">
            <a:spAutoFit/>
          </a:bodyPr>
          <a:lstStyle/>
          <a:p>
            <a:pPr algn="r">
              <a:defRPr sz="700">
                <a:latin typeface="Arial"/>
              </a:defRPr>
            </a:pPr>
            <a:r>
              <a:t>-0.65</a:t>
            </a:r>
          </a:p>
        </p:txBody>
      </p:sp>
      <p:cxnSp>
        <p:nvCxnSpPr>
          <p:cNvPr id="23" name="VIZ::c5::box-plot-grid-1"/>
          <p:cNvCxnSpPr/>
          <p:nvPr/>
        </p:nvCxnSpPr>
        <p:spPr>
          <a:xfrm>
            <a:off x="3552556" y="5242098"/>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4" name="VIZ::c5::box-plot-axis-1"/>
          <p:cNvSpPr txBox="1"/>
          <p:nvPr/>
        </p:nvSpPr>
        <p:spPr>
          <a:xfrm>
            <a:off x="2747322" y="5178598"/>
            <a:ext cx="679417" cy="152400"/>
          </a:xfrm>
          <a:prstGeom prst="rect">
            <a:avLst/>
          </a:prstGeom>
          <a:noFill/>
        </p:spPr>
        <p:txBody>
          <a:bodyPr wrap="none" tIns="0" bIns="0" anchor="ctr">
            <a:spAutoFit/>
          </a:bodyPr>
          <a:lstStyle/>
          <a:p>
            <a:pPr algn="r">
              <a:defRPr sz="700">
                <a:latin typeface="Arial"/>
              </a:defRPr>
            </a:pPr>
            <a:r>
              <a:t>2.925</a:t>
            </a:r>
          </a:p>
        </p:txBody>
      </p:sp>
      <p:cxnSp>
        <p:nvCxnSpPr>
          <p:cNvPr id="25" name="VIZ::c5::box-plot-grid-2"/>
          <p:cNvCxnSpPr/>
          <p:nvPr/>
        </p:nvCxnSpPr>
        <p:spPr>
          <a:xfrm>
            <a:off x="3552556" y="4906275"/>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6" name="VIZ::c5::box-plot-axis-2"/>
          <p:cNvSpPr txBox="1"/>
          <p:nvPr/>
        </p:nvSpPr>
        <p:spPr>
          <a:xfrm>
            <a:off x="2747322" y="4842775"/>
            <a:ext cx="679417" cy="152400"/>
          </a:xfrm>
          <a:prstGeom prst="rect">
            <a:avLst/>
          </a:prstGeom>
          <a:noFill/>
        </p:spPr>
        <p:txBody>
          <a:bodyPr wrap="none" tIns="0" bIns="0" anchor="ctr">
            <a:spAutoFit/>
          </a:bodyPr>
          <a:lstStyle/>
          <a:p>
            <a:pPr algn="r">
              <a:defRPr sz="700">
                <a:latin typeface="Arial"/>
              </a:defRPr>
            </a:pPr>
            <a:r>
              <a:t>6.5</a:t>
            </a:r>
          </a:p>
        </p:txBody>
      </p:sp>
      <p:cxnSp>
        <p:nvCxnSpPr>
          <p:cNvPr id="27" name="VIZ::c5::box-plot-grid-3"/>
          <p:cNvCxnSpPr/>
          <p:nvPr/>
        </p:nvCxnSpPr>
        <p:spPr>
          <a:xfrm>
            <a:off x="3552556" y="4570453"/>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8" name="VIZ::c5::box-plot-axis-3"/>
          <p:cNvSpPr txBox="1"/>
          <p:nvPr/>
        </p:nvSpPr>
        <p:spPr>
          <a:xfrm>
            <a:off x="2747322" y="4506953"/>
            <a:ext cx="679417" cy="152400"/>
          </a:xfrm>
          <a:prstGeom prst="rect">
            <a:avLst/>
          </a:prstGeom>
          <a:noFill/>
        </p:spPr>
        <p:txBody>
          <a:bodyPr wrap="none" tIns="0" bIns="0" anchor="ctr">
            <a:spAutoFit/>
          </a:bodyPr>
          <a:lstStyle/>
          <a:p>
            <a:pPr algn="r">
              <a:defRPr sz="700">
                <a:latin typeface="Arial"/>
              </a:defRPr>
            </a:pPr>
            <a:r>
              <a:t>10.075</a:t>
            </a:r>
          </a:p>
        </p:txBody>
      </p:sp>
      <p:cxnSp>
        <p:nvCxnSpPr>
          <p:cNvPr id="29" name="VIZ::c5::box-plot-grid-4"/>
          <p:cNvCxnSpPr/>
          <p:nvPr/>
        </p:nvCxnSpPr>
        <p:spPr>
          <a:xfrm>
            <a:off x="3552556" y="4234630"/>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30" name="VIZ::c5::box-plot-axis-4"/>
          <p:cNvSpPr txBox="1"/>
          <p:nvPr/>
        </p:nvSpPr>
        <p:spPr>
          <a:xfrm>
            <a:off x="2747322" y="4171130"/>
            <a:ext cx="679417" cy="152400"/>
          </a:xfrm>
          <a:prstGeom prst="rect">
            <a:avLst/>
          </a:prstGeom>
          <a:noFill/>
        </p:spPr>
        <p:txBody>
          <a:bodyPr wrap="none" tIns="0" bIns="0" anchor="ctr">
            <a:spAutoFit/>
          </a:bodyPr>
          <a:lstStyle/>
          <a:p>
            <a:pPr algn="r">
              <a:defRPr sz="700">
                <a:latin typeface="Arial"/>
              </a:defRPr>
            </a:pPr>
            <a:r>
              <a:t>13.65</a:t>
            </a:r>
          </a:p>
        </p:txBody>
      </p:sp>
      <p:cxnSp>
        <p:nvCxnSpPr>
          <p:cNvPr id="31" name="VIZ::c5::box-plot-0-whisker"/>
          <p:cNvCxnSpPr/>
          <p:nvPr/>
        </p:nvCxnSpPr>
        <p:spPr>
          <a:xfrm>
            <a:off x="4062118.5" y="5047180"/>
            <a:ext cx="0.0" cy="469682"/>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2" name="VIZ::c5::box-plot-0-whisker-cap-0"/>
          <p:cNvCxnSpPr/>
          <p:nvPr/>
        </p:nvCxnSpPr>
        <p:spPr>
          <a:xfrm>
            <a:off x="3858293.5" y="5516862"/>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3" name="VIZ::c5::box-plot-0-whisker-cap-1"/>
          <p:cNvCxnSpPr/>
          <p:nvPr/>
        </p:nvCxnSpPr>
        <p:spPr>
          <a:xfrm>
            <a:off x="3858293.5" y="5047180"/>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sp>
        <p:nvSpPr>
          <p:cNvPr id="34" name="VIZ::c5::box-plot-0-quartiles"/>
          <p:cNvSpPr/>
          <p:nvPr/>
        </p:nvSpPr>
        <p:spPr>
          <a:xfrm>
            <a:off x="3858293" y="5282021"/>
            <a:ext cx="407650" cy="234841"/>
          </a:xfrm>
          <a:prstGeom prst="rect">
            <a:avLst/>
          </a:prstGeom>
          <a:solidFill>
            <a:srgbClr val="1769D1"/>
          </a:solidFill>
          <a:ln w="15240">
            <a:solidFill>
              <a:srgbClr val="1769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VIZ::c5::box-plot-0-median"/>
          <p:cNvCxnSpPr/>
          <p:nvPr/>
        </p:nvCxnSpPr>
        <p:spPr>
          <a:xfrm>
            <a:off x="3858293.5" y="5516862"/>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36" name="VIZ::c5::box-plot-0-category" title="{&quot;category&quot;:&quot;Harbor East&quot;,&quot;quartiles&quot;:{&quot;n&quot;:3,&quot;min&quot;:0.0,&quot;q1&quot;:0.0,&quot;median&quot;:0.0,&quot;q3&quot;:2.5,&quot;max&quot;:5.0}}"/>
          <p:cNvSpPr txBox="1"/>
          <p:nvPr/>
        </p:nvSpPr>
        <p:spPr>
          <a:xfrm>
            <a:off x="3513478" y="5687826"/>
            <a:ext cx="1097280" cy="317505"/>
          </a:xfrm>
          <a:prstGeom prst="rect">
            <a:avLst/>
          </a:prstGeom>
          <a:noFill/>
        </p:spPr>
        <p:txBody>
          <a:bodyPr wrap="square">
            <a:spAutoFit/>
          </a:bodyPr>
          <a:lstStyle/>
          <a:p>
            <a:pPr algn="ctr">
              <a:defRPr sz="800"/>
            </a:pPr>
            <a:r>
              <a:t>Harbor East</a:t>
            </a:r>
          </a:p>
        </p:txBody>
      </p:sp>
      <p:cxnSp>
        <p:nvCxnSpPr>
          <p:cNvPr id="37" name="VIZ::c5::box-plot-1-whisker"/>
          <p:cNvCxnSpPr/>
          <p:nvPr/>
        </p:nvCxnSpPr>
        <p:spPr>
          <a:xfrm>
            <a:off x="5081243.5" y="4765371"/>
            <a:ext cx="0.0" cy="751491"/>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8" name="VIZ::c5::box-plot-1-whisker-cap-0"/>
          <p:cNvCxnSpPr/>
          <p:nvPr/>
        </p:nvCxnSpPr>
        <p:spPr>
          <a:xfrm>
            <a:off x="4877418.5" y="5516862"/>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9" name="VIZ::c5::box-plot-1-whisker-cap-1"/>
          <p:cNvCxnSpPr/>
          <p:nvPr/>
        </p:nvCxnSpPr>
        <p:spPr>
          <a:xfrm>
            <a:off x="4877418.5" y="4765371"/>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sp>
        <p:nvSpPr>
          <p:cNvPr id="40" name="VIZ::c5::box-plot-1-quartiles"/>
          <p:cNvSpPr/>
          <p:nvPr/>
        </p:nvSpPr>
        <p:spPr>
          <a:xfrm>
            <a:off x="4877418" y="4953244"/>
            <a:ext cx="407650" cy="375745"/>
          </a:xfrm>
          <a:prstGeom prst="rect">
            <a:avLst/>
          </a:prstGeom>
          <a:solidFill>
            <a:srgbClr val="2E8B72"/>
          </a:solidFill>
          <a:ln w="15240">
            <a:solidFill>
              <a:srgbClr val="2E8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VIZ::c5::box-plot-1-median"/>
          <p:cNvCxnSpPr/>
          <p:nvPr/>
        </p:nvCxnSpPr>
        <p:spPr>
          <a:xfrm>
            <a:off x="4877418.5" y="514111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2" name="VIZ::c5::box-plot-1-category" title="{&quot;category&quot;:&quot;North Quay&quot;,&quot;quartiles&quot;:{&quot;n&quot;:3,&quot;min&quot;:0.0,&quot;q1&quot;:2.0,&quot;median&quot;:4.0,&quot;q3&quot;:6.0,&quot;max&quot;:8.0}}"/>
          <p:cNvSpPr txBox="1"/>
          <p:nvPr/>
        </p:nvSpPr>
        <p:spPr>
          <a:xfrm>
            <a:off x="4532603" y="5687826"/>
            <a:ext cx="1097280" cy="317505"/>
          </a:xfrm>
          <a:prstGeom prst="rect">
            <a:avLst/>
          </a:prstGeom>
          <a:noFill/>
        </p:spPr>
        <p:txBody>
          <a:bodyPr wrap="square">
            <a:spAutoFit/>
          </a:bodyPr>
          <a:lstStyle/>
          <a:p>
            <a:pPr algn="ctr">
              <a:defRPr sz="800"/>
            </a:pPr>
            <a:r>
              <a:t>North Quay</a:t>
            </a:r>
          </a:p>
        </p:txBody>
      </p:sp>
      <p:cxnSp>
        <p:nvCxnSpPr>
          <p:cNvPr id="43" name="VIZ::c5::box-plot-2-whisker"/>
          <p:cNvCxnSpPr/>
          <p:nvPr/>
        </p:nvCxnSpPr>
        <p:spPr>
          <a:xfrm>
            <a:off x="6100368.5" y="4295689"/>
            <a:ext cx="0.0" cy="1221173"/>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4" name="VIZ::c5::box-plot-2-whisker-cap-0"/>
          <p:cNvCxnSpPr/>
          <p:nvPr/>
        </p:nvCxnSpPr>
        <p:spPr>
          <a:xfrm>
            <a:off x="5896543.5" y="5516862"/>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5" name="VIZ::c5::box-plot-2-whisker-cap-1"/>
          <p:cNvCxnSpPr/>
          <p:nvPr/>
        </p:nvCxnSpPr>
        <p:spPr>
          <a:xfrm>
            <a:off x="5896543.5" y="4295689"/>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sp>
        <p:nvSpPr>
          <p:cNvPr id="46" name="VIZ::c5::box-plot-2-quartiles"/>
          <p:cNvSpPr/>
          <p:nvPr/>
        </p:nvSpPr>
        <p:spPr>
          <a:xfrm>
            <a:off x="5896543" y="4577498"/>
            <a:ext cx="407650" cy="610587"/>
          </a:xfrm>
          <a:prstGeom prst="rect">
            <a:avLst/>
          </a:prstGeom>
          <a:solidFill>
            <a:srgbClr val="B7791F"/>
          </a:solidFill>
          <a:ln w="1524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VIZ::c5::box-plot-2-median"/>
          <p:cNvCxnSpPr/>
          <p:nvPr/>
        </p:nvCxnSpPr>
        <p:spPr>
          <a:xfrm>
            <a:off x="5896543.5" y="485930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8" name="VIZ::c5::box-plot-2-category" title="{&quot;category&quot;:&quot;Port Meridian&quot;,&quot;quartiles&quot;:{&quot;n&quot;:3,&quot;min&quot;:0.0,&quot;q1&quot;:3.5,&quot;median&quot;:7.0,&quot;q3&quot;:10.0,&quot;max&quot;:13.0}}"/>
          <p:cNvSpPr txBox="1"/>
          <p:nvPr/>
        </p:nvSpPr>
        <p:spPr>
          <a:xfrm>
            <a:off x="5551728" y="5687826"/>
            <a:ext cx="1097280" cy="317505"/>
          </a:xfrm>
          <a:prstGeom prst="rect">
            <a:avLst/>
          </a:prstGeom>
          <a:noFill/>
        </p:spPr>
        <p:txBody>
          <a:bodyPr wrap="square">
            <a:spAutoFit/>
          </a:bodyPr>
          <a:lstStyle/>
          <a:p>
            <a:pPr algn="ctr">
              <a:defRPr sz="800"/>
            </a:pPr>
            <a:r>
              <a:t>Port Meridian</a:t>
            </a:r>
          </a:p>
        </p:txBody>
      </p:sp>
      <p:cxnSp>
        <p:nvCxnSpPr>
          <p:cNvPr id="49" name="VIZ::c5::box-plot-3-whisker"/>
          <p:cNvCxnSpPr/>
          <p:nvPr/>
        </p:nvCxnSpPr>
        <p:spPr>
          <a:xfrm>
            <a:off x="7119493.5" y="5235053"/>
            <a:ext cx="0.0" cy="281809"/>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50" name="VIZ::c5::box-plot-3-whisker-cap-0"/>
          <p:cNvCxnSpPr/>
          <p:nvPr/>
        </p:nvCxnSpPr>
        <p:spPr>
          <a:xfrm>
            <a:off x="6915668.5" y="5516862"/>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51" name="VIZ::c5::box-plot-3-whisker-cap-1"/>
          <p:cNvCxnSpPr/>
          <p:nvPr/>
        </p:nvCxnSpPr>
        <p:spPr>
          <a:xfrm>
            <a:off x="6915668.5" y="5235053"/>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sp>
        <p:nvSpPr>
          <p:cNvPr id="52" name="VIZ::c5::box-plot-3-quartiles"/>
          <p:cNvSpPr/>
          <p:nvPr/>
        </p:nvSpPr>
        <p:spPr>
          <a:xfrm>
            <a:off x="6915668" y="5282021"/>
            <a:ext cx="407650" cy="140905"/>
          </a:xfrm>
          <a:prstGeom prst="rect">
            <a:avLst/>
          </a:prstGeom>
          <a:solidFill>
            <a:srgbClr val="9B4DCA"/>
          </a:solidFill>
          <a:ln w="15240">
            <a:solidFill>
              <a:srgbClr val="9B4D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VIZ::c5::box-plot-3-median"/>
          <p:cNvCxnSpPr/>
          <p:nvPr/>
        </p:nvCxnSpPr>
        <p:spPr>
          <a:xfrm>
            <a:off x="6915668.5" y="5328989"/>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54" name="VIZ::c5::box-plot-3-category" title="{&quot;category&quot;:&quot;South Anchorage&quot;,&quot;quartiles&quot;:{&quot;n&quot;:3,&quot;min&quot;:0.0,&quot;q1&quot;:1.0,&quot;median&quot;:2.0,&quot;q3&quot;:2.5,&quot;max&quot;:3.0}}"/>
          <p:cNvSpPr txBox="1"/>
          <p:nvPr/>
        </p:nvSpPr>
        <p:spPr>
          <a:xfrm>
            <a:off x="6570853" y="5687826"/>
            <a:ext cx="1097280" cy="317505"/>
          </a:xfrm>
          <a:prstGeom prst="rect">
            <a:avLst/>
          </a:prstGeom>
          <a:noFill/>
        </p:spPr>
        <p:txBody>
          <a:bodyPr wrap="square">
            <a:spAutoFit/>
          </a:bodyPr>
          <a:lstStyle/>
          <a:p>
            <a:pPr algn="ctr">
              <a:defRPr sz="800"/>
            </a:pPr>
            <a:r>
              <a:t>South Anchorage</a:t>
            </a:r>
          </a:p>
        </p:txBody>
      </p:sp>
      <p:sp>
        <p:nvSpPr>
          <p:cNvPr id="7" name="VIZ::Body Narrative" title="Visembler report text roles: text heading, context subhead" descr="VisualizerSemantic:{&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34.5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92.04,&quot;weight&quot;:1.1,&quot;x&quot;:900.0224242424242,&quot;y&quot;:305.28,&quot;z&quot;:8}"/>
          <p:cNvSpPr/>
          <p:nvPr/>
        </p:nvSpPr>
        <p:spPr>
          <a:xfrm>
            <a:off x="5921787" y="2008620"/>
            <a:ext cx="3895386" cy="885351"/>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950" b="1" i="0">
                <a:solidFill>
                  <a:srgbClr val="1C2B3E"/>
                </a:solidFill>
                <a:latin typeface="Arial"/>
              </a:rPr>
              <a:t>Body Narrative</a:t>
            </a:r>
          </a:p>
          <a:p>
            <a:pPr algn="l">
              <a:lnSpc>
                <a:spcPct val="100000"/>
              </a:lnSpc>
              <a:spcBef>
                <a:spcPts val="0"/>
              </a:spcBef>
              <a:spcAft>
                <a:spcPts val="0"/>
              </a:spcAft>
            </a:pPr>
            <a:r>
              <a:rPr sz="850" b="0" i="0">
                <a:solidFill>
                  <a:srgbClr val="374A60"/>
                </a:solidFill>
                <a:latin typeface="Arial Narrow"/>
              </a:rPr>
              <a: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a:t>
            </a:r>
          </a:p>
        </p:txBody>
      </p:sp>
      <p:sp>
        <p:nvSpPr>
          <p:cNvPr id="9" name="VIZ::Risk Callout" title="Visembler report text roles: text heading, risk decision, evidence detail, action status" descr="VisualizerSemantic:{&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175.0,&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1572.0,&quot;weight&quot;:1.15,&quot;x&quot;:14.0,&quot;y&quot;:1304.56,&quot;z&quot;:7}"/>
          <p:cNvSpPr/>
          <p:nvPr/>
        </p:nvSpPr>
        <p:spPr>
          <a:xfrm>
            <a:off x="92114" y="8583482"/>
            <a:ext cx="10343131" cy="1151430"/>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259" b="1">
                <a:solidFill>
                  <a:srgbClr val="1D1D1F"/>
                </a:solidFill>
                <a:latin typeface="Arial"/>
              </a:defRPr>
            </a:pPr>
            <a:r>
              <a:rPr sz="1050" b="1" i="0">
                <a:solidFill>
                  <a:srgbClr val="1C2B3E"/>
                </a:solidFill>
                <a:latin typeface="Arial"/>
              </a:rPr>
              <a:t>Risk Callout</a:t>
            </a:r>
          </a:p>
          <a:p>
            <a:pPr algn="l">
              <a:lnSpc>
                <a:spcPct val="100000"/>
              </a:lnSpc>
              <a:spcBef>
                <a:spcPts val="0"/>
              </a:spcBef>
              <a:spcAft>
                <a:spcPts val="50"/>
              </a:spcAft>
            </a:pPr>
            <a:r>
              <a:rPr sz="1100" b="1" i="0">
                <a:solidFill>
                  <a:srgbClr val="682B31"/>
                </a:solidFill>
                <a:latin typeface="Arial"/>
              </a:rPr>
              <a:t>Approve one-week Harbor East activation</a:t>
            </a:r>
          </a:p>
          <a:p>
            <a:pPr algn="l">
              <a:lnSpc>
                <a:spcPct val="100000"/>
              </a:lnSpc>
              <a:spcBef>
                <a:spcPts val="0"/>
              </a:spcBef>
              <a:spcAft>
                <a:spcPts val="50"/>
              </a:spcAft>
            </a:pPr>
            <a:r>
              <a:rPr sz="1050" b="0" i="0">
                <a:solidFill>
                  <a:srgbClr val="37485C"/>
                </a:solidFill>
                <a:latin typeface="Arial"/>
              </a:rPr>
              <a:t>Temperature stayed inside contract limits; humidity calibration bias keeps spoilage exposure uncertain. Keep the fallback routing available.</a:t>
            </a:r>
          </a:p>
          <a:p>
            <a:pPr algn="l">
              <a:lnSpc>
                <a:spcPct val="100000"/>
              </a:lnSpc>
              <a:spcBef>
                <a:spcPts val="0"/>
              </a:spcBef>
              <a:spcAft>
                <a:spcPts val="0"/>
              </a:spcAft>
            </a:pPr>
            <a:r>
              <a:rPr sz="1050" b="1" i="0">
                <a:solidFill>
                  <a:srgbClr val="2B4F43"/>
                </a:solidFill>
                <a:latin typeface="Arial"/>
              </a:rPr>
              <a:t>Reversible</a:t>
            </a:r>
          </a:p>
        </p:txBody>
      </p:sp>
      <p:sp>
        <p:nvSpPr>
          <p:cNvPr id="10" name="VIZ::Key Takeaway" title="Visembler report text roles: text heading, conclusion next step" descr="VisualizerSemantic:{&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0,&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1572.0,&quot;weight&quot;:1.1,&quot;x&quot;:14.0,&quot;y&quot;:1513.56,&quot;z&quot;:9}"/>
          <p:cNvSpPr/>
          <p:nvPr/>
        </p:nvSpPr>
        <p:spPr>
          <a:xfrm>
            <a:off x="92114" y="9958619"/>
            <a:ext cx="10343131" cy="631642"/>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Key Takeaway</a:t>
            </a:r>
          </a:p>
          <a:p>
            <a:pPr algn="l">
              <a:lnSpc>
                <a:spcPct val="100000"/>
              </a:lnSpc>
              <a:spcBef>
                <a:spcPts val="0"/>
              </a:spcBef>
              <a:spcAft>
                <a:spcPts val="50"/>
              </a:spcAft>
            </a:pPr>
            <a:r>
              <a:rPr sz="1250" b="1" i="0">
                <a:solidFill>
                  <a:srgbClr val="17324E"/>
                </a:solidFill>
                <a:latin typeface="Arial"/>
              </a:rPr>
              <a:t>Next step: activate Harbor East for one week, verify humidity calibration on day two, and stop if any lane exceeds 6.0°C for 20 minutes.</a:t>
            </a:r>
          </a:p>
        </p:txBody>
      </p:sp>
      <p:sp>
        <p:nvSpPr>
          <p:cNvPr id="12" name="VIZ::Dwell hours by destination lane::chart-label-band"/>
          <p:cNvSpPr/>
          <p:nvPr/>
        </p:nvSpPr>
        <p:spPr>
          <a:xfrm>
            <a:off x="812575" y="3134521"/>
            <a:ext cx="5017097" cy="5590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VIZ::Dwell hours by destination lane::category-label-axis"/>
          <p:cNvCxnSpPr/>
          <p:nvPr/>
        </p:nvCxnSpPr>
        <p:spPr>
          <a:xfrm>
            <a:off x="1375719" y="3146943"/>
            <a:ext cx="4249174" cy="0"/>
          </a:xfrm>
          <a:prstGeom prst="line">
            <a:avLst/>
          </a:prstGeom>
          <a:ln w="8890">
            <a:solidFill>
              <a:srgbClr val="343E4A"/>
            </a:solidFill>
          </a:ln>
        </p:spPr>
        <p:style>
          <a:lnRef idx="2">
            <a:schemeClr val="accent1"/>
          </a:lnRef>
          <a:fillRef idx="0">
            <a:schemeClr val="accent1"/>
          </a:fillRef>
          <a:effectRef idx="1">
            <a:schemeClr val="accent1"/>
          </a:effectRef>
          <a:fontRef idx="minor">
            <a:schemeClr val="tx1"/>
          </a:fontRef>
        </p:style>
      </p:cxnSp>
      <p:sp>
        <p:nvSpPr>
          <p:cNvPr id="14" name="VIZ::Dwell hours by destination lane::category-label-0"/>
          <p:cNvSpPr txBox="1"/>
          <p:nvPr/>
        </p:nvSpPr>
        <p:spPr>
          <a:xfrm>
            <a:off x="1428833" y="3122098"/>
            <a:ext cx="956064" cy="304800"/>
          </a:xfrm>
          <a:prstGeom prst="rect">
            <a:avLst/>
          </a:prstGeom>
          <a:noFill/>
        </p:spPr>
        <p:txBody>
          <a:bodyPr wrap="square" anchor="ctr" lIns="0" rIns="0" tIns="0" bIns="0">
            <a:spAutoFit/>
          </a:bodyPr>
          <a:lstStyle/>
          <a:p>
            <a:pPr algn="ctr">
              <a:defRPr sz="750">
                <a:latin typeface="Arial"/>
              </a:defRPr>
            </a:pPr>
            <a:r>
              <a:t>Harbor East / SL-26-41</a:t>
            </a:r>
          </a:p>
        </p:txBody>
      </p:sp>
      <p:sp>
        <p:nvSpPr>
          <p:cNvPr id="15" name="VIZ::Dwell hours by destination lane::category-label-1"/>
          <p:cNvSpPr txBox="1"/>
          <p:nvPr/>
        </p:nvSpPr>
        <p:spPr>
          <a:xfrm>
            <a:off x="2491127" y="3122098"/>
            <a:ext cx="956064" cy="304800"/>
          </a:xfrm>
          <a:prstGeom prst="rect">
            <a:avLst/>
          </a:prstGeom>
          <a:noFill/>
        </p:spPr>
        <p:txBody>
          <a:bodyPr wrap="square" anchor="ctr" lIns="0" rIns="0" tIns="0" bIns="0">
            <a:spAutoFit/>
          </a:bodyPr>
          <a:lstStyle/>
          <a:p>
            <a:pPr algn="ctr">
              <a:defRPr sz="750">
                <a:latin typeface="Arial"/>
              </a:defRPr>
            </a:pPr>
            <a:r>
              <a:t>North Quay / SL-26-42</a:t>
            </a:r>
          </a:p>
        </p:txBody>
      </p:sp>
      <p:sp>
        <p:nvSpPr>
          <p:cNvPr id="16" name="VIZ::Dwell hours by destination lane::category-label-2"/>
          <p:cNvSpPr txBox="1"/>
          <p:nvPr/>
        </p:nvSpPr>
        <p:spPr>
          <a:xfrm>
            <a:off x="3553420" y="3122098"/>
            <a:ext cx="956064" cy="304800"/>
          </a:xfrm>
          <a:prstGeom prst="rect">
            <a:avLst/>
          </a:prstGeom>
          <a:noFill/>
        </p:spPr>
        <p:txBody>
          <a:bodyPr wrap="square" anchor="ctr" lIns="0" rIns="0" tIns="0" bIns="0">
            <a:spAutoFit/>
          </a:bodyPr>
          <a:lstStyle/>
          <a:p>
            <a:pPr algn="ctr">
              <a:defRPr sz="750">
                <a:latin typeface="Arial"/>
              </a:defRPr>
            </a:pPr>
            <a:r>
              <a:t>Port Meridian / SL-26-43</a:t>
            </a:r>
          </a:p>
        </p:txBody>
      </p:sp>
      <p:sp>
        <p:nvSpPr>
          <p:cNvPr id="17" name="VIZ::Dwell hours by destination lane::category-label-3"/>
          <p:cNvSpPr txBox="1"/>
          <p:nvPr/>
        </p:nvSpPr>
        <p:spPr>
          <a:xfrm>
            <a:off x="4615714" y="3122098"/>
            <a:ext cx="956064" cy="304800"/>
          </a:xfrm>
          <a:prstGeom prst="rect">
            <a:avLst/>
          </a:prstGeom>
          <a:noFill/>
        </p:spPr>
        <p:txBody>
          <a:bodyPr wrap="square" anchor="ctr" lIns="0" rIns="0" tIns="0" bIns="0">
            <a:spAutoFit/>
          </a:bodyPr>
          <a:lstStyle/>
          <a:p>
            <a:pPr algn="ctr">
              <a:defRPr sz="750">
                <a:latin typeface="Arial"/>
              </a:defRPr>
            </a:pPr>
            <a:r>
              <a:t>South Anchorage / SL-26-44</a:t>
            </a:r>
          </a:p>
        </p:txBody>
      </p:sp>
      <p:sp>
        <p:nvSpPr>
          <p:cNvPr id="18" name="VIZ::Dwell hours by destination lane::legend-marker-0"/>
          <p:cNvSpPr/>
          <p:nvPr/>
        </p:nvSpPr>
        <p:spPr>
          <a:xfrm>
            <a:off x="1452314" y="3537550"/>
            <a:ext cx="63500" cy="63500"/>
          </a:xfrm>
          <a:prstGeom prst="rect">
            <a:avLst/>
          </a:prstGeom>
          <a:solidFill>
            <a:srgbClr val="176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Z::Dwell hours by destination lane::legend-label-0"/>
          <p:cNvSpPr txBox="1"/>
          <p:nvPr/>
        </p:nvSpPr>
        <p:spPr>
          <a:xfrm>
            <a:off x="1553914" y="3445078"/>
            <a:ext cx="3982079" cy="248445"/>
          </a:xfrm>
          <a:prstGeom prst="rect">
            <a:avLst/>
          </a:prstGeom>
          <a:noFill/>
        </p:spPr>
        <p:txBody>
          <a:bodyPr wrap="none" anchor="ctr" lIns="0" rIns="0" tIns="0" bIns="0">
            <a:spAutoFit/>
          </a:bodyPr>
          <a:lstStyle/>
          <a:p>
            <a:pPr algn="l">
              <a:defRPr sz="1000">
                <a:latin typeface="Arial"/>
              </a:defRPr>
            </a:pPr>
            <a:r>
              <a:t>Median dwell hours</a:t>
            </a:r>
          </a:p>
        </p:txBody>
      </p:sp>
      <p:graphicFrame>
        <p:nvGraphicFramePr>
          <p:cNvPr id="55" name="VIZ::Sailing lane decision evidence" descr="VisualizerSemantic:{&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96.0,&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1572.0,&quot;weight&quot;:1.55,&quot;x&quot;:14.0,&quot;y&quot;:974.56,&quot;z&quot;:6}"/>
          <p:cNvGraphicFramePr>
            <a:graphicFrameLocks noGrp="1"/>
          </p:cNvGraphicFramePr>
          <p:nvPr/>
        </p:nvGraphicFramePr>
        <p:xfrm>
          <a:off x="92114" y="6412214"/>
          <a:ext cx="10343131" cy="1947561"/>
        </p:xfrm>
        <a:graphic>
          <a:graphicData uri="http://schemas.openxmlformats.org/drawingml/2006/table">
            <a:tbl>
              <a:tblPr firstRow="1" bandRow="1">
                <a:tableStyleId>{5C22544A-7EE6-4342-B048-85BDC9FD1C3A}</a:tableStyleId>
              </a:tblPr>
              <a:tblGrid>
                <a:gridCol w="2585782"/>
                <a:gridCol w="2585782"/>
                <a:gridCol w="2585782"/>
                <a:gridCol w="2585785"/>
              </a:tblGrid>
              <a:tr h="389512">
                <a:tc>
                  <a:txBody>
                    <a:bodyPr/>
                    <a:lstStyle/>
                    <a:p>
                      <a:pPr>
                        <a:defRPr sz="900" b="1"/>
                      </a:pPr>
                      <a:r>
                        <a:t>Destination / route</a:t>
                      </a:r>
                    </a:p>
                  </a:txBody>
                  <a:tcPr/>
                </a:tc>
                <a:tc>
                  <a:txBody>
                    <a:bodyPr/>
                    <a:lstStyle/>
                    <a:p>
                      <a:pPr>
                        <a:defRPr sz="900" b="1"/>
                      </a:pPr>
                      <a:r>
                        <a:t>Pilot dwell h</a:t>
                      </a:r>
                    </a:p>
                  </a:txBody>
                  <a:tcPr/>
                </a:tc>
                <a:tc>
                  <a:txBody>
                    <a:bodyPr/>
                    <a:lstStyle/>
                    <a:p>
                      <a:pPr>
                        <a:defRPr sz="900" b="1"/>
                      </a:pPr>
                      <a:r>
                        <a:t>Excursion min</a:t>
                      </a:r>
                    </a:p>
                  </a:txBody>
                  <a:tcPr/>
                </a:tc>
                <a:tc>
                  <a:txBody>
                    <a:bodyPr/>
                    <a:lstStyle/>
                    <a:p>
                      <a:pPr>
                        <a:defRPr sz="900" b="1"/>
                      </a:pPr>
                      <a:r>
                        <a:t>Sensor note</a:t>
                      </a:r>
                    </a:p>
                  </a:txBody>
                  <a:tcPr/>
                </a:tc>
              </a:tr>
              <a:tr h="389512">
                <a:tc>
                  <a:txBody>
                    <a:bodyPr/>
                    <a:lstStyle/>
                    <a:p>
                      <a:pPr>
                        <a:defRPr sz="900" b="0"/>
                      </a:pPr>
                      <a:r>
                        <a:t>Harbor East / SL-26-41</a:t>
                      </a:r>
                    </a:p>
                  </a:txBody>
                  <a:tcPr/>
                </a:tc>
                <a:tc>
                  <a:txBody>
                    <a:bodyPr/>
                    <a:lstStyle/>
                    <a:p>
                      <a:pPr>
                        <a:defRPr sz="900" b="0"/>
                      </a:pPr>
                      <a:r>
                        <a:t>14.2</a:t>
                      </a:r>
                    </a:p>
                  </a:txBody>
                  <a:tcPr/>
                </a:tc>
                <a:tc>
                  <a:txBody>
                    <a:bodyPr/>
                    <a:lstStyle/>
                    <a:p>
                      <a:pPr>
                        <a:defRPr sz="900" b="0"/>
                      </a:pPr>
                      <a:r>
                        <a:t>0</a:t>
                      </a:r>
                    </a:p>
                  </a:txBody>
                  <a:tcPr/>
                </a:tc>
                <a:tc>
                  <a:txBody>
                    <a:bodyPr/>
                    <a:lstStyle/>
                    <a:p>
                      <a:pPr>
                        <a:defRPr sz="900" b="0"/>
                      </a:pPr>
                      <a:r>
                        <a:t>Humidity +3.1 points</a:t>
                      </a:r>
                    </a:p>
                  </a:txBody>
                  <a:tcPr/>
                </a:tc>
              </a:tr>
              <a:tr h="389512">
                <a:tc>
                  <a:txBody>
                    <a:bodyPr/>
                    <a:lstStyle/>
                    <a:p>
                      <a:pPr>
                        <a:defRPr sz="900" b="0"/>
                      </a:pPr>
                      <a:r>
                        <a:t>North Quay / SL-26-42</a:t>
                      </a:r>
                    </a:p>
                  </a:txBody>
                  <a:tcPr/>
                </a:tc>
                <a:tc>
                  <a:txBody>
                    <a:bodyPr/>
                    <a:lstStyle/>
                    <a:p>
                      <a:pPr>
                        <a:defRPr sz="900" b="0"/>
                      </a:pPr>
                      <a:r>
                        <a:t>15.6</a:t>
                      </a:r>
                    </a:p>
                  </a:txBody>
                  <a:tcPr/>
                </a:tc>
                <a:tc>
                  <a:txBody>
                    <a:bodyPr/>
                    <a:lstStyle/>
                    <a:p>
                      <a:pPr>
                        <a:defRPr sz="900" b="0"/>
                      </a:pPr>
                      <a:r>
                        <a:t>8</a:t>
                      </a:r>
                    </a:p>
                  </a:txBody>
                  <a:tcPr/>
                </a:tc>
                <a:tc>
                  <a:txBody>
                    <a:bodyPr/>
                    <a:lstStyle/>
                    <a:p>
                      <a:pPr>
                        <a:defRPr sz="900" b="0"/>
                      </a:pPr>
                      <a:r>
                        <a:t>Calibration pending</a:t>
                      </a:r>
                    </a:p>
                  </a:txBody>
                  <a:tcPr/>
                </a:tc>
              </a:tr>
              <a:tr h="389512">
                <a:tc>
                  <a:txBody>
                    <a:bodyPr/>
                    <a:lstStyle/>
                    <a:p>
                      <a:pPr>
                        <a:defRPr sz="900" b="0"/>
                      </a:pPr>
                      <a:r>
                        <a:t>Port Meridian / SL-26-43</a:t>
                      </a:r>
                    </a:p>
                  </a:txBody>
                  <a:tcPr/>
                </a:tc>
                <a:tc>
                  <a:txBody>
                    <a:bodyPr/>
                    <a:lstStyle/>
                    <a:p>
                      <a:pPr>
                        <a:defRPr sz="900" b="0"/>
                      </a:pPr>
                      <a:r>
                        <a:t>16.1</a:t>
                      </a:r>
                    </a:p>
                  </a:txBody>
                  <a:tcPr/>
                </a:tc>
                <a:tc>
                  <a:txBody>
                    <a:bodyPr/>
                    <a:lstStyle/>
                    <a:p>
                      <a:pPr>
                        <a:defRPr sz="900" b="0"/>
                      </a:pPr>
                      <a:r>
                        <a:t>13</a:t>
                      </a:r>
                    </a:p>
                  </a:txBody>
                  <a:tcPr/>
                </a:tc>
                <a:tc>
                  <a:txBody>
                    <a:bodyPr/>
                    <a:lstStyle/>
                    <a:p>
                      <a:pPr>
                        <a:defRPr sz="900" b="0"/>
                      </a:pPr>
                      <a:r>
                        <a:t>Two readings disputed</a:t>
                      </a:r>
                    </a:p>
                  </a:txBody>
                  <a:tcPr/>
                </a:tc>
              </a:tr>
              <a:tr h="389513">
                <a:tc>
                  <a:txBody>
                    <a:bodyPr/>
                    <a:lstStyle/>
                    <a:p>
                      <a:pPr>
                        <a:defRPr sz="900" b="0"/>
                      </a:pPr>
                      <a:r>
                        <a:t>South Anchorage / SL-26-44</a:t>
                      </a:r>
                    </a:p>
                  </a:txBody>
                  <a:tcPr/>
                </a:tc>
                <a:tc>
                  <a:txBody>
                    <a:bodyPr/>
                    <a:lstStyle/>
                    <a:p>
                      <a:pPr>
                        <a:defRPr sz="900" b="0"/>
                      </a:pPr>
                      <a:r>
                        <a:t>14.9</a:t>
                      </a:r>
                    </a:p>
                  </a:txBody>
                  <a:tcPr/>
                </a:tc>
                <a:tc>
                  <a:txBody>
                    <a:bodyPr/>
                    <a:lstStyle/>
                    <a:p>
                      <a:pPr>
                        <a:defRPr sz="900" b="0"/>
                      </a:pPr>
                      <a:r>
                        <a:t>3</a:t>
                      </a:r>
                    </a:p>
                  </a:txBody>
                  <a:tcPr/>
                </a:tc>
                <a:tc>
                  <a:txBody>
                    <a:bodyPr/>
                    <a:lstStyle/>
                    <a:p>
                      <a:pPr>
                        <a:defRPr sz="900" b="0"/>
                      </a:pPr>
                      <a:r>
                        <a:t>Within check window</a:t>
                      </a:r>
                    </a:p>
                  </a:txBody>
                  <a:tcPr/>
                </a:tc>
              </a:tr>
            </a:tbl>
          </a:graphicData>
        </a:graphic>
      </p:graphicFrame>
      <p:sp>
        <p:nvSpPr>
          <p:cNvPr id="56" name="VIZ::SemanticReport" descr="VisualizerSemanticReport:{&quot;authoring_schema&quot;:&quot;authoring-p0-v1&quot;,&quot;canvas&quot;:{&quot;height&quot;:900,&quot;width&quot;:1600},&quot;crossFilter&quot;:null,&quot;crossFilters&quot;:[],&quot;datasets&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groups&quot;:{},&quot;items&quot;:[{&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520,&quot;weight&quot;:1.1,&quot;x&quot;:14,&quot;y&quot;:14,&quot;z&quot;:1},{&quot;capability_overrides&quot;:{&quot;target&quot;:18},&quot;composition_role&quot;:&quot;hero_metric&quot;,&quot;delta&quot;:-3.8,&quot;element&quot;:&quot;Hero KPI&quot;,&quot;engine&quot;:&quot;MetricEngine&quot;,&quot;groupId&quot;:null,&quot;h&quot;:152.32000000000002,&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520,&quot;weight&quot;:1.15,&quot;x&quot;:548,&quot;y&quot;:14,&quot;z&quot;:2},{&quot;after&quot;:14.2,&quot;before&quot;:18,&quot;composition_role&quot;:&quot;hero_metric&quot;,&quot;element&quot;:&quot;Before/After KPI&quot;,&quot;engine&quot;:&quot;ComparisonEngine&quot;,&quot;groupId&quot;:null,&quot;h&quot;:1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430,&quot;weight&quot;:1.15,&quot;x&quot;:1082,&quot;y&quot;:14,&quot;z&quot;:3},{&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labelPresentationIntent&quot;:{&quot;fields&quot;:[&quot;interval&quot;,&quot;rotation&quot;],&quot;mode&quot;:&quot;authored&quot;},&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20,&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520,&quot;weight&quot;:1.8,&quot;x&quot;:14,&quot;y&quot;:137.76,&quot;z&quot;:4},{&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0,0],[5,5],[0,0],[8,8],[0,0],[4,4],[13,13],[7,7],[0,0],[3,3],[0,0],[2,2]],&quot;dataset_id&quot;:&quot;dataset-mujd0lfp-1q9e7e&quot;,&quot;drill&quot;:null,&quot;element&quot;:&quot;Box Plot&quot;,&quot;engine&quot;:&quot;CoreChartEngine&quot;,&quot;groupId&quot;:null,&quot;h&quot;:320,&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0,&quot;value&quot;:0},{&quot;label&quot;:5,&quot;value&quot;:5},{&quot;label&quot;:0,&quot;value&quot;:0},{&quot;label&quot;:8,&quot;value&quot;:8},{&quot;label&quot;:0,&quot;value&quot;:0},{&quot;label&quot;:4,&quot;value&quot;:4},{&quot;label&quot;:13,&quot;value&quot;:13},{&quot;label&quot;:7,&quot;value&quot;:7},{&quot;label&quot;:0,&quot;value&quot;:0},{&quot;label&quot;:3,&quot;value&quot;:3},{&quot;label&quot;:0,&quot;value&quot;:0},{&quot;label&quot;:2,&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520,&quot;weight&quot;:1.8,&quot;x&quot;:548,&quot;y&quot;:180.32000000000002,&quot;z&quot;:5},{&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59,&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480,&quot;weight&quot;:1.55,&quot;x&quot;:1082,&quot;y&quot;:178,&quot;z&quot;:6},{&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94,&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400,&quot;weight&quot;:1.15,&quot;x&quot;:1082,&quot;y&quot;:451,&quot;z&quot;:7},{&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1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00,&quot;weight&quot;:1.1,&quot;x&quot;:14,&quot;y&quot;:471.76,&quot;z&quot;:8},{&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460.2,&quot;weight&quot;:1.1,&quot;x&quot;:528,&quot;y&quot;:514.32,&quot;z&quot;:9}],&quot;layoutPreset&quot;:&quot;editorial&quot;,&quot;mode&quot;:&quot;smart&quot;,&quot;nextId&quot;:10,&quot;schema_version&quot;:1}"/>
          <p:cNvSpPr txBox="1"/>
          <p:nvPr/>
        </p:nvSpPr>
        <p:spPr>
          <a:xfrm>
            <a:off x="0" y="0"/>
            <a:ext cx="1" cy="1"/>
          </a:xfrm>
          <a:prstGeom prst="rect">
            <a:avLst/>
          </a:prstGeom>
          <a:noFill/>
        </p:spPr>
        <p:txBody>
          <a:bodyPr wrap="none">
            <a:sp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