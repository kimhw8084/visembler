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0527360" cy="12191999"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latin typeface="Arial"/>
              </a:defRPr>
            </a:pPr>
            <a:r>
              <a:t>Dwell hours by destination lane</a:t>
            </a:r>
          </a:p>
        </c:rich>
      </c:tx>
      <c:layout/>
      <c:overlay val="0"/>
    </c:title>
    <c:autoTitleDeleted val="0"/>
    <c:plotArea>
      <c:lineChart>
        <c:grouping val="standard"/>
        <c:varyColors val="0"/>
        <c:ser>
          <c:idx val="0"/>
          <c:order val="0"/>
          <c:tx>
            <c:strRef>
              <c:f>Sheet1!$B$1</c:f>
              <c:strCache>
                <c:ptCount val="1"/>
                <c:pt idx="0">
                  <c:v>Median dwell hours</c:v>
                </c:pt>
              </c:strCache>
            </c:strRef>
          </c:tx>
          <c:spPr>
            <a:ln>
              <a:solidFill>
                <a:srgbClr val="1769D1"/>
              </a:solidFill>
            </a:ln>
          </c:spPr>
          <c:cat>
            <c:strRef>
              <c:f>Sheet1!$A$2:$A$5</c:f>
              <c:strCache>
                <c:ptCount val="4"/>
                <c:pt idx="0">
                  <c:v>Harbor East / SL-26-41</c:v>
                </c:pt>
                <c:pt idx="1">
                  <c:v>North Quay / SL-26-42</c:v>
                </c:pt>
                <c:pt idx="2">
                  <c:v>Port Meridian / SL-26-43</c:v>
                </c:pt>
                <c:pt idx="3">
                  <c:v>South Anchorage / SL-26-44</c:v>
                </c:pt>
              </c:strCache>
            </c:strRef>
          </c:cat>
          <c:val>
            <c:numRef>
              <c:f>Sheet1!$B$2:$B$5</c:f>
              <c:numCache>
                <c:formatCode>General</c:formatCode>
                <c:ptCount val="4"/>
                <c:pt idx="0">
                  <c:v>14.2</c:v>
                </c:pt>
                <c:pt idx="1">
                  <c:v>15.6</c:v>
                </c:pt>
                <c:pt idx="2">
                  <c:v>16.1</c:v>
                </c:pt>
                <c:pt idx="3">
                  <c:v>14.9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800">
                <a:latin typeface="Arial"/>
              </a:defRPr>
            </a:pPr>
          </a:p>
        </c:txPr>
        <c:crossAx val="2140495176"/>
        <c:crosses val="autoZero"/>
        <c:auto val="1"/>
        <c:lblAlgn val="ctr"/>
        <c:lblOffset val="100"/>
        <c:tickLblSkip val="2"/>
        <c:noMultiLvlLbl val="0"/>
      </c:catAx>
      <c:valAx>
        <c:axId val="2140495176"/>
        <c:scaling>
          <c:max val="16.195"/>
          <c:min val="14.104999999999999"/>
        </c:scaling>
        <c:delete val="0"/>
        <c:axPos val="l"/>
        <c:majorGridlines/>
        <c:majorTickMark val="out"/>
        <c:minorTickMark val="none"/>
        <c:tickLblPos val="nextTo"/>
        <c:crossAx val="2118791784"/>
        <c:crosses val="autoZero"/>
      </c:valAx>
    </c:plotArea>
    <c:legend>
      <c:legendPos val="b"/>
      <c:layout/>
      <c:overlay val="0"/>
      <c:txPr>
        <a:bodyPr/>
        <a:lstStyle/>
        <a:p>
          <a:pPr>
            <a:defRPr sz="1000">
              <a:latin typeface="Arial"/>
            </a:defRPr>
          </a:pPr>
        </a:p>
      </c:txPr>
    </c:legend>
    <c:plotVisOnly val="1"/>
    <c:dispBlanksAs val="gap"/>
    <c:showDLblsOverMax val="0"/>
  </c:chart>
  <c:txPr>
    <a:bodyPr/>
    <a:lstStyle/>
    <a:p>
      <a:pPr>
        <a:defRPr sz="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chart" Target="../charts/char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Z::Hero Title" title="Visembler report text roles: text heading, report headline" descr="VisualizerSemantic:{&quot;body&quot;:&quot;Activate one Saffron Link micro-hub for the late sailing window.&quot;,&quot;composition_role&quot;:&quot;report_headline&quot;,&quot;element&quot;:&quot;Hero Title&quot;,&quot;engine&quot;:&quot;TextEngine&quot;,&quot;groupId&quot;:null,&quot;h&quot;:109.76,&quot;id&quot;:&quot;c1&quot;,&quot;locked&quot;:false,&quot;message_role&quot;:&quot;Headline&quot;,&quot;order&quot;:0,&quot;section_id&quot;:&quot;opening&quot;,&quot;section_title&quot;:&quot;Overview&quot;,&quot;showTitle&quot;:false,&quot;text&quot;:&quot;Activate one Saffron Link micro-hub for the late sailing window.&quot;,&quot;textAlign&quot;:&quot;left&quot;,&quot;title&quot;:&quot;Hero Title&quot;,&quot;type&quot;:&quot;text&quot;,&quot;w&quot;:1572.0,&quot;weight&quot;:1.1,&quot;x&quot;:14.0,&quot;y&quot;:40.0,&quot;z&quot;:1}"/>
          <p:cNvSpPr/>
          <p:nvPr/>
        </p:nvSpPr>
        <p:spPr>
          <a:xfrm>
            <a:off x="92114" y="263183"/>
            <a:ext cx="10343131" cy="722177"/>
          </a:xfrm>
          <a:prstGeom prst="roundRect">
            <a:avLst/>
          </a:prstGeom>
          <a:solidFill>
            <a:srgbClr val="FFFFFF"/>
          </a:solidFill>
          <a:ln>
            <a:solidFill>
              <a:srgbClr val="DCDEE2"/>
            </a:solidFill>
          </a:ln>
        </p:spPr>
        <p:style>
          <a:lnRef idx="1">
            <a:schemeClr val="accent1"/>
          </a:lnRef>
          <a:fillRef idx="3">
            <a:schemeClr val="accent1"/>
          </a:fillRef>
          <a:effectRef idx="2">
            <a:schemeClr val="accent1"/>
          </a:effectRef>
          <a:fontRef idx="minor">
            <a:schemeClr val="lt1"/>
          </a:fontRef>
        </p:style>
        <p:txBody>
          <a:bodyPr rtlCol="0" anchor="t" lIns="27432" rIns="27432" tIns="0" bIns="0" wrap="square">
            <a:noAutofit/>
          </a:bodyPr>
          <a:lstStyle/>
          <a:p>
            <a:pPr algn="ctr">
              <a:lnSpc>
                <a:spcPct val="100000"/>
              </a:lnSpc>
              <a:spcBef>
                <a:spcPts val="0"/>
              </a:spcBef>
              <a:spcAft>
                <a:spcPts val="0"/>
              </a:spcAft>
              <a:defRPr sz="1100" b="1">
                <a:solidFill>
                  <a:srgbClr val="1D1D1F"/>
                </a:solidFill>
                <a:latin typeface="Arial"/>
              </a:defRPr>
            </a:pPr>
            <a:r>
              <a:rPr sz="1050" b="1" i="0">
                <a:solidFill>
                  <a:srgbClr val="1C2B3E"/>
                </a:solidFill>
                <a:latin typeface="Arial"/>
              </a:rPr>
              <a:t>Hero Title</a:t>
            </a:r>
          </a:p>
          <a:p>
            <a:pPr algn="l">
              <a:lnSpc>
                <a:spcPct val="100000"/>
              </a:lnSpc>
              <a:spcBef>
                <a:spcPts val="0"/>
              </a:spcBef>
              <a:spcAft>
                <a:spcPts val="50"/>
              </a:spcAft>
            </a:pPr>
            <a:r>
              <a:rPr sz="1750" b="1" i="0">
                <a:solidFill>
                  <a:srgbClr val="172B43"/>
                </a:solidFill>
                <a:latin typeface="Arial"/>
              </a:rPr>
              <a:t>Activate one Saffron Link micro-hub for the late sailing window.</a:t>
            </a:r>
          </a:p>
        </p:txBody>
      </p:sp>
      <p:sp>
        <p:nvSpPr>
          <p:cNvPr id="3" name="VIZ::Median port dwell KPI" title="Visembler report text roles: metric title, metric value" descr="VisualizerSemantic:{&quot;capability_overrides&quot;:{&quot;target&quot;:18},&quot;composition_role&quot;:&quot;hero_metric&quot;,&quot;delta&quot;:-3.8,&quot;element&quot;:&quot;Hero KPI&quot;,&quot;engine&quot;:&quot;MetricEngine&quot;,&quot;groupId&quot;:null,&quot;h&quot;:185.0,&quot;id&quot;:&quot;c2&quot;,&quot;locked&quot;:false,&quot;message_role&quot;:&quot;Supporting Evidence&quot;,&quot;metric_format&quot;:{&quot;compact_divisor&quot;:null,&quot;compact_unit&quot;:&quot;&quot;,&quot;kind&quot;:&quot;auto&quot;,&quot;null_display&quot;:&quot;—&quot;,&quot;percent_scale&quot;:&quot;points&quot;,&quot;precision&quot;:null,&quot;prefix&quot;:&quot;&quot;,&quot;signDisplay&quot;:&quot;auto&quot;,&quot;suffix&quot;:&quot;h&quot;},&quot;order&quot;:1,&quot;period&quot;:&quot;vs prior period&quot;,&quot;section_id&quot;:&quot;performance&quot;,&quot;section_title&quot;:&quot;Performance&quot;,&quot;showTitle&quot;:true,&quot;target&quot;:18,&quot;textAlign&quot;:&quot;left&quot;,&quot;title&quot;:&quot;Median port dwell&quot;,&quot;type&quot;:&quot;metric&quot;,&quot;unit&quot;:&quot;h&quot;,&quot;value&quot;:14.2,&quot;w&quot;:685.52,&quot;weight&quot;:1.15,&quot;x&quot;:900.4800000000001,&quot;y&quot;:1648.56,&quot;z&quot;:2}"/>
          <p:cNvSpPr/>
          <p:nvPr/>
        </p:nvSpPr>
        <p:spPr>
          <a:xfrm>
            <a:off x="5924798" y="10846865"/>
            <a:ext cx="4510447" cy="1217226"/>
          </a:xfrm>
          <a:prstGeom prst="roundRect">
            <a:avLst/>
          </a:prstGeom>
          <a:solidFill>
            <a:srgbClr val="FFFFFF"/>
          </a:solidFill>
          <a:ln>
            <a:solidFill>
              <a:srgbClr val="1B66C9"/>
            </a:solidFill>
          </a:ln>
        </p:spPr>
        <p:style>
          <a:lnRef idx="1">
            <a:schemeClr val="accent1"/>
          </a:lnRef>
          <a:fillRef idx="3">
            <a:schemeClr val="accent1"/>
          </a:fillRef>
          <a:effectRef idx="2">
            <a:schemeClr val="accent1"/>
          </a:effectRef>
          <a:fontRef idx="minor">
            <a:schemeClr val="lt1"/>
          </a:fontRef>
        </p:style>
        <p:txBody>
          <a:bodyPr rtlCol="0" anchor="t" wrap="square" lIns="27432" rIns="27432" tIns="0" bIns="0">
            <a:noAutofit/>
          </a:bodyPr>
          <a:lstStyle/>
          <a:p>
            <a:pPr algn="ctr">
              <a:lnSpc>
                <a:spcPct val="100000"/>
              </a:lnSpc>
              <a:spcBef>
                <a:spcPts val="0"/>
              </a:spcBef>
              <a:spcAft>
                <a:spcPts val="50"/>
              </a:spcAft>
              <a:defRPr sz="1000" b="1">
                <a:solidFill>
                  <a:srgbClr val="6E6E73"/>
                </a:solidFill>
                <a:latin typeface="Arial"/>
              </a:defRPr>
            </a:pPr>
            <a:r>
              <a:rPr sz="1050" b="1" i="0">
                <a:solidFill>
                  <a:srgbClr val="374A60"/>
                </a:solidFill>
                <a:latin typeface="Arial"/>
              </a:rPr>
              <a:t>Median port dwell</a:t>
            </a:r>
          </a:p>
          <a:p>
            <a:pPr algn="ctr">
              <a:lnSpc>
                <a:spcPct val="100000"/>
              </a:lnSpc>
              <a:spcBef>
                <a:spcPts val="0"/>
              </a:spcBef>
              <a:spcAft>
                <a:spcPts val="50"/>
              </a:spcAft>
            </a:pPr>
            <a:r>
              <a:rPr sz="2400" b="1" i="0">
                <a:solidFill>
                  <a:srgbClr val="17324E"/>
                </a:solidFill>
                <a:latin typeface="Arial"/>
              </a:rPr>
              <a:t>14.2 h</a:t>
            </a:r>
          </a:p>
        </p:txBody>
      </p:sp>
      <p:sp>
        <p:nvSpPr>
          <p:cNvPr id="4" name="VIZ::Baseline vs pilot dwell KPI" title="Visembler report text roles: metric title, comparison value" descr="VisualizerSemantic:{&quot;after&quot;:14.2,&quot;before&quot;:18,&quot;composition_role&quot;:&quot;hero_metric&quot;,&quot;element&quot;:&quot;Before/After KPI&quot;,&quot;engine&quot;:&quot;ComparisonEngine&quot;,&quot;groupId&quot;:null,&quot;h&quot;:195.0,&quot;id&quot;:&quot;c3&quot;,&quot;locked&quot;:false,&quot;message_role&quot;:&quot;Supporting Evidence&quot;,&quot;metric_format&quot;:{&quot;compact_divisor&quot;:null,&quot;compact_unit&quot;:&quot;&quot;,&quot;kind&quot;:&quot;auto&quot;,&quot;null_display&quot;:&quot;—&quot;,&quot;percent_scale&quot;:&quot;points&quot;,&quot;precision&quot;:null,&quot;prefix&quot;:&quot;&quot;,&quot;signDisplay&quot;:&quot;auto&quot;,&quot;suffix&quot;:&quot;h&quot;},&quot;order&quot;:2,&quot;section_id&quot;:&quot;performance&quot;,&quot;section_title&quot;:&quot;Performance&quot;,&quot;showTitle&quot;:true,&quot;textAlign&quot;:&quot;left&quot;,&quot;title&quot;:&quot;Baseline vs pilot dwell&quot;,&quot;type&quot;:&quot;comparison&quot;,&quot;unit&quot;:&quot;h&quot;,&quot;w&quot;:872.4800000000001,&quot;weight&quot;:1.15,&quot;x&quot;:14.0,&quot;y&quot;:1643.56,&quot;z&quot;:3}"/>
          <p:cNvSpPr/>
          <p:nvPr/>
        </p:nvSpPr>
        <p:spPr>
          <a:xfrm>
            <a:off x="92114" y="10813967"/>
            <a:ext cx="5740569" cy="1283022"/>
          </a:xfrm>
          <a:prstGeom prst="roundRect">
            <a:avLst/>
          </a:prstGeom>
          <a:solidFill>
            <a:srgbClr val="FFFFFF"/>
          </a:solidFill>
          <a:ln>
            <a:solidFill>
              <a:srgbClr val="1B66C9"/>
            </a:solidFill>
          </a:ln>
        </p:spPr>
        <p:style>
          <a:lnRef idx="1">
            <a:schemeClr val="accent1"/>
          </a:lnRef>
          <a:fillRef idx="3">
            <a:schemeClr val="accent1"/>
          </a:fillRef>
          <a:effectRef idx="2">
            <a:schemeClr val="accent1"/>
          </a:effectRef>
          <a:fontRef idx="minor">
            <a:schemeClr val="lt1"/>
          </a:fontRef>
        </p:style>
        <p:txBody>
          <a:bodyPr rtlCol="0" anchor="t" wrap="square" lIns="27432" rIns="27432" tIns="0" bIns="0">
            <a:noAutofit/>
          </a:bodyPr>
          <a:lstStyle/>
          <a:p>
            <a:pPr algn="ctr">
              <a:lnSpc>
                <a:spcPct val="100000"/>
              </a:lnSpc>
              <a:spcBef>
                <a:spcPts val="0"/>
              </a:spcBef>
              <a:spcAft>
                <a:spcPts val="50"/>
              </a:spcAft>
              <a:defRPr sz="1000" b="1">
                <a:solidFill>
                  <a:srgbClr val="6E6E73"/>
                </a:solidFill>
                <a:latin typeface="Arial"/>
              </a:defRPr>
            </a:pPr>
            <a:r>
              <a:rPr sz="1050" b="1" i="0">
                <a:solidFill>
                  <a:srgbClr val="374A60"/>
                </a:solidFill>
                <a:latin typeface="Arial"/>
              </a:rPr>
              <a:t>Baseline vs pilot dwell</a:t>
            </a:r>
          </a:p>
          <a:p>
            <a:pPr algn="ctr">
              <a:lnSpc>
                <a:spcPct val="100000"/>
              </a:lnSpc>
              <a:spcBef>
                <a:spcPts val="0"/>
              </a:spcBef>
              <a:spcAft>
                <a:spcPts val="50"/>
              </a:spcAft>
            </a:pPr>
            <a:r>
              <a:rPr sz="2000" b="1" i="0">
                <a:solidFill>
                  <a:srgbClr val="17324E"/>
                </a:solidFill>
                <a:latin typeface="Arial"/>
              </a:rPr>
              <a:t>18 h → 14.2 h</a:t>
            </a:r>
          </a:p>
        </p:txBody>
      </p:sp>
      <p:graphicFrame>
        <p:nvGraphicFramePr>
          <p:cNvPr id="11" name="VIZ::Dwell hours by destination lane" descr="VisualizerSemantic:{&quot;brush&quot;:[0,4],&quot;chart_studio&quot;:{&quot;adapter&quot;:{&quot;authority&quot;:&quot;Visembler canonical chart renderer&quot;,&quot;name&quot;:&quot;Visembler SVG Chart Adapter&quot;,&quot;offline&quot;:true,&quot;renderer&quot;:&quot;svg&quot;,&quot;version&quot;:2},&quot;analysis_error&quot;:null,&quot;analysis_kind&quot;:null,&quot;analysis_semantics&quot;:null,&quot;annotations&quot;:[],&quot;authoritative_analysis&quot;:null,&quot;axes&quot;:{&quot;secondaryY&quot;:{&quot;auto&quot;:true,&quot;enabled&quot;:false,&quot;format&quot;:&quot;auto&quot;,&quot;max&quot;:null,&quot;min&quot;:null,&quot;precision&quot;:null,&quot;prefix&quot;:&quot;&quot;,&quot;series&quot;:[],&quot;suffix&quot;:&quot;&quot;,&quot;tickCount&quot;:5,&quot;title&quot;:&quot;&quot;,&quot;unit&quot;:&quot;&quot;},&quot;x&quot;:{&quot;auto&quot;:true,&quot;format&quot;:&quot;auto&quot;,&quot;grid&quot;:true,&quot;labelInterval&quot;:1,&quot;max&quot;:null,&quot;min&quot;:null,&quot;position&quot;:&quot;bottom&quot;,&quot;precision&quot;:null,&quot;rotation&quot;:0,&quot;scale&quot;:&quot;auto&quot;,&quot;show&quot;:true,&quot;tickCount&quot;:6,&quot;title&quot;:&quot;&quot;,&quot;zeroBaseline&quot;:false},&quot;y&quot;:{&quot;auto&quot;:true,&quot;format&quot;:&quot;auto&quot;,&quot;grid&quot;:true,&quot;labelInterval&quot;:null,&quot;max&quot;:null,&quot;min&quot;:null,&quot;position&quot;:&quot;left&quot;,&quot;precision&quot;:null,&quot;prefix&quot;:&quot;&quot;,&quot;rotation&quot;:0,&quot;scale&quot;:&quot;linear&quot;,&quot;show&quot;:true,&quot;suffix&quot;:&quot;&quot;,&quot;tickCount&quot;:5,&quot;title&quot;:&quot;&quot;,&quot;unit&quot;:&quot;&quot;,&quot;zeroBaseline&quot;:false}},&quot;chart_type&quot;:&quot;Line Chart&quot;,&quot;dataset&quot;:{&quot;fields&quot;:[{&quot;id&quot;:&quot;destination_lane_sailing_window_1&quot;,&quot;name&quot;:&quot;Destination lane / sailing window&quot;,&quot;nullable&quot;:false,&quot;profile&quot;:{&quot;distinct&quot;:4,&quot;missing&quot;:0},&quot;semantic_tags&quot;:[],&quot;type&quot;:&quot;string&quot;},{&quot;id&quot;:&quot;median_dwell_hours_2&quot;,&quot;name&quot;:&quot;Median dwell hours&quot;,&quot;nullable&quot;:false,&quot;profile&quot;:{&quot;distinct&quot;:4,&quot;missing&quot;:0},&quot;semantic_tags&quot;:[],&quot;type&quot;:&quot;number&quot;,&quot;unit&quot;:&quot;&quot;}],&quot;id&quot;:&quot;dataset-mujd0ijm-w85p8s&quot;,&quot;metadata&quot;:{&quot;header&quot;:{&quot;confidence&quot;:0.75,&quot;present&quot;:true,&quot;source_row&quot;:0}},&quot;name&quot;:&quot;Pasted data&quot;,&quot;revision&quot;:1,&quot;rows&quot;:[[&quot;Harbor East / SL-26-41&quot;,14.2],[&quot;North Quay / SL-26-42&quot;,15.6],[&quot;Port Meridian / SL-26-43&quot;,16.1],[&quot;South Anchorage / SL-26-44&quot;,14.9]],&quot;source&quot;:{&quot;imported_at&quot;:&quot;2026-09-27T05:09:56.578Z&quot;,&quot;kind&quot;:&quot;clipboard&quot;,&quot;label&quot;:&quot;TSV&quot;},&quot;warnings&quot;:[]},&quot;dataset_id&quot;:&quot;dataset-mujd0ijm-w85p8s&quot;,&quot;engineering&quot;:{&quot;L&quot;:3,&quot;h&quot;:320,&quot;k&quot;:0.5,&quot;lambda&quot;:0.2,&quot;lsl&quot;:null,&quot;sigma&quot;:null,&quot;target&quot;:null,&quot;usl&quot;:null},&quot;fab&quot;:{&quot;aggregation&quot;:&quot;mean&quot;},&quot;interaction&quot;:{&quot;brush&quot;:false,&quot;crossFilter&quot;:false,&quot;crosshair&quot;:false,&quot;legendFilter&quot;:true,&quot;pan&quot;:true,&quot;rangeSelector&quot;:false,&quot;resetZoom&quot;:true,&quot;tooltip&quot;:true,&quot;transientSelection&quot;:[],&quot;zoom&quot;:true},&quot;legend&quot;:{&quot;interactive&quot;:true,&quot;order&quot;:&quot;input&quot;,&quot;orientation&quot;:&quot;horizontal&quot;,&quot;position&quot;:&quot;bottom&quot;,&quot;scroll&quot;:true,&quot;show&quot;:true},&quot;mapping&quot;:{&quot;category&quot;:&quot;destination_lane_sailing_window_1&quot;,&quot;value&quot;:&quot;median_dwell_hours_2&quot;,&quot;x&quot;:&quot;destination_lane_sailing_window_1&quot;,&quot;y&quot;:&quot;median_dwell_hours_2&quot;},&quot;recipe&quot;:null,&quot;recommendations&quot;:[{&quot;confidence&quot;:0.93,&quot;mapping&quot;:{&quot;category&quot;:&quot;destination_lane_sailing_window_1&quot;,&quot;value&quot;:&quot;median_dwell_hours_2&quot;,&quot;x&quot;:&quot;destination_lane_sailing_window_1&quot;,&quot;y&quot;:&quot;median_dwell_hours_2&quot;},&quot;reason&quot;:&quot;A horizontal field and numeric measure are available.&quot;,&quot;type&quot;:&quot;Line Chart&quot;},{&quot;confidence&quot;:0.9,&quot;mapping&quot;:{&quot;category&quot;:&quot;destination_lane_sailing_window_1&quot;,&quot;value&quot;:&quot;median_dwell_hours_2&quot;,&quot;x&quot;:&quot;destination_lane_sailing_window_1&quot;,&quot;y&quot;:&quot;median_dwell_hours_2&quot;},&quot;reason&quot;:&quot;A shared axis can compare multiple runs when a series field is available.&quot;,&quot;type&quot;:&quot;Multi-Line&quot;},{&quot;confidence&quot;:0.9,&quot;mapping&quot;:{&quot;category&quot;:&quot;destination_lane_sailing_window_1&quot;,&quot;value&quot;:&quot;median_dwell_hours_2&quot;,&quot;x&quot;:&quot;destination_lane_sailing_window_1&quot;,&quot;y&quot;:&quot;median_dwell_hours_2&quot;},&quot;reason&quot;:&quot;A category and measured value are available.&quot;,&quot;type&quot;:&quot;Vertical Bar&quot;},{&quot;confidence&quot;:0.87,&quot;mapping&quot;:{&quot;category&quot;:&quot;destination_lane_sailing_window_1&quot;,&quot;value&quot;:&quot;median_dwell_hours_2&quot;,&quot;x&quot;:&quot;destination_lane_sailing_window_1&quot;,&quot;y&quot;:&quot;median_dwell_hours_2&quot;},&quot;reason&quot;:&quot;The same trend mapping can show accumulated movement.&quot;,&quot;type&quot;:&quot;Area Chart&quot;},{&quot;confidence&quot;:0.82,&quot;mapping&quot;:{&quot;category&quot;:&quot;destination_lane_sailing_window_1&quot;,&quot;value&quot;:&quot;median_dwell_hours_2&quot;,&quot;x&quot;:&quot;destination_lane_sailing_window_1&quot;,&quot;y&quot;:&quot;median_dwell_hours_2&quot;},&quot;reason&quot;:&quot;A horizontal ranking keeps category labels readable.&quot;,&quot;type&quot;:&quot;Horizontal Bar&quot;},{&quot;confidence&quot;:0.8,&quot;mapping&quot;:{&quot;category&quot;:&quot;destination_lane_sailing_window_1&quot;,&quot;value&quot;:&quot;median_dwell_hours_2&quot;,&quot;x&quot;:&quot;destination_lane_sailing_window_1&quot;,&quot;y&quot;:&quot;median_dwell_hours_2&quot;},&quot;reason&quot;:&quot;Categorical contribution can be ranked with cumulative share.&quot;,&quot;type&quot;:&quot;Pareto&quot;}],&quot;reference_bands&quot;:[],&quot;reference_lines&quot;:[],&quot;schema&quot;:&quot;visembler.chart.studio&quot;,&quot;series&quot;:[{&quot;axis&quot;:&quot;primary&quot;,&quot;color&quot;:&quot;#1769d1&quot;,&quot;field&quot;:&quot;median_dwell_hours_2&quot;,&quot;id&quot;:&quot;series-1&quot;,&quot;label&quot;:&quot;Median dwell hours&quot;,&quot;legend&quot;:true,&quot;lineDash&quot;:null,&quot;lineWidth&quot;:null,&quot;markers&quot;:true,&quot;smoothing&quot;:false,&quot;type&quot;:&quot;line&quot;,&quot;visible&quot;:true}],&quot;statistical_result&quot;:null,&quot;transforms&quot;:{&quot;steps&quot;:[]},&quot;version&quot;:1,&quot;visual&quot;:{&quot;areaOpacity&quot;:0.25,&quot;barMode&quot;:&quot;grouped&quot;,&quot;barWidth&quot;:0.62,&quot;bins&quot;:null,&quot;dataLabels&quot;:false,&quot;gap&quot;:0.2,&quot;labelPosition&quot;:&quot;top&quot;,&quot;lineDash&quot;:&quot;solid&quot;,&quot;lineWidth&quot;:2.5,&quot;markers&quot;:true,&quot;missingPolicy&quot;:&quot;gap&quot;,&quot;palette&quot;:&quot;report&quot;,&quot;smoothing&quot;:false,&quot;theme&quot;:&quot;system&quot;},&quot;wafer&quot;:{&quot;clamp&quot;:true,&quot;colorMode&quot;:&quot;continuous&quot;,&quot;differenceScaleMaximum&quot;:null,&quot;differenceScaleMode&quot;:&quot;automatic&quot;,&quot;filters&quot;:{&quot;bin&quot;:&quot;&quot;,&quot;chamber&quot;:&quot;&quot;,&quot;lot&quot;:&quot;&quot;,&quot;route&quot;:&quot;&quot;,&quot;tool&quot;:&quot;&quot;,&quot;wafer&quot;:&quot;&quot;},&quot;identityRoles&quot;:[&quot;lot_id&quot;,&quot;wafer_id&quot;,&quot;tool&quot;,&quot;chamber&quot;,&quot;recipe&quot;,&quot;process&quot;,&quot;route&quot;,&quot;product&quot;],&quot;max&quot;:null,&quot;min&quot;:null,&quot;missingColor&quot;:&quot;#c7d0dc&quot;,&quot;notch&quot;:&quot;top&quot;,&quot;selected&quot;:[],&quot;specHigh&quot;:null,&quot;specLow&quot;:null,&quot;tooltipRoles&quot;:[&quot;die_x&quot;,&quot;die_y&quot;,&quot;value&quot;,&quot;lot_id&quot;,&quot;wafer_id&quot;,&quot;tool&quot;,&quot;chamber&quot;]},&quot;why&quot;:&quot;A horizontal field and numeric measure are available.&quot;},&quot;composition_role&quot;:&quot;primary_analysis&quot;,&quot;cross&quot;:null,&quot;data&quot;:[[&quot;Harbor East / SL-26-41&quot;,14.2],[&quot;North Quay / SL-26-42&quot;,15.6],[&quot;Port Meridian / SL-26-43&quot;,16.1],[&quot;South Anchorage / SL-26-44&quot;,14.9]],&quot;dataset_id&quot;:&quot;dataset-mujd0ijm-w85p8s&quot;,&quot;drill&quot;:null,&quot;element&quot;:&quot;Line Chart&quot;,&quot;engine&quot;:&quot;CoreChartEngine&quot;,&quot;groupId&quot;:null,&quot;h&quot;:377.59999999999997,&quot;id&quot;:&quot;c4&quot;,&quot;locked&quot;:false,&quot;mapping&quot;:{&quot;category&quot;:&quot;destination_lane_sailing_window_1&quot;,&quot;value&quot;:&quot;median_dwell_hours_2&quot;,&quot;x&quot;:&quot;destination_lane_sailing_window_1&quot;,&quot;y&quot;:&quot;median_dwell_hours_2&quot;},&quot;message_role&quot;:&quot;Primary Evidence&quot;,&quot;order&quot;:3,&quot;revealed&quot;:true,&quot;rows&quot;:[{&quot;label&quot;:&quot;Harbor East / SL-26-41&quot;,&quot;value&quot;:14.2},{&quot;label&quot;:&quot;North Quay / SL-26-42&quot;,&quot;value&quot;:15.6},{&quot;label&quot;:&quot;Port Meridian / SL-26-43&quot;,&quot;value&quot;:16.1},{&quot;label&quot;:&quot;South Anchorage / SL-26-44&quot;,&quot;value&quot;:14.9}],&quot;section_id&quot;:&quot;analysis&quot;,&quot;section_title&quot;:&quot;Analysis&quot;,&quot;showTitle&quot;:true,&quot;statistical_result&quot;:null,&quot;textAlign&quot;:&quot;left&quot;,&quot;title&quot;:&quot;Dwell hours by destination lane&quot;,&quot;transform_recipe&quot;:{&quot;steps&quot;:[]},&quot;type&quot;:&quot;chart&quot;,&quot;variant&quot;:&quot;line&quot;,&quot;w&quot;:778.0848484848484,&quot;weight&quot;:1.8,&quot;x&quot;:107.93757575757581,&quot;y&quot;:183.76,&quot;z&quot;:4,&quot;observations&quot;:[{&quot;label&quot;:&quot;Harbor East / SL-26-41&quot;,&quot;value&quot;:14.2},{&quot;label&quot;:&quot;North Quay / SL-26-42&quot;,&quot;value&quot;:15.6},{&quot;label&quot;:&quot;Port Meridian / SL-26-43&quot;,&quot;value&quot;:16.1},{&quot;label&quot;:&quot;South Anchorage / SL-26-44&quot;,&quot;value&quot;:14.9}]}"/>
          <p:cNvGraphicFramePr>
            <a:graphicFrameLocks noGrp="1"/>
          </p:cNvGraphicFramePr>
          <p:nvPr/>
        </p:nvGraphicFramePr>
        <p:xfrm>
          <a:off x="710186" y="1209067"/>
          <a:ext cx="5119487" cy="2484457"/>
        </p:xfrm>
        <a:graphic>
          <a:graphicData uri="http://schemas.openxmlformats.org/drawingml/2006/chart">
            <c:chart xmlns:c="http://schemas.openxmlformats.org/drawingml/2006/chart" r:id="rId4"/>
          </a:graphicData>
        </a:graphic>
      </p:graphicFrame>
      <p:sp>
        <p:nvSpPr>
          <p:cNvPr id="18" name="VIZ::c5::box-plot-title" descr="VisualizerSemantic:{&quot;brush&quot;:[0,4],&quot;chart_studio&quot;:{&quot;adapter&quot;:{&quot;authority&quot;:&quot;Visembler canonical chart renderer&quot;,&quot;name&quot;:&quot;Visembler SVG Chart Adapter&quot;,&quot;offline&quot;:true,&quot;renderer&quot;:&quot;svg&quot;,&quot;version&quot;:2},&quot;analysis_error&quot;:null,&quot;analysis_kind&quot;:null,&quot;analysis_semantics&quot;:null,&quot;annotations&quot;:[],&quot;authoritative_analysis&quot;:null,&quot;axes&quot;:{&quot;secondaryY&quot;:{&quot;auto&quot;:true,&quot;enabled&quot;:false,&quot;format&quot;:&quot;auto&quot;,&quot;max&quot;:null,&quot;min&quot;:null,&quot;precision&quot;:null,&quot;prefix&quot;:&quot;&quot;,&quot;series&quot;:[],&quot;suffix&quot;:&quot;&quot;,&quot;tickCount&quot;:5,&quot;title&quot;:&quot;&quot;,&quot;unit&quot;:&quot;&quot;},&quot;x&quot;:{&quot;auto&quot;:true,&quot;format&quot;:&quot;auto&quot;,&quot;grid&quot;:true,&quot;labelInterval&quot;:2,&quot;max&quot;:null,&quot;min&quot;:null,&quot;position&quot;:&quot;bottom&quot;,&quot;precision&quot;:null,&quot;rotation&quot;:35,&quot;scale&quot;:&quot;auto&quot;,&quot;show&quot;:true,&quot;tickCount&quot;:6,&quot;title&quot;:&quot;&quot;,&quot;zeroBaseline&quot;:false},&quot;y&quot;:{&quot;auto&quot;:true,&quot;format&quot;:&quot;auto&quot;,&quot;grid&quot;:true,&quot;labelInterval&quot;:null,&quot;max&quot;:null,&quot;min&quot;:null,&quot;position&quot;:&quot;left&quot;,&quot;precision&quot;:null,&quot;prefix&quot;:&quot;&quot;,&quot;rotation&quot;:0,&quot;scale&quot;:&quot;linear&quot;,&quot;show&quot;:true,&quot;suffix&quot;:&quot;&quot;,&quot;tickCount&quot;:5,&quot;title&quot;:&quot;&quot;,&quot;unit&quot;:&quot;&quot;,&quot;zeroBaseline&quot;:false}},&quot;chart_type&quot;:&quot;Box Plot&quot;,&quot;dataset&quot;:{&quot;fields&quot;:[{&quot;id&quot;:&quot;destination_lane_1&quot;,&quot;name&quot;:&quot;Destination lane&quot;,&quot;nullable&quot;:false,&quot;profile&quot;:{&quot;distinct&quot;:4,&quot;missing&quot;:0},&quot;semantic_tags&quot;:[],&quot;type&quot;:&quot;categorical&quot;},{&quot;id&quot;:&quot;temperature_excursion_minutes_2&quot;,&quot;name&quot;:&quot;Temperature excursion minutes&quot;,&quot;nullable&quot;:false,&quot;profile&quot;:{&quot;distinct&quot;:8,&quot;missing&quot;:0},&quot;semantic_tags&quot;:[],&quot;type&quot;:&quot;integer&quot;,&quot;unit&quot;:&quot;&quot;}],&quot;id&quot;:&quot;dataset-mujd0lfp-1q9e7e&quot;,&quot;metadata&quot;:{&quot;header&quot;:{&quot;confidence&quot;:0.75,&quot;present&quot;:true,&quot;source_row&quot;:0}},&quot;name&quot;:&quot;Pasted data&quot;,&quot;revision&quot;:1,&quot;rows&quot;:[[&quot;Harbor East&quot;,0],[&quot;Harbor East&quot;,5],[&quot;Harbor East&quot;,0],[&quot;North Quay&quot;,8],[&quot;North Quay&quot;,0],[&quot;North Quay&quot;,4],[&quot;Port Meridian&quot;,13],[&quot;Port Meridian&quot;,7],[&quot;Port Meridian&quot;,0],[&quot;South Anchorage&quot;,3],[&quot;South Anchorage&quot;,0],[&quot;South Anchorage&quot;,2]],&quot;source&quot;:{&quot;imported_at&quot;:&quot;2026-09-27T05:10:00.325Z&quot;,&quot;kind&quot;:&quot;clipboard&quot;,&quot;label&quot;:&quot;TSV&quot;},&quot;warnings&quot;:[]},&quot;dataset_id&quot;:&quot;dataset-mujd0lfp-1q9e7e&quot;,&quot;engineering&quot;:{&quot;L&quot;:3,&quot;h&quot;:320,&quot;k&quot;:0.5,&quot;lambda&quot;:0.2,&quot;lsl&quot;:null,&quot;sigma&quot;:null,&quot;target&quot;:null,&quot;usl&quot;:null},&quot;fab&quot;:{&quot;aggregation&quot;:&quot;mean&quot;},&quot;interaction&quot;:{&quot;brush&quot;:false,&quot;crossFilter&quot;:false,&quot;crosshair&quot;:false,&quot;legendFilter&quot;:true,&quot;pan&quot;:true,&quot;rangeSelector&quot;:false,&quot;resetZoom&quot;:true,&quot;tooltip&quot;:true,&quot;transientSelection&quot;:[],&quot;zoom&quot;:true},&quot;legend&quot;:{&quot;interactive&quot;:true,&quot;order&quot;:&quot;input&quot;,&quot;orientation&quot;:&quot;horizontal&quot;,&quot;position&quot;:&quot;bottom&quot;,&quot;scroll&quot;:true,&quot;show&quot;:false},&quot;mapping&quot;:{&quot;category&quot;:&quot;destination_lane_1&quot;,&quot;value&quot;:&quot;temperature_excursion_minutes_2&quot;,&quot;x&quot;:&quot;temperature_excursion_minutes_2&quot;},&quot;recipe&quot;:null,&quot;recommendations&quot;:[{&quot;confidence&quot;:0.9,&quot;mapping&quot;:{&quot;category&quot;:&quot;destination_lane_1&quot;,&quot;value&quot;:&quot;temperature_excursion_minutes_2&quot;,&quot;x&quot;:&quot;temperature_excursion_minutes_2&quot;},&quot;reason&quot;:&quot;A category and measured value are available.&quot;,&quot;type&quot;:&quot;Vertical Bar&quot;},{&quot;confidence&quot;:0.82,&quot;mapping&quot;:{&quot;category&quot;:&quot;destination_lane_1&quot;,&quot;value&quot;:&quot;temperature_excursion_minutes_2&quot;,&quot;x&quot;:&quot;temperature_excursion_minutes_2&quot;},&quot;reason&quot;:&quot;A horizontal ranking keeps category labels readable.&quot;,&quot;type&quot;:&quot;Horizontal Bar&quot;},{&quot;confidence&quot;:0.8,&quot;mapping&quot;:{&quot;category&quot;:&quot;destination_lane_1&quot;,&quot;value&quot;:&quot;temperature_excursion_minutes_2&quot;,&quot;x&quot;:&quot;temperature_excursion_minutes_2&quot;},&quot;reason&quot;:&quot;Categorical contribution can be ranked with cumulative share.&quot;,&quot;type&quot;:&quot;Pareto&quot;}],&quot;reference_bands&quot;:[],&quot;reference_lines&quot;:[],&quot;schema&quot;:&quot;visembler.chart.studio&quot;,&quot;series&quot;:[{&quot;axis&quot;:&quot;primary&quot;,&quot;color&quot;:&quot;#1769d1&quot;,&quot;field&quot;:&quot;temperature_excursion_minutes_2&quot;,&quot;id&quot;:&quot;series-1&quot;,&quot;label&quot;:&quot;Temperature excursion minutes&quot;,&quot;legend&quot;:true,&quot;lineDash&quot;:null,&quot;lineWidth&quot;:null,&quot;markers&quot;:true,&quot;smoothing&quot;:false,&quot;type&quot;:&quot;line&quot;,&quot;visible&quot;:true}],&quot;statistical_result&quot;:null,&quot;transforms&quot;:{&quot;steps&quot;:[]},&quot;version&quot;:1,&quot;visual&quot;:{&quot;areaOpacity&quot;:0.25,&quot;barMode&quot;:&quot;grouped&quot;,&quot;barWidth&quot;:0.62,&quot;bins&quot;:null,&quot;dataLabels&quot;:false,&quot;gap&quot;:0.2,&quot;labelPosition&quot;:&quot;top&quot;,&quot;lineDash&quot;:&quot;solid&quot;,&quot;lineWidth&quot;:2.5,&quot;markers&quot;:true,&quot;missingPolicy&quot;:&quot;gap&quot;,&quot;palette&quot;:&quot;report&quot;,&quot;smoothing&quot;:false,&quot;theme&quot;:&quot;system&quot;},&quot;wafer&quot;:{&quot;clamp&quot;:true,&quot;colorMode&quot;:&quot;continuous&quot;,&quot;differenceScaleMaximum&quot;:null,&quot;differenceScaleMode&quot;:&quot;automatic&quot;,&quot;filters&quot;:{&quot;bin&quot;:&quot;&quot;,&quot;chamber&quot;:&quot;&quot;,&quot;lot&quot;:&quot;&quot;,&quot;route&quot;:&quot;&quot;,&quot;tool&quot;:&quot;&quot;,&quot;wafer&quot;:&quot;&quot;},&quot;identityRoles&quot;:[&quot;lot_id&quot;,&quot;wafer_id&quot;,&quot;tool&quot;,&quot;chamber&quot;,&quot;recipe&quot;,&quot;process&quot;,&quot;route&quot;,&quot;product&quot;],&quot;max&quot;:null,&quot;min&quot;:null,&quot;missingColor&quot;:&quot;#c7d0dc&quot;,&quot;notch&quot;:&quot;top&quot;,&quot;selected&quot;:[],&quot;specHigh&quot;:null,&quot;specLow&quot;:null,&quot;tooltipRoles&quot;:[&quot;die_x&quot;,&quot;die_y&quot;,&quot;value&quot;,&quot;lot_id&quot;,&quot;wafer_id&quot;,&quot;tool&quot;,&quot;chamber&quot;]},&quot;why&quot;:&quot;A category and measured value are available.&quot;},&quot;composition_role&quot;:&quot;supporting_analysis&quot;,&quot;cross&quot;:null,&quot;data&quot;:[[&quot;Harbor East&quot;,0],[&quot;Harbor East&quot;,5],[&quot;Harbor East&quot;,0],[&quot;North Quay&quot;,8],[&quot;North Quay&quot;,0],[&quot;North Quay&quot;,4],[&quot;Port Meridian&quot;,13],[&quot;Port Meridian&quot;,7],[&quot;Port Meridian&quot;,0],[&quot;South Anchorage&quot;,3],[&quot;South Anchorage&quot;,0],[&quot;South Anchorage&quot;,2]],&quot;dataset_id&quot;:&quot;dataset-mujd0lfp-1q9e7e&quot;,&quot;drill&quot;:null,&quot;element&quot;:&quot;Box Plot&quot;,&quot;engine&quot;:&quot;CoreChartEngine&quot;,&quot;groupId&quot;:null,&quot;h&quot;:371.2,&quot;id&quot;:&quot;c5&quot;,&quot;locked&quot;:false,&quot;mapping&quot;:{&quot;category&quot;:&quot;destination_lane_1&quot;,&quot;value&quot;:&quot;temperature_excursion_minutes_2&quot;,&quot;x&quot;:&quot;temperature_excursion_minutes_2&quot;},&quot;message_role&quot;:&quot;Supporting Evidence&quot;,&quot;order&quot;:4,&quot;revealed&quot;:true,&quot;rows&quot;:[{&quot;label&quot;:&quot;Harbor East&quot;,&quot;value&quot;:0},{&quot;label&quot;:&quot;Harbor East&quot;,&quot;value&quot;:5},{&quot;label&quot;:&quot;Harbor East&quot;,&quot;value&quot;:0},{&quot;label&quot;:&quot;North Quay&quot;,&quot;value&quot;:8},{&quot;label&quot;:&quot;North Quay&quot;,&quot;value&quot;:0},{&quot;label&quot;:&quot;North Quay&quot;,&quot;value&quot;:4},{&quot;label&quot;:&quot;Port Meridian&quot;,&quot;value&quot;:13},{&quot;label&quot;:&quot;Port Meridian&quot;,&quot;value&quot;:7},{&quot;label&quot;:&quot;Port Meridian&quot;,&quot;value&quot;:0},{&quot;label&quot;:&quot;South Anchorage&quot;,&quot;value&quot;:3},{&quot;label&quot;:&quot;South Anchorage&quot;,&quot;value&quot;:0},{&quot;label&quot;:&quot;South Anchorage&quot;,&quot;value&quot;:2}],&quot;section_id&quot;:&quot;analysis&quot;,&quot;section_title&quot;:&quot;Analysis&quot;,&quot;showTitle&quot;:true,&quot;statistical_result&quot;:null,&quot;textAlign&quot;:&quot;left&quot;,&quot;title&quot;:&quot;Temperature excursion distribution&quot;,&quot;transform_recipe&quot;:{&quot;steps&quot;:[]},&quot;type&quot;:&quot;chart&quot;,&quot;variant&quot;:&quot;line&quot;,&quot;w&quot;:764.8969696969697,&quot;weight&quot;:1.8,&quot;x&quot;:417.55151515151516,&quot;y&quot;:569.3599999999999,&quot;z&quot;:5,&quot;observations&quot;:[{&quot;label&quot;:&quot;Harbor East&quot;,&quot;value&quot;:0},{&quot;label&quot;:&quot;Harbor East&quot;,&quot;value&quot;:5},{&quot;label&quot;:&quot;Harbor East&quot;,&quot;value&quot;:0},{&quot;label&quot;:&quot;North Quay&quot;,&quot;value&quot;:8},{&quot;label&quot;:&quot;North Quay&quot;,&quot;value&quot;:0},{&quot;label&quot;:&quot;North Quay&quot;,&quot;value&quot;:4},{&quot;label&quot;:&quot;Port Meridian&quot;,&quot;value&quot;:13},{&quot;label&quot;:&quot;Port Meridian&quot;,&quot;value&quot;:7},{&quot;label&quot;:&quot;Port Meridian&quot;,&quot;value&quot;:0},{&quot;label&quot;:&quot;South Anchorage&quot;,&quot;value&quot;:3},{&quot;label&quot;:&quot;South Anchorage&quot;,&quot;value&quot;:0},{&quot;label&quot;:&quot;South Anchorage&quot;,&quot;value&quot;:2}]}"/>
          <p:cNvSpPr txBox="1"/>
          <p:nvPr/>
        </p:nvSpPr>
        <p:spPr>
          <a:xfrm>
            <a:off x="2948630" y="3782796"/>
            <a:ext cx="4630098" cy="246379"/>
          </a:xfrm>
          <a:prstGeom prst="rect">
            <a:avLst/>
          </a:prstGeom>
          <a:noFill/>
        </p:spPr>
        <p:txBody>
          <a:bodyPr wrap="none" anchor="ctr" lIns="25400" rIns="25400" tIns="0" bIns="0">
            <a:spAutoFit/>
          </a:bodyPr>
          <a:lstStyle/>
          <a:p>
            <a:pPr algn="ctr">
              <a:defRPr sz="1200" b="1">
                <a:latin typeface="Arial"/>
              </a:defRPr>
            </a:pPr>
            <a:r>
              <a:t>Temperature excursion distribution</a:t>
            </a:r>
          </a:p>
        </p:txBody>
      </p:sp>
      <p:cxnSp>
        <p:nvCxnSpPr>
          <p:cNvPr id="19" name="VIZ::c5::box-plot-grid-0"/>
          <p:cNvCxnSpPr/>
          <p:nvPr/>
        </p:nvCxnSpPr>
        <p:spPr>
          <a:xfrm>
            <a:off x="3552556" y="5577921"/>
            <a:ext cx="4076500" cy="0"/>
          </a:xfrm>
          <a:prstGeom prst="line">
            <a:avLst/>
          </a:prstGeom>
          <a:ln w="7620">
            <a:solidFill>
              <a:srgbClr val="DCE2EA"/>
            </a:solidFill>
          </a:ln>
        </p:spPr>
        <p:style>
          <a:lnRef idx="2">
            <a:schemeClr val="accent1"/>
          </a:lnRef>
          <a:fillRef idx="0">
            <a:schemeClr val="accent1"/>
          </a:fillRef>
          <a:effectRef idx="1">
            <a:schemeClr val="accent1"/>
          </a:effectRef>
          <a:fontRef idx="minor">
            <a:schemeClr val="tx1"/>
          </a:fontRef>
        </p:style>
      </p:cxnSp>
      <p:sp>
        <p:nvSpPr>
          <p:cNvPr id="20" name="VIZ::c5::box-plot-axis-0"/>
          <p:cNvSpPr txBox="1"/>
          <p:nvPr/>
        </p:nvSpPr>
        <p:spPr>
          <a:xfrm>
            <a:off x="2747322" y="5514421"/>
            <a:ext cx="679417" cy="152400"/>
          </a:xfrm>
          <a:prstGeom prst="rect">
            <a:avLst/>
          </a:prstGeom>
          <a:noFill/>
        </p:spPr>
        <p:txBody>
          <a:bodyPr wrap="none" tIns="0" bIns="0" anchor="ctr">
            <a:spAutoFit/>
          </a:bodyPr>
          <a:lstStyle/>
          <a:p>
            <a:pPr algn="r">
              <a:defRPr sz="700">
                <a:latin typeface="Arial"/>
              </a:defRPr>
            </a:pPr>
            <a:r>
              <a:t>-0.65</a:t>
            </a:r>
          </a:p>
        </p:txBody>
      </p:sp>
      <p:cxnSp>
        <p:nvCxnSpPr>
          <p:cNvPr id="21" name="VIZ::c5::box-plot-grid-1"/>
          <p:cNvCxnSpPr/>
          <p:nvPr/>
        </p:nvCxnSpPr>
        <p:spPr>
          <a:xfrm>
            <a:off x="3552556" y="5242098"/>
            <a:ext cx="4076500" cy="0"/>
          </a:xfrm>
          <a:prstGeom prst="line">
            <a:avLst/>
          </a:prstGeom>
          <a:ln w="7620">
            <a:solidFill>
              <a:srgbClr val="DCE2EA"/>
            </a:solidFill>
          </a:ln>
        </p:spPr>
        <p:style>
          <a:lnRef idx="2">
            <a:schemeClr val="accent1"/>
          </a:lnRef>
          <a:fillRef idx="0">
            <a:schemeClr val="accent1"/>
          </a:fillRef>
          <a:effectRef idx="1">
            <a:schemeClr val="accent1"/>
          </a:effectRef>
          <a:fontRef idx="minor">
            <a:schemeClr val="tx1"/>
          </a:fontRef>
        </p:style>
      </p:cxnSp>
      <p:sp>
        <p:nvSpPr>
          <p:cNvPr id="22" name="VIZ::c5::box-plot-axis-1"/>
          <p:cNvSpPr txBox="1"/>
          <p:nvPr/>
        </p:nvSpPr>
        <p:spPr>
          <a:xfrm>
            <a:off x="2747322" y="5178598"/>
            <a:ext cx="679417" cy="152400"/>
          </a:xfrm>
          <a:prstGeom prst="rect">
            <a:avLst/>
          </a:prstGeom>
          <a:noFill/>
        </p:spPr>
        <p:txBody>
          <a:bodyPr wrap="none" tIns="0" bIns="0" anchor="ctr">
            <a:spAutoFit/>
          </a:bodyPr>
          <a:lstStyle/>
          <a:p>
            <a:pPr algn="r">
              <a:defRPr sz="700">
                <a:latin typeface="Arial"/>
              </a:defRPr>
            </a:pPr>
            <a:r>
              <a:t>2.925</a:t>
            </a:r>
          </a:p>
        </p:txBody>
      </p:sp>
      <p:cxnSp>
        <p:nvCxnSpPr>
          <p:cNvPr id="23" name="VIZ::c5::box-plot-grid-2"/>
          <p:cNvCxnSpPr/>
          <p:nvPr/>
        </p:nvCxnSpPr>
        <p:spPr>
          <a:xfrm>
            <a:off x="3552556" y="4906275"/>
            <a:ext cx="4076500" cy="0"/>
          </a:xfrm>
          <a:prstGeom prst="line">
            <a:avLst/>
          </a:prstGeom>
          <a:ln w="7620">
            <a:solidFill>
              <a:srgbClr val="DCE2EA"/>
            </a:solidFill>
          </a:ln>
        </p:spPr>
        <p:style>
          <a:lnRef idx="2">
            <a:schemeClr val="accent1"/>
          </a:lnRef>
          <a:fillRef idx="0">
            <a:schemeClr val="accent1"/>
          </a:fillRef>
          <a:effectRef idx="1">
            <a:schemeClr val="accent1"/>
          </a:effectRef>
          <a:fontRef idx="minor">
            <a:schemeClr val="tx1"/>
          </a:fontRef>
        </p:style>
      </p:cxnSp>
      <p:sp>
        <p:nvSpPr>
          <p:cNvPr id="24" name="VIZ::c5::box-plot-axis-2"/>
          <p:cNvSpPr txBox="1"/>
          <p:nvPr/>
        </p:nvSpPr>
        <p:spPr>
          <a:xfrm>
            <a:off x="2747322" y="4842775"/>
            <a:ext cx="679417" cy="152400"/>
          </a:xfrm>
          <a:prstGeom prst="rect">
            <a:avLst/>
          </a:prstGeom>
          <a:noFill/>
        </p:spPr>
        <p:txBody>
          <a:bodyPr wrap="none" tIns="0" bIns="0" anchor="ctr">
            <a:spAutoFit/>
          </a:bodyPr>
          <a:lstStyle/>
          <a:p>
            <a:pPr algn="r">
              <a:defRPr sz="700">
                <a:latin typeface="Arial"/>
              </a:defRPr>
            </a:pPr>
            <a:r>
              <a:t>6.5</a:t>
            </a:r>
          </a:p>
        </p:txBody>
      </p:sp>
      <p:cxnSp>
        <p:nvCxnSpPr>
          <p:cNvPr id="25" name="VIZ::c5::box-plot-grid-3"/>
          <p:cNvCxnSpPr/>
          <p:nvPr/>
        </p:nvCxnSpPr>
        <p:spPr>
          <a:xfrm>
            <a:off x="3552556" y="4570453"/>
            <a:ext cx="4076500" cy="0"/>
          </a:xfrm>
          <a:prstGeom prst="line">
            <a:avLst/>
          </a:prstGeom>
          <a:ln w="7620">
            <a:solidFill>
              <a:srgbClr val="DCE2EA"/>
            </a:solidFill>
          </a:ln>
        </p:spPr>
        <p:style>
          <a:lnRef idx="2">
            <a:schemeClr val="accent1"/>
          </a:lnRef>
          <a:fillRef idx="0">
            <a:schemeClr val="accent1"/>
          </a:fillRef>
          <a:effectRef idx="1">
            <a:schemeClr val="accent1"/>
          </a:effectRef>
          <a:fontRef idx="minor">
            <a:schemeClr val="tx1"/>
          </a:fontRef>
        </p:style>
      </p:cxnSp>
      <p:sp>
        <p:nvSpPr>
          <p:cNvPr id="26" name="VIZ::c5::box-plot-axis-3"/>
          <p:cNvSpPr txBox="1"/>
          <p:nvPr/>
        </p:nvSpPr>
        <p:spPr>
          <a:xfrm>
            <a:off x="2747322" y="4506953"/>
            <a:ext cx="679417" cy="152400"/>
          </a:xfrm>
          <a:prstGeom prst="rect">
            <a:avLst/>
          </a:prstGeom>
          <a:noFill/>
        </p:spPr>
        <p:txBody>
          <a:bodyPr wrap="none" tIns="0" bIns="0" anchor="ctr">
            <a:spAutoFit/>
          </a:bodyPr>
          <a:lstStyle/>
          <a:p>
            <a:pPr algn="r">
              <a:defRPr sz="700">
                <a:latin typeface="Arial"/>
              </a:defRPr>
            </a:pPr>
            <a:r>
              <a:t>10.075</a:t>
            </a:r>
          </a:p>
        </p:txBody>
      </p:sp>
      <p:cxnSp>
        <p:nvCxnSpPr>
          <p:cNvPr id="27" name="VIZ::c5::box-plot-grid-4"/>
          <p:cNvCxnSpPr/>
          <p:nvPr/>
        </p:nvCxnSpPr>
        <p:spPr>
          <a:xfrm>
            <a:off x="3552556" y="4234630"/>
            <a:ext cx="4076500" cy="0"/>
          </a:xfrm>
          <a:prstGeom prst="line">
            <a:avLst/>
          </a:prstGeom>
          <a:ln w="7620">
            <a:solidFill>
              <a:srgbClr val="DCE2EA"/>
            </a:solidFill>
          </a:ln>
        </p:spPr>
        <p:style>
          <a:lnRef idx="2">
            <a:schemeClr val="accent1"/>
          </a:lnRef>
          <a:fillRef idx="0">
            <a:schemeClr val="accent1"/>
          </a:fillRef>
          <a:effectRef idx="1">
            <a:schemeClr val="accent1"/>
          </a:effectRef>
          <a:fontRef idx="minor">
            <a:schemeClr val="tx1"/>
          </a:fontRef>
        </p:style>
      </p:cxnSp>
      <p:sp>
        <p:nvSpPr>
          <p:cNvPr id="28" name="VIZ::c5::box-plot-axis-4"/>
          <p:cNvSpPr txBox="1"/>
          <p:nvPr/>
        </p:nvSpPr>
        <p:spPr>
          <a:xfrm>
            <a:off x="2747322" y="4171130"/>
            <a:ext cx="679417" cy="152400"/>
          </a:xfrm>
          <a:prstGeom prst="rect">
            <a:avLst/>
          </a:prstGeom>
          <a:noFill/>
        </p:spPr>
        <p:txBody>
          <a:bodyPr wrap="none" tIns="0" bIns="0" anchor="ctr">
            <a:spAutoFit/>
          </a:bodyPr>
          <a:lstStyle/>
          <a:p>
            <a:pPr algn="r">
              <a:defRPr sz="700">
                <a:latin typeface="Arial"/>
              </a:defRPr>
            </a:pPr>
            <a:r>
              <a:t>13.65</a:t>
            </a:r>
          </a:p>
        </p:txBody>
      </p:sp>
      <p:cxnSp>
        <p:nvCxnSpPr>
          <p:cNvPr id="29" name="VIZ::c5::box-plot-0-whisker"/>
          <p:cNvCxnSpPr/>
          <p:nvPr/>
        </p:nvCxnSpPr>
        <p:spPr>
          <a:xfrm>
            <a:off x="4062118.5" y="5047180"/>
            <a:ext cx="0.0" cy="469682"/>
          </a:xfrm>
          <a:prstGeom prst="line">
            <a:avLst/>
          </a:prstGeom>
          <a:ln w="17780">
            <a:solidFill>
              <a:srgbClr val="1769D1"/>
            </a:solidFill>
          </a:ln>
        </p:spPr>
        <p:style>
          <a:lnRef idx="2">
            <a:schemeClr val="accent1"/>
          </a:lnRef>
          <a:fillRef idx="0">
            <a:schemeClr val="accent1"/>
          </a:fillRef>
          <a:effectRef idx="1">
            <a:schemeClr val="accent1"/>
          </a:effectRef>
          <a:fontRef idx="minor">
            <a:schemeClr val="tx1"/>
          </a:fontRef>
        </p:style>
      </p:cxnSp>
      <p:cxnSp>
        <p:nvCxnSpPr>
          <p:cNvPr id="30" name="VIZ::c5::box-plot-0-whisker-cap-0"/>
          <p:cNvCxnSpPr/>
          <p:nvPr/>
        </p:nvCxnSpPr>
        <p:spPr>
          <a:xfrm>
            <a:off x="3858293.5" y="5516862"/>
            <a:ext cx="407650.0" cy="0"/>
          </a:xfrm>
          <a:prstGeom prst="line">
            <a:avLst/>
          </a:prstGeom>
          <a:ln w="17780">
            <a:solidFill>
              <a:srgbClr val="1769D1"/>
            </a:solidFill>
          </a:ln>
        </p:spPr>
        <p:style>
          <a:lnRef idx="2">
            <a:schemeClr val="accent1"/>
          </a:lnRef>
          <a:fillRef idx="0">
            <a:schemeClr val="accent1"/>
          </a:fillRef>
          <a:effectRef idx="1">
            <a:schemeClr val="accent1"/>
          </a:effectRef>
          <a:fontRef idx="minor">
            <a:schemeClr val="tx1"/>
          </a:fontRef>
        </p:style>
      </p:cxnSp>
      <p:cxnSp>
        <p:nvCxnSpPr>
          <p:cNvPr id="31" name="VIZ::c5::box-plot-0-whisker-cap-1"/>
          <p:cNvCxnSpPr/>
          <p:nvPr/>
        </p:nvCxnSpPr>
        <p:spPr>
          <a:xfrm>
            <a:off x="3858293.5" y="5047180"/>
            <a:ext cx="407650.0" cy="0"/>
          </a:xfrm>
          <a:prstGeom prst="line">
            <a:avLst/>
          </a:prstGeom>
          <a:ln w="17780">
            <a:solidFill>
              <a:srgbClr val="1769D1"/>
            </a:solidFill>
          </a:ln>
        </p:spPr>
        <p:style>
          <a:lnRef idx="2">
            <a:schemeClr val="accent1"/>
          </a:lnRef>
          <a:fillRef idx="0">
            <a:schemeClr val="accent1"/>
          </a:fillRef>
          <a:effectRef idx="1">
            <a:schemeClr val="accent1"/>
          </a:effectRef>
          <a:fontRef idx="minor">
            <a:schemeClr val="tx1"/>
          </a:fontRef>
        </p:style>
      </p:cxnSp>
      <p:sp>
        <p:nvSpPr>
          <p:cNvPr id="32" name="VIZ::c5::box-plot-0-quartiles"/>
          <p:cNvSpPr/>
          <p:nvPr/>
        </p:nvSpPr>
        <p:spPr>
          <a:xfrm>
            <a:off x="3858293" y="5282021"/>
            <a:ext cx="407650" cy="234841"/>
          </a:xfrm>
          <a:prstGeom prst="rect">
            <a:avLst/>
          </a:prstGeom>
          <a:solidFill>
            <a:srgbClr val="1769D1"/>
          </a:solidFill>
          <a:ln w="15240">
            <a:solidFill>
              <a:srgbClr val="1769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VIZ::c5::box-plot-0-median"/>
          <p:cNvCxnSpPr/>
          <p:nvPr/>
        </p:nvCxnSpPr>
        <p:spPr>
          <a:xfrm>
            <a:off x="3858293.5" y="5516862"/>
            <a:ext cx="407650.0" cy="0"/>
          </a:xfrm>
          <a:prstGeom prst="line">
            <a:avLst/>
          </a:prstGeom>
          <a:ln w="25400">
            <a:solidFill>
              <a:srgbClr val="232D3C"/>
            </a:solidFill>
          </a:ln>
        </p:spPr>
        <p:style>
          <a:lnRef idx="2">
            <a:schemeClr val="accent1"/>
          </a:lnRef>
          <a:fillRef idx="0">
            <a:schemeClr val="accent1"/>
          </a:fillRef>
          <a:effectRef idx="1">
            <a:schemeClr val="accent1"/>
          </a:effectRef>
          <a:fontRef idx="minor">
            <a:schemeClr val="tx1"/>
          </a:fontRef>
        </p:style>
      </p:cxnSp>
      <p:sp>
        <p:nvSpPr>
          <p:cNvPr id="34" name="VIZ::c5::box-plot-0-category" title="{&quot;category&quot;:&quot;Harbor East&quot;,&quot;quartiles&quot;:{&quot;n&quot;:3,&quot;min&quot;:0.0,&quot;q1&quot;:0.0,&quot;median&quot;:0.0,&quot;q3&quot;:2.5,&quot;max&quot;:5.0}}"/>
          <p:cNvSpPr txBox="1"/>
          <p:nvPr/>
        </p:nvSpPr>
        <p:spPr>
          <a:xfrm>
            <a:off x="3513478" y="5687826"/>
            <a:ext cx="1097280" cy="317505"/>
          </a:xfrm>
          <a:prstGeom prst="rect">
            <a:avLst/>
          </a:prstGeom>
          <a:noFill/>
        </p:spPr>
        <p:txBody>
          <a:bodyPr wrap="square">
            <a:spAutoFit/>
          </a:bodyPr>
          <a:lstStyle/>
          <a:p>
            <a:pPr algn="ctr">
              <a:defRPr sz="800"/>
            </a:pPr>
            <a:r>
              <a:t>Harbor East</a:t>
            </a:r>
          </a:p>
        </p:txBody>
      </p:sp>
      <p:cxnSp>
        <p:nvCxnSpPr>
          <p:cNvPr id="35" name="VIZ::c5::box-plot-1-whisker"/>
          <p:cNvCxnSpPr/>
          <p:nvPr/>
        </p:nvCxnSpPr>
        <p:spPr>
          <a:xfrm>
            <a:off x="5081243.5" y="4765371"/>
            <a:ext cx="0.0" cy="751491"/>
          </a:xfrm>
          <a:prstGeom prst="line">
            <a:avLst/>
          </a:prstGeom>
          <a:ln w="17780">
            <a:solidFill>
              <a:srgbClr val="2E8B72"/>
            </a:solidFill>
          </a:ln>
        </p:spPr>
        <p:style>
          <a:lnRef idx="2">
            <a:schemeClr val="accent1"/>
          </a:lnRef>
          <a:fillRef idx="0">
            <a:schemeClr val="accent1"/>
          </a:fillRef>
          <a:effectRef idx="1">
            <a:schemeClr val="accent1"/>
          </a:effectRef>
          <a:fontRef idx="minor">
            <a:schemeClr val="tx1"/>
          </a:fontRef>
        </p:style>
      </p:cxnSp>
      <p:cxnSp>
        <p:nvCxnSpPr>
          <p:cNvPr id="36" name="VIZ::c5::box-plot-1-whisker-cap-0"/>
          <p:cNvCxnSpPr/>
          <p:nvPr/>
        </p:nvCxnSpPr>
        <p:spPr>
          <a:xfrm>
            <a:off x="4877418.5" y="5516862"/>
            <a:ext cx="407650.0" cy="0"/>
          </a:xfrm>
          <a:prstGeom prst="line">
            <a:avLst/>
          </a:prstGeom>
          <a:ln w="17780">
            <a:solidFill>
              <a:srgbClr val="2E8B72"/>
            </a:solidFill>
          </a:ln>
        </p:spPr>
        <p:style>
          <a:lnRef idx="2">
            <a:schemeClr val="accent1"/>
          </a:lnRef>
          <a:fillRef idx="0">
            <a:schemeClr val="accent1"/>
          </a:fillRef>
          <a:effectRef idx="1">
            <a:schemeClr val="accent1"/>
          </a:effectRef>
          <a:fontRef idx="minor">
            <a:schemeClr val="tx1"/>
          </a:fontRef>
        </p:style>
      </p:cxnSp>
      <p:cxnSp>
        <p:nvCxnSpPr>
          <p:cNvPr id="37" name="VIZ::c5::box-plot-1-whisker-cap-1"/>
          <p:cNvCxnSpPr/>
          <p:nvPr/>
        </p:nvCxnSpPr>
        <p:spPr>
          <a:xfrm>
            <a:off x="4877418.5" y="4765371"/>
            <a:ext cx="407650.0" cy="0"/>
          </a:xfrm>
          <a:prstGeom prst="line">
            <a:avLst/>
          </a:prstGeom>
          <a:ln w="17780">
            <a:solidFill>
              <a:srgbClr val="2E8B72"/>
            </a:solidFill>
          </a:ln>
        </p:spPr>
        <p:style>
          <a:lnRef idx="2">
            <a:schemeClr val="accent1"/>
          </a:lnRef>
          <a:fillRef idx="0">
            <a:schemeClr val="accent1"/>
          </a:fillRef>
          <a:effectRef idx="1">
            <a:schemeClr val="accent1"/>
          </a:effectRef>
          <a:fontRef idx="minor">
            <a:schemeClr val="tx1"/>
          </a:fontRef>
        </p:style>
      </p:cxnSp>
      <p:sp>
        <p:nvSpPr>
          <p:cNvPr id="38" name="VIZ::c5::box-plot-1-quartiles"/>
          <p:cNvSpPr/>
          <p:nvPr/>
        </p:nvSpPr>
        <p:spPr>
          <a:xfrm>
            <a:off x="4877418" y="4953244"/>
            <a:ext cx="407650" cy="375745"/>
          </a:xfrm>
          <a:prstGeom prst="rect">
            <a:avLst/>
          </a:prstGeom>
          <a:solidFill>
            <a:srgbClr val="2E8B72"/>
          </a:solidFill>
          <a:ln w="15240">
            <a:solidFill>
              <a:srgbClr val="2E8B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VIZ::c5::box-plot-1-median"/>
          <p:cNvCxnSpPr/>
          <p:nvPr/>
        </p:nvCxnSpPr>
        <p:spPr>
          <a:xfrm>
            <a:off x="4877418.5" y="5141117"/>
            <a:ext cx="407650.0" cy="0"/>
          </a:xfrm>
          <a:prstGeom prst="line">
            <a:avLst/>
          </a:prstGeom>
          <a:ln w="25400">
            <a:solidFill>
              <a:srgbClr val="232D3C"/>
            </a:solidFill>
          </a:ln>
        </p:spPr>
        <p:style>
          <a:lnRef idx="2">
            <a:schemeClr val="accent1"/>
          </a:lnRef>
          <a:fillRef idx="0">
            <a:schemeClr val="accent1"/>
          </a:fillRef>
          <a:effectRef idx="1">
            <a:schemeClr val="accent1"/>
          </a:effectRef>
          <a:fontRef idx="minor">
            <a:schemeClr val="tx1"/>
          </a:fontRef>
        </p:style>
      </p:cxnSp>
      <p:sp>
        <p:nvSpPr>
          <p:cNvPr id="40" name="VIZ::c5::box-plot-1-category" title="{&quot;category&quot;:&quot;North Quay&quot;,&quot;quartiles&quot;:{&quot;n&quot;:3,&quot;min&quot;:0.0,&quot;q1&quot;:2.0,&quot;median&quot;:4.0,&quot;q3&quot;:6.0,&quot;max&quot;:8.0}}"/>
          <p:cNvSpPr txBox="1"/>
          <p:nvPr/>
        </p:nvSpPr>
        <p:spPr>
          <a:xfrm>
            <a:off x="4532603" y="5687826"/>
            <a:ext cx="1097280" cy="317505"/>
          </a:xfrm>
          <a:prstGeom prst="rect">
            <a:avLst/>
          </a:prstGeom>
          <a:noFill/>
        </p:spPr>
        <p:txBody>
          <a:bodyPr wrap="square">
            <a:spAutoFit/>
          </a:bodyPr>
          <a:lstStyle/>
          <a:p>
            <a:pPr algn="ctr">
              <a:defRPr sz="800"/>
            </a:pPr>
            <a:r>
              <a:t>North Quay</a:t>
            </a:r>
          </a:p>
        </p:txBody>
      </p:sp>
      <p:cxnSp>
        <p:nvCxnSpPr>
          <p:cNvPr id="41" name="VIZ::c5::box-plot-2-whisker"/>
          <p:cNvCxnSpPr/>
          <p:nvPr/>
        </p:nvCxnSpPr>
        <p:spPr>
          <a:xfrm>
            <a:off x="6100368.5" y="4295689"/>
            <a:ext cx="0.0" cy="1221173"/>
          </a:xfrm>
          <a:prstGeom prst="line">
            <a:avLst/>
          </a:prstGeom>
          <a:ln w="17780">
            <a:solidFill>
              <a:srgbClr val="B7791F"/>
            </a:solidFill>
          </a:ln>
        </p:spPr>
        <p:style>
          <a:lnRef idx="2">
            <a:schemeClr val="accent1"/>
          </a:lnRef>
          <a:fillRef idx="0">
            <a:schemeClr val="accent1"/>
          </a:fillRef>
          <a:effectRef idx="1">
            <a:schemeClr val="accent1"/>
          </a:effectRef>
          <a:fontRef idx="minor">
            <a:schemeClr val="tx1"/>
          </a:fontRef>
        </p:style>
      </p:cxnSp>
      <p:cxnSp>
        <p:nvCxnSpPr>
          <p:cNvPr id="42" name="VIZ::c5::box-plot-2-whisker-cap-0"/>
          <p:cNvCxnSpPr/>
          <p:nvPr/>
        </p:nvCxnSpPr>
        <p:spPr>
          <a:xfrm>
            <a:off x="5896543.5" y="5516862"/>
            <a:ext cx="407650.0" cy="0"/>
          </a:xfrm>
          <a:prstGeom prst="line">
            <a:avLst/>
          </a:prstGeom>
          <a:ln w="17780">
            <a:solidFill>
              <a:srgbClr val="B7791F"/>
            </a:solidFill>
          </a:ln>
        </p:spPr>
        <p:style>
          <a:lnRef idx="2">
            <a:schemeClr val="accent1"/>
          </a:lnRef>
          <a:fillRef idx="0">
            <a:schemeClr val="accent1"/>
          </a:fillRef>
          <a:effectRef idx="1">
            <a:schemeClr val="accent1"/>
          </a:effectRef>
          <a:fontRef idx="minor">
            <a:schemeClr val="tx1"/>
          </a:fontRef>
        </p:style>
      </p:cxnSp>
      <p:cxnSp>
        <p:nvCxnSpPr>
          <p:cNvPr id="43" name="VIZ::c5::box-plot-2-whisker-cap-1"/>
          <p:cNvCxnSpPr/>
          <p:nvPr/>
        </p:nvCxnSpPr>
        <p:spPr>
          <a:xfrm>
            <a:off x="5896543.5" y="4295689"/>
            <a:ext cx="407650.0" cy="0"/>
          </a:xfrm>
          <a:prstGeom prst="line">
            <a:avLst/>
          </a:prstGeom>
          <a:ln w="17780">
            <a:solidFill>
              <a:srgbClr val="B7791F"/>
            </a:solidFill>
          </a:ln>
        </p:spPr>
        <p:style>
          <a:lnRef idx="2">
            <a:schemeClr val="accent1"/>
          </a:lnRef>
          <a:fillRef idx="0">
            <a:schemeClr val="accent1"/>
          </a:fillRef>
          <a:effectRef idx="1">
            <a:schemeClr val="accent1"/>
          </a:effectRef>
          <a:fontRef idx="minor">
            <a:schemeClr val="tx1"/>
          </a:fontRef>
        </p:style>
      </p:cxnSp>
      <p:sp>
        <p:nvSpPr>
          <p:cNvPr id="44" name="VIZ::c5::box-plot-2-quartiles"/>
          <p:cNvSpPr/>
          <p:nvPr/>
        </p:nvSpPr>
        <p:spPr>
          <a:xfrm>
            <a:off x="5896543" y="4577498"/>
            <a:ext cx="407650" cy="610587"/>
          </a:xfrm>
          <a:prstGeom prst="rect">
            <a:avLst/>
          </a:prstGeom>
          <a:solidFill>
            <a:srgbClr val="B7791F"/>
          </a:solidFill>
          <a:ln w="15240">
            <a:solidFill>
              <a:srgbClr val="B779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VIZ::c5::box-plot-2-median"/>
          <p:cNvCxnSpPr/>
          <p:nvPr/>
        </p:nvCxnSpPr>
        <p:spPr>
          <a:xfrm>
            <a:off x="5896543.5" y="4859307"/>
            <a:ext cx="407650.0" cy="0"/>
          </a:xfrm>
          <a:prstGeom prst="line">
            <a:avLst/>
          </a:prstGeom>
          <a:ln w="25400">
            <a:solidFill>
              <a:srgbClr val="232D3C"/>
            </a:solidFill>
          </a:ln>
        </p:spPr>
        <p:style>
          <a:lnRef idx="2">
            <a:schemeClr val="accent1"/>
          </a:lnRef>
          <a:fillRef idx="0">
            <a:schemeClr val="accent1"/>
          </a:fillRef>
          <a:effectRef idx="1">
            <a:schemeClr val="accent1"/>
          </a:effectRef>
          <a:fontRef idx="minor">
            <a:schemeClr val="tx1"/>
          </a:fontRef>
        </p:style>
      </p:cxnSp>
      <p:sp>
        <p:nvSpPr>
          <p:cNvPr id="46" name="VIZ::c5::box-plot-2-category" title="{&quot;category&quot;:&quot;Port Meridian&quot;,&quot;quartiles&quot;:{&quot;n&quot;:3,&quot;min&quot;:0.0,&quot;q1&quot;:3.5,&quot;median&quot;:7.0,&quot;q3&quot;:10.0,&quot;max&quot;:13.0}}"/>
          <p:cNvSpPr txBox="1"/>
          <p:nvPr/>
        </p:nvSpPr>
        <p:spPr>
          <a:xfrm>
            <a:off x="5551728" y="5687826"/>
            <a:ext cx="1097280" cy="317505"/>
          </a:xfrm>
          <a:prstGeom prst="rect">
            <a:avLst/>
          </a:prstGeom>
          <a:noFill/>
        </p:spPr>
        <p:txBody>
          <a:bodyPr wrap="square">
            <a:spAutoFit/>
          </a:bodyPr>
          <a:lstStyle/>
          <a:p>
            <a:pPr algn="ctr">
              <a:defRPr sz="800"/>
            </a:pPr>
            <a:r>
              <a:t>Port Meridian</a:t>
            </a:r>
          </a:p>
        </p:txBody>
      </p:sp>
      <p:cxnSp>
        <p:nvCxnSpPr>
          <p:cNvPr id="47" name="VIZ::c5::box-plot-3-whisker"/>
          <p:cNvCxnSpPr/>
          <p:nvPr/>
        </p:nvCxnSpPr>
        <p:spPr>
          <a:xfrm>
            <a:off x="7119493.5" y="5235053"/>
            <a:ext cx="0.0" cy="281809"/>
          </a:xfrm>
          <a:prstGeom prst="line">
            <a:avLst/>
          </a:prstGeom>
          <a:ln w="17780">
            <a:solidFill>
              <a:srgbClr val="9B4DCA"/>
            </a:solidFill>
          </a:ln>
        </p:spPr>
        <p:style>
          <a:lnRef idx="2">
            <a:schemeClr val="accent1"/>
          </a:lnRef>
          <a:fillRef idx="0">
            <a:schemeClr val="accent1"/>
          </a:fillRef>
          <a:effectRef idx="1">
            <a:schemeClr val="accent1"/>
          </a:effectRef>
          <a:fontRef idx="minor">
            <a:schemeClr val="tx1"/>
          </a:fontRef>
        </p:style>
      </p:cxnSp>
      <p:cxnSp>
        <p:nvCxnSpPr>
          <p:cNvPr id="48" name="VIZ::c5::box-plot-3-whisker-cap-0"/>
          <p:cNvCxnSpPr/>
          <p:nvPr/>
        </p:nvCxnSpPr>
        <p:spPr>
          <a:xfrm>
            <a:off x="6915668.5" y="5516862"/>
            <a:ext cx="407650.0" cy="0"/>
          </a:xfrm>
          <a:prstGeom prst="line">
            <a:avLst/>
          </a:prstGeom>
          <a:ln w="17780">
            <a:solidFill>
              <a:srgbClr val="9B4DCA"/>
            </a:solidFill>
          </a:ln>
        </p:spPr>
        <p:style>
          <a:lnRef idx="2">
            <a:schemeClr val="accent1"/>
          </a:lnRef>
          <a:fillRef idx="0">
            <a:schemeClr val="accent1"/>
          </a:fillRef>
          <a:effectRef idx="1">
            <a:schemeClr val="accent1"/>
          </a:effectRef>
          <a:fontRef idx="minor">
            <a:schemeClr val="tx1"/>
          </a:fontRef>
        </p:style>
      </p:cxnSp>
      <p:cxnSp>
        <p:nvCxnSpPr>
          <p:cNvPr id="49" name="VIZ::c5::box-plot-3-whisker-cap-1"/>
          <p:cNvCxnSpPr/>
          <p:nvPr/>
        </p:nvCxnSpPr>
        <p:spPr>
          <a:xfrm>
            <a:off x="6915668.5" y="5235053"/>
            <a:ext cx="407650.0" cy="0"/>
          </a:xfrm>
          <a:prstGeom prst="line">
            <a:avLst/>
          </a:prstGeom>
          <a:ln w="17780">
            <a:solidFill>
              <a:srgbClr val="9B4DCA"/>
            </a:solidFill>
          </a:ln>
        </p:spPr>
        <p:style>
          <a:lnRef idx="2">
            <a:schemeClr val="accent1"/>
          </a:lnRef>
          <a:fillRef idx="0">
            <a:schemeClr val="accent1"/>
          </a:fillRef>
          <a:effectRef idx="1">
            <a:schemeClr val="accent1"/>
          </a:effectRef>
          <a:fontRef idx="minor">
            <a:schemeClr val="tx1"/>
          </a:fontRef>
        </p:style>
      </p:cxnSp>
      <p:sp>
        <p:nvSpPr>
          <p:cNvPr id="50" name="VIZ::c5::box-plot-3-quartiles"/>
          <p:cNvSpPr/>
          <p:nvPr/>
        </p:nvSpPr>
        <p:spPr>
          <a:xfrm>
            <a:off x="6915668" y="5282021"/>
            <a:ext cx="407650" cy="140905"/>
          </a:xfrm>
          <a:prstGeom prst="rect">
            <a:avLst/>
          </a:prstGeom>
          <a:solidFill>
            <a:srgbClr val="9B4DCA"/>
          </a:solidFill>
          <a:ln w="15240">
            <a:solidFill>
              <a:srgbClr val="9B4D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VIZ::c5::box-plot-3-median"/>
          <p:cNvCxnSpPr/>
          <p:nvPr/>
        </p:nvCxnSpPr>
        <p:spPr>
          <a:xfrm>
            <a:off x="6915668.5" y="5328989"/>
            <a:ext cx="407650.0" cy="0"/>
          </a:xfrm>
          <a:prstGeom prst="line">
            <a:avLst/>
          </a:prstGeom>
          <a:ln w="25400">
            <a:solidFill>
              <a:srgbClr val="232D3C"/>
            </a:solidFill>
          </a:ln>
        </p:spPr>
        <p:style>
          <a:lnRef idx="2">
            <a:schemeClr val="accent1"/>
          </a:lnRef>
          <a:fillRef idx="0">
            <a:schemeClr val="accent1"/>
          </a:fillRef>
          <a:effectRef idx="1">
            <a:schemeClr val="accent1"/>
          </a:effectRef>
          <a:fontRef idx="minor">
            <a:schemeClr val="tx1"/>
          </a:fontRef>
        </p:style>
      </p:cxnSp>
      <p:sp>
        <p:nvSpPr>
          <p:cNvPr id="52" name="VIZ::c5::box-plot-3-category" title="{&quot;category&quot;:&quot;South Anchorage&quot;,&quot;quartiles&quot;:{&quot;n&quot;:3,&quot;min&quot;:0.0,&quot;q1&quot;:1.0,&quot;median&quot;:2.0,&quot;q3&quot;:2.5,&quot;max&quot;:3.0}}"/>
          <p:cNvSpPr txBox="1"/>
          <p:nvPr/>
        </p:nvSpPr>
        <p:spPr>
          <a:xfrm>
            <a:off x="6570853" y="5687826"/>
            <a:ext cx="1097280" cy="317505"/>
          </a:xfrm>
          <a:prstGeom prst="rect">
            <a:avLst/>
          </a:prstGeom>
          <a:noFill/>
        </p:spPr>
        <p:txBody>
          <a:bodyPr wrap="square">
            <a:spAutoFit/>
          </a:bodyPr>
          <a:lstStyle/>
          <a:p>
            <a:pPr algn="ctr">
              <a:defRPr sz="800"/>
            </a:pPr>
            <a:r>
              <a:t>South Anchorage</a:t>
            </a:r>
          </a:p>
        </p:txBody>
      </p:sp>
      <p:sp>
        <p:nvSpPr>
          <p:cNvPr id="7" name="VIZ::Body Narrative" title="Visembler report text roles: text heading, context subhead" descr="VisualizerSemantic:{&quot;body&quot;:&quot;Saffron Link citrus export · four destination lanes · 7-day pilot sample · cold-chain telemetry as of 2026-09-24. The pilot reduced median dwell while temperature excursions stayed below the contract limit. The humidity sensor reads 3–5 points high after calibration, so spoilage risk is not fully cleared. Four lanes are too few to claim network-wide savings; treat the activation as a reversible one-week decision.&quot;,&quot;composition_role&quot;:&quot;narrative_interpretation&quot;,&quot;element&quot;:&quot;Body Narrative&quot;,&quot;engine&quot;:&quot;TextEngine&quot;,&quot;groupId&quot;:null,&quot;h&quot;:134.56,&quot;id&quot;:&quot;c8&quot;,&quot;locked&quot;:false,&quot;message_role&quot;:&quot;Context&quot;,&quot;order&quot;:5,&quot;section_id&quot;:&quot;analysis&quot;,&quot;section_title&quot;:&quot;Analysis&quot;,&quot;showTitle&quot;:false,&quot;text&quot;:&quot;Saffron Link citrus export · four destination lanes · 7-day pilot sample · cold-chain telemetry as of 2026-09-24. The pilot reduced median dwell while temperature excursions stayed below the contract limit. The humidity sensor reads 3–5 points high after calibration, so spoilage risk is not fully cleared. Four lanes are too few to claim network-wide savings; treat the activation as a reversible one-week decision.&quot;,&quot;textAlign&quot;:&quot;left&quot;,&quot;title&quot;:&quot;Body Narrative&quot;,&quot;type&quot;:&quot;text&quot;,&quot;w&quot;:592.04,&quot;weight&quot;:1.1,&quot;x&quot;:900.0224242424242,&quot;y&quot;:305.28,&quot;z&quot;:8}"/>
          <p:cNvSpPr/>
          <p:nvPr/>
        </p:nvSpPr>
        <p:spPr>
          <a:xfrm>
            <a:off x="5921787" y="2008620"/>
            <a:ext cx="3895386" cy="885351"/>
          </a:xfrm>
          <a:prstGeom prst="roundRect">
            <a:avLst/>
          </a:prstGeom>
          <a:solidFill>
            <a:srgbClr val="FFFFFF"/>
          </a:solidFill>
          <a:ln>
            <a:solidFill>
              <a:srgbClr val="DCDEE2"/>
            </a:solidFill>
          </a:ln>
        </p:spPr>
        <p:style>
          <a:lnRef idx="1">
            <a:schemeClr val="accent1"/>
          </a:lnRef>
          <a:fillRef idx="3">
            <a:schemeClr val="accent1"/>
          </a:fillRef>
          <a:effectRef idx="2">
            <a:schemeClr val="accent1"/>
          </a:effectRef>
          <a:fontRef idx="minor">
            <a:schemeClr val="lt1"/>
          </a:fontRef>
        </p:style>
        <p:txBody>
          <a:bodyPr rtlCol="0" anchor="t" lIns="27432" rIns="27432" tIns="0" bIns="0" wrap="square">
            <a:noAutofit/>
          </a:bodyPr>
          <a:lstStyle/>
          <a:p>
            <a:pPr algn="ctr">
              <a:lnSpc>
                <a:spcPct val="100000"/>
              </a:lnSpc>
              <a:spcBef>
                <a:spcPts val="0"/>
              </a:spcBef>
              <a:spcAft>
                <a:spcPts val="0"/>
              </a:spcAft>
              <a:defRPr sz="1100" b="1">
                <a:solidFill>
                  <a:srgbClr val="1D1D1F"/>
                </a:solidFill>
                <a:latin typeface="Arial"/>
              </a:defRPr>
            </a:pPr>
            <a:r>
              <a:rPr sz="950" b="1" i="0">
                <a:solidFill>
                  <a:srgbClr val="1C2B3E"/>
                </a:solidFill>
                <a:latin typeface="Arial"/>
              </a:rPr>
              <a:t>Body Narrative</a:t>
            </a:r>
          </a:p>
          <a:p>
            <a:pPr algn="l">
              <a:lnSpc>
                <a:spcPct val="100000"/>
              </a:lnSpc>
              <a:spcBef>
                <a:spcPts val="0"/>
              </a:spcBef>
              <a:spcAft>
                <a:spcPts val="0"/>
              </a:spcAft>
            </a:pPr>
            <a:r>
              <a:rPr sz="850" b="0" i="0">
                <a:solidFill>
                  <a:srgbClr val="374A60"/>
                </a:solidFill>
                <a:latin typeface="Arial Narrow"/>
              </a:rPr>
              <a:t>Saffron Link citrus export · four destination lanes · 7-day pilot sample · cold-chain telemetry as of 2026-09-24. The pilot reduced median dwell while temperature excursions stayed below the contract limit. The humidity sensor reads 3–5 points high after calibration, so spoilage risk is not fully cleared. Four lanes are too few to claim network-wide savings; treat the activation as a reversible one-week decision.</a:t>
            </a:r>
          </a:p>
        </p:txBody>
      </p:sp>
      <p:sp>
        <p:nvSpPr>
          <p:cNvPr id="9" name="VIZ::Risk Callout" title="Visembler report text roles: text heading, risk decision, evidence detail, action status" descr="VisualizerSemantic:{&quot;composition_role&quot;:&quot;decision_risk&quot;,&quot;detail&quot;:&quot;Temperature stayed inside contract limits; humidity calibration bias keeps spoilage exposure uncertain. Keep the fallback routing available.&quot;,&quot;element&quot;:&quot;Risk Callout&quot;,&quot;engine&quot;:&quot;DecisionCompositeEngine&quot;,&quot;groupId&quot;:null,&quot;h&quot;:175.0,&quot;id&quot;:&quot;c7&quot;,&quot;locked&quot;:false,&quot;message_role&quot;:&quot;Risk&quot;,&quot;order&quot;:7,&quot;section_id&quot;:&quot;decision&quot;,&quot;section_title&quot;:&quot;Decision&quot;,&quot;showTitle&quot;:true,&quot;statement&quot;:&quot;Approve one-week Harbor East activation&quot;,&quot;status&quot;:&quot;Reversible&quot;,&quot;textAlign&quot;:&quot;left&quot;,&quot;title&quot;:&quot;Risk Callout&quot;,&quot;type&quot;:&quot;decision&quot;,&quot;w&quot;:1572.0,&quot;weight&quot;:1.15,&quot;x&quot;:14.0,&quot;y&quot;:1304.56,&quot;z&quot;:7}"/>
          <p:cNvSpPr/>
          <p:nvPr/>
        </p:nvSpPr>
        <p:spPr>
          <a:xfrm>
            <a:off x="92114" y="8583482"/>
            <a:ext cx="10343131" cy="1151430"/>
          </a:xfrm>
          <a:prstGeom prst="roundRect">
            <a:avLst/>
          </a:prstGeom>
          <a:solidFill>
            <a:srgbClr val="FFFFFF"/>
          </a:solidFill>
          <a:ln>
            <a:solidFill>
              <a:srgbClr val="DCDEE2"/>
            </a:solidFill>
          </a:ln>
        </p:spPr>
        <p:style>
          <a:lnRef idx="1">
            <a:schemeClr val="accent1"/>
          </a:lnRef>
          <a:fillRef idx="3">
            <a:schemeClr val="accent1"/>
          </a:fillRef>
          <a:effectRef idx="2">
            <a:schemeClr val="accent1"/>
          </a:effectRef>
          <a:fontRef idx="minor">
            <a:schemeClr val="lt1"/>
          </a:fontRef>
        </p:style>
        <p:txBody>
          <a:bodyPr rtlCol="0" anchor="t" lIns="27432" rIns="27432" tIns="0" bIns="0" wrap="square">
            <a:noAutofit/>
          </a:bodyPr>
          <a:lstStyle/>
          <a:p>
            <a:pPr algn="ctr">
              <a:lnSpc>
                <a:spcPct val="100000"/>
              </a:lnSpc>
              <a:spcBef>
                <a:spcPts val="0"/>
              </a:spcBef>
              <a:spcAft>
                <a:spcPts val="0"/>
              </a:spcAft>
              <a:defRPr sz="1259" b="1">
                <a:solidFill>
                  <a:srgbClr val="1D1D1F"/>
                </a:solidFill>
                <a:latin typeface="Arial"/>
              </a:defRPr>
            </a:pPr>
            <a:r>
              <a:rPr sz="1050" b="1" i="0">
                <a:solidFill>
                  <a:srgbClr val="1C2B3E"/>
                </a:solidFill>
                <a:latin typeface="Arial"/>
              </a:rPr>
              <a:t>Risk Callout</a:t>
            </a:r>
          </a:p>
          <a:p>
            <a:pPr algn="l">
              <a:lnSpc>
                <a:spcPct val="100000"/>
              </a:lnSpc>
              <a:spcBef>
                <a:spcPts val="0"/>
              </a:spcBef>
              <a:spcAft>
                <a:spcPts val="50"/>
              </a:spcAft>
            </a:pPr>
            <a:r>
              <a:rPr sz="1100" b="1" i="0">
                <a:solidFill>
                  <a:srgbClr val="682B31"/>
                </a:solidFill>
                <a:latin typeface="Arial"/>
              </a:rPr>
              <a:t>Approve one-week Harbor East activation</a:t>
            </a:r>
          </a:p>
          <a:p>
            <a:pPr algn="l">
              <a:lnSpc>
                <a:spcPct val="100000"/>
              </a:lnSpc>
              <a:spcBef>
                <a:spcPts val="0"/>
              </a:spcBef>
              <a:spcAft>
                <a:spcPts val="50"/>
              </a:spcAft>
            </a:pPr>
            <a:r>
              <a:rPr sz="1050" b="0" i="0">
                <a:solidFill>
                  <a:srgbClr val="37485C"/>
                </a:solidFill>
                <a:latin typeface="Arial"/>
              </a:rPr>
              <a:t>Temperature stayed inside contract limits; humidity calibration bias keeps spoilage exposure uncertain. Keep the fallback routing available.</a:t>
            </a:r>
          </a:p>
          <a:p>
            <a:pPr algn="l">
              <a:lnSpc>
                <a:spcPct val="100000"/>
              </a:lnSpc>
              <a:spcBef>
                <a:spcPts val="0"/>
              </a:spcBef>
              <a:spcAft>
                <a:spcPts val="0"/>
              </a:spcAft>
            </a:pPr>
            <a:r>
              <a:rPr sz="1050" b="1" i="0">
                <a:solidFill>
                  <a:srgbClr val="2B4F43"/>
                </a:solidFill>
                <a:latin typeface="Arial"/>
              </a:rPr>
              <a:t>Reversible</a:t>
            </a:r>
          </a:p>
        </p:txBody>
      </p:sp>
      <p:sp>
        <p:nvSpPr>
          <p:cNvPr id="10" name="VIZ::Key Takeaway" title="Visembler report text roles: text heading, conclusion next step" descr="VisualizerSemantic:{&quot;body&quot;:&quot;Next step: activate Harbor East for one week, verify humidity calibration on day two, and stop if any lane exceeds 6.0°C for 20 minutes.&quot;,&quot;composition_role&quot;:&quot;conclusion&quot;,&quot;element&quot;:&quot;Key Takeaway&quot;,&quot;engine&quot;:&quot;TextEngine&quot;,&quot;groupId&quot;:null,&quot;h&quot;:96.0,&quot;id&quot;:&quot;c9&quot;,&quot;locked&quot;:false,&quot;message_role&quot;:&quot;Action&quot;,&quot;order&quot;:8,&quot;section_id&quot;:&quot;delivery&quot;,&quot;section_title&quot;:&quot;Next steps&quot;,&quot;showTitle&quot;:false,&quot;text&quot;:&quot;Next step: activate Harbor East for one week, verify humidity calibration on day two, and stop if any lane exceeds 6.0°C for 20 minutes.&quot;,&quot;textAlign&quot;:&quot;left&quot;,&quot;title&quot;:&quot;Key Takeaway&quot;,&quot;type&quot;:&quot;text&quot;,&quot;w&quot;:1572.0,&quot;weight&quot;:1.1,&quot;x&quot;:14.0,&quot;y&quot;:1513.56,&quot;z&quot;:9}"/>
          <p:cNvSpPr/>
          <p:nvPr/>
        </p:nvSpPr>
        <p:spPr>
          <a:xfrm>
            <a:off x="92114" y="9958619"/>
            <a:ext cx="10343131" cy="631642"/>
          </a:xfrm>
          <a:prstGeom prst="roundRect">
            <a:avLst/>
          </a:prstGeom>
          <a:solidFill>
            <a:srgbClr val="FFFFFF"/>
          </a:solidFill>
          <a:ln>
            <a:solidFill>
              <a:srgbClr val="DCDEE2"/>
            </a:solidFill>
          </a:ln>
        </p:spPr>
        <p:style>
          <a:lnRef idx="1">
            <a:schemeClr val="accent1"/>
          </a:lnRef>
          <a:fillRef idx="3">
            <a:schemeClr val="accent1"/>
          </a:fillRef>
          <a:effectRef idx="2">
            <a:schemeClr val="accent1"/>
          </a:effectRef>
          <a:fontRef idx="minor">
            <a:schemeClr val="lt1"/>
          </a:fontRef>
        </p:style>
        <p:txBody>
          <a:bodyPr rtlCol="0" anchor="t" lIns="27432" rIns="27432" tIns="0" bIns="0" wrap="square">
            <a:noAutofit/>
          </a:bodyPr>
          <a:lstStyle/>
          <a:p>
            <a:pPr algn="ctr">
              <a:lnSpc>
                <a:spcPct val="100000"/>
              </a:lnSpc>
              <a:spcBef>
                <a:spcPts val="0"/>
              </a:spcBef>
              <a:spcAft>
                <a:spcPts val="0"/>
              </a:spcAft>
              <a:defRPr sz="1100" b="1">
                <a:solidFill>
                  <a:srgbClr val="1D1D1F"/>
                </a:solidFill>
                <a:latin typeface="Arial"/>
              </a:defRPr>
            </a:pPr>
            <a:r>
              <a:rPr sz="1050" b="1" i="0">
                <a:solidFill>
                  <a:srgbClr val="1C2B3E"/>
                </a:solidFill>
                <a:latin typeface="Arial"/>
              </a:rPr>
              <a:t>Key Takeaway</a:t>
            </a:r>
          </a:p>
          <a:p>
            <a:pPr algn="l">
              <a:lnSpc>
                <a:spcPct val="100000"/>
              </a:lnSpc>
              <a:spcBef>
                <a:spcPts val="0"/>
              </a:spcBef>
              <a:spcAft>
                <a:spcPts val="50"/>
              </a:spcAft>
            </a:pPr>
            <a:r>
              <a:rPr sz="1250" b="1" i="0">
                <a:solidFill>
                  <a:srgbClr val="17324E"/>
                </a:solidFill>
                <a:latin typeface="Arial"/>
              </a:rPr>
              <a:t>Next step: activate Harbor East for one week, verify humidity calibration on day two, and stop if any lane exceeds 6.0°C for 20 minutes.</a:t>
            </a:r>
          </a:p>
        </p:txBody>
      </p:sp>
      <p:sp>
        <p:nvSpPr>
          <p:cNvPr id="12" name="VIZ::Dwell hours by destination lane::chart-label-band"/>
          <p:cNvSpPr/>
          <p:nvPr/>
        </p:nvSpPr>
        <p:spPr>
          <a:xfrm>
            <a:off x="1350121" y="3134521"/>
            <a:ext cx="4479551" cy="55900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VIZ::Dwell hours by destination lane::category-label-axis"/>
          <p:cNvCxnSpPr/>
          <p:nvPr/>
        </p:nvCxnSpPr>
        <p:spPr>
          <a:xfrm>
            <a:off x="1375719" y="3146943"/>
            <a:ext cx="4249174" cy="0"/>
          </a:xfrm>
          <a:prstGeom prst="line">
            <a:avLst/>
          </a:prstGeom>
          <a:ln w="8890">
            <a:solidFill>
              <a:srgbClr val="343E4A"/>
            </a:solidFill>
          </a:ln>
        </p:spPr>
        <p:style>
          <a:lnRef idx="2">
            <a:schemeClr val="accent1"/>
          </a:lnRef>
          <a:fillRef idx="0">
            <a:schemeClr val="accent1"/>
          </a:fillRef>
          <a:effectRef idx="1">
            <a:schemeClr val="accent1"/>
          </a:effectRef>
          <a:fontRef idx="minor">
            <a:schemeClr val="tx1"/>
          </a:fontRef>
        </p:style>
      </p:cxnSp>
      <p:sp>
        <p:nvSpPr>
          <p:cNvPr id="14" name="VIZ::Dwell hours by destination lane::category-label-0"/>
          <p:cNvSpPr txBox="1"/>
          <p:nvPr/>
        </p:nvSpPr>
        <p:spPr>
          <a:xfrm>
            <a:off x="1375719" y="3171788"/>
            <a:ext cx="1487424" cy="152400"/>
          </a:xfrm>
          <a:prstGeom prst="rect">
            <a:avLst/>
          </a:prstGeom>
          <a:noFill/>
        </p:spPr>
        <p:txBody>
          <a:bodyPr wrap="none" anchor="ctr" lIns="0" rIns="0" tIns="0" bIns="0">
            <a:spAutoFit/>
          </a:bodyPr>
          <a:lstStyle/>
          <a:p>
            <a:pPr algn="l">
              <a:defRPr sz="800">
                <a:latin typeface="Arial"/>
              </a:defRPr>
            </a:pPr>
            <a:r>
              <a:t>Harbor East / SL-26-41</a:t>
            </a:r>
          </a:p>
        </p:txBody>
      </p:sp>
      <p:sp>
        <p:nvSpPr>
          <p:cNvPr id="15" name="VIZ::Dwell hours by destination lane::category-label-2"/>
          <p:cNvSpPr txBox="1"/>
          <p:nvPr/>
        </p:nvSpPr>
        <p:spPr>
          <a:xfrm>
            <a:off x="3224748" y="3171788"/>
            <a:ext cx="1613408" cy="152400"/>
          </a:xfrm>
          <a:prstGeom prst="rect">
            <a:avLst/>
          </a:prstGeom>
          <a:noFill/>
        </p:spPr>
        <p:txBody>
          <a:bodyPr wrap="none" anchor="ctr" lIns="0" rIns="0" tIns="0" bIns="0">
            <a:spAutoFit/>
          </a:bodyPr>
          <a:lstStyle/>
          <a:p>
            <a:pPr algn="ctr">
              <a:defRPr sz="800">
                <a:latin typeface="Arial"/>
              </a:defRPr>
            </a:pPr>
            <a:r>
              <a:t>Port Meridian / SL-26-43</a:t>
            </a:r>
          </a:p>
        </p:txBody>
      </p:sp>
      <p:sp>
        <p:nvSpPr>
          <p:cNvPr id="16" name="VIZ::Dwell hours by destination lane::legend-marker-0"/>
          <p:cNvSpPr/>
          <p:nvPr/>
        </p:nvSpPr>
        <p:spPr>
          <a:xfrm>
            <a:off x="1452314" y="3537550"/>
            <a:ext cx="63500" cy="63500"/>
          </a:xfrm>
          <a:prstGeom prst="rect">
            <a:avLst/>
          </a:prstGeom>
          <a:solidFill>
            <a:srgbClr val="1769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VIZ::Dwell hours by destination lane::legend-label-0"/>
          <p:cNvSpPr txBox="1"/>
          <p:nvPr/>
        </p:nvSpPr>
        <p:spPr>
          <a:xfrm>
            <a:off x="1553914" y="3445078"/>
            <a:ext cx="3982079" cy="248445"/>
          </a:xfrm>
          <a:prstGeom prst="rect">
            <a:avLst/>
          </a:prstGeom>
          <a:noFill/>
        </p:spPr>
        <p:txBody>
          <a:bodyPr wrap="none" anchor="ctr" lIns="0" rIns="0" tIns="0" bIns="0">
            <a:spAutoFit/>
          </a:bodyPr>
          <a:lstStyle/>
          <a:p>
            <a:pPr algn="l">
              <a:defRPr sz="1000">
                <a:latin typeface="Arial"/>
              </a:defRPr>
            </a:pPr>
            <a:r>
              <a:t>Median dwell hours</a:t>
            </a:r>
          </a:p>
        </p:txBody>
      </p:sp>
      <p:graphicFrame>
        <p:nvGraphicFramePr>
          <p:cNvPr id="53" name="VIZ::Sailing lane decision evidence" descr="VisualizerSemantic:{&quot;composition_role&quot;:&quot;detailed_evidence&quot;,&quot;customTable&quot;:{&quot;headers&quot;:[&quot;Destination / route&quot;,&quot;Pilot dwell h&quot;,&quot;Excursion min&quot;,&quot;Sensor note&quot;],&quot;rows&quot;:[[&quot;Harbor East / SL-26-41&quot;,14.2,0,&quot;Humidity +3.1 points&quot;],[&quot;North Quay / SL-26-42&quot;,15.6,8,&quot;Calibration pending&quot;],[&quot;Port Meridian / SL-26-43&quot;,16.1,13,&quot;Two readings disputed&quot;],[&quot;South Anchorage / SL-26-44&quot;,14.9,3,&quot;Within check window&quot;]]},&quot;element&quot;:&quot;Clean Table&quot;,&quot;engine&quot;:&quot;TableEngine&quot;,&quot;groupId&quot;:null,&quot;h&quot;:296.0,&quot;id&quot;:&quot;c6&quot;,&quot;locked&quot;:false,&quot;message_role&quot;:&quot;Primary Evidence&quot;,&quot;order&quot;:6,&quot;rows&quot;:[[&quot;Harbor East / SL-26-41&quot;,14.2,0,&quot;Humidity +3.1 points&quot;],[&quot;North Quay / SL-26-42&quot;,15.6,8,&quot;Calibration pending&quot;],[&quot;Port Meridian / SL-26-43&quot;,16.1,13,&quot;Two readings disputed&quot;],[&quot;South Anchorage / SL-26-44&quot;,14.9,3,&quot;Within check window&quot;]],&quot;section_id&quot;:&quot;evidence&quot;,&quot;section_title&quot;:&quot;Evidence&quot;,&quot;showTitle&quot;:true,&quot;textAlign&quot;:&quot;left&quot;,&quot;title&quot;:&quot;Sailing lane decision evidence&quot;,&quot;type&quot;:&quot;table&quot;,&quot;w&quot;:1572.0,&quot;weight&quot;:1.55,&quot;x&quot;:14.0,&quot;y&quot;:974.56,&quot;z&quot;:6}"/>
          <p:cNvGraphicFramePr>
            <a:graphicFrameLocks noGrp="1"/>
          </p:cNvGraphicFramePr>
          <p:nvPr/>
        </p:nvGraphicFramePr>
        <p:xfrm>
          <a:off x="92114" y="6412214"/>
          <a:ext cx="10343131" cy="1947561"/>
        </p:xfrm>
        <a:graphic>
          <a:graphicData uri="http://schemas.openxmlformats.org/drawingml/2006/table">
            <a:tbl>
              <a:tblPr firstRow="1" bandRow="1">
                <a:tableStyleId>{5C22544A-7EE6-4342-B048-85BDC9FD1C3A}</a:tableStyleId>
              </a:tblPr>
              <a:tblGrid>
                <a:gridCol w="2585782"/>
                <a:gridCol w="2585782"/>
                <a:gridCol w="2585782"/>
                <a:gridCol w="2585785"/>
              </a:tblGrid>
              <a:tr h="389512">
                <a:tc>
                  <a:txBody>
                    <a:bodyPr/>
                    <a:lstStyle/>
                    <a:p>
                      <a:pPr>
                        <a:defRPr sz="900" b="1"/>
                      </a:pPr>
                      <a:r>
                        <a:t>Destination / route</a:t>
                      </a:r>
                    </a:p>
                  </a:txBody>
                  <a:tcPr/>
                </a:tc>
                <a:tc>
                  <a:txBody>
                    <a:bodyPr/>
                    <a:lstStyle/>
                    <a:p>
                      <a:pPr>
                        <a:defRPr sz="900" b="1"/>
                      </a:pPr>
                      <a:r>
                        <a:t>Pilot dwell h</a:t>
                      </a:r>
                    </a:p>
                  </a:txBody>
                  <a:tcPr/>
                </a:tc>
                <a:tc>
                  <a:txBody>
                    <a:bodyPr/>
                    <a:lstStyle/>
                    <a:p>
                      <a:pPr>
                        <a:defRPr sz="900" b="1"/>
                      </a:pPr>
                      <a:r>
                        <a:t>Excursion min</a:t>
                      </a:r>
                    </a:p>
                  </a:txBody>
                  <a:tcPr/>
                </a:tc>
                <a:tc>
                  <a:txBody>
                    <a:bodyPr/>
                    <a:lstStyle/>
                    <a:p>
                      <a:pPr>
                        <a:defRPr sz="900" b="1"/>
                      </a:pPr>
                      <a:r>
                        <a:t>Sensor note</a:t>
                      </a:r>
                    </a:p>
                  </a:txBody>
                  <a:tcPr/>
                </a:tc>
              </a:tr>
              <a:tr h="389512">
                <a:tc>
                  <a:txBody>
                    <a:bodyPr/>
                    <a:lstStyle/>
                    <a:p>
                      <a:pPr>
                        <a:defRPr sz="900" b="0"/>
                      </a:pPr>
                      <a:r>
                        <a:t>Harbor East / SL-26-41</a:t>
                      </a:r>
                    </a:p>
                  </a:txBody>
                  <a:tcPr/>
                </a:tc>
                <a:tc>
                  <a:txBody>
                    <a:bodyPr/>
                    <a:lstStyle/>
                    <a:p>
                      <a:pPr>
                        <a:defRPr sz="900" b="0"/>
                      </a:pPr>
                      <a:r>
                        <a:t>14.2</a:t>
                      </a:r>
                    </a:p>
                  </a:txBody>
                  <a:tcPr/>
                </a:tc>
                <a:tc>
                  <a:txBody>
                    <a:bodyPr/>
                    <a:lstStyle/>
                    <a:p>
                      <a:pPr>
                        <a:defRPr sz="900" b="0"/>
                      </a:pPr>
                      <a:r>
                        <a:t>0</a:t>
                      </a:r>
                    </a:p>
                  </a:txBody>
                  <a:tcPr/>
                </a:tc>
                <a:tc>
                  <a:txBody>
                    <a:bodyPr/>
                    <a:lstStyle/>
                    <a:p>
                      <a:pPr>
                        <a:defRPr sz="900" b="0"/>
                      </a:pPr>
                      <a:r>
                        <a:t>Humidity +3.1 points</a:t>
                      </a:r>
                    </a:p>
                  </a:txBody>
                  <a:tcPr/>
                </a:tc>
              </a:tr>
              <a:tr h="389512">
                <a:tc>
                  <a:txBody>
                    <a:bodyPr/>
                    <a:lstStyle/>
                    <a:p>
                      <a:pPr>
                        <a:defRPr sz="900" b="0"/>
                      </a:pPr>
                      <a:r>
                        <a:t>North Quay / SL-26-42</a:t>
                      </a:r>
                    </a:p>
                  </a:txBody>
                  <a:tcPr/>
                </a:tc>
                <a:tc>
                  <a:txBody>
                    <a:bodyPr/>
                    <a:lstStyle/>
                    <a:p>
                      <a:pPr>
                        <a:defRPr sz="900" b="0"/>
                      </a:pPr>
                      <a:r>
                        <a:t>15.6</a:t>
                      </a:r>
                    </a:p>
                  </a:txBody>
                  <a:tcPr/>
                </a:tc>
                <a:tc>
                  <a:txBody>
                    <a:bodyPr/>
                    <a:lstStyle/>
                    <a:p>
                      <a:pPr>
                        <a:defRPr sz="900" b="0"/>
                      </a:pPr>
                      <a:r>
                        <a:t>8</a:t>
                      </a:r>
                    </a:p>
                  </a:txBody>
                  <a:tcPr/>
                </a:tc>
                <a:tc>
                  <a:txBody>
                    <a:bodyPr/>
                    <a:lstStyle/>
                    <a:p>
                      <a:pPr>
                        <a:defRPr sz="900" b="0"/>
                      </a:pPr>
                      <a:r>
                        <a:t>Calibration pending</a:t>
                      </a:r>
                    </a:p>
                  </a:txBody>
                  <a:tcPr/>
                </a:tc>
              </a:tr>
              <a:tr h="389512">
                <a:tc>
                  <a:txBody>
                    <a:bodyPr/>
                    <a:lstStyle/>
                    <a:p>
                      <a:pPr>
                        <a:defRPr sz="900" b="0"/>
                      </a:pPr>
                      <a:r>
                        <a:t>Port Meridian / SL-26-43</a:t>
                      </a:r>
                    </a:p>
                  </a:txBody>
                  <a:tcPr/>
                </a:tc>
                <a:tc>
                  <a:txBody>
                    <a:bodyPr/>
                    <a:lstStyle/>
                    <a:p>
                      <a:pPr>
                        <a:defRPr sz="900" b="0"/>
                      </a:pPr>
                      <a:r>
                        <a:t>16.1</a:t>
                      </a:r>
                    </a:p>
                  </a:txBody>
                  <a:tcPr/>
                </a:tc>
                <a:tc>
                  <a:txBody>
                    <a:bodyPr/>
                    <a:lstStyle/>
                    <a:p>
                      <a:pPr>
                        <a:defRPr sz="900" b="0"/>
                      </a:pPr>
                      <a:r>
                        <a:t>13</a:t>
                      </a:r>
                    </a:p>
                  </a:txBody>
                  <a:tcPr/>
                </a:tc>
                <a:tc>
                  <a:txBody>
                    <a:bodyPr/>
                    <a:lstStyle/>
                    <a:p>
                      <a:pPr>
                        <a:defRPr sz="900" b="0"/>
                      </a:pPr>
                      <a:r>
                        <a:t>Two readings disputed</a:t>
                      </a:r>
                    </a:p>
                  </a:txBody>
                  <a:tcPr/>
                </a:tc>
              </a:tr>
              <a:tr h="389513">
                <a:tc>
                  <a:txBody>
                    <a:bodyPr/>
                    <a:lstStyle/>
                    <a:p>
                      <a:pPr>
                        <a:defRPr sz="900" b="0"/>
                      </a:pPr>
                      <a:r>
                        <a:t>South Anchorage / SL-26-44</a:t>
                      </a:r>
                    </a:p>
                  </a:txBody>
                  <a:tcPr/>
                </a:tc>
                <a:tc>
                  <a:txBody>
                    <a:bodyPr/>
                    <a:lstStyle/>
                    <a:p>
                      <a:pPr>
                        <a:defRPr sz="900" b="0"/>
                      </a:pPr>
                      <a:r>
                        <a:t>14.9</a:t>
                      </a:r>
                    </a:p>
                  </a:txBody>
                  <a:tcPr/>
                </a:tc>
                <a:tc>
                  <a:txBody>
                    <a:bodyPr/>
                    <a:lstStyle/>
                    <a:p>
                      <a:pPr>
                        <a:defRPr sz="900" b="0"/>
                      </a:pPr>
                      <a:r>
                        <a:t>3</a:t>
                      </a:r>
                    </a:p>
                  </a:txBody>
                  <a:tcPr/>
                </a:tc>
                <a:tc>
                  <a:txBody>
                    <a:bodyPr/>
                    <a:lstStyle/>
                    <a:p>
                      <a:pPr>
                        <a:defRPr sz="900" b="0"/>
                      </a:pPr>
                      <a:r>
                        <a:t>Within check window</a:t>
                      </a:r>
                    </a:p>
                  </a:txBody>
                  <a:tcPr/>
                </a:tc>
              </a:tr>
            </a:tbl>
          </a:graphicData>
        </a:graphic>
      </p:graphicFrame>
      <p:sp>
        <p:nvSpPr>
          <p:cNvPr id="54" name="VIZ::SemanticReport" descr="VisualizerSemanticReport:{&quot;authoring_schema&quot;:&quot;authoring-p0-v1&quot;,&quot;canvas&quot;:{&quot;height&quot;:900,&quot;width&quot;:1600},&quot;crossFilter&quot;:null,&quot;crossFilters&quot;:[],&quot;datasets&quot;:[{&quot;fields&quot;:[{&quot;id&quot;:&quot;destination_lane_sailing_window_1&quot;,&quot;name&quot;:&quot;Destination lane / sailing window&quot;,&quot;nullable&quot;:false,&quot;profile&quot;:{&quot;distinct&quot;:4,&quot;missing&quot;:0},&quot;semantic_tags&quot;:[],&quot;type&quot;:&quot;string&quot;},{&quot;id&quot;:&quot;median_dwell_hours_2&quot;,&quot;name&quot;:&quot;Median dwell hours&quot;,&quot;nullable&quot;:false,&quot;profile&quot;:{&quot;distinct&quot;:4,&quot;missing&quot;:0},&quot;semantic_tags&quot;:[],&quot;type&quot;:&quot;number&quot;,&quot;unit&quot;:&quot;&quot;}],&quot;id&quot;:&quot;dataset-mujd0ijm-w85p8s&quot;,&quot;metadata&quot;:{&quot;header&quot;:{&quot;confidence&quot;:0.75,&quot;present&quot;:true,&quot;source_row&quot;:0}},&quot;name&quot;:&quot;Pasted data&quot;,&quot;revision&quot;:1,&quot;rows&quot;:[[&quot;Harbor East / SL-26-41&quot;,14.2],[&quot;North Quay / SL-26-42&quot;,15.6],[&quot;Port Meridian / SL-26-43&quot;,16.1],[&quot;South Anchorage / SL-26-44&quot;,14.9]],&quot;source&quot;:{&quot;imported_at&quot;:&quot;2026-09-27T05:09:56.578Z&quot;,&quot;kind&quot;:&quot;clipboard&quot;,&quot;label&quot;:&quot;TSV&quot;},&quot;warnings&quot;:[]},{&quot;fields&quot;:[{&quot;id&quot;:&quot;destination_lane_1&quot;,&quot;name&quot;:&quot;Destination lane&quot;,&quot;nullable&quot;:false,&quot;profile&quot;:{&quot;distinct&quot;:4,&quot;missing&quot;:0},&quot;semantic_tags&quot;:[],&quot;type&quot;:&quot;categorical&quot;},{&quot;id&quot;:&quot;temperature_excursion_minutes_2&quot;,&quot;name&quot;:&quot;Temperature excursion minutes&quot;,&quot;nullable&quot;:false,&quot;profile&quot;:{&quot;distinct&quot;:8,&quot;missing&quot;:0},&quot;semantic_tags&quot;:[],&quot;type&quot;:&quot;integer&quot;,&quot;unit&quot;:&quot;&quot;}],&quot;id&quot;:&quot;dataset-mujd0lfp-1q9e7e&quot;,&quot;metadata&quot;:{&quot;header&quot;:{&quot;confidence&quot;:0.75,&quot;present&quot;:true,&quot;source_row&quot;:0}},&quot;name&quot;:&quot;Pasted data&quot;,&quot;revision&quot;:1,&quot;rows&quot;:[[&quot;Harbor East&quot;,0],[&quot;Harbor East&quot;,5],[&quot;Harbor East&quot;,0],[&quot;North Quay&quot;,8],[&quot;North Quay&quot;,0],[&quot;North Quay&quot;,4],[&quot;Port Meridian&quot;,13],[&quot;Port Meridian&quot;,7],[&quot;Port Meridian&quot;,0],[&quot;South Anchorage&quot;,3],[&quot;South Anchorage&quot;,0],[&quot;South Anchorage&quot;,2]],&quot;source&quot;:{&quot;imported_at&quot;:&quot;2026-09-27T05:10:00.325Z&quot;,&quot;kind&quot;:&quot;clipboard&quot;,&quot;label&quot;:&quot;TSV&quot;},&quot;warnings&quot;:[]}],&quot;groups&quot;:{},&quot;items&quot;:[{&quot;body&quot;:&quot;Activate one Saffron Link micro-hub for the late sailing window.&quot;,&quot;composition_role&quot;:&quot;report_headline&quot;,&quot;element&quot;:&quot;Hero Title&quot;,&quot;engine&quot;:&quot;TextEngine&quot;,&quot;groupId&quot;:null,&quot;h&quot;:109.76,&quot;id&quot;:&quot;c1&quot;,&quot;locked&quot;:false,&quot;message_role&quot;:&quot;Headline&quot;,&quot;order&quot;:0,&quot;section_id&quot;:&quot;opening&quot;,&quot;section_title&quot;:&quot;Overview&quot;,&quot;showTitle&quot;:false,&quot;text&quot;:&quot;Activate one Saffron Link micro-hub for the late sailing window.&quot;,&quot;textAlign&quot;:&quot;left&quot;,&quot;title&quot;:&quot;Hero Title&quot;,&quot;type&quot;:&quot;text&quot;,&quot;w&quot;:520,&quot;weight&quot;:1.1,&quot;x&quot;:14,&quot;y&quot;:14,&quot;z&quot;:1},{&quot;capability_overrides&quot;:{&quot;target&quot;:18},&quot;composition_role&quot;:&quot;hero_metric&quot;,&quot;delta&quot;:-3.8,&quot;element&quot;:&quot;Hero KPI&quot;,&quot;engine&quot;:&quot;MetricEngine&quot;,&quot;groupId&quot;:null,&quot;h&quot;:152.32000000000002,&quot;id&quot;:&quot;c2&quot;,&quot;locked&quot;:false,&quot;message_role&quot;:&quot;Supporting Evidence&quot;,&quot;metric_format&quot;:{&quot;compact_divisor&quot;:null,&quot;compact_unit&quot;:&quot;&quot;,&quot;kind&quot;:&quot;auto&quot;,&quot;null_display&quot;:&quot;—&quot;,&quot;percent_scale&quot;:&quot;points&quot;,&quot;precision&quot;:null,&quot;prefix&quot;:&quot;&quot;,&quot;signDisplay&quot;:&quot;auto&quot;,&quot;suffix&quot;:&quot;h&quot;},&quot;order&quot;:1,&quot;period&quot;:&quot;vs prior period&quot;,&quot;section_id&quot;:&quot;performance&quot;,&quot;section_title&quot;:&quot;Performance&quot;,&quot;showTitle&quot;:true,&quot;target&quot;:18,&quot;textAlign&quot;:&quot;left&quot;,&quot;title&quot;:&quot;Median port dwell&quot;,&quot;type&quot;:&quot;metric&quot;,&quot;unit&quot;:&quot;h&quot;,&quot;value&quot;:14.2,&quot;w&quot;:520,&quot;weight&quot;:1.15,&quot;x&quot;:548,&quot;y&quot;:14,&quot;z&quot;:2},{&quot;after&quot;:14.2,&quot;before&quot;:18,&quot;composition_role&quot;:&quot;hero_metric&quot;,&quot;element&quot;:&quot;Before/After KPI&quot;,&quot;engine&quot;:&quot;ComparisonEngine&quot;,&quot;groupId&quot;:null,&quot;h&quot;:150,&quot;id&quot;:&quot;c3&quot;,&quot;locked&quot;:false,&quot;message_role&quot;:&quot;Supporting Evidence&quot;,&quot;metric_format&quot;:{&quot;compact_divisor&quot;:null,&quot;compact_unit&quot;:&quot;&quot;,&quot;kind&quot;:&quot;auto&quot;,&quot;null_display&quot;:&quot;—&quot;,&quot;percent_scale&quot;:&quot;points&quot;,&quot;precision&quot;:null,&quot;prefix&quot;:&quot;&quot;,&quot;signDisplay&quot;:&quot;auto&quot;,&quot;suffix&quot;:&quot;h&quot;},&quot;order&quot;:2,&quot;section_id&quot;:&quot;performance&quot;,&quot;section_title&quot;:&quot;Performance&quot;,&quot;showTitle&quot;:true,&quot;textAlign&quot;:&quot;left&quot;,&quot;title&quot;:&quot;Baseline vs pilot dwell&quot;,&quot;type&quot;:&quot;comparison&quot;,&quot;unit&quot;:&quot;h&quot;,&quot;w&quot;:430,&quot;weight&quot;:1.15,&quot;x&quot;:1082,&quot;y&quot;:14,&quot;z&quot;:3},{&quot;brush&quot;:[0,4],&quot;chart_studio&quot;:{&quot;adapter&quot;:{&quot;authority&quot;:&quot;Visembler canonical chart renderer&quot;,&quot;name&quot;:&quot;Visembler SVG Chart Adapter&quot;,&quot;offline&quot;:true,&quot;renderer&quot;:&quot;svg&quot;,&quot;version&quot;:2},&quot;analysis_error&quot;:null,&quot;analysis_kind&quot;:null,&quot;analysis_semantics&quot;:null,&quot;annotations&quot;:[],&quot;authoritative_analysis&quot;:null,&quot;axes&quot;:{&quot;secondaryY&quot;:{&quot;auto&quot;:true,&quot;enabled&quot;:false,&quot;format&quot;:&quot;auto&quot;,&quot;max&quot;:null,&quot;min&quot;:null,&quot;precision&quot;:null,&quot;prefix&quot;:&quot;&quot;,&quot;series&quot;:[],&quot;suffix&quot;:&quot;&quot;,&quot;tickCount&quot;:5,&quot;title&quot;:&quot;&quot;,&quot;unit&quot;:&quot;&quot;},&quot;x&quot;:{&quot;auto&quot;:true,&quot;format&quot;:&quot;auto&quot;,&quot;grid&quot;:true,&quot;labelInterval&quot;:1,&quot;max&quot;:null,&quot;min&quot;:null,&quot;position&quot;:&quot;bottom&quot;,&quot;precision&quot;:null,&quot;rotation&quot;:0,&quot;scale&quot;:&quot;auto&quot;,&quot;show&quot;:true,&quot;tickCount&quot;:6,&quot;title&quot;:&quot;&quot;,&quot;zeroBaseline&quot;:false},&quot;y&quot;:{&quot;auto&quot;:true,&quot;format&quot;:&quot;auto&quot;,&quot;grid&quot;:true,&quot;labelInterval&quot;:null,&quot;max&quot;:null,&quot;min&quot;:null,&quot;position&quot;:&quot;left&quot;,&quot;precision&quot;:null,&quot;prefix&quot;:&quot;&quot;,&quot;rotation&quot;:0,&quot;scale&quot;:&quot;linear&quot;,&quot;show&quot;:true,&quot;suffix&quot;:&quot;&quot;,&quot;tickCount&quot;:5,&quot;title&quot;:&quot;&quot;,&quot;unit&quot;:&quot;&quot;,&quot;zeroBaseline&quot;:false}},&quot;chart_type&quot;:&quot;Line Chart&quot;,&quot;dataset&quot;:{&quot;fields&quot;:[{&quot;id&quot;:&quot;destination_lane_sailing_window_1&quot;,&quot;name&quot;:&quot;Destination lane / sailing window&quot;,&quot;nullable&quot;:false,&quot;profile&quot;:{&quot;distinct&quot;:4,&quot;missing&quot;:0},&quot;semantic_tags&quot;:[],&quot;type&quot;:&quot;string&quot;},{&quot;id&quot;:&quot;median_dwell_hours_2&quot;,&quot;name&quot;:&quot;Median dwell hours&quot;,&quot;nullable&quot;:false,&quot;profile&quot;:{&quot;distinct&quot;:4,&quot;missing&quot;:0},&quot;semantic_tags&quot;:[],&quot;type&quot;:&quot;number&quot;,&quot;unit&quot;:&quot;&quot;}],&quot;id&quot;:&quot;dataset-mujd0ijm-w85p8s&quot;,&quot;metadata&quot;:{&quot;header&quot;:{&quot;confidence&quot;:0.75,&quot;present&quot;:true,&quot;source_row&quot;:0}},&quot;name&quot;:&quot;Pasted data&quot;,&quot;revision&quot;:1,&quot;rows&quot;:[[&quot;Harbor East / SL-26-41&quot;,14.2],[&quot;North Quay / SL-26-42&quot;,15.6],[&quot;Port Meridian / SL-26-43&quot;,16.1],[&quot;South Anchorage / SL-26-44&quot;,14.9]],&quot;source&quot;:{&quot;imported_at&quot;:&quot;2026-09-27T05:09:56.578Z&quot;,&quot;kind&quot;:&quot;clipboard&quot;,&quot;label&quot;:&quot;TSV&quot;},&quot;warnings&quot;:[]},&quot;dataset_id&quot;:&quot;dataset-mujd0ijm-w85p8s&quot;,&quot;engineering&quot;:{&quot;L&quot;:3,&quot;h&quot;:320,&quot;k&quot;:0.5,&quot;lambda&quot;:0.2,&quot;lsl&quot;:null,&quot;sigma&quot;:null,&quot;target&quot;:null,&quot;usl&quot;:null},&quot;fab&quot;:{&quot;aggregation&quot;:&quot;mean&quot;},&quot;interaction&quot;:{&quot;brush&quot;:false,&quot;crossFilter&quot;:false,&quot;crosshair&quot;:false,&quot;legendFilter&quot;:true,&quot;pan&quot;:true,&quot;rangeSelector&quot;:false,&quot;resetZoom&quot;:true,&quot;tooltip&quot;:true,&quot;transientSelection&quot;:[],&quot;zoom&quot;:true},&quot;legend&quot;:{&quot;interactive&quot;:true,&quot;order&quot;:&quot;input&quot;,&quot;orientation&quot;:&quot;horizontal&quot;,&quot;position&quot;:&quot;bottom&quot;,&quot;scroll&quot;:true,&quot;show&quot;:true},&quot;mapping&quot;:{&quot;category&quot;:&quot;destination_lane_sailing_window_1&quot;,&quot;value&quot;:&quot;median_dwell_hours_2&quot;,&quot;x&quot;:&quot;destination_lane_sailing_window_1&quot;,&quot;y&quot;:&quot;median_dwell_hours_2&quot;},&quot;recipe&quot;:null,&quot;recommendations&quot;:[{&quot;confidence&quot;:0.93,&quot;mapping&quot;:{&quot;category&quot;:&quot;destination_lane_sailing_window_1&quot;,&quot;value&quot;:&quot;median_dwell_hours_2&quot;,&quot;x&quot;:&quot;destination_lane_sailing_window_1&quot;,&quot;y&quot;:&quot;median_dwell_hours_2&quot;},&quot;reason&quot;:&quot;A horizontal field and numeric measure are available.&quot;,&quot;type&quot;:&quot;Line Chart&quot;},{&quot;confidence&quot;:0.9,&quot;mapping&quot;:{&quot;category&quot;:&quot;destination_lane_sailing_window_1&quot;,&quot;value&quot;:&quot;median_dwell_hours_2&quot;,&quot;x&quot;:&quot;destination_lane_sailing_window_1&quot;,&quot;y&quot;:&quot;median_dwell_hours_2&quot;},&quot;reason&quot;:&quot;A shared axis can compare multiple runs when a series field is available.&quot;,&quot;type&quot;:&quot;Multi-Line&quot;},{&quot;confidence&quot;:0.9,&quot;mapping&quot;:{&quot;category&quot;:&quot;destination_lane_sailing_window_1&quot;,&quot;value&quot;:&quot;median_dwell_hours_2&quot;,&quot;x&quot;:&quot;destination_lane_sailing_window_1&quot;,&quot;y&quot;:&quot;median_dwell_hours_2&quot;},&quot;reason&quot;:&quot;A category and measured value are available.&quot;,&quot;type&quot;:&quot;Vertical Bar&quot;},{&quot;confidence&quot;:0.87,&quot;mapping&quot;:{&quot;category&quot;:&quot;destination_lane_sailing_window_1&quot;,&quot;value&quot;:&quot;median_dwell_hours_2&quot;,&quot;x&quot;:&quot;destination_lane_sailing_window_1&quot;,&quot;y&quot;:&quot;median_dwell_hours_2&quot;},&quot;reason&quot;:&quot;The same trend mapping can show accumulated movement.&quot;,&quot;type&quot;:&quot;Area Chart&quot;},{&quot;confidence&quot;:0.82,&quot;mapping&quot;:{&quot;category&quot;:&quot;destination_lane_sailing_window_1&quot;,&quot;value&quot;:&quot;median_dwell_hours_2&quot;,&quot;x&quot;:&quot;destination_lane_sailing_window_1&quot;,&quot;y&quot;:&quot;median_dwell_hours_2&quot;},&quot;reason&quot;:&quot;A horizontal ranking keeps category labels readable.&quot;,&quot;type&quot;:&quot;Horizontal Bar&quot;},{&quot;confidence&quot;:0.8,&quot;mapping&quot;:{&quot;category&quot;:&quot;destination_lane_sailing_window_1&quot;,&quot;value&quot;:&quot;median_dwell_hours_2&quot;,&quot;x&quot;:&quot;destination_lane_sailing_window_1&quot;,&quot;y&quot;:&quot;median_dwell_hours_2&quot;},&quot;reason&quot;:&quot;Categorical contribution can be ranked with cumulative share.&quot;,&quot;type&quot;:&quot;Pareto&quot;}],&quot;reference_bands&quot;:[],&quot;reference_lines&quot;:[],&quot;schema&quot;:&quot;visembler.chart.studio&quot;,&quot;series&quot;:[{&quot;axis&quot;:&quot;primary&quot;,&quot;color&quot;:&quot;#1769d1&quot;,&quot;field&quot;:&quot;median_dwell_hours_2&quot;,&quot;id&quot;:&quot;series-1&quot;,&quot;label&quot;:&quot;Median dwell hours&quot;,&quot;legend&quot;:true,&quot;lineDash&quot;:null,&quot;lineWidth&quot;:null,&quot;markers&quot;:true,&quot;smoothing&quot;:false,&quot;type&quot;:&quot;line&quot;,&quot;visible&quot;:true}],&quot;statistical_result&quot;:null,&quot;transforms&quot;:{&quot;steps&quot;:[]},&quot;version&quot;:1,&quot;visual&quot;:{&quot;areaOpacity&quot;:0.25,&quot;barMode&quot;:&quot;grouped&quot;,&quot;barWidth&quot;:0.62,&quot;bins&quot;:null,&quot;dataLabels&quot;:false,&quot;gap&quot;:0.2,&quot;labelPosition&quot;:&quot;top&quot;,&quot;lineDash&quot;:&quot;solid&quot;,&quot;lineWidth&quot;:2.5,&quot;markers&quot;:true,&quot;missingPolicy&quot;:&quot;gap&quot;,&quot;palette&quot;:&quot;report&quot;,&quot;smoothing&quot;:false,&quot;theme&quot;:&quot;system&quot;},&quot;wafer&quot;:{&quot;clamp&quot;:true,&quot;colorMode&quot;:&quot;continuous&quot;,&quot;differenceScaleMaximum&quot;:null,&quot;differenceScaleMode&quot;:&quot;automatic&quot;,&quot;filters&quot;:{&quot;bin&quot;:&quot;&quot;,&quot;chamber&quot;:&quot;&quot;,&quot;lot&quot;:&quot;&quot;,&quot;route&quot;:&quot;&quot;,&quot;tool&quot;:&quot;&quot;,&quot;wafer&quot;:&quot;&quot;},&quot;identityRoles&quot;:[&quot;lot_id&quot;,&quot;wafer_id&quot;,&quot;tool&quot;,&quot;chamber&quot;,&quot;recipe&quot;,&quot;process&quot;,&quot;route&quot;,&quot;product&quot;],&quot;max&quot;:null,&quot;min&quot;:null,&quot;missingColor&quot;:&quot;#c7d0dc&quot;,&quot;notch&quot;:&quot;top&quot;,&quot;selected&quot;:[],&quot;specHigh&quot;:null,&quot;specLow&quot;:null,&quot;tooltipRoles&quot;:[&quot;die_x&quot;,&quot;die_y&quot;,&quot;value&quot;,&quot;lot_id&quot;,&quot;wafer_id&quot;,&quot;tool&quot;,&quot;chamber&quot;]},&quot;why&quot;:&quot;A horizontal field and numeric measure are available.&quot;},&quot;composition_role&quot;:&quot;primary_analysis&quot;,&quot;cross&quot;:null,&quot;data&quot;:[[&quot;Harbor East / SL-26-41&quot;,14.2],[&quot;North Quay / SL-26-42&quot;,15.6],[&quot;Port Meridian / SL-26-43&quot;,16.1],[&quot;South Anchorage / SL-26-44&quot;,14.9]],&quot;dataset_id&quot;:&quot;dataset-mujd0ijm-w85p8s&quot;,&quot;drill&quot;:null,&quot;element&quot;:&quot;Line Chart&quot;,&quot;engine&quot;:&quot;CoreChartEngine&quot;,&quot;groupId&quot;:null,&quot;h&quot;:320,&quot;id&quot;:&quot;c4&quot;,&quot;locked&quot;:false,&quot;mapping&quot;:{&quot;category&quot;:&quot;destination_lane_sailing_window_1&quot;,&quot;value&quot;:&quot;median_dwell_hours_2&quot;,&quot;x&quot;:&quot;destination_lane_sailing_window_1&quot;,&quot;y&quot;:&quot;median_dwell_hours_2&quot;},&quot;message_role&quot;:&quot;Primary Evidence&quot;,&quot;order&quot;:3,&quot;revealed&quot;:true,&quot;rows&quot;:[{&quot;label&quot;:&quot;Harbor East / SL-26-41&quot;,&quot;value&quot;:14.2},{&quot;label&quot;:&quot;North Quay / SL-26-42&quot;,&quot;value&quot;:15.6},{&quot;label&quot;:&quot;Port Meridian / SL-26-43&quot;,&quot;value&quot;:16.1},{&quot;label&quot;:&quot;South Anchorage / SL-26-44&quot;,&quot;value&quot;:14.9}],&quot;section_id&quot;:&quot;analysis&quot;,&quot;section_title&quot;:&quot;Analysis&quot;,&quot;showTitle&quot;:true,&quot;statistical_result&quot;:null,&quot;textAlign&quot;:&quot;left&quot;,&quot;title&quot;:&quot;Dwell hours by destination lane&quot;,&quot;transform_recipe&quot;:{&quot;steps&quot;:[]},&quot;type&quot;:&quot;chart&quot;,&quot;variant&quot;:&quot;line&quot;,&quot;w&quot;:520,&quot;weight&quot;:1.8,&quot;x&quot;:14,&quot;y&quot;:137.76,&quot;z&quot;:4},{&quot;brush&quot;:[0,4],&quot;chart_studio&quot;:{&quot;adapter&quot;:{&quot;authority&quot;:&quot;Visembler canonical chart renderer&quot;,&quot;name&quot;:&quot;Visembler SVG Chart Adapter&quot;,&quot;offline&quot;:true,&quot;renderer&quot;:&quot;svg&quot;,&quot;version&quot;:2},&quot;analysis_error&quot;:null,&quot;analysis_kind&quot;:null,&quot;analysis_semantics&quot;:null,&quot;annotations&quot;:[],&quot;authoritative_analysis&quot;:null,&quot;axes&quot;:{&quot;secondaryY&quot;:{&quot;auto&quot;:true,&quot;enabled&quot;:false,&quot;format&quot;:&quot;auto&quot;,&quot;max&quot;:null,&quot;min&quot;:null,&quot;precision&quot;:null,&quot;prefix&quot;:&quot;&quot;,&quot;series&quot;:[],&quot;suffix&quot;:&quot;&quot;,&quot;tickCount&quot;:5,&quot;title&quot;:&quot;&quot;,&quot;unit&quot;:&quot;&quot;},&quot;x&quot;:{&quot;auto&quot;:true,&quot;format&quot;:&quot;auto&quot;,&quot;grid&quot;:true,&quot;labelInterval&quot;:2,&quot;max&quot;:null,&quot;min&quot;:null,&quot;position&quot;:&quot;bottom&quot;,&quot;precision&quot;:null,&quot;rotation&quot;:35,&quot;scale&quot;:&quot;auto&quot;,&quot;show&quot;:true,&quot;tickCount&quot;:6,&quot;title&quot;:&quot;&quot;,&quot;zeroBaseline&quot;:false},&quot;y&quot;:{&quot;auto&quot;:true,&quot;format&quot;:&quot;auto&quot;,&quot;grid&quot;:true,&quot;labelInterval&quot;:null,&quot;max&quot;:null,&quot;min&quot;:null,&quot;position&quot;:&quot;left&quot;,&quot;precision&quot;:null,&quot;prefix&quot;:&quot;&quot;,&quot;rotation&quot;:0,&quot;scale&quot;:&quot;linear&quot;,&quot;show&quot;:true,&quot;suffix&quot;:&quot;&quot;,&quot;tickCount&quot;:5,&quot;title&quot;:&quot;&quot;,&quot;unit&quot;:&quot;&quot;,&quot;zeroBaseline&quot;:false}},&quot;chart_type&quot;:&quot;Box Plot&quot;,&quot;dataset&quot;:{&quot;fields&quot;:[{&quot;id&quot;:&quot;destination_lane_1&quot;,&quot;name&quot;:&quot;Destination lane&quot;,&quot;nullable&quot;:false,&quot;profile&quot;:{&quot;distinct&quot;:4,&quot;missing&quot;:0},&quot;semantic_tags&quot;:[],&quot;type&quot;:&quot;categorical&quot;},{&quot;id&quot;:&quot;temperature_excursion_minutes_2&quot;,&quot;name&quot;:&quot;Temperature excursion minutes&quot;,&quot;nullable&quot;:false,&quot;profile&quot;:{&quot;distinct&quot;:8,&quot;missing&quot;:0},&quot;semantic_tags&quot;:[],&quot;type&quot;:&quot;integer&quot;,&quot;unit&quot;:&quot;&quot;}],&quot;id&quot;:&quot;dataset-mujd0lfp-1q9e7e&quot;,&quot;metadata&quot;:{&quot;header&quot;:{&quot;confidence&quot;:0.75,&quot;present&quot;:true,&quot;source_row&quot;:0}},&quot;name&quot;:&quot;Pasted data&quot;,&quot;revision&quot;:1,&quot;rows&quot;:[[&quot;Harbor East&quot;,0],[&quot;Harbor East&quot;,5],[&quot;Harbor East&quot;,0],[&quot;North Quay&quot;,8],[&quot;North Quay&quot;,0],[&quot;North Quay&quot;,4],[&quot;Port Meridian&quot;,13],[&quot;Port Meridian&quot;,7],[&quot;Port Meridian&quot;,0],[&quot;South Anchorage&quot;,3],[&quot;South Anchorage&quot;,0],[&quot;South Anchorage&quot;,2]],&quot;source&quot;:{&quot;imported_at&quot;:&quot;2026-09-27T05:10:00.325Z&quot;,&quot;kind&quot;:&quot;clipboard&quot;,&quot;label&quot;:&quot;TSV&quot;},&quot;warnings&quot;:[]},&quot;dataset_id&quot;:&quot;dataset-mujd0lfp-1q9e7e&quot;,&quot;engineering&quot;:{&quot;L&quot;:3,&quot;h&quot;:320,&quot;k&quot;:0.5,&quot;lambda&quot;:0.2,&quot;lsl&quot;:null,&quot;sigma&quot;:null,&quot;target&quot;:null,&quot;usl&quot;:null},&quot;fab&quot;:{&quot;aggregation&quot;:&quot;mean&quot;},&quot;interaction&quot;:{&quot;brush&quot;:false,&quot;crossFilter&quot;:false,&quot;crosshair&quot;:false,&quot;legendFilter&quot;:true,&quot;pan&quot;:true,&quot;rangeSelector&quot;:false,&quot;resetZoom&quot;:true,&quot;tooltip&quot;:true,&quot;transientSelection&quot;:[],&quot;zoom&quot;:true},&quot;legend&quot;:{&quot;interactive&quot;:true,&quot;order&quot;:&quot;input&quot;,&quot;orientation&quot;:&quot;horizontal&quot;,&quot;position&quot;:&quot;bottom&quot;,&quot;scroll&quot;:true,&quot;show&quot;:false},&quot;mapping&quot;:{&quot;category&quot;:&quot;destination_lane_1&quot;,&quot;value&quot;:&quot;temperature_excursion_minutes_2&quot;,&quot;x&quot;:&quot;temperature_excursion_minutes_2&quot;},&quot;recipe&quot;:null,&quot;recommendations&quot;:[{&quot;confidence&quot;:0.9,&quot;mapping&quot;:{&quot;category&quot;:&quot;destination_lane_1&quot;,&quot;value&quot;:&quot;temperature_excursion_minutes_2&quot;,&quot;x&quot;:&quot;temperature_excursion_minutes_2&quot;},&quot;reason&quot;:&quot;A category and measured value are available.&quot;,&quot;type&quot;:&quot;Vertical Bar&quot;},{&quot;confidence&quot;:0.82,&quot;mapping&quot;:{&quot;category&quot;:&quot;destination_lane_1&quot;,&quot;value&quot;:&quot;temperature_excursion_minutes_2&quot;,&quot;x&quot;:&quot;temperature_excursion_minutes_2&quot;},&quot;reason&quot;:&quot;A horizontal ranking keeps category labels readable.&quot;,&quot;type&quot;:&quot;Horizontal Bar&quot;},{&quot;confidence&quot;:0.8,&quot;mapping&quot;:{&quot;category&quot;:&quot;destination_lane_1&quot;,&quot;value&quot;:&quot;temperature_excursion_minutes_2&quot;,&quot;x&quot;:&quot;temperature_excursion_minutes_2&quot;},&quot;reason&quot;:&quot;Categorical contribution can be ranked with cumulative share.&quot;,&quot;type&quot;:&quot;Pareto&quot;}],&quot;reference_bands&quot;:[],&quot;reference_lines&quot;:[],&quot;schema&quot;:&quot;visembler.chart.studio&quot;,&quot;series&quot;:[{&quot;axis&quot;:&quot;primary&quot;,&quot;color&quot;:&quot;#1769d1&quot;,&quot;field&quot;:&quot;temperature_excursion_minutes_2&quot;,&quot;id&quot;:&quot;series-1&quot;,&quot;label&quot;:&quot;Temperature excursion minutes&quot;,&quot;legend&quot;:true,&quot;lineDash&quot;:null,&quot;lineWidth&quot;:null,&quot;markers&quot;:true,&quot;smoothing&quot;:false,&quot;type&quot;:&quot;line&quot;,&quot;visible&quot;:true}],&quot;statistical_result&quot;:null,&quot;transforms&quot;:{&quot;steps&quot;:[]},&quot;version&quot;:1,&quot;visual&quot;:{&quot;areaOpacity&quot;:0.25,&quot;barMode&quot;:&quot;grouped&quot;,&quot;barWidth&quot;:0.62,&quot;bins&quot;:null,&quot;dataLabels&quot;:false,&quot;gap&quot;:0.2,&quot;labelPosition&quot;:&quot;top&quot;,&quot;lineDash&quot;:&quot;solid&quot;,&quot;lineWidth&quot;:2.5,&quot;markers&quot;:true,&quot;missingPolicy&quot;:&quot;gap&quot;,&quot;palette&quot;:&quot;report&quot;,&quot;smoothing&quot;:false,&quot;theme&quot;:&quot;system&quot;},&quot;wafer&quot;:{&quot;clamp&quot;:true,&quot;colorMode&quot;:&quot;continuous&quot;,&quot;differenceScaleMaximum&quot;:null,&quot;differenceScaleMode&quot;:&quot;automatic&quot;,&quot;filters&quot;:{&quot;bin&quot;:&quot;&quot;,&quot;chamber&quot;:&quot;&quot;,&quot;lot&quot;:&quot;&quot;,&quot;route&quot;:&quot;&quot;,&quot;tool&quot;:&quot;&quot;,&quot;wafer&quot;:&quot;&quot;},&quot;identityRoles&quot;:[&quot;lot_id&quot;,&quot;wafer_id&quot;,&quot;tool&quot;,&quot;chamber&quot;,&quot;recipe&quot;,&quot;process&quot;,&quot;route&quot;,&quot;product&quot;],&quot;max&quot;:null,&quot;min&quot;:null,&quot;missingColor&quot;:&quot;#c7d0dc&quot;,&quot;notch&quot;:&quot;top&quot;,&quot;selected&quot;:[],&quot;specHigh&quot;:null,&quot;specLow&quot;:null,&quot;tooltipRoles&quot;:[&quot;die_x&quot;,&quot;die_y&quot;,&quot;value&quot;,&quot;lot_id&quot;,&quot;wafer_id&quot;,&quot;tool&quot;,&quot;chamber&quot;]},&quot;why&quot;:&quot;A category and measured value are available.&quot;},&quot;composition_role&quot;:&quot;supporting_analysis&quot;,&quot;cross&quot;:null,&quot;data&quot;:[[0,0],[5,5],[0,0],[8,8],[0,0],[4,4],[13,13],[7,7],[0,0],[3,3],[0,0],[2,2]],&quot;dataset_id&quot;:&quot;dataset-mujd0lfp-1q9e7e&quot;,&quot;drill&quot;:null,&quot;element&quot;:&quot;Box Plot&quot;,&quot;engine&quot;:&quot;CoreChartEngine&quot;,&quot;groupId&quot;:null,&quot;h&quot;:320,&quot;id&quot;:&quot;c5&quot;,&quot;locked&quot;:false,&quot;mapping&quot;:{&quot;category&quot;:&quot;destination_lane_1&quot;,&quot;value&quot;:&quot;temperature_excursion_minutes_2&quot;,&quot;x&quot;:&quot;temperature_excursion_minutes_2&quot;},&quot;message_role&quot;:&quot;Supporting Evidence&quot;,&quot;order&quot;:4,&quot;revealed&quot;:true,&quot;rows&quot;:[{&quot;label&quot;:0,&quot;value&quot;:0},{&quot;label&quot;:5,&quot;value&quot;:5},{&quot;label&quot;:0,&quot;value&quot;:0},{&quot;label&quot;:8,&quot;value&quot;:8},{&quot;label&quot;:0,&quot;value&quot;:0},{&quot;label&quot;:4,&quot;value&quot;:4},{&quot;label&quot;:13,&quot;value&quot;:13},{&quot;label&quot;:7,&quot;value&quot;:7},{&quot;label&quot;:0,&quot;value&quot;:0},{&quot;label&quot;:3,&quot;value&quot;:3},{&quot;label&quot;:0,&quot;value&quot;:0},{&quot;label&quot;:2,&quot;value&quot;:2}],&quot;section_id&quot;:&quot;analysis&quot;,&quot;section_title&quot;:&quot;Analysis&quot;,&quot;showTitle&quot;:true,&quot;statistical_result&quot;:null,&quot;textAlign&quot;:&quot;left&quot;,&quot;title&quot;:&quot;Temperature excursion distribution&quot;,&quot;transform_recipe&quot;:{&quot;steps&quot;:[]},&quot;type&quot;:&quot;chart&quot;,&quot;variant&quot;:&quot;line&quot;,&quot;w&quot;:520,&quot;weight&quot;:1.8,&quot;x&quot;:548,&quot;y&quot;:180.32000000000002,&quot;z&quot;:5},{&quot;composition_role&quot;:&quot;detailed_evidence&quot;,&quot;customTable&quot;:{&quot;headers&quot;:[&quot;Destination / route&quot;,&quot;Pilot dwell h&quot;,&quot;Excursion min&quot;,&quot;Sensor note&quot;],&quot;rows&quot;:[[&quot;Harbor East / SL-26-41&quot;,14.2,0,&quot;Humidity +3.1 points&quot;],[&quot;North Quay / SL-26-42&quot;,15.6,8,&quot;Calibration pending&quot;],[&quot;Port Meridian / SL-26-43&quot;,16.1,13,&quot;Two readings disputed&quot;],[&quot;South Anchorage / SL-26-44&quot;,14.9,3,&quot;Within check window&quot;]]},&quot;element&quot;:&quot;Clean Table&quot;,&quot;engine&quot;:&quot;TableEngine&quot;,&quot;groupId&quot;:null,&quot;h&quot;:259,&quot;id&quot;:&quot;c6&quot;,&quot;locked&quot;:false,&quot;message_role&quot;:&quot;Primary Evidence&quot;,&quot;order&quot;:6,&quot;rows&quot;:[[&quot;Harbor East / SL-26-41&quot;,14.2,0,&quot;Humidity +3.1 points&quot;],[&quot;North Quay / SL-26-42&quot;,15.6,8,&quot;Calibration pending&quot;],[&quot;Port Meridian / SL-26-43&quot;,16.1,13,&quot;Two readings disputed&quot;],[&quot;South Anchorage / SL-26-44&quot;,14.9,3,&quot;Within check window&quot;]],&quot;section_id&quot;:&quot;evidence&quot;,&quot;section_title&quot;:&quot;Evidence&quot;,&quot;showTitle&quot;:true,&quot;textAlign&quot;:&quot;left&quot;,&quot;title&quot;:&quot;Sailing lane decision evidence&quot;,&quot;type&quot;:&quot;table&quot;,&quot;w&quot;:480,&quot;weight&quot;:1.55,&quot;x&quot;:1082,&quot;y&quot;:178,&quot;z&quot;:6},{&quot;composition_role&quot;:&quot;decision_risk&quot;,&quot;detail&quot;:&quot;Temperature stayed inside contract limits; humidity calibration bias keeps spoilage exposure uncertain. Keep the fallback routing available.&quot;,&quot;element&quot;:&quot;Risk Callout&quot;,&quot;engine&quot;:&quot;DecisionCompositeEngine&quot;,&quot;groupId&quot;:null,&quot;h&quot;:94,&quot;id&quot;:&quot;c7&quot;,&quot;locked&quot;:false,&quot;message_role&quot;:&quot;Risk&quot;,&quot;order&quot;:7,&quot;section_id&quot;:&quot;decision&quot;,&quot;section_title&quot;:&quot;Decision&quot;,&quot;showTitle&quot;:true,&quot;statement&quot;:&quot;Approve one-week Harbor East activation&quot;,&quot;status&quot;:&quot;Reversible&quot;,&quot;textAlign&quot;:&quot;left&quot;,&quot;title&quot;:&quot;Risk Callout&quot;,&quot;type&quot;:&quot;decision&quot;,&quot;w&quot;:400,&quot;weight&quot;:1.15,&quot;x&quot;:1082,&quot;y&quot;:451,&quot;z&quot;:7},{&quot;body&quot;:&quot;Saffron Link citrus export · four destination lanes · 7-day pilot sample · cold-chain telemetry as of 2026-09-24. The pilot reduced median dwell while temperature excursions stayed below the contract limit. The humidity sensor reads 3–5 points high after calibration, so spoilage risk is not fully cleared. Four lanes are too few to claim network-wide savings; treat the activation as a reversible one-week decision.&quot;,&quot;composition_role&quot;:&quot;narrative_interpretation&quot;,&quot;element&quot;:&quot;Body Narrative&quot;,&quot;engine&quot;:&quot;TextEngine&quot;,&quot;groupId&quot;:null,&quot;h&quot;:116,&quot;id&quot;:&quot;c8&quot;,&quot;locked&quot;:false,&quot;message_role&quot;:&quot;Context&quot;,&quot;order&quot;:5,&quot;section_id&quot;:&quot;analysis&quot;,&quot;section_title&quot;:&quot;Analysis&quot;,&quot;showTitle&quot;:false,&quot;text&quot;:&quot;Saffron Link citrus export · four destination lanes · 7-day pilot sample · cold-chain telemetry as of 2026-09-24. The pilot reduced median dwell while temperature excursions stayed below the contract limit. The humidity sensor reads 3–5 points high after calibration, so spoilage risk is not fully cleared. Four lanes are too few to claim network-wide savings; treat the activation as a reversible one-week decision.&quot;,&quot;textAlign&quot;:&quot;left&quot;,&quot;title&quot;:&quot;Body Narrative&quot;,&quot;type&quot;:&quot;text&quot;,&quot;w&quot;:500,&quot;weight&quot;:1.1,&quot;x&quot;:14,&quot;y&quot;:471.76,&quot;z&quot;:8},{&quot;body&quot;:&quot;Next step: activate Harbor East for one week, verify humidity calibration on day two, and stop if any lane exceeds 6.0°C for 20 minutes.&quot;,&quot;composition_role&quot;:&quot;conclusion&quot;,&quot;element&quot;:&quot;Key Takeaway&quot;,&quot;engine&quot;:&quot;TextEngine&quot;,&quot;groupId&quot;:null,&quot;h&quot;:96,&quot;id&quot;:&quot;c9&quot;,&quot;locked&quot;:false,&quot;message_role&quot;:&quot;Action&quot;,&quot;order&quot;:8,&quot;section_id&quot;:&quot;delivery&quot;,&quot;section_title&quot;:&quot;Next steps&quot;,&quot;showTitle&quot;:false,&quot;text&quot;:&quot;Next step: activate Harbor East for one week, verify humidity calibration on day two, and stop if any lane exceeds 6.0°C for 20 minutes.&quot;,&quot;textAlign&quot;:&quot;left&quot;,&quot;title&quot;:&quot;Key Takeaway&quot;,&quot;type&quot;:&quot;text&quot;,&quot;w&quot;:460.2,&quot;weight&quot;:1.1,&quot;x&quot;:528,&quot;y&quot;:514.32,&quot;z&quot;:9}],&quot;layoutPreset&quot;:&quot;editorial&quot;,&quot;mode&quot;:&quot;smart&quot;,&quot;nextId&quot;:10,&quot;schema_version&quot;:1}"/>
          <p:cNvSpPr txBox="1"/>
          <p:nvPr/>
        </p:nvSpPr>
        <p:spPr>
          <a:xfrm>
            <a:off x="0" y="0"/>
            <a:ext cx="1" cy="1"/>
          </a:xfrm>
          <a:prstGeom prst="rect">
            <a:avLst/>
          </a:prstGeom>
          <a:noFill/>
        </p:spPr>
        <p:txBody>
          <a:bodyPr wrap="none">
            <a:spAutoFit/>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