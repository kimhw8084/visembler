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24836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Six-hour pump load by station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 Sluice PS-04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43.0</c:v>
                </c:pt>
                <c:pt idx="1">
                  <c:v>46.0</c:v>
                </c:pt>
                <c:pt idx="2">
                  <c:v>51.0</c:v>
                </c:pt>
                <c:pt idx="3">
                  <c:v>48.0</c:v>
                </c:pt>
                <c:pt idx="4">
                  <c:v>54.0</c:v>
                </c:pt>
                <c:pt idx="5">
                  <c:v>58.0</c:v>
                </c:pt>
                <c:pt idx="6">
                  <c:v>62.0</c:v>
                </c:pt>
                <c:pt idx="7">
                  <c:v>55.0</c:v>
                </c:pt>
                <c:pt idx="8">
                  <c:v>57.0</c:v>
                </c:pt>
                <c:pt idx="9">
                  <c:v>64.0</c:v>
                </c:pt>
                <c:pt idx="10">
                  <c:v>61.0</c:v>
                </c:pt>
                <c:pt idx="11">
                  <c:v>58.0</c:v>
                </c:pt>
                <c:pt idx="12">
                  <c:v>53.0</c:v>
                </c:pt>
                <c:pt idx="13">
                  <c:v>49.0</c:v>
                </c:pt>
                <c:pt idx="14">
                  <c:v>44.0</c:v>
                </c:pt>
                <c:pt idx="15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 Yard PS-17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55.0</c:v>
                </c:pt>
                <c:pt idx="1">
                  <c:v>57.0</c:v>
                </c:pt>
                <c:pt idx="2">
                  <c:v>60.0</c:v>
                </c:pt>
                <c:pt idx="3">
                  <c:v>59.0</c:v>
                </c:pt>
                <c:pt idx="4">
                  <c:v>63.0</c:v>
                </c:pt>
                <c:pt idx="5">
                  <c:v>67.0</c:v>
                </c:pt>
                <c:pt idx="6">
                  <c:v>72.0</c:v>
                </c:pt>
                <c:pt idx="7">
                  <c:v>69.0</c:v>
                </c:pt>
                <c:pt idx="8">
                  <c:v>73.0</c:v>
                </c:pt>
                <c:pt idx="9">
                  <c:v>77.0</c:v>
                </c:pt>
                <c:pt idx="10">
                  <c:v>75.0</c:v>
                </c:pt>
                <c:pt idx="11">
                  <c:v>72.0</c:v>
                </c:pt>
                <c:pt idx="12">
                  <c:v>66.0</c:v>
                </c:pt>
                <c:pt idx="13">
                  <c:v>63.0</c:v>
                </c:pt>
                <c:pt idx="14">
                  <c:v>59.0</c:v>
                </c:pt>
                <c:pt idx="15">
                  <c:v>56.0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Marsh Gate PS-31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62.0</c:v>
                </c:pt>
                <c:pt idx="1">
                  <c:v>68.0</c:v>
                </c:pt>
                <c:pt idx="2">
                  <c:v>74.0</c:v>
                </c:pt>
                <c:pt idx="3">
                  <c:v>79.0</c:v>
                </c:pt>
                <c:pt idx="4">
                  <c:v>83.0</c:v>
                </c:pt>
                <c:pt idx="5">
                  <c:v>86.0</c:v>
                </c:pt>
                <c:pt idx="6">
                  <c:v>89.0</c:v>
                </c:pt>
                <c:pt idx="7">
                  <c:v>91.0</c:v>
                </c:pt>
                <c:pt idx="8">
                  <c:v>88.0</c:v>
                </c:pt>
                <c:pt idx="9">
                  <c:v>92.0</c:v>
                </c:pt>
                <c:pt idx="10">
                  <c:v>95.0</c:v>
                </c:pt>
                <c:pt idx="11">
                  <c:v>93.0</c:v>
                </c:pt>
                <c:pt idx="12">
                  <c:v>87.0</c:v>
                </c:pt>
                <c:pt idx="13">
                  <c:v>80.0</c:v>
                </c:pt>
                <c:pt idx="14">
                  <c:v>76.0</c:v>
                </c:pt>
                <c:pt idx="15">
                  <c:v>71.0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7"/>
        <c:noMultiLvlLbl val="0"/>
      </c:catAx>
      <c:valAx>
        <c:axId val="2140495176"/>
        <c:scaling>
          <c:max val="97.7"/>
          <c:min val="38.3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1572.0,&quot;weight&quot;:1.1,&quot;x&quot;:14.0,&quot;y&quot;:40.0,&quot;z&quot;:1}"/>
          <p:cNvSpPr/>
          <p:nvPr/>
        </p:nvSpPr>
        <p:spPr>
          <a:xfrm>
            <a:off x="92967" y="265620"/>
            <a:ext cx="10438900" cy="7288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Stage the Tidal Gate fleet by basin; sensor drift prevents a full green release.</a:t>
            </a:r>
          </a:p>
        </p:txBody>
      </p:sp>
      <p:sp>
        <p:nvSpPr>
          <p:cNvPr id="3" name="VIZ::Fleet readiness KPI" title="Visembler report text roles: metric title, metric value" descr="VisualizerSemantic:{&quot;composition_role&quot;:&quot;hero_metric&quot;,&quot;delta&quot;:7,&quot;element&quot;:&quot;Hero KPI&quot;,&quot;engine&quot;:&quot;MetricEngine&quot;,&quot;groupId&quot;:null,&quot;h&quot;:186.0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872.4800000000001,&quot;weight&quot;:1.15,&quot;x&quot;:14.0,&quot;y&quot;:188.76,&quot;z&quot;:2}"/>
          <p:cNvSpPr/>
          <p:nvPr/>
        </p:nvSpPr>
        <p:spPr>
          <a:xfrm>
            <a:off x="92967" y="1253464"/>
            <a:ext cx="5793722" cy="123513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Fleet readiness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82%</a:t>
            </a:r>
          </a:p>
        </p:txBody>
      </p:sp>
      <p:sp>
        <p:nvSpPr>
          <p:cNvPr id="4" name="VIZ::Mean load: Marsh 4 vs East Sluice KPI" title="Visembler report text roles: metric title, comparison value" descr="VisualizerSemantic:{&quot;after&quot;:58,&quot;before&quot;:71,&quot;composition_role&quot;:&quot;hero_metric&quot;,&quot;element&quot;:&quot;Before/After KPI&quot;,&quot;engine&quot;:&quot;ComparisonEngine&quot;,&quot;groupId&quot;:null,&quot;h&quot;:196.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685.52,&quot;weight&quot;:1.15,&quot;x&quot;:900.4800000000001,&quot;y&quot;:183.76,&quot;z&quot;:3}"/>
          <p:cNvSpPr/>
          <p:nvPr/>
        </p:nvSpPr>
        <p:spPr>
          <a:xfrm>
            <a:off x="5979657" y="1220262"/>
            <a:ext cx="4552210" cy="130154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Mean load: Marsh 4 vs East Sluice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71% → 58%</a:t>
            </a:r>
          </a:p>
        </p:txBody>
      </p:sp>
      <p:graphicFrame>
        <p:nvGraphicFramePr>
          <p:cNvPr id="12" name="VIZ::Six-hour pump load by station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77.59999999999997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778.0848484848484,&quot;weight&quot;:1.8,&quot;x&quot;:74.26060606060605,&quot;y&quot;:413.76,&quot;z&quot;:4,&quot;observation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}"/>
          <p:cNvGraphicFramePr>
            <a:graphicFrameLocks noGrp="1"/>
          </p:cNvGraphicFramePr>
          <p:nvPr/>
        </p:nvGraphicFramePr>
        <p:xfrm>
          <a:off x="493129" y="2747582"/>
          <a:ext cx="5166889" cy="25074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VIZ::c5::box-plot-titl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dataset_id&quot;:&quot;dataset-mujczbgu-qu4dac&quot;,&quot;drill&quot;:null,&quot;element&quot;:&quot;Box Plot&quot;,&quot;engine&quot;:&quot;CoreChartEngine&quot;,&quot;groupId&quot;:null,&quot;h&quot;:320.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659.3939393939394,&quot;weight&quot;:1.8,&quot;x&quot;:866.3454545454545,&quot;y&quot;:442.55999999999995,&quot;z&quot;:5,&quot;observation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}"/>
          <p:cNvSpPr txBox="1"/>
          <p:nvPr/>
        </p:nvSpPr>
        <p:spPr>
          <a:xfrm>
            <a:off x="5928134" y="2970703"/>
            <a:ext cx="4028422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Temperature excursion distribution</a:t>
            </a:r>
          </a:p>
        </p:txBody>
      </p:sp>
      <p:cxnSp>
        <p:nvCxnSpPr>
          <p:cNvPr id="25" name="VIZ::c5::box-plot-grid-0"/>
          <p:cNvCxnSpPr/>
          <p:nvPr/>
        </p:nvCxnSpPr>
        <p:spPr>
          <a:xfrm>
            <a:off x="6453581" y="4532554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axis-0"/>
          <p:cNvSpPr txBox="1"/>
          <p:nvPr/>
        </p:nvSpPr>
        <p:spPr>
          <a:xfrm>
            <a:off x="5752986" y="4469054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1.975</a:t>
            </a:r>
          </a:p>
        </p:txBody>
      </p:sp>
      <p:cxnSp>
        <p:nvCxnSpPr>
          <p:cNvPr id="27" name="VIZ::c5::box-plot-grid-1"/>
          <p:cNvCxnSpPr/>
          <p:nvPr/>
        </p:nvCxnSpPr>
        <p:spPr>
          <a:xfrm>
            <a:off x="6453581" y="4240371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axis-1"/>
          <p:cNvSpPr txBox="1"/>
          <p:nvPr/>
        </p:nvSpPr>
        <p:spPr>
          <a:xfrm>
            <a:off x="5752986" y="4176871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2.6625</a:t>
            </a:r>
          </a:p>
        </p:txBody>
      </p:sp>
      <p:cxnSp>
        <p:nvCxnSpPr>
          <p:cNvPr id="29" name="VIZ::c5::box-plot-grid-2"/>
          <p:cNvCxnSpPr/>
          <p:nvPr/>
        </p:nvCxnSpPr>
        <p:spPr>
          <a:xfrm>
            <a:off x="6453581" y="3948188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Z::c5::box-plot-axis-2"/>
          <p:cNvSpPr txBox="1"/>
          <p:nvPr/>
        </p:nvSpPr>
        <p:spPr>
          <a:xfrm>
            <a:off x="5752986" y="3884688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3.35</a:t>
            </a:r>
          </a:p>
        </p:txBody>
      </p:sp>
      <p:cxnSp>
        <p:nvCxnSpPr>
          <p:cNvPr id="31" name="VIZ::c5::box-plot-grid-3"/>
          <p:cNvCxnSpPr/>
          <p:nvPr/>
        </p:nvCxnSpPr>
        <p:spPr>
          <a:xfrm>
            <a:off x="6453581" y="3656005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axis-3"/>
          <p:cNvSpPr txBox="1"/>
          <p:nvPr/>
        </p:nvSpPr>
        <p:spPr>
          <a:xfrm>
            <a:off x="5752986" y="3592505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4.0375</a:t>
            </a:r>
          </a:p>
        </p:txBody>
      </p:sp>
      <p:cxnSp>
        <p:nvCxnSpPr>
          <p:cNvPr id="33" name="VIZ::c5::box-plot-grid-4"/>
          <p:cNvCxnSpPr/>
          <p:nvPr/>
        </p:nvCxnSpPr>
        <p:spPr>
          <a:xfrm>
            <a:off x="6453581" y="3363822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axis-4"/>
          <p:cNvSpPr txBox="1"/>
          <p:nvPr/>
        </p:nvSpPr>
        <p:spPr>
          <a:xfrm>
            <a:off x="5752986" y="3300322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4.725</a:t>
            </a:r>
          </a:p>
        </p:txBody>
      </p:sp>
      <p:cxnSp>
        <p:nvCxnSpPr>
          <p:cNvPr id="35" name="VIZ::c5::box-plot-0-whisker"/>
          <p:cNvCxnSpPr/>
          <p:nvPr/>
        </p:nvCxnSpPr>
        <p:spPr>
          <a:xfrm>
            <a:off x="7044708.166666667" y="4181934"/>
            <a:ext cx="0.0" cy="297496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Z::c5::box-plot-0-whisker-cap-0"/>
          <p:cNvCxnSpPr/>
          <p:nvPr/>
        </p:nvCxnSpPr>
        <p:spPr>
          <a:xfrm>
            <a:off x="6808258.166666667" y="4479430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VIZ::c5::box-plot-0-whisker-cap-1"/>
          <p:cNvCxnSpPr/>
          <p:nvPr/>
        </p:nvCxnSpPr>
        <p:spPr>
          <a:xfrm>
            <a:off x="6808258.166666667" y="4181934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VIZ::c5::box-plot-0-quartiles"/>
          <p:cNvSpPr/>
          <p:nvPr/>
        </p:nvSpPr>
        <p:spPr>
          <a:xfrm>
            <a:off x="6808258" y="4309432"/>
            <a:ext cx="472900" cy="127498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VIZ::c5::box-plot-0-median"/>
          <p:cNvCxnSpPr/>
          <p:nvPr/>
        </p:nvCxnSpPr>
        <p:spPr>
          <a:xfrm>
            <a:off x="6808258.166666667" y="435193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Z::c5::box-plot-0-category" title="{&quot;category&quot;:&quot;East Sluice PS-04&quot;,&quot;quartiles&quot;:{&quot;n&quot;:5,&quot;min&quot;:2.1,&quot;q1&quot;:2.2,&quot;median&quot;:2.4,&quot;q3&quot;:2.5,&quot;max&quot;:2.8}}"/>
          <p:cNvSpPr txBox="1"/>
          <p:nvPr/>
        </p:nvSpPr>
        <p:spPr>
          <a:xfrm>
            <a:off x="6496068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East Sluice PS-04</a:t>
            </a:r>
          </a:p>
        </p:txBody>
      </p:sp>
      <p:cxnSp>
        <p:nvCxnSpPr>
          <p:cNvPr id="41" name="VIZ::c5::box-plot-1-whisker"/>
          <p:cNvCxnSpPr/>
          <p:nvPr/>
        </p:nvCxnSpPr>
        <p:spPr>
          <a:xfrm>
            <a:off x="8226962.5" y="3926938"/>
            <a:ext cx="0.0" cy="254996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VIZ::c5::box-plot-1-whisker-cap-0"/>
          <p:cNvCxnSpPr/>
          <p:nvPr/>
        </p:nvCxnSpPr>
        <p:spPr>
          <a:xfrm>
            <a:off x="7990512.5" y="4181934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Z::c5::box-plot-1-whisker-cap-1"/>
          <p:cNvCxnSpPr/>
          <p:nvPr/>
        </p:nvCxnSpPr>
        <p:spPr>
          <a:xfrm>
            <a:off x="7990512.5" y="3926938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VIZ::c5::box-plot-1-quartiles"/>
          <p:cNvSpPr/>
          <p:nvPr/>
        </p:nvSpPr>
        <p:spPr>
          <a:xfrm>
            <a:off x="7990512" y="4011937"/>
            <a:ext cx="472900" cy="84999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VIZ::c5::box-plot-1-median"/>
          <p:cNvCxnSpPr/>
          <p:nvPr/>
        </p:nvCxnSpPr>
        <p:spPr>
          <a:xfrm>
            <a:off x="7990512.5" y="4054436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Z::c5::box-plot-1-category" title="{&quot;category&quot;:&quot;Delta Yard PS-17&quot;,&quot;quartiles&quot;:{&quot;n&quot;:5,&quot;min&quot;:2.8,&quot;q1&quot;:3.0,&quot;median&quot;:3.1,&quot;q3&quot;:3.2,&quot;max&quot;:3.4}}"/>
          <p:cNvSpPr txBox="1"/>
          <p:nvPr/>
        </p:nvSpPr>
        <p:spPr>
          <a:xfrm>
            <a:off x="7678322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Delta Yard PS-17</a:t>
            </a:r>
          </a:p>
        </p:txBody>
      </p:sp>
      <p:cxnSp>
        <p:nvCxnSpPr>
          <p:cNvPr id="47" name="VIZ::c5::box-plot-2-whisker"/>
          <p:cNvCxnSpPr/>
          <p:nvPr/>
        </p:nvCxnSpPr>
        <p:spPr>
          <a:xfrm>
            <a:off x="9409216.833333334" y="3416946"/>
            <a:ext cx="0.0" cy="509992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VIZ::c5::box-plot-2-whisker-cap-0"/>
          <p:cNvCxnSpPr/>
          <p:nvPr/>
        </p:nvCxnSpPr>
        <p:spPr>
          <a:xfrm>
            <a:off x="9172766.833333334" y="3926938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VIZ::c5::box-plot-2-whisker-cap-1"/>
          <p:cNvCxnSpPr/>
          <p:nvPr/>
        </p:nvCxnSpPr>
        <p:spPr>
          <a:xfrm>
            <a:off x="9172766.833333334" y="3416946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VIZ::c5::box-plot-2-quartiles"/>
          <p:cNvSpPr/>
          <p:nvPr/>
        </p:nvSpPr>
        <p:spPr>
          <a:xfrm>
            <a:off x="9172766" y="3586944"/>
            <a:ext cx="472900" cy="212496"/>
          </a:xfrm>
          <a:prstGeom prst="rect">
            <a:avLst/>
          </a:prstGeom>
          <a:solidFill>
            <a:srgbClr val="B7791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VIZ::c5::box-plot-2-median"/>
          <p:cNvCxnSpPr/>
          <p:nvPr/>
        </p:nvCxnSpPr>
        <p:spPr>
          <a:xfrm>
            <a:off x="9172766.833333334" y="371444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VIZ::c5::box-plot-2-category" title="{&quot;category&quot;:&quot;Marsh Gate PS-31&quot;,&quot;quartiles&quot;:{&quot;n&quot;:5,&quot;min&quot;:3.4,&quot;q1&quot;:3.7,&quot;median&quot;:3.9,&quot;q3&quot;:4.2,&quot;max&quot;:4.6}}"/>
          <p:cNvSpPr txBox="1"/>
          <p:nvPr/>
        </p:nvSpPr>
        <p:spPr>
          <a:xfrm>
            <a:off x="8860576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Marsh Gate PS-31</a:t>
            </a:r>
          </a:p>
        </p:txBody>
      </p:sp>
      <p:sp>
        <p:nvSpPr>
          <p:cNvPr id="7" name="VIZ::Body Narrative" title="Visembler report text roles: text heading, context subhead" descr="VisualizerSemantic: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28.0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1572.0,&quot;weight&quot;:1.1,&quot;x&quot;:14.0,&quot;y&quot;:799.3599999999999,&quot;z&quot;:8}"/>
          <p:cNvSpPr/>
          <p:nvPr/>
        </p:nvSpPr>
        <p:spPr>
          <a:xfrm>
            <a:off x="92967" y="5308167"/>
            <a:ext cx="10438900" cy="8499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</a:t>
            </a:r>
          </a:p>
        </p:txBody>
      </p:sp>
      <p:sp>
        <p:nvSpPr>
          <p:cNvPr id="9" name="VIZ::Process Flow::continuation-reference" descr="VisualizerSemantic: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170.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684.4,&quot;weight&quot;:1.5,&quot;x&quot;:457.8,&quot;y&quot;:961.3599999999999,&quot;z&quot;:10}"/>
          <p:cNvSpPr/>
          <p:nvPr/>
        </p:nvSpPr>
        <p:spPr>
          <a:xfrm>
            <a:off x="3040031" y="6383932"/>
            <a:ext cx="4544773" cy="1128889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175.0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1572.0,&quot;weight&quot;:1.15,&quot;x&quot;:14.0,&quot;y&quot;:1516.7199999999998,&quot;z&quot;:7}"/>
          <p:cNvSpPr/>
          <p:nvPr/>
        </p:nvSpPr>
        <p:spPr>
          <a:xfrm>
            <a:off x="92967" y="10071812"/>
            <a:ext cx="10438900" cy="116209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Stage two stations; hold Marsh 4 for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Historian and local counter disagree for interval 2026-09-21 18:00–24:00; sensor drift remains a deployment risk.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.0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1572.0,&quot;weight&quot;:1.1,&quot;x&quot;:14.0,&quot;y&quot;:1725.7199999999998,&quot;z&quot;:9}"/>
          <p:cNvSpPr/>
          <p:nvPr/>
        </p:nvSpPr>
        <p:spPr>
          <a:xfrm>
            <a:off x="92967" y="11459681"/>
            <a:ext cx="10438900" cy="63749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assign East Sluice and Delta Yard to the first response wave; release Marsh 4 after vibration and counter reconciliation.</a:t>
            </a:r>
          </a:p>
        </p:txBody>
      </p:sp>
      <p:sp>
        <p:nvSpPr>
          <p:cNvPr id="13" name="VIZ::Six-hour pump load by station::chart-label-band"/>
          <p:cNvSpPr/>
          <p:nvPr/>
        </p:nvSpPr>
        <p:spPr>
          <a:xfrm>
            <a:off x="1138990" y="4690864"/>
            <a:ext cx="4521027" cy="5641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VIZ::Six-hour pump load by station::category-label-axis"/>
          <p:cNvCxnSpPr/>
          <p:nvPr/>
        </p:nvCxnSpPr>
        <p:spPr>
          <a:xfrm>
            <a:off x="1164824" y="4703401"/>
            <a:ext cx="4288518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Z::Six-hour pump load by station::category-label-0"/>
          <p:cNvSpPr txBox="1"/>
          <p:nvPr/>
        </p:nvSpPr>
        <p:spPr>
          <a:xfrm>
            <a:off x="1164824" y="4728476"/>
            <a:ext cx="148742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0">
                <a:latin typeface="Arial"/>
              </a:defRPr>
            </a:pPr>
            <a:r>
              <a:t>2026-09-19 00:00–06:00</a:t>
            </a:r>
          </a:p>
        </p:txBody>
      </p:sp>
      <p:sp>
        <p:nvSpPr>
          <p:cNvPr id="16" name="VIZ::Six-hour pump load by station::category-label-7"/>
          <p:cNvSpPr txBox="1"/>
          <p:nvPr/>
        </p:nvSpPr>
        <p:spPr>
          <a:xfrm>
            <a:off x="2431354" y="4728476"/>
            <a:ext cx="148742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2026-09-20 18:00–24:00</a:t>
            </a:r>
          </a:p>
        </p:txBody>
      </p:sp>
      <p:sp>
        <p:nvSpPr>
          <p:cNvPr id="17" name="VIZ::Six-hour pump load by station::category-label-14"/>
          <p:cNvSpPr txBox="1"/>
          <p:nvPr/>
        </p:nvSpPr>
        <p:spPr>
          <a:xfrm>
            <a:off x="4307581" y="4728476"/>
            <a:ext cx="148742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>
                <a:latin typeface="Arial"/>
              </a:defRPr>
            </a:pPr>
            <a:r>
              <a:t>2026-09-22 12:00–18:00</a:t>
            </a:r>
          </a:p>
        </p:txBody>
      </p:sp>
      <p:sp>
        <p:nvSpPr>
          <p:cNvPr id="18" name="VIZ::Six-hour pump load by station::legend-marker-0"/>
          <p:cNvSpPr/>
          <p:nvPr/>
        </p:nvSpPr>
        <p:spPr>
          <a:xfrm>
            <a:off x="1241893" y="5035232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Six-hour pump load by station::legend-label-0"/>
          <p:cNvSpPr txBox="1"/>
          <p:nvPr/>
        </p:nvSpPr>
        <p:spPr>
          <a:xfrm>
            <a:off x="1343493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East Sluice PS-04</a:t>
            </a:r>
          </a:p>
        </p:txBody>
      </p:sp>
      <p:sp>
        <p:nvSpPr>
          <p:cNvPr id="20" name="VIZ::Six-hour pump load by station::legend-marker-1"/>
          <p:cNvSpPr/>
          <p:nvPr/>
        </p:nvSpPr>
        <p:spPr>
          <a:xfrm>
            <a:off x="3360317" y="5035232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Six-hour pump load by station::legend-label-1"/>
          <p:cNvSpPr txBox="1"/>
          <p:nvPr/>
        </p:nvSpPr>
        <p:spPr>
          <a:xfrm>
            <a:off x="3461917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Delta Yard PS-17</a:t>
            </a:r>
          </a:p>
        </p:txBody>
      </p:sp>
      <p:sp>
        <p:nvSpPr>
          <p:cNvPr id="22" name="VIZ::Six-hour pump load by station::legend-marker-2"/>
          <p:cNvSpPr/>
          <p:nvPr/>
        </p:nvSpPr>
        <p:spPr>
          <a:xfrm>
            <a:off x="1241893" y="5160605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Six-hour pump load by station::legend-label-2"/>
          <p:cNvSpPr txBox="1"/>
          <p:nvPr/>
        </p:nvSpPr>
        <p:spPr>
          <a:xfrm>
            <a:off x="1343493" y="5129669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Marsh Gate PS-31</a:t>
            </a:r>
          </a:p>
        </p:txBody>
      </p:sp>
      <p:graphicFrame>
        <p:nvGraphicFramePr>
          <p:cNvPr id="53" name="VIZ::Sailing lane decision evidence" descr="VisualizerSemantic: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343.35999999999996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1572.0,&quot;weight&quot;:1.55,&quot;x&quot;:14.0,&quot;y&quot;:1139.36,&quot;z&quot;:6}"/>
          <p:cNvGraphicFramePr>
            <a:graphicFrameLocks noGrp="1"/>
          </p:cNvGraphicFramePr>
          <p:nvPr/>
        </p:nvGraphicFramePr>
        <p:xfrm>
          <a:off x="92967" y="7565945"/>
          <a:ext cx="10438900" cy="228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780"/>
                <a:gridCol w="2087780"/>
                <a:gridCol w="2087780"/>
                <a:gridCol w="2087780"/>
                <a:gridCol w="2087780"/>
              </a:tblGrid>
              <a:tr h="45601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Station / telemetry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Mean duty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Peak vibration mm/s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Historian / local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Readiness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 Sluice PS-04 / INTAKE-04-B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 after sensor swap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Delta Yard PS-17 / LVL-17-A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Marsh Gate PS-31 / VIB-31-C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18:00–24:00 contested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 Outfall PS-02 / FLOW-02-D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Historian late by 11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],&quot;groups&quot;:{},&quot;items&quot;:[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520,&quot;weight&quot;:1.1,&quot;x&quot;:14,&quot;y&quot;:14,&quot;z&quot;:1},{&quot;composition_role&quot;:&quot;hero_metric&quot;,&quot;delta&quot;:7,&quot;element&quot;:&quot;Hero KPI&quot;,&quot;engine&quot;:&quot;MetricEngine&quot;,&quot;groupId&quot;:null,&quot;h&quot;:152.32000000000002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520,&quot;weight&quot;:1.15,&quot;x&quot;:548,&quot;y&quot;:14,&quot;z&quot;:2},{&quot;after&quot;:58,&quot;before&quot;:71,&quot;composition_role&quot;:&quot;hero_metric&quot;,&quot;element&quot;:&quot;Before/After KPI&quot;,&quot;engine&quot;:&quot;ComparisonEngine&quot;,&quot;groupId&quot;:null,&quot;h&quot;:15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430,&quot;weight&quot;:1.15,&quot;x&quot;:1082,&quot;y&quot;:14,&quot;z&quot;:3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20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520,&quot;weight&quot;:1.8,&quot;x&quot;:14,&quot;y&quot;:137.76,&quot;z&quot;:4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2.2,2.2],[2.5,2.5],[2.1,2.1],[2.8,2.8],[2.4,2.4],[2.8,2.8],[3.2,3.2],[3,3],[3.4,3.4],[3.1,3.1],[3.4,3.4],[3.9,3.9],[4.2,4.2],[3.7,3.7],[4.6,4.6]],&quot;dataset_id&quot;:&quot;dataset-mujczbgu-qu4dac&quot;,&quot;drill&quot;:null,&quot;element&quot;:&quot;Box Plot&quot;,&quot;engine&quot;:&quot;CoreChartEngine&quot;,&quot;groupId&quot;:null,&quot;h&quot;:32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2.2,&quot;value&quot;:2.2},{&quot;label&quot;:2.5,&quot;value&quot;:2.5},{&quot;label&quot;:2.1,&quot;value&quot;:2.1},{&quot;label&quot;:2.8,&quot;value&quot;:2.8},{&quot;label&quot;:2.4,&quot;value&quot;:2.4},{&quot;label&quot;:2.8,&quot;value&quot;:2.8},{&quot;label&quot;:3.2,&quot;value&quot;:3.2},{&quot;label&quot;:3,&quot;value&quot;:3},{&quot;label&quot;:3.4,&quot;value&quot;:3.4},{&quot;label&quot;:3.1,&quot;value&quot;:3.1},{&quot;label&quot;:3.4,&quot;value&quot;:3.4},{&quot;label&quot;:3.9,&quot;value&quot;:3.9},{&quot;label&quot;:4.2,&quot;value&quot;:4.2},{&quot;label&quot;:3.7,&quot;value&quot;:3.7},{&quot;label&quot;:4.6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520,&quot;weight&quot;:1.8,&quot;x&quot;:548,&quot;y&quot;:180.32000000000002,&quot;z&quot;:5},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259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480,&quot;weight&quot;:1.55,&quot;x&quot;:1082,&quot;y&quot;:178,&quot;z&quot;:6},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94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400,&quot;weight&quot;:1.15,&quot;x&quot;:1082,&quot;y&quot;:451,&quot;z&quot;:7},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16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500,&quot;weight&quot;:1.1,&quot;x&quot;:14,&quot;y&quot;:471.76,&quot;z&quot;:8},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460.2,&quot;weight&quot;:1.1,&quot;x&quot;:528,&quot;y&quot;:514.32,&quot;z&quot;:9},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22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520,&quot;weight&quot;:1.5,&quot;x&quot;:1002.2,&quot;y&quot;:559,&quot;z&quot;:10}],&quot;layoutPreset&quot;:&quot;editorial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10&quot;,&quot;page&quot;:1,&quot;page_count&quot;:1,&quot;direction&quot;:&quot;right&quot;}"/>
          <p:cNvSpPr txBox="1"/>
          <p:nvPr/>
        </p:nvSpPr>
        <p:spPr>
          <a:xfrm>
            <a:off x="512064" y="384048"/>
            <a:ext cx="9600708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Confirm storm watch window::node-1" descr="VisualizerDiagramNode:{&quot;item_id&quot;:&quot;c10&quot;,&quot;node_index&quot;:0,&quot;label&quot;:&quot;Confirm storm watch window&quot;,&quot;page&quot;:1,&quot;page_count&quot;:1,&quot;direction&quot;:&quot;right&quot;}"/>
          <p:cNvSpPr/>
          <p:nvPr/>
        </p:nvSpPr>
        <p:spPr>
          <a:xfrm>
            <a:off x="512064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storm watch window</a:t>
            </a:r>
          </a:p>
        </p:txBody>
      </p:sp>
      <p:sp>
        <p:nvSpPr>
          <p:cNvPr id="4" name="VIZ::Process Flow::Reconcile local cycle counter::node-2" descr="VisualizerDiagramNode:{&quot;item_id&quot;:&quot;c10&quot;,&quot;node_index&quot;:1,&quot;label&quot;:&quot;Reconcile local cycle counter&quot;,&quot;page&quot;:1,&quot;page_count&quot;:1,&quot;direction&quot;:&quot;right&quot;}"/>
          <p:cNvSpPr/>
          <p:nvPr/>
        </p:nvSpPr>
        <p:spPr>
          <a:xfrm>
            <a:off x="2962533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Reconcile local cycle counter</a:t>
            </a:r>
          </a:p>
        </p:txBody>
      </p:sp>
      <p:sp>
        <p:nvSpPr>
          <p:cNvPr id="5" name="VIZ::Process Flow::Inspect Marsh Gate bearing::node-3" descr="VisualizerDiagramNode:{&quot;item_id&quot;:&quot;c10&quot;,&quot;node_index&quot;:2,&quot;label&quot;:&quot;Inspect Marsh Gate bearing&quot;,&quot;page&quot;:1,&quot;page_count&quot;:1,&quot;direction&quot;:&quot;right&quot;}"/>
          <p:cNvSpPr/>
          <p:nvPr/>
        </p:nvSpPr>
        <p:spPr>
          <a:xfrm>
            <a:off x="5413002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 Marsh Gate bearing</a:t>
            </a:r>
          </a:p>
        </p:txBody>
      </p:sp>
      <p:sp>
        <p:nvSpPr>
          <p:cNvPr id="6" name="VIZ::Process Flow::Release staged fleet or extend hold::node-4" descr="VisualizerDiagramNode:{&quot;item_id&quot;:&quot;c10&quot;,&quot;node_index&quot;:3,&quot;label&quot;:&quot;Release staged fleet or extend hold&quot;,&quot;page&quot;:1,&quot;page_count&quot;:1,&quot;direction&quot;:&quot;right&quot;}"/>
          <p:cNvSpPr/>
          <p:nvPr/>
        </p:nvSpPr>
        <p:spPr>
          <a:xfrm>
            <a:off x="7863471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staged fleet or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extend hold</a:t>
            </a:r>
          </a:p>
        </p:txBody>
      </p:sp>
      <p:cxnSp>
        <p:nvCxnSpPr>
          <p:cNvPr id="7" name="VIZ::DiagramEdge::Process Flow::1" descr="VisualizerSemanticEdge:{&quot;item_id&quot;:&quot;c10&quot;,&quot;edge_index&quot;:0,&quot;source&quot;:&quot;Confirm storm watch window&quot;,&quot;target&quot;:&quot;Reconcile local cycle counter&quot;,&quot;continuation&quot;:false}"/>
          <p:cNvCxnSpPr/>
          <p:nvPr/>
        </p:nvCxnSpPr>
        <p:spPr>
          <a:xfrm>
            <a:off x="2765937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10&quot;,&quot;edge_index&quot;:1,&quot;source&quot;:&quot;Reconcile local cycle counter&quot;,&quot;target&quot;:&quot;Inspect Marsh Gate bearing&quot;,&quot;continuation&quot;:false}"/>
          <p:cNvCxnSpPr/>
          <p:nvPr/>
        </p:nvCxnSpPr>
        <p:spPr>
          <a:xfrm>
            <a:off x="521640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10&quot;,&quot;edge_index&quot;:2,&quot;source&quot;:&quot;Inspect Marsh Gate bearing&quot;,&quot;target&quot;:&quot;Release staged fleet or extend hold&quot;,&quot;continuation&quot;:false}"/>
          <p:cNvCxnSpPr/>
          <p:nvPr/>
        </p:nvCxnSpPr>
        <p:spPr>
          <a:xfrm>
            <a:off x="7666875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