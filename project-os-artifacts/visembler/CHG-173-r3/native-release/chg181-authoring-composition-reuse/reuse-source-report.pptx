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1032509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Regional revenue by area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Regional revenue by area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East</c:v>
                </c:pt>
                <c:pt idx="1">
                  <c:v>West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80</c:v>
                </c:pt>
                <c:pt idx="1">
                  <c:v>95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Regional revenue comparison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Regional revenue comparison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East</c:v>
                </c:pt>
                <c:pt idx="1">
                  <c:v>West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80</c:v>
                </c:pt>
                <c:pt idx="1">
                  <c:v>95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IZ::Executive Statement" title="Visembler report text roles: text heading, report headline" descr="VisualizerSemantic:{&quot;body&quot;:&quot;West revenue leads East by 15 units in the regional review.&quot;,&quot;composition_role&quot;:&quot;report_headline&quot;,&quot;element&quot;:&quot;Executive Statement&quot;,&quot;engine&quot;:&quot;TextEngine&quot;,&quot;groupId&quot;:null,&quot;id&quot;:&quot;c1&quot;,&quot;locked&quot;:false,&quot;message_role&quot;:&quot;Headline&quot;,&quot;order&quot;:0,&quot;section_id&quot;:&quot;opening&quot;,&quot;section_title&quot;:&quot;Executive summary&quot;,&quot;text&quot;:&quot;West revenue leads East by 15 units in the regional review.&quot;,&quot;title&quot;:&quot;Executive Statement&quot;,&quot;type&quot;:&quot;text&quot;,&quot;weight&quot;:1,&quot;z&quot;:1,&quot;x&quot;:14.0,&quot;y&quot;:40.0,&quot;w&quot;:1059.44,&quot;h&quot;:122.93120000000002}"/>
          <p:cNvSpPr/>
          <p:nvPr/>
        </p:nvSpPr>
        <p:spPr>
          <a:xfrm>
            <a:off x="106679" y="304800"/>
            <a:ext cx="8072932" cy="936736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Executive Statement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750" b="1" i="0">
                <a:solidFill>
                  <a:srgbClr val="172B43"/>
                </a:solidFill>
                <a:latin typeface="Arial"/>
              </a:rPr>
              <a:t>West revenue leads East by 15 units in the regional review.</a:t>
            </a:r>
          </a:p>
        </p:txBody>
      </p:sp>
      <p:sp>
        <p:nvSpPr>
          <p:cNvPr id="3" name="VIZ::Quarterly context" title="Visembler report text roles: text heading, context subhead" descr="VisualizerSemantic:{&quot;body&quot;:&quot;Regional revenue review · East and West · source extract captured for the first report.&quot;,&quot;composition_role&quot;:&quot;context&quot;,&quot;element&quot;:&quot;Body Narrative&quot;,&quot;engine&quot;:&quot;TextEngine&quot;,&quot;groupId&quot;:null,&quot;id&quot;:&quot;c2&quot;,&quot;locked&quot;:false,&quot;message_role&quot;:&quot;Context&quot;,&quot;order&quot;:1,&quot;section_id&quot;:&quot;opening&quot;,&quot;section_title&quot;:&quot;Executive summary&quot;,&quot;text&quot;:&quot;Regional revenue review · East and West · source extract captured for the first report.&quot;,&quot;title&quot;:&quot;Quarterly context&quot;,&quot;type&quot;:&quot;text&quot;,&quot;weight&quot;:1,&quot;z&quot;:2,&quot;x&quot;:1087.44,&quot;y&quot;:65.46560000000001,&quot;w&quot;:498.56,&quot;h&quot;:72.0}"/>
          <p:cNvSpPr/>
          <p:nvPr/>
        </p:nvSpPr>
        <p:spPr>
          <a:xfrm>
            <a:off x="8286291" y="498848"/>
            <a:ext cx="3799027" cy="548640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Quarterly context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74A60"/>
                </a:solidFill>
                <a:latin typeface="Arial Narrow"/>
              </a:rPr>
              <a:t>Regional revenue review · East and West · source extract captured for the first report.</a:t>
            </a:r>
          </a:p>
        </p:txBody>
      </p:sp>
      <p:sp>
        <p:nvSpPr>
          <p:cNvPr id="4" name="VIZ::Regional revenue total KPI" title="Visembler report text roles: metric title, metric value" descr="VisualizerSemantic:{&quot;composition_role&quot;:&quot;hero_metric&quot;,&quot;delta&quot;:null,&quot;element&quot;:&quot;Hero KPI&quot;,&quot;engine&quot;:&quot;MetricEngine&quot;,&quot;groupId&quot;:null,&quot;id&quot;:&quot;c3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&quot;},&quot;order&quot;:2,&quot;section_id&quot;:&quot;performance&quot;,&quot;section_title&quot;:&quot;Performance&quot;,&quot;showTitle&quot;:true,&quot;target&quot;:null,&quot;title&quot;:&quot;Regional revenue total&quot;,&quot;type&quot;:&quot;metric&quot;,&quot;unit&quot;:&quot;units&quot;,&quot;value&quot;:175,&quot;weight&quot;:1,&quot;z&quot;:3,&quot;x&quot;:14.0,&quot;y&quot;:202.43120000000002,&quot;w&quot;:648.48,&quot;h&quot;:205.0}"/>
          <p:cNvSpPr/>
          <p:nvPr/>
        </p:nvSpPr>
        <p:spPr>
          <a:xfrm>
            <a:off x="106679" y="1542525"/>
            <a:ext cx="4941417" cy="1562100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Regional revenue total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400" b="1" i="0">
                <a:solidFill>
                  <a:srgbClr val="17324E"/>
                </a:solidFill>
                <a:latin typeface="Arial"/>
              </a:rPr>
              <a:t>175 units</a:t>
            </a:r>
          </a:p>
        </p:txBody>
      </p:sp>
      <p:sp>
        <p:nvSpPr>
          <p:cNvPr id="5" name="VIZ::West lead over East KPI" title="Visembler report text roles: metric title, metric value" descr="VisualizerSemantic:{&quot;composition_role&quot;:&quot;hero_metric&quot;,&quot;delta&quot;:null,&quot;element&quot;:&quot;Hero KPI&quot;,&quot;emphasis&quot;:&quot;prominent&quot;,&quot;engine&quot;:&quot;MetricEngine&quot;,&quot;groupId&quot;:null,&quot;id&quot;:&quot;c4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&quot;},&quot;order&quot;:3,&quot;section_id&quot;:&quot;performance&quot;,&quot;section_title&quot;:&quot;Performance&quot;,&quot;showTitle&quot;:true,&quot;target&quot;:null,&quot;title&quot;:&quot;West lead over East&quot;,&quot;type&quot;:&quot;metric&quot;,&quot;unit&quot;:&quot;units&quot;,&quot;value&quot;:15,&quot;weight&quot;:1,&quot;z&quot;:4,&quot;x&quot;:676.48,&quot;y&quot;:204.93120000000002,&quot;w&quot;:447.76,&quot;h&quot;:200.0}"/>
          <p:cNvSpPr/>
          <p:nvPr/>
        </p:nvSpPr>
        <p:spPr>
          <a:xfrm>
            <a:off x="5154777" y="1561575"/>
            <a:ext cx="3411931" cy="1524000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West lead over East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400" b="1" i="0">
                <a:solidFill>
                  <a:srgbClr val="17324E"/>
                </a:solidFill>
                <a:latin typeface="Arial"/>
              </a:rPr>
              <a:t>15 units</a:t>
            </a:r>
          </a:p>
        </p:txBody>
      </p:sp>
      <p:sp>
        <p:nvSpPr>
          <p:cNvPr id="6" name="VIZ::East to West revenue KPI" title="Visembler report text roles: metric title, comparison value" descr="VisualizerSemantic:{&quot;after&quot;:95,&quot;before&quot;:80,&quot;composition_role&quot;:&quot;hero_metric&quot;,&quot;element&quot;:&quot;Before/After KPI&quot;,&quot;engine&quot;:&quot;ComparisonEngine&quot;,&quot;groupId&quot;:null,&quot;id&quot;:&quot;c5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&quot;},&quot;order&quot;:4,&quot;section_id&quot;:&quot;performance&quot;,&quot;section_title&quot;:&quot;Performance&quot;,&quot;showTitle&quot;:true,&quot;title&quot;:&quot;East to West revenue&quot;,&quot;type&quot;:&quot;comparison&quot;,&quot;unit&quot;:&quot;units&quot;,&quot;weight&quot;:1,&quot;z&quot;:5,&quot;x&quot;:1138.24,&quot;y&quot;:196.93120000000002,&quot;w&quot;:447.76,&quot;h&quot;:216.0}"/>
          <p:cNvSpPr/>
          <p:nvPr/>
        </p:nvSpPr>
        <p:spPr>
          <a:xfrm>
            <a:off x="8673387" y="1500615"/>
            <a:ext cx="3411931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East to West revenue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000" b="1" i="0">
                <a:solidFill>
                  <a:srgbClr val="17324E"/>
                </a:solidFill>
                <a:latin typeface="Arial"/>
              </a:rPr>
              <a:t>80 units → 95 units</a:t>
            </a:r>
          </a:p>
        </p:txBody>
      </p:sp>
      <p:graphicFrame>
        <p:nvGraphicFramePr>
          <p:cNvPr id="7" name="Chart 6" descr="VisualizerSemantic:{&quot;brush&quot;:[0,4],&quot;composition_role&quot;:&quot;supporting_analysis&quot;,&quot;cross&quot;:null,&quot;data&quot;:[[&quot;East&quot;,80],[&quot;West&quot;,95]],&quot;dataset_id&quot;:&quot;dataset-muherebr-q8vqj8&quot;,&quot;drill&quot;:null,&quot;element&quot;:&quot;Vertical Bar&quot;,&quot;engine&quot;:&quot;CoreChartEngine&quot;,&quot;groupId&quot;:null,&quot;id&quot;:&quot;c10&quot;,&quot;locked&quot;:false,&quot;mapping&quot;:{&quot;category&quot;:&quot;region_1&quot;,&quot;value&quot;:&quot;revenue_2&quot;,&quot;x&quot;:&quot;revenue_2&quot;},&quot;message_role&quot;:&quot;Supporting Evidence&quot;,&quot;order&quot;:5,&quot;revealed&quot;:true,&quot;rows&quot;:[{&quot;label&quot;:&quot;East&quot;,&quot;value&quot;:80},{&quot;label&quot;:&quot;West&quot;,&quot;value&quot;:95}],&quot;section_id&quot;:&quot;analysis&quot;,&quot;section_title&quot;:&quot;Analysis&quot;,&quot;showTitle&quot;:true,&quot;textAlign&quot;:&quot;left&quot;,&quot;title&quot;:&quot;Regional revenue by area&quot;,&quot;type&quot;:&quot;chart&quot;,&quot;variant&quot;:&quot;line&quot;,&quot;view_type&quot;:&quot;bar&quot;,&quot;weight&quot;:1.8,&quot;z&quot;:10,&quot;observations&quot;:[{&quot;label&quot;:&quot;East&quot;,&quot;value&quot;:80},{&quot;label&quot;:&quot;West&quot;,&quot;value&quot;:95}],&quot;x&quot;:133.60606060606062,&quot;y&quot;:446.9312,&quot;w&quot;:659.3939393939394,&quot;h&quot;:320.0}"/>
          <p:cNvGraphicFramePr>
            <a:graphicFrameLocks noGrp="1"/>
          </p:cNvGraphicFramePr>
          <p:nvPr/>
        </p:nvGraphicFramePr>
        <p:xfrm>
          <a:off x="1018078" y="3405615"/>
          <a:ext cx="5024581" cy="2438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8" name="Chart 7" descr="VisualizerSemantic:{&quot;brush&quot;:[0,4],&quot;composition_role&quot;:&quot;supporting_analysis&quot;,&quot;cross&quot;:null,&quot;data&quot;:[[&quot;East&quot;,80],[&quot;West&quot;,95]],&quot;dataset_id&quot;:&quot;dataset-muherebr-q8vqj8&quot;,&quot;drill&quot;:null,&quot;element&quot;:&quot;Vertical Bar&quot;,&quot;engine&quot;:&quot;CoreChartEngine&quot;,&quot;groupId&quot;:null,&quot;id&quot;:&quot;c11&quot;,&quot;locked&quot;:false,&quot;mapping&quot;:{&quot;category&quot;:&quot;region_1&quot;,&quot;value&quot;:&quot;revenue_2&quot;,&quot;x&quot;:&quot;revenue_2&quot;},&quot;message_role&quot;:&quot;Supporting Evidence&quot;,&quot;order&quot;:6,&quot;revealed&quot;:true,&quot;rows&quot;:[{&quot;label&quot;:&quot;East&quot;,&quot;value&quot;:80},{&quot;label&quot;:&quot;West&quot;,&quot;value&quot;:95}],&quot;section_id&quot;:&quot;analysis&quot;,&quot;section_title&quot;:&quot;Analysis&quot;,&quot;showTitle&quot;:true,&quot;textAlign&quot;:&quot;left&quot;,&quot;title&quot;:&quot;Regional revenue comparison&quot;,&quot;type&quot;:&quot;chart&quot;,&quot;variant&quot;:&quot;line&quot;,&quot;view_type&quot;:&quot;bar&quot;,&quot;weight&quot;:1.8,&quot;z&quot;:11,&quot;observations&quot;:[{&quot;label&quot;:&quot;East&quot;,&quot;value&quot;:80},{&quot;label&quot;:&quot;West&quot;,&quot;value&quot;:95}],&quot;x&quot;:807.0,&quot;y&quot;:446.9312,&quot;w&quot;:659.3939393939394,&quot;h&quot;:320.0}"/>
          <p:cNvGraphicFramePr>
            <a:graphicFrameLocks noGrp="1"/>
          </p:cNvGraphicFramePr>
          <p:nvPr/>
        </p:nvGraphicFramePr>
        <p:xfrm>
          <a:off x="6149339" y="3405615"/>
          <a:ext cx="5024581" cy="24384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VIZ::Risk Callout" title="Visembler report text roles: text heading, risk decision, evidence detail, action status" descr="VisualizerSemantic:{&quot;composition_role&quot;:&quot;decision_risk&quot;,&quot;detail&quot;:&quot;The current review compares two regions; confirm the pattern in the next operating window.&quot;,&quot;element&quot;:&quot;Risk Callout&quot;,&quot;engine&quot;:&quot;DecisionCompositeEngine&quot;,&quot;groupId&quot;:null,&quot;id&quot;:&quot;c8&quot;,&quot;locked&quot;:false,&quot;message_role&quot;:&quot;Risk&quot;,&quot;order&quot;:8,&quot;section_id&quot;:&quot;decision&quot;,&quot;section_title&quot;:&quot;Decision&quot;,&quot;statement&quot;:&quot;Validate the West lead before shifting regional targets&quot;,&quot;status&quot;:&quot;Review&quot;,&quot;title&quot;:&quot;Risk Callout&quot;,&quot;type&quot;:&quot;decision&quot;,&quot;weight&quot;:1,&quot;z&quot;:8,&quot;x&quot;:14.0,&quot;y&quot;:1092.4512,&quot;w&quot;:1572.0,&quot;h&quot;:113.70240000000003}"/>
          <p:cNvSpPr/>
          <p:nvPr/>
        </p:nvSpPr>
        <p:spPr>
          <a:xfrm>
            <a:off x="106679" y="8324477"/>
            <a:ext cx="11978639" cy="866412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Risk Callout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100" b="1" i="0">
                <a:solidFill>
                  <a:srgbClr val="682B31"/>
                </a:solidFill>
                <a:latin typeface="Arial"/>
              </a:rPr>
              <a:t>Validate the West lead before shifting regional targets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050" b="0" i="0">
                <a:solidFill>
                  <a:srgbClr val="37485C"/>
                </a:solidFill>
                <a:latin typeface="Arial"/>
              </a:rPr>
              <a:t>The current review compares two regions; confirm the pattern in the next operating window.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B4F43"/>
                </a:solidFill>
                <a:latin typeface="Arial"/>
              </a:rPr>
              <a:t>Review</a:t>
            </a:r>
          </a:p>
        </p:txBody>
      </p:sp>
      <p:sp>
        <p:nvSpPr>
          <p:cNvPr id="11" name="VIZ::Key Takeaway" title="Visembler report text roles: text heading, conclusion next step" descr="VisualizerSemantic:{&quot;body&quot;:&quot;Next step: validate the West lead in the next operating window before shifting regional targets.&quot;,&quot;composition_role&quot;:&quot;conclusion&quot;,&quot;element&quot;:&quot;Key Takeaway&quot;,&quot;engine&quot;:&quot;TextEngine&quot;,&quot;groupId&quot;:null,&quot;id&quot;:&quot;c9&quot;,&quot;locked&quot;:false,&quot;message_role&quot;:&quot;Action&quot;,&quot;order&quot;:9,&quot;section_id&quot;:&quot;delivery&quot;,&quot;section_title&quot;:&quot;Decision and next step&quot;,&quot;text&quot;:&quot;Next step: validate the West lead in the next operating window before shifting regional targets.&quot;,&quot;title&quot;:&quot;Key Takeaway&quot;,&quot;type&quot;:&quot;text&quot;,&quot;weight&quot;:1,&quot;z&quot;:9,&quot;x&quot;:14.0,&quot;y&quot;:1240.1536,&quot;w&quot;:1572.0,&quot;h&quot;:100.80000000000001}"/>
          <p:cNvSpPr/>
          <p:nvPr/>
        </p:nvSpPr>
        <p:spPr>
          <a:xfrm>
            <a:off x="106679" y="9449969"/>
            <a:ext cx="11978639" cy="768096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Key Takeaway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250" b="1" i="0">
                <a:solidFill>
                  <a:srgbClr val="17324E"/>
                </a:solidFill>
                <a:latin typeface="Arial"/>
              </a:rPr>
              <a:t>Next step: validate the West lead in the next operating window before shifting regional targets.</a:t>
            </a:r>
          </a:p>
        </p:txBody>
      </p:sp>
      <p:graphicFrame>
        <p:nvGraphicFramePr>
          <p:cNvPr id="12" name="VIZ::Regional revenue evidence" descr="VisualizerSemantic:{&quot;composition_role&quot;:&quot;detailed_evidence&quot;,&quot;customTable&quot;:{&quot;headers&quot;:[&quot;Region&quot;,&quot;Revenue&quot;,&quot;Reading&quot;,&quot;Source&quot;],&quot;rows&quot;:[[&quot;East&quot;,80,&quot;Comparison baseline&quot;,&quot;Source extract&quot;],[&quot;West&quot;,95,&quot;Leads by 15&quot;,&quot;Source extract&quot;]]},&quot;element&quot;:&quot;Clean Table&quot;,&quot;engine&quot;:&quot;TableEngine&quot;,&quot;groupId&quot;:null,&quot;id&quot;:&quot;c7&quot;,&quot;locked&quot;:false,&quot;message_role&quot;:&quot;Primary Evidence&quot;,&quot;order&quot;:7,&quot;rows&quot;:[[&quot;East&quot;,80,&quot;Comparison baseline&quot;,&quot;Source extract&quot;],[&quot;West&quot;,95,&quot;Leads by 15&quot;,&quot;Source extract&quot;]],&quot;section_id&quot;:&quot;evidence&quot;,&quot;section_title&quot;:&quot;Regional evidence&quot;,&quot;showTitle&quot;:true,&quot;title&quot;:&quot;Regional revenue evidence&quot;,&quot;type&quot;:&quot;table&quot;,&quot;weight&quot;:1,&quot;z&quot;:7,&quot;x&quot;:14.0,&quot;y&quot;:800.9312,&quot;w&quot;:1572.0,&quot;h&quot;:257.52}"/>
          <p:cNvGraphicFramePr>
            <a:graphicFrameLocks noGrp="1"/>
          </p:cNvGraphicFramePr>
          <p:nvPr/>
        </p:nvGraphicFramePr>
        <p:xfrm>
          <a:off x="106679" y="6103095"/>
          <a:ext cx="11978639" cy="19623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94659"/>
                <a:gridCol w="2994659"/>
                <a:gridCol w="2994659"/>
                <a:gridCol w="2994662"/>
              </a:tblGrid>
              <a:tr h="654100"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Reading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Source</a:t>
                      </a:r>
                    </a:p>
                  </a:txBody>
                  <a:tcPr/>
                </a:tc>
              </a:tr>
              <a:tr h="654100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East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Comparison 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Source extract</a:t>
                      </a:r>
                    </a:p>
                  </a:txBody>
                  <a:tcPr/>
                </a:tc>
              </a:tr>
              <a:tr h="654102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West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Leads by 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Source extract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3" name="VIZ::SemanticReport" descr="VisualizerSemanticReport:{&quot;authoring_schema&quot;:&quot;authoring-p0-v1&quot;,&quot;canvas&quot;:{&quot;height&quot;:900,&quot;width&quot;:1600},&quot;crossFilter&quot;:null,&quot;crossFilters&quot;:[],&quot;datasets&quot;:[{&quot;fields&quot;:[{&quot;id&quot;:&quot;region_1&quot;,&quot;name&quot;:&quot;Region&quot;,&quot;nullable&quot;:false,&quot;profile&quot;:{&quot;distinct&quot;:2,&quot;missing&quot;:0},&quot;semantic_tags&quot;:[],&quot;type&quot;:&quot;categorical&quot;},{&quot;id&quot;:&quot;revenue_2&quot;,&quot;name&quot;:&quot;Revenue&quot;,&quot;nullable&quot;:false,&quot;profile&quot;:{&quot;distinct&quot;:2,&quot;missing&quot;:0},&quot;semantic_tags&quot;:[],&quot;type&quot;:&quot;integer&quot;,&quot;unit&quot;:&quot;&quot;}],&quot;id&quot;:&quot;dataset-muherebr-q8vqj8&quot;,&quot;metadata&quot;:{&quot;header&quot;:{&quot;confidence&quot;:0.75,&quot;present&quot;:true,&quot;source_row&quot;:0}},&quot;name&quot;:&quot;Pasted data&quot;,&quot;revision&quot;:1,&quot;rows&quot;:[[&quot;East&quot;,80],[&quot;West&quot;,95]],&quot;source&quot;:{&quot;imported_at&quot;:&quot;2026-09-25T20:23:18.087Z&quot;,&quot;kind&quot;:&quot;clipboard&quot;,&quot;label&quot;:&quot;TSV&quot;},&quot;warnings&quot;:[]}],&quot;groups&quot;:{},&quot;items&quot;:[{&quot;body&quot;:&quot;West revenue leads East by 15 units in the regional review.&quot;,&quot;composition_role&quot;:&quot;report_headline&quot;,&quot;element&quot;:&quot;Executive Statement&quot;,&quot;engine&quot;:&quot;TextEngine&quot;,&quot;groupId&quot;:null,&quot;id&quot;:&quot;c1&quot;,&quot;locked&quot;:false,&quot;message_role&quot;:&quot;Headline&quot;,&quot;order&quot;:0,&quot;section_id&quot;:&quot;opening&quot;,&quot;section_title&quot;:&quot;Executive summary&quot;,&quot;text&quot;:&quot;West revenue leads East by 15 units in the regional review.&quot;,&quot;title&quot;:&quot;Executive Statement&quot;,&quot;type&quot;:&quot;text&quot;,&quot;weight&quot;:1,&quot;z&quot;:1},{&quot;body&quot;:&quot;Regional revenue review · East and West · source extract captured for the first report.&quot;,&quot;composition_role&quot;:&quot;context&quot;,&quot;element&quot;:&quot;Body Narrative&quot;,&quot;engine&quot;:&quot;TextEngine&quot;,&quot;groupId&quot;:null,&quot;id&quot;:&quot;c2&quot;,&quot;locked&quot;:false,&quot;message_role&quot;:&quot;Context&quot;,&quot;order&quot;:1,&quot;section_id&quot;:&quot;opening&quot;,&quot;section_title&quot;:&quot;Executive summary&quot;,&quot;text&quot;:&quot;Regional revenue review · East and West · source extract captured for the first report.&quot;,&quot;title&quot;:&quot;Quarterly context&quot;,&quot;type&quot;:&quot;text&quot;,&quot;weight&quot;:1,&quot;z&quot;:2},{&quot;composition_role&quot;:&quot;hero_metric&quot;,&quot;delta&quot;:null,&quot;element&quot;:&quot;Hero KPI&quot;,&quot;engine&quot;:&quot;MetricEngine&quot;,&quot;groupId&quot;:null,&quot;id&quot;:&quot;c3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&quot;},&quot;order&quot;:2,&quot;section_id&quot;:&quot;performance&quot;,&quot;section_title&quot;:&quot;Performance&quot;,&quot;showTitle&quot;:true,&quot;target&quot;:null,&quot;title&quot;:&quot;Regional revenue total&quot;,&quot;type&quot;:&quot;metric&quot;,&quot;unit&quot;:&quot;units&quot;,&quot;value&quot;:175,&quot;weight&quot;:1,&quot;z&quot;:3},{&quot;composition_role&quot;:&quot;hero_metric&quot;,&quot;delta&quot;:null,&quot;element&quot;:&quot;Hero KPI&quot;,&quot;emphasis&quot;:&quot;prominent&quot;,&quot;engine&quot;:&quot;MetricEngine&quot;,&quot;groupId&quot;:null,&quot;id&quot;:&quot;c4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&quot;},&quot;order&quot;:3,&quot;section_id&quot;:&quot;performance&quot;,&quot;section_title&quot;:&quot;Performance&quot;,&quot;showTitle&quot;:true,&quot;target&quot;:null,&quot;title&quot;:&quot;West lead over East&quot;,&quot;type&quot;:&quot;metric&quot;,&quot;unit&quot;:&quot;units&quot;,&quot;value&quot;:15,&quot;weight&quot;:1,&quot;z&quot;:4},{&quot;after&quot;:95,&quot;before&quot;:80,&quot;composition_role&quot;:&quot;hero_metric&quot;,&quot;element&quot;:&quot;Before/After KPI&quot;,&quot;engine&quot;:&quot;ComparisonEngine&quot;,&quot;groupId&quot;:null,&quot;id&quot;:&quot;c5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&quot;},&quot;order&quot;:4,&quot;section_id&quot;:&quot;performance&quot;,&quot;section_title&quot;:&quot;Performance&quot;,&quot;showTitle&quot;:true,&quot;title&quot;:&quot;East to West revenue&quot;,&quot;type&quot;:&quot;comparison&quot;,&quot;unit&quot;:&quot;units&quot;,&quot;weight&quot;:1,&quot;z&quot;:5},{&quot;composition_role&quot;:&quot;detailed_evidence&quot;,&quot;customTable&quot;:{&quot;headers&quot;:[&quot;Region&quot;,&quot;Revenue&quot;,&quot;Reading&quot;,&quot;Source&quot;],&quot;rows&quot;:[[&quot;East&quot;,80,&quot;Comparison baseline&quot;,&quot;Source extract&quot;],[&quot;West&quot;,95,&quot;Leads by 15&quot;,&quot;Source extract&quot;]]},&quot;element&quot;:&quot;Clean Table&quot;,&quot;engine&quot;:&quot;TableEngine&quot;,&quot;groupId&quot;:null,&quot;id&quot;:&quot;c7&quot;,&quot;locked&quot;:false,&quot;message_role&quot;:&quot;Primary Evidence&quot;,&quot;order&quot;:7,&quot;rows&quot;:[[&quot;East&quot;,80,&quot;Comparison baseline&quot;,&quot;Source extract&quot;],[&quot;West&quot;,95,&quot;Leads by 15&quot;,&quot;Source extract&quot;]],&quot;section_id&quot;:&quot;evidence&quot;,&quot;section_title&quot;:&quot;Regional evidence&quot;,&quot;showTitle&quot;:true,&quot;title&quot;:&quot;Regional revenue evidence&quot;,&quot;type&quot;:&quot;table&quot;,&quot;weight&quot;:1,&quot;z&quot;:7},{&quot;composition_role&quot;:&quot;decision_risk&quot;,&quot;detail&quot;:&quot;The current review compares two regions; confirm the pattern in the next operating window.&quot;,&quot;element&quot;:&quot;Risk Callout&quot;,&quot;engine&quot;:&quot;DecisionCompositeEngine&quot;,&quot;groupId&quot;:null,&quot;id&quot;:&quot;c8&quot;,&quot;locked&quot;:false,&quot;message_role&quot;:&quot;Risk&quot;,&quot;order&quot;:8,&quot;section_id&quot;:&quot;decision&quot;,&quot;section_title&quot;:&quot;Decision&quot;,&quot;statement&quot;:&quot;Validate the West lead before shifting regional targets&quot;,&quot;status&quot;:&quot;Review&quot;,&quot;title&quot;:&quot;Risk Callout&quot;,&quot;type&quot;:&quot;decision&quot;,&quot;weight&quot;:1,&quot;z&quot;:8},{&quot;body&quot;:&quot;Next step: validate the West lead in the next operating window before shifting regional targets.&quot;,&quot;composition_role&quot;:&quot;conclusion&quot;,&quot;element&quot;:&quot;Key Takeaway&quot;,&quot;engine&quot;:&quot;TextEngine&quot;,&quot;groupId&quot;:null,&quot;id&quot;:&quot;c9&quot;,&quot;locked&quot;:false,&quot;message_role&quot;:&quot;Action&quot;,&quot;order&quot;:9,&quot;section_id&quot;:&quot;delivery&quot;,&quot;section_title&quot;:&quot;Decision and next step&quot;,&quot;text&quot;:&quot;Next step: validate the West lead in the next operating window before shifting regional targets.&quot;,&quot;title&quot;:&quot;Key Takeaway&quot;,&quot;type&quot;:&quot;text&quot;,&quot;weight&quot;:1,&quot;z&quot;:9},{&quot;brush&quot;:[0,4],&quot;composition_role&quot;:&quot;supporting_analysis&quot;,&quot;cross&quot;:null,&quot;data&quot;:[[&quot;Baseline&quot;,72],[&quot;Pilot&quot;,78],[&quot;Validation&quot;,84],[&quot;Release&quot;,91],[&quot;Sustain&quot;,94]],&quot;dataset_id&quot;:&quot;dataset-muherebr-q8vqj8&quot;,&quot;drill&quot;:null,&quot;element&quot;:&quot;Vertical Bar&quot;,&quot;engine&quot;:&quot;CoreChartEngine&quot;,&quot;groupId&quot;:null,&quot;id&quot;:&quot;c10&quot;,&quot;locked&quot;:false,&quot;mapping&quot;:{&quot;category&quot;:&quot;region_1&quot;,&quot;value&quot;:&quot;revenue_2&quot;,&quot;x&quot;:&quot;revenue_2&quot;},&quot;message_role&quot;:&quot;Supporting Evidence&quot;,&quot;order&quot;:5,&quot;revealed&quot;:true,&quot;rows&quot;:[{&quot;label&quot;:&quot;Baseline&quot;,&quot;value&quot;:72},{&quot;label&quot;:&quot;Pilot&quot;,&quot;value&quot;:78},{&quot;label&quot;:&quot;Validation&quot;,&quot;value&quot;:84},{&quot;label&quot;:&quot;Release&quot;,&quot;value&quot;:91},{&quot;label&quot;:&quot;Sustain&quot;,&quot;value&quot;:94}],&quot;section_id&quot;:&quot;analysis&quot;,&quot;section_title&quot;:&quot;Analysis&quot;,&quot;showTitle&quot;:true,&quot;textAlign&quot;:&quot;left&quot;,&quot;title&quot;:&quot;Regional revenue by area&quot;,&quot;type&quot;:&quot;chart&quot;,&quot;variant&quot;:&quot;line&quot;,&quot;view_type&quot;:&quot;bar&quot;,&quot;weight&quot;:1.8,&quot;z&quot;:10},{&quot;brush&quot;:[0,4],&quot;composition_role&quot;:&quot;supporting_analysis&quot;,&quot;cross&quot;:null,&quot;data&quot;:[[&quot;Baseline&quot;,72],[&quot;Pilot&quot;,78],[&quot;Validation&quot;,84],[&quot;Release&quot;,91],[&quot;Sustain&quot;,94]],&quot;dataset_id&quot;:&quot;dataset-muherebr-q8vqj8&quot;,&quot;drill&quot;:null,&quot;element&quot;:&quot;Vertical Bar&quot;,&quot;engine&quot;:&quot;CoreChartEngine&quot;,&quot;groupId&quot;:null,&quot;id&quot;:&quot;c11&quot;,&quot;locked&quot;:false,&quot;mapping&quot;:{&quot;category&quot;:&quot;region_1&quot;,&quot;value&quot;:&quot;revenue_2&quot;,&quot;x&quot;:&quot;revenue_2&quot;},&quot;message_role&quot;:&quot;Supporting Evidence&quot;,&quot;order&quot;:6,&quot;revealed&quot;:true,&quot;rows&quot;:[{&quot;label&quot;:&quot;Baseline&quot;,&quot;value&quot;:72},{&quot;label&quot;:&quot;Pilot&quot;,&quot;value&quot;:78},{&quot;label&quot;:&quot;Validation&quot;,&quot;value&quot;:84},{&quot;label&quot;:&quot;Release&quot;,&quot;value&quot;:91},{&quot;label&quot;:&quot;Sustain&quot;,&quot;value&quot;:94}],&quot;section_id&quot;:&quot;analysis&quot;,&quot;section_title&quot;:&quot;Analysis&quot;,&quot;showTitle&quot;:true,&quot;textAlign&quot;:&quot;left&quot;,&quot;title&quot;:&quot;Regional revenue comparison&quot;,&quot;type&quot;:&quot;chart&quot;,&quot;variant&quot;:&quot;line&quot;,&quot;view_type&quot;:&quot;bar&quot;,&quot;weight&quot;:1.8,&quot;z&quot;:11}],&quot;layoutPreset&quot;:&quot;executive&quot;,&quot;mode&quot;:&quot;smart&quot;,&quot;nextId&quot;:12,&quot;schema_version&quot;:1}"/>
          <p:cNvSpPr txBox="1"/>
          <p:nvPr/>
        </p:nvSpPr>
        <p:spPr>
          <a:xfrm>
            <a:off x="0" y="0"/>
            <a:ext cx="1" cy="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