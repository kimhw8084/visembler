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6918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retention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retention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91.8</c:v>
                </c:pt>
                <c:pt idx="1">
                  <c:v>93.2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480" y="304229"/>
            <a:ext cx="8057824" cy="9349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Revenue grew across all three regions. Retention improved in the West, while the South remains below the 95 percent target.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70784" y="497914"/>
            <a:ext cx="3791917" cy="5476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Quarterly business review · Q1–Q4 · three regions · revenue and retention.</a:t>
            </a:r>
          </a:p>
        </p:txBody>
      </p:sp>
      <p:sp>
        <p:nvSpPr>
          <p:cNvPr id="4" name="VIZ::Retention KPI" title="Visembler report text roles: metric title, metric value" descr="VisualizerSemantic: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,&quot;x&quot;:676.48,&quot;y&quot;:1377.7572000000002,&quot;w&quot;:447.76,&quot;h&quot;:206.0}"/>
          <p:cNvSpPr/>
          <p:nvPr/>
        </p:nvSpPr>
        <p:spPr>
          <a:xfrm>
            <a:off x="5145130" y="10478860"/>
            <a:ext cx="3405545" cy="156678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94.6%</a:t>
            </a:r>
          </a:p>
        </p:txBody>
      </p:sp>
      <p:sp>
        <p:nvSpPr>
          <p:cNvPr id="5" name="VIZ::Regional revenue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,&quot;x&quot;:14.0,&quot;y&quot;:1373.2572000000002,&quot;w&quot;:648.48,&quot;h&quot;:200.0}"/>
          <p:cNvSpPr/>
          <p:nvPr/>
        </p:nvSpPr>
        <p:spPr>
          <a:xfrm>
            <a:off x="106480" y="10444635"/>
            <a:ext cx="4932169" cy="152114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551</a:t>
            </a:r>
          </a:p>
        </p:txBody>
      </p:sp>
      <p:sp>
        <p:nvSpPr>
          <p:cNvPr id="6" name="VIZ::Quarterly retention KPI" title="Visembler report text roles: metric title, comparison value" descr="VisualizerSemantic: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,&quot;x&quot;:1138.24,&quot;y&quot;:1373.2572000000002,&quot;w&quot;:447.76,&quot;h&quot;:215.0}"/>
          <p:cNvSpPr/>
          <p:nvPr/>
        </p:nvSpPr>
        <p:spPr>
          <a:xfrm>
            <a:off x="8657155" y="10444635"/>
            <a:ext cx="3405545" cy="163523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Quarterly 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91.8% → 94.6%</a:t>
            </a:r>
          </a:p>
        </p:txBody>
      </p:sp>
      <p:graphicFrame>
        <p:nvGraphicFramePr>
          <p:cNvPr id="7" name="Chart 6" descr="VisualizerSemantic:{&quot;composition_role&quot;:&quot;primary_analysis&quot;,&quot;data&quot;:[[&quot;Q1&quot;,91.8],[&quot;Q2&quot;,93.2],[&quot;Q3&quot;,94.1],[&quot;Q4&quot;,94.6]],&quot;dataset_id&quot;:&quot;dataset-muheqe3b-f1q3gu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,&quot;rows&quot;:[{&quot;label&quot;:&quot;Q1&quot;,&quot;value&quot;:91.8},{&quot;label&quot;:&quot;Q2&quot;,&quot;value&quot;:93.2},{&quot;label&quot;:&quot;Q3&quot;,&quot;value&quot;:94.1},{&quot;label&quot;:&quot;Q4&quot;,&quot;value&quot;:94.6}],&quot;observations&quot;:[{&quot;label&quot;:&quot;Q1&quot;,&quot;value&quot;:91.8},{&quot;label&quot;:&quot;Q2&quot;,&quot;value&quot;:93.2},{&quot;label&quot;:&quot;Q3&quot;,&quot;value&quot;:94.1},{&quot;label&quot;:&quot;Q4&quot;,&quot;value&quot;:94.6}],&quot;x&quot;:354.90909090909093,&quot;y&quot;:606.4812000000001,&quot;w&quot;:890.1818181818181,&quot;h&quot;:432.0}"/>
          <p:cNvGraphicFramePr>
            <a:graphicFrameLocks noGrp="1"/>
          </p:cNvGraphicFramePr>
          <p:nvPr/>
        </p:nvGraphicFramePr>
        <p:xfrm>
          <a:off x="2699345" y="4612737"/>
          <a:ext cx="6770490" cy="328567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Risk Callout" title="Visembler report text roles: text heading, risk decision, evidence detail, action status" descr="VisualizerSemantic: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,&quot;x&quot;:14.0,&quot;y&quot;:1072.4812000000002,&quot;w&quot;:1572.0,&quot;h&quot;:131.976}"/>
          <p:cNvSpPr/>
          <p:nvPr/>
        </p:nvSpPr>
        <p:spPr>
          <a:xfrm>
            <a:off x="106480" y="8157011"/>
            <a:ext cx="11956221" cy="100377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Proceed with monitored revenue recovery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Close the South retention gap before the next review.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0" name="VIZ::Key Takeaway" title="Visembler report text roles: text heading, conclusion next step" descr="VisualizerSemantic: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,&quot;x&quot;:14.0,&quot;y&quot;:1238.4572000000003,&quot;w&quot;:1572.0,&quot;h&quot;:100.80000000000001}"/>
          <p:cNvSpPr/>
          <p:nvPr/>
        </p:nvSpPr>
        <p:spPr>
          <a:xfrm>
            <a:off x="106480" y="9419381"/>
            <a:ext cx="11956221" cy="76665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close the South retention gap before the next quarterly review.</a:t>
            </a:r>
          </a:p>
        </p:txBody>
      </p:sp>
      <p:graphicFrame>
        <p:nvGraphicFramePr>
          <p:cNvPr id="11" name="VIZ::Clean Table" descr="VisualizerSemantic: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,&quot;x&quot;:14.0,&quot;y&quot;:196.93120000000002,&quot;w&quot;:1572.0,&quot;h&quot;:375.55}"/>
          <p:cNvGraphicFramePr>
            <a:graphicFrameLocks noGrp="1"/>
          </p:cNvGraphicFramePr>
          <p:nvPr/>
        </p:nvGraphicFramePr>
        <p:xfrm>
          <a:off x="106480" y="1497807"/>
          <a:ext cx="11956221" cy="2856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9055"/>
                <a:gridCol w="2989055"/>
                <a:gridCol w="2989055"/>
                <a:gridCol w="2989056"/>
              </a:tblGrid>
              <a:tr h="71408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Below target</a:t>
                      </a:r>
                    </a:p>
                  </a:txBody>
                  <a:tcPr/>
                </a:tc>
              </a:tr>
              <a:tr h="71408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On plan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heqe3b-f1q3gu&quot;,&quot;metadata&quot;:{&quot;header&quot;:{&quot;confidence&quot;:0.75,&quot;present&quot;:true,&quot;source_row&quot;:0}},&quot;name&quot;:&quot;Pasted data&quot;,&quot;revision&quot;:1,&quot;rows&quot;:[[&quot;Q1&quot;,91.8],[&quot;Q2&quot;,93.2],[&quot;Q3&quot;,94.1],[&quot;Q4&quot;,94.6]],&quot;source&quot;:{&quot;imported_at&quot;:&quot;2026-09-25T20:22:31.127Z&quot;,&quot;kind&quot;:&quot;clipboard&quot;,&quot;label&quot;:&quot;TSV&quot;},&quot;warnings&quot;:[]}],&quot;groups&quot;:{},&quot;items&quot;:[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},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},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},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},{&quot;composition_role&quot;:&quot;primary_analysis&quot;,&quot;data&quot;:[],&quot;dataset_id&quot;:&quot;dataset-muheqe3b-f1q3gu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},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},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}],&quot;layoutPreset&quot;:&quot;executive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