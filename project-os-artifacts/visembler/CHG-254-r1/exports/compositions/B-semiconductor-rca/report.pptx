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9.035"/>
          <c:min val="93.86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"/>
          <p:cNvSpPr/>
          <p:nvPr/>
        </p:nvSpPr>
        <p:spPr>
          <a:xfrm>
            <a:off x="0" y="0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500" b="1" i="0">
                <a:solidFill>
                  <a:srgbClr val="172B43"/>
                </a:solidFill>
                <a:latin typeface="Arial Narrow"/>
              </a:rP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"/>
          <p:cNvSpPr/>
          <p:nvPr/>
        </p:nvSpPr>
        <p:spPr>
          <a:xfrm>
            <a:off x="3124200" y="0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title="Visembler report text roles: metric title, metric value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"/>
          <p:cNvSpPr/>
          <p:nvPr/>
        </p:nvSpPr>
        <p:spPr>
          <a:xfrm>
            <a:off x="6248400" y="0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94.2%</a:t>
            </a:r>
          </a:p>
        </p:txBody>
      </p:sp>
      <p:sp>
        <p:nvSpPr>
          <p:cNvPr id="5" name="VIZ::Affected versus reference yield KPI" title="Visembler report text roles: metric title, comparison value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"/>
          <p:cNvSpPr/>
          <p:nvPr/>
        </p:nvSpPr>
        <p:spPr>
          <a:xfrm>
            <a:off x="0" y="1774507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versus 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98.6% → 94.2%</a:t>
            </a:r>
          </a:p>
        </p:txBody>
      </p:sp>
      <p:graphicFrame>
        <p:nvGraphicFramePr>
          <p:cNvPr id="112" name="VIZ::Process stability and specification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"/>
          <p:cNvGraphicFramePr>
            <a:graphicFrameLocks noGrp="1"/>
          </p:cNvGraphicFramePr>
          <p:nvPr/>
        </p:nvGraphicFramePr>
        <p:xfrm>
          <a:off x="6248400" y="1774507"/>
          <a:ext cx="2895600" cy="153447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13" name="VIZ::c6::box-plot-title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heqnmo-8bts7b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}"/>
          <p:cNvSpPr txBox="1"/>
          <p:nvPr/>
        </p:nvSpPr>
        <p:spPr>
          <a:xfrm>
            <a:off x="115824" y="3572032"/>
            <a:ext cx="2663952" cy="2301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Control versus affected distribution</a:t>
            </a:r>
          </a:p>
        </p:txBody>
      </p:sp>
      <p:cxnSp>
        <p:nvCxnSpPr>
          <p:cNvPr id="114" name="VIZ::c6::box-plot-grid-0"/>
          <p:cNvCxnSpPr/>
          <p:nvPr/>
        </p:nvCxnSpPr>
        <p:spPr>
          <a:xfrm>
            <a:off x="550164" y="4699872"/>
            <a:ext cx="2258568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VIZ::c6::box-plot-axis-0"/>
          <p:cNvSpPr txBox="1"/>
          <p:nvPr/>
        </p:nvSpPr>
        <p:spPr>
          <a:xfrm>
            <a:off x="0" y="4636372"/>
            <a:ext cx="477774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93.55</a:t>
            </a:r>
          </a:p>
        </p:txBody>
      </p:sp>
      <p:cxnSp>
        <p:nvCxnSpPr>
          <p:cNvPr id="116" name="VIZ::c6::box-plot-grid-1"/>
          <p:cNvCxnSpPr/>
          <p:nvPr/>
        </p:nvCxnSpPr>
        <p:spPr>
          <a:xfrm>
            <a:off x="550164" y="4488882"/>
            <a:ext cx="2258568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VIZ::c6::box-plot-axis-1"/>
          <p:cNvSpPr txBox="1"/>
          <p:nvPr/>
        </p:nvSpPr>
        <p:spPr>
          <a:xfrm>
            <a:off x="0" y="4425382"/>
            <a:ext cx="477774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94.925</a:t>
            </a:r>
          </a:p>
        </p:txBody>
      </p:sp>
      <p:cxnSp>
        <p:nvCxnSpPr>
          <p:cNvPr id="118" name="VIZ::c6::box-plot-grid-2"/>
          <p:cNvCxnSpPr/>
          <p:nvPr/>
        </p:nvCxnSpPr>
        <p:spPr>
          <a:xfrm>
            <a:off x="550164" y="4277891"/>
            <a:ext cx="2258568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VIZ::c6::box-plot-axis-2"/>
          <p:cNvSpPr txBox="1"/>
          <p:nvPr/>
        </p:nvSpPr>
        <p:spPr>
          <a:xfrm>
            <a:off x="0" y="4214391"/>
            <a:ext cx="477774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96.3</a:t>
            </a:r>
          </a:p>
        </p:txBody>
      </p:sp>
      <p:cxnSp>
        <p:nvCxnSpPr>
          <p:cNvPr id="120" name="VIZ::c6::box-plot-grid-3"/>
          <p:cNvCxnSpPr/>
          <p:nvPr/>
        </p:nvCxnSpPr>
        <p:spPr>
          <a:xfrm>
            <a:off x="550164" y="4066900"/>
            <a:ext cx="2258568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c6::box-plot-axis-3"/>
          <p:cNvSpPr txBox="1"/>
          <p:nvPr/>
        </p:nvSpPr>
        <p:spPr>
          <a:xfrm>
            <a:off x="0" y="4003400"/>
            <a:ext cx="477774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97.675</a:t>
            </a:r>
          </a:p>
        </p:txBody>
      </p:sp>
      <p:cxnSp>
        <p:nvCxnSpPr>
          <p:cNvPr id="122" name="VIZ::c6::box-plot-grid-4"/>
          <p:cNvCxnSpPr/>
          <p:nvPr/>
        </p:nvCxnSpPr>
        <p:spPr>
          <a:xfrm>
            <a:off x="550164" y="3855910"/>
            <a:ext cx="2258568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VIZ::c6::box-plot-axis-4"/>
          <p:cNvSpPr txBox="1"/>
          <p:nvPr/>
        </p:nvSpPr>
        <p:spPr>
          <a:xfrm>
            <a:off x="0" y="3792410"/>
            <a:ext cx="477774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99.05</a:t>
            </a:r>
          </a:p>
        </p:txBody>
      </p:sp>
      <p:cxnSp>
        <p:nvCxnSpPr>
          <p:cNvPr id="124" name="VIZ::c6::box-plot-0-whisker"/>
          <p:cNvCxnSpPr/>
          <p:nvPr/>
        </p:nvCxnSpPr>
        <p:spPr>
          <a:xfrm>
            <a:off x="1114806.0" y="3894272"/>
            <a:ext cx="0.0" cy="46034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VIZ::c6::box-plot-0-whisker-cap-0"/>
          <p:cNvCxnSpPr/>
          <p:nvPr/>
        </p:nvCxnSpPr>
        <p:spPr>
          <a:xfrm>
            <a:off x="888950.0" y="3940306"/>
            <a:ext cx="451712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VIZ::c6::box-plot-0-whisker-cap-1"/>
          <p:cNvCxnSpPr/>
          <p:nvPr/>
        </p:nvCxnSpPr>
        <p:spPr>
          <a:xfrm>
            <a:off x="888950.0" y="3894272"/>
            <a:ext cx="451712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VIZ::c6::box-plot-0-quartiles"/>
          <p:cNvSpPr/>
          <p:nvPr/>
        </p:nvSpPr>
        <p:spPr>
          <a:xfrm>
            <a:off x="888950" y="3909617"/>
            <a:ext cx="451712" cy="2301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VIZ::c6::box-plot-0-median"/>
          <p:cNvCxnSpPr/>
          <p:nvPr/>
        </p:nvCxnSpPr>
        <p:spPr>
          <a:xfrm>
            <a:off x="888950.0" y="3924961"/>
            <a:ext cx="451712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VIZ::c6::box-plot-0-category" title="{&quot;category&quot;:&quot;Reference&quot;,&quot;quartiles&quot;:{&quot;n&quot;:3,&quot;min&quot;:98.5,&quot;q1&quot;:98.55,&quot;median&quot;:98.6,&quot;q3&quot;:98.69999999999999,&quot;max&quot;:98.8}}"/>
          <p:cNvSpPr txBox="1"/>
          <p:nvPr/>
        </p:nvSpPr>
        <p:spPr>
          <a:xfrm>
            <a:off x="566166" y="4768923"/>
            <a:ext cx="1097280" cy="199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Reference</a:t>
            </a:r>
          </a:p>
        </p:txBody>
      </p:sp>
      <p:cxnSp>
        <p:nvCxnSpPr>
          <p:cNvPr id="130" name="VIZ::c6::box-plot-1-whisker"/>
          <p:cNvCxnSpPr/>
          <p:nvPr/>
        </p:nvCxnSpPr>
        <p:spPr>
          <a:xfrm>
            <a:off x="2244090.0" y="4538752"/>
            <a:ext cx="0.0" cy="122758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VIZ::c6::box-plot-1-whisker-cap-0"/>
          <p:cNvCxnSpPr/>
          <p:nvPr/>
        </p:nvCxnSpPr>
        <p:spPr>
          <a:xfrm>
            <a:off x="2018234.0" y="4661510"/>
            <a:ext cx="451712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VIZ::c6::box-plot-1-whisker-cap-1"/>
          <p:cNvCxnSpPr/>
          <p:nvPr/>
        </p:nvCxnSpPr>
        <p:spPr>
          <a:xfrm>
            <a:off x="2018234.0" y="4538752"/>
            <a:ext cx="451712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VIZ::c6::box-plot-1-quartiles"/>
          <p:cNvSpPr/>
          <p:nvPr/>
        </p:nvSpPr>
        <p:spPr>
          <a:xfrm>
            <a:off x="2018234" y="4577114"/>
            <a:ext cx="451712" cy="61379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VIZ::c6::box-plot-1-median"/>
          <p:cNvCxnSpPr/>
          <p:nvPr/>
        </p:nvCxnSpPr>
        <p:spPr>
          <a:xfrm>
            <a:off x="2018234.0" y="4615476"/>
            <a:ext cx="451712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VIZ::c6::box-plot-1-category" title="{&quot;category&quot;:&quot;Affected&quot;,&quot;quartiles&quot;:{&quot;n&quot;:3,&quot;min&quot;:93.8,&quot;q1&quot;:93.94999999999999,&quot;median&quot;:94.1,&quot;q3&quot;:94.35,&quot;max&quot;:94.6}}"/>
          <p:cNvSpPr txBox="1"/>
          <p:nvPr/>
        </p:nvSpPr>
        <p:spPr>
          <a:xfrm>
            <a:off x="1695450" y="4768923"/>
            <a:ext cx="1097280" cy="199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Affected</a:t>
            </a:r>
          </a:p>
        </p:txBody>
      </p:sp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"/>
          <p:cNvSpPr/>
          <p:nvPr/>
        </p:nvSpPr>
        <p:spPr>
          <a:xfrm>
            <a:off x="3124200" y="3549015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Finding · chamber A pressure drift aligns with the L2407 yield excursion.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Affected yield is 94.2% versus 98.6% reference. Contain L2407 and verify the matched chamber run before release.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1" name="VIZ::Process Flow::continuation-reference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"/>
          <p:cNvSpPr/>
          <p:nvPr/>
        </p:nvSpPr>
        <p:spPr>
          <a:xfrm>
            <a:off x="0" y="5323522"/>
            <a:ext cx="2895600" cy="1534477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"/>
          <p:cNvSpPr/>
          <p:nvPr/>
        </p:nvSpPr>
        <p:spPr>
          <a:xfrm>
            <a:off x="3124200" y="5323522"/>
            <a:ext cx="2895600" cy="153447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lot L2407 through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Release only after chamber A and the paired reference run confirm recovery.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heqld9-g1jnw2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}"/>
          <p:cNvSpPr/>
          <p:nvPr/>
        </p:nvSpPr>
        <p:spPr>
          <a:xfrm>
            <a:off x="3124200" y="1774507"/>
            <a:ext cx="2895600" cy="153447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3240024" y="1856803"/>
            <a:ext cx="26639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3240024" y="2112835"/>
            <a:ext cx="2663952" cy="2455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4298528" y="2394927"/>
            <a:ext cx="594360" cy="594360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4549988" y="2391270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4518441" y="2248623"/>
            <a:ext cx="41605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4573419" y="2934903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4414369" y="2881886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4467385" y="2881886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4520402" y="2881886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4573419" y="2881886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4626436" y="2881886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4679453" y="2881886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4732470" y="2881886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4361352" y="2828869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4414369" y="2828869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4467385" y="2828869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4520402" y="2828869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4573419" y="2828869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4626436" y="2828869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4679453" y="2828869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4732470" y="2828869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4785487" y="2828869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4361352" y="2775852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4414369" y="2775852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4467385" y="2775852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4520402" y="2775852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4573419" y="2775852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4626436" y="2775852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4679453" y="2775852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4732470" y="2775852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4785487" y="2775852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4361352" y="2722835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4414369" y="2722835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4467385" y="2722835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4520402" y="2722835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4573419" y="2722835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4626436" y="2722835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4679453" y="2722835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4732470" y="2722835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4785487" y="2722835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4308335" y="2669818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4361352" y="2669818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4414369" y="2669818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4467385" y="2669818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4520402" y="2669818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4573419" y="2669818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4626436" y="2669818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4679453" y="2669818"/>
            <a:ext cx="44577" cy="44577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4732470" y="2669818"/>
            <a:ext cx="44577" cy="44577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4785487" y="2669818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4838504" y="2669818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4361352" y="2616801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4414369" y="2616801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4467385" y="2616801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4520402" y="2616801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4573419" y="2616801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4626436" y="2616801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4679453" y="2616801"/>
            <a:ext cx="44577" cy="44577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4732470" y="2616801"/>
            <a:ext cx="44577" cy="44577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4785487" y="2616801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4361352" y="2563784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4414369" y="2563784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4467385" y="2563784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4520402" y="2563784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4573419" y="2563784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4626436" y="2563784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4679453" y="2563784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4732470" y="2563784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4785487" y="2563784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4361352" y="2510768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4414369" y="2510768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4467385" y="2510768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4520402" y="2510768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4573419" y="2510768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4626436" y="2510768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4679453" y="2510768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4732470" y="2510768"/>
            <a:ext cx="44577" cy="44577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4785487" y="2510768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4414369" y="2457751"/>
            <a:ext cx="44577" cy="44577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4467385" y="2457751"/>
            <a:ext cx="44577" cy="44577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4520402" y="2457751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4573419" y="2457751"/>
            <a:ext cx="44577" cy="44577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4626436" y="2457751"/>
            <a:ext cx="44577" cy="44577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4679453" y="2457751"/>
            <a:ext cx="44577" cy="44577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4732470" y="2457751"/>
            <a:ext cx="44577" cy="44577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4573419" y="2404734"/>
            <a:ext cx="44577" cy="44577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3233928" y="2952368"/>
            <a:ext cx="267614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3233928" y="3162680"/>
            <a:ext cx="277029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3533817" y="3162680"/>
            <a:ext cx="277029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3833706" y="3162680"/>
            <a:ext cx="277029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4133596" y="3162680"/>
            <a:ext cx="277029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4433485" y="3162680"/>
            <a:ext cx="277029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4733374" y="3162680"/>
            <a:ext cx="277029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5033264" y="3162680"/>
            <a:ext cx="277029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5333153" y="3162680"/>
            <a:ext cx="277029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5633042" y="3162680"/>
            <a:ext cx="277029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3233928" y="3276980"/>
            <a:ext cx="80284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5107228" y="3276980"/>
            <a:ext cx="80284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36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"/>
          <p:cNvGraphicFramePr>
            <a:graphicFrameLocks noGrp="1"/>
          </p:cNvGraphicFramePr>
          <p:nvPr/>
        </p:nvGraphicFramePr>
        <p:xfrm>
          <a:off x="6248400" y="3549015"/>
          <a:ext cx="2895600" cy="1534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</a:tblGrid>
              <a:tr h="38361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38361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38361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3836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7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heqld9-g1jnw2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5T20:22:40.557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heqnmo-8bts7b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5T20:22:43.488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heqld9-g1jnw2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heqnmo-8bts7b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512064" y="384048"/>
            <a:ext cx="8119872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Excursion signal::node-1" descr="VisualizerDiagramNode:{&quot;item_id&quot;:&quot;c8&quot;,&quot;node_index&quot;:0,&quot;label&quot;:&quot;Excursion signal&quot;,&quot;page&quot;:1,&quot;page_count&quot;:1,&quot;direction&quot;:&quot;right&quot;}"/>
          <p:cNvSpPr/>
          <p:nvPr/>
        </p:nvSpPr>
        <p:spPr>
          <a:xfrm>
            <a:off x="512064" y="3300984"/>
            <a:ext cx="1879092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4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2592324" y="3300984"/>
            <a:ext cx="1879092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 and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reference</a:t>
            </a:r>
          </a:p>
        </p:txBody>
      </p:sp>
      <p:sp>
        <p:nvSpPr>
          <p:cNvPr id="5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4672584" y="3300984"/>
            <a:ext cx="1879092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 mechanism</a:t>
            </a:r>
          </a:p>
        </p:txBody>
      </p:sp>
      <p:sp>
        <p:nvSpPr>
          <p:cNvPr id="6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6752844" y="3300984"/>
            <a:ext cx="1879092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7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2395728" y="354787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4475988" y="354787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6556248" y="354787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