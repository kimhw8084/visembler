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8.0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8.2</c:v>
                </c:pt>
                <c:pt idx="1">
                  <c:v>8.7</c:v>
                </c:pt>
                <c:pt idx="2">
                  <c:v>9.4</c:v>
                </c:pt>
                <c:pt idx="3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.89"/>
          <c:min val="7.91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"/>
          <p:cNvSpPr/>
          <p:nvPr/>
        </p:nvSpPr>
        <p:spPr>
          <a:xfrm>
            <a:off x="0" y="0"/>
            <a:ext cx="2895600" cy="212598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"/>
          <p:cNvSpPr/>
          <p:nvPr/>
        </p:nvSpPr>
        <p:spPr>
          <a:xfrm>
            <a:off x="3124200" y="0"/>
            <a:ext cx="2895600" cy="212598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"/>
          <p:cNvSpPr/>
          <p:nvPr/>
        </p:nvSpPr>
        <p:spPr>
          <a:xfrm>
            <a:off x="6248400" y="0"/>
            <a:ext cx="2895600" cy="21259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"/>
          <p:cNvSpPr/>
          <p:nvPr/>
        </p:nvSpPr>
        <p:spPr>
          <a:xfrm>
            <a:off x="0" y="2366010"/>
            <a:ext cx="2895600" cy="21259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11" name="VIZ::Conversion by week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heqvtd-5x6uv1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}"/>
          <p:cNvGraphicFramePr>
            <a:graphicFrameLocks noGrp="1"/>
          </p:cNvGraphicFramePr>
          <p:nvPr/>
        </p:nvGraphicFramePr>
        <p:xfrm>
          <a:off x="3124200" y="2366010"/>
          <a:ext cx="2895600" cy="21259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VIZ::c5::box-plot-title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heqy1r-lrd3ft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}"/>
          <p:cNvSpPr txBox="1"/>
          <p:nvPr/>
        </p:nvSpPr>
        <p:spPr>
          <a:xfrm>
            <a:off x="6364224" y="2397899"/>
            <a:ext cx="2663952" cy="3188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Outcome distribution by cohort</a:t>
            </a:r>
          </a:p>
        </p:txBody>
      </p:sp>
      <p:cxnSp>
        <p:nvCxnSpPr>
          <p:cNvPr id="13" name="VIZ::c5::box-plot-grid-0"/>
          <p:cNvCxnSpPr/>
          <p:nvPr/>
        </p:nvCxnSpPr>
        <p:spPr>
          <a:xfrm>
            <a:off x="6798564" y="3960495"/>
            <a:ext cx="2258568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VIZ::c5::box-plot-axis-0"/>
          <p:cNvSpPr txBox="1"/>
          <p:nvPr/>
        </p:nvSpPr>
        <p:spPr>
          <a:xfrm>
            <a:off x="6248400" y="3896995"/>
            <a:ext cx="477774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7.91</a:t>
            </a:r>
          </a:p>
        </p:txBody>
      </p:sp>
      <p:cxnSp>
        <p:nvCxnSpPr>
          <p:cNvPr id="15" name="VIZ::c5::box-plot-grid-1"/>
          <p:cNvCxnSpPr/>
          <p:nvPr/>
        </p:nvCxnSpPr>
        <p:spPr>
          <a:xfrm>
            <a:off x="6798564" y="3668173"/>
            <a:ext cx="2258568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VIZ::c5::box-plot-axis-1"/>
          <p:cNvSpPr txBox="1"/>
          <p:nvPr/>
        </p:nvSpPr>
        <p:spPr>
          <a:xfrm>
            <a:off x="6248400" y="3604673"/>
            <a:ext cx="477774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8.405</a:t>
            </a:r>
          </a:p>
        </p:txBody>
      </p:sp>
      <p:cxnSp>
        <p:nvCxnSpPr>
          <p:cNvPr id="17" name="VIZ::c5::box-plot-grid-2"/>
          <p:cNvCxnSpPr/>
          <p:nvPr/>
        </p:nvCxnSpPr>
        <p:spPr>
          <a:xfrm>
            <a:off x="6798564" y="3375851"/>
            <a:ext cx="2258568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5::box-plot-axis-2"/>
          <p:cNvSpPr txBox="1"/>
          <p:nvPr/>
        </p:nvSpPr>
        <p:spPr>
          <a:xfrm>
            <a:off x="6248400" y="3312351"/>
            <a:ext cx="477774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8.9</a:t>
            </a:r>
          </a:p>
        </p:txBody>
      </p:sp>
      <p:cxnSp>
        <p:nvCxnSpPr>
          <p:cNvPr id="19" name="VIZ::c5::box-plot-grid-3"/>
          <p:cNvCxnSpPr/>
          <p:nvPr/>
        </p:nvCxnSpPr>
        <p:spPr>
          <a:xfrm>
            <a:off x="6798564" y="3083528"/>
            <a:ext cx="2258568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IZ::c5::box-plot-axis-3"/>
          <p:cNvSpPr txBox="1"/>
          <p:nvPr/>
        </p:nvSpPr>
        <p:spPr>
          <a:xfrm>
            <a:off x="6248400" y="3020028"/>
            <a:ext cx="477774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9.395</a:t>
            </a:r>
          </a:p>
        </p:txBody>
      </p:sp>
      <p:cxnSp>
        <p:nvCxnSpPr>
          <p:cNvPr id="21" name="VIZ::c5::box-plot-grid-4"/>
          <p:cNvCxnSpPr/>
          <p:nvPr/>
        </p:nvCxnSpPr>
        <p:spPr>
          <a:xfrm>
            <a:off x="6798564" y="2791206"/>
            <a:ext cx="2258568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5::box-plot-axis-4"/>
          <p:cNvSpPr txBox="1"/>
          <p:nvPr/>
        </p:nvSpPr>
        <p:spPr>
          <a:xfrm>
            <a:off x="6248400" y="2727706"/>
            <a:ext cx="477774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/>
            </a:pPr>
            <a:r>
              <a:t>9.89</a:t>
            </a:r>
          </a:p>
        </p:txBody>
      </p:sp>
      <p:cxnSp>
        <p:nvCxnSpPr>
          <p:cNvPr id="23" name="VIZ::c5::box-plot-0-whisker"/>
          <p:cNvCxnSpPr/>
          <p:nvPr/>
        </p:nvCxnSpPr>
        <p:spPr>
          <a:xfrm>
            <a:off x="7363206.0" y="3612071"/>
            <a:ext cx="0.0" cy="295275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c5::box-plot-0-whisker-cap-0"/>
          <p:cNvCxnSpPr/>
          <p:nvPr/>
        </p:nvCxnSpPr>
        <p:spPr>
          <a:xfrm>
            <a:off x="7137350.0" y="3907346"/>
            <a:ext cx="451712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VIZ::c5::box-plot-0-whisker-cap-1"/>
          <p:cNvCxnSpPr/>
          <p:nvPr/>
        </p:nvCxnSpPr>
        <p:spPr>
          <a:xfrm>
            <a:off x="7137350.0" y="3612071"/>
            <a:ext cx="451712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0-quartiles"/>
          <p:cNvSpPr/>
          <p:nvPr/>
        </p:nvSpPr>
        <p:spPr>
          <a:xfrm>
            <a:off x="7137350" y="3656362"/>
            <a:ext cx="451712" cy="206692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IZ::c5::box-plot-0-median"/>
          <p:cNvCxnSpPr/>
          <p:nvPr/>
        </p:nvCxnSpPr>
        <p:spPr>
          <a:xfrm>
            <a:off x="7137350.0" y="3759708"/>
            <a:ext cx="451712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0-category" title="{&quot;category&quot;:&quot;Control&quot;,&quot;quartiles&quot;:{&quot;n&quot;:4,&quot;min&quot;:8.0,&quot;q1&quot;:8.075,&quot;median&quot;:8.25,&quot;q3&quot;:8.425,&quot;max&quot;:8.5}}"/>
          <p:cNvSpPr txBox="1"/>
          <p:nvPr/>
        </p:nvSpPr>
        <p:spPr>
          <a:xfrm>
            <a:off x="6814566" y="4056164"/>
            <a:ext cx="1097280" cy="276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Control</a:t>
            </a:r>
          </a:p>
        </p:txBody>
      </p:sp>
      <p:cxnSp>
        <p:nvCxnSpPr>
          <p:cNvPr id="29" name="VIZ::c5::box-plot-1-whisker"/>
          <p:cNvCxnSpPr/>
          <p:nvPr/>
        </p:nvCxnSpPr>
        <p:spPr>
          <a:xfrm>
            <a:off x="8492490.0" y="2844355"/>
            <a:ext cx="0.0" cy="944881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VIZ::c5::box-plot-1-whisker-cap-0"/>
          <p:cNvCxnSpPr/>
          <p:nvPr/>
        </p:nvCxnSpPr>
        <p:spPr>
          <a:xfrm>
            <a:off x="8266634.0" y="3789236"/>
            <a:ext cx="451712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VIZ::c5::box-plot-1-whisker-cap-1"/>
          <p:cNvCxnSpPr/>
          <p:nvPr/>
        </p:nvCxnSpPr>
        <p:spPr>
          <a:xfrm>
            <a:off x="8266634.0" y="2844355"/>
            <a:ext cx="451712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5::box-plot-1-quartiles"/>
          <p:cNvSpPr/>
          <p:nvPr/>
        </p:nvSpPr>
        <p:spPr>
          <a:xfrm>
            <a:off x="8266634" y="3021521"/>
            <a:ext cx="451712" cy="546258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VIZ::c5::box-plot-1-median"/>
          <p:cNvCxnSpPr/>
          <p:nvPr/>
        </p:nvCxnSpPr>
        <p:spPr>
          <a:xfrm>
            <a:off x="8266634.0" y="3287268"/>
            <a:ext cx="451712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1-category" title="{&quot;category&quot;:&quot;Treatment&quot;,&quot;quartiles&quot;:{&quot;n&quot;:4,&quot;min&quot;:8.2,&quot;q1&quot;:8.575,&quot;median&quot;:9.05,&quot;q3&quot;:9.5,&quot;max&quot;:9.8}}"/>
          <p:cNvSpPr txBox="1"/>
          <p:nvPr/>
        </p:nvSpPr>
        <p:spPr>
          <a:xfrm>
            <a:off x="7943850" y="4056164"/>
            <a:ext cx="1097280" cy="276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Treatment</a:t>
            </a:r>
          </a:p>
        </p:txBody>
      </p:sp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"/>
          <p:cNvSpPr/>
          <p:nvPr/>
        </p:nvSpPr>
        <p:spPr>
          <a:xfrm>
            <a:off x="0" y="4732020"/>
            <a:ext cx="2895600" cy="212598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"/>
          <p:cNvSpPr/>
          <p:nvPr/>
        </p:nvSpPr>
        <p:spPr>
          <a:xfrm>
            <a:off x="6248400" y="4732020"/>
            <a:ext cx="2895600" cy="212598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35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"/>
          <p:cNvGraphicFramePr>
            <a:graphicFrameLocks noGrp="1"/>
          </p:cNvGraphicFramePr>
          <p:nvPr/>
        </p:nvGraphicFramePr>
        <p:xfrm>
          <a:off x="3124200" y="4732020"/>
          <a:ext cx="2895600" cy="212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</a:tblGrid>
              <a:tr h="53149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53149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53149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53149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heqvtd-5x6uv1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09-25T20:22:54.097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heqy1r-lrd3ft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09-25T20:22:56.991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heqy1r-lrd3ft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heqvtd-5x6uv1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