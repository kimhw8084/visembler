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719581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Process stability and specification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Process stability and specification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98.8</c:v>
                </c:pt>
                <c:pt idx="1">
                  <c:v>98.4</c:v>
                </c:pt>
                <c:pt idx="2">
                  <c:v>94.1</c:v>
                </c:pt>
                <c:pt idx="3">
                  <c:v>94.6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99.035"/>
          <c:min val="93.865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.png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title="Visembler report text roles: text heading, report headline" descr="VisualizerSemantic:{&quot;body&quot;:&quot;Affected lot L2407 shows a localized die-level yield loss after ETCH-08 chamber A processing. Contain the lot until the chamber check and paired reference run confirm recovery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Investigation summary&quot;,&quot;text&quot;:&quot;Affected lot L2407 shows a localized die-level yield loss after ETCH-08 chamber A processing. Contain the lot until the chamber check and paired reference run confirm recovery.&quot;,&quot;title&quot;:&quot;Executive Statement&quot;,&quot;type&quot;:&quot;text&quot;,&quot;weight&quot;:1,&quot;z&quot;:1,&quot;x&quot;:14.0,&quot;y&quot;:40.0,&quot;w&quot;:1059.44,&quot;h&quot;:120.96000000000001}"/>
          <p:cNvSpPr/>
          <p:nvPr/>
        </p:nvSpPr>
        <p:spPr>
          <a:xfrm>
            <a:off x="85046" y="242989"/>
            <a:ext cx="6435821" cy="734800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950" b="1" i="0">
                <a:solidFill>
                  <a:srgbClr val="1C2B3E"/>
                </a:solidFill>
                <a:latin typeface="Arial"/>
              </a:rPr>
              <a:t>Executive Statement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300" b="1" i="0">
                <a:solidFill>
                  <a:srgbClr val="172B43"/>
                </a:solidFill>
                <a:latin typeface="Arial Narrow"/>
              </a:rPr>
              <a:t>Affected lot L2407 shows a localized die-level yield loss after ETCH-08 chamber A processing. Contain the lot until the chamber check and paired reference run confirm recovery.</a:t>
            </a:r>
          </a:p>
        </p:txBody>
      </p:sp>
      <p:sp>
        <p:nvSpPr>
          <p:cNvPr id="3" name="VIZ::Affected scope" title="Visembler report text roles: text heading, context subhead" descr="VisualizerSemantic:{&quot;body&quot;:&quot;Lot L2407 · ETCH-08 chamber A · affected die compared with a paired reference · release held for verification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Investigation summary&quot;,&quot;text&quot;:&quot;Lot L2407 · ETCH-08 chamber A · affected die compared with a paired reference · release held for verification.&quot;,&quot;title&quot;:&quot;Affected scope&quot;,&quot;type&quot;:&quot;text&quot;,&quot;weight&quot;:1,&quot;z&quot;:2,&quot;x&quot;:1087.44,&quot;y&quot;:64.48,&quot;w&quot;:498.56,&quot;h&quot;:72.0}"/>
          <p:cNvSpPr/>
          <p:nvPr/>
        </p:nvSpPr>
        <p:spPr>
          <a:xfrm>
            <a:off x="6605913" y="391699"/>
            <a:ext cx="3028621" cy="437381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950" b="1" i="0">
                <a:solidFill>
                  <a:srgbClr val="1C2B3E"/>
                </a:solidFill>
                <a:latin typeface="Arial"/>
              </a:rPr>
              <a:t>Affected scope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74A60"/>
                </a:solidFill>
                <a:latin typeface="Arial Narrow"/>
              </a:rPr>
              <a:t>Lot L2407 · ETCH-08 chamber A · affected die compared with a paired reference · release held for verification.</a:t>
            </a:r>
          </a:p>
        </p:txBody>
      </p:sp>
      <p:sp>
        <p:nvSpPr>
          <p:cNvPr id="4" name="VIZ::Affected yield KPI" title="Visembler report text roles: metric title, metric value" descr="VisualizerSemantic:{&quot;capability_overrides&quot;:{&quot;target&quot;:95},&quot;composition_role&quot;:&quot;hero_metric&quot;,&quot;delta&quot;:-4.4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5,&quot;title&quot;:&quot;Affected yield&quot;,&quot;type&quot;:&quot;metric&quot;,&quot;unit&quot;:&quot;%&quot;,&quot;value&quot;:94.2,&quot;weight&quot;:1,&quot;z&quot;:3,&quot;x&quot;:900.4800000000001,&quot;y&quot;:1781.924,&quot;w&quot;:685.52,&quot;h&quot;:205.0}"/>
          <p:cNvSpPr/>
          <p:nvPr/>
        </p:nvSpPr>
        <p:spPr>
          <a:xfrm>
            <a:off x="5470180" y="10824721"/>
            <a:ext cx="4164354" cy="1245321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Affected yield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94.2%</a:t>
            </a:r>
          </a:p>
        </p:txBody>
      </p:sp>
      <p:sp>
        <p:nvSpPr>
          <p:cNvPr id="5" name="VIZ::Affected versus reference yield KPI" title="Visembler report text roles: metric title, comparison value" descr="VisualizerSemantic:{&quot;after&quot;:94.2,&quot;before&quot;:98.6,&quot;composition_role&quot;:&quot;hero_metric&quot;,&quot;element&quot;:&quot;Before/After KPI&quot;,&quot;engine&quot;:&quot;ComparisonEngine&quot;,&quot;groupId&quot;:null,&quot;id&quot;:&quot;c11&quot;,&quot;locked&quot;:false,&quot;message_role&quot;:&quot;Supporting Evidence&quot;,&quot;order&quot;:3,&quot;section_id&quot;:&quot;performance&quot;,&quot;section_title&quot;:&quot;Performance&quot;,&quot;showTitle&quot;:true,&quot;title&quot;:&quot;Affected versus reference yield&quot;,&quot;type&quot;:&quot;comparison&quot;,&quot;unit&quot;:&quot;%&quot;,&quot;weight&quot;:1,&quot;z&quot;:4,&quot;x&quot;:14.0,&quot;y&quot;:1776.424,&quot;w&quot;:872.4800000000001,&quot;h&quot;:216.0}"/>
          <p:cNvSpPr/>
          <p:nvPr/>
        </p:nvSpPr>
        <p:spPr>
          <a:xfrm>
            <a:off x="85046" y="10791310"/>
            <a:ext cx="5300088" cy="1312143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Affected versus reference yield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98.6% → 94.2%</a:t>
            </a:r>
          </a:p>
        </p:txBody>
      </p:sp>
      <p:graphicFrame>
        <p:nvGraphicFramePr>
          <p:cNvPr id="113" name="VIZ::Process stability and specification" descr="VisualizerSemantic:{&quot;composition_role&quot;:&quot;primary_analysis&quot;,&quot;element&quot;:&quot;SPC Control Chart&quot;,&quot;engine&quot;:&quot;EngineeringChartEngine&quot;,&quot;groupId&quot;:null,&quot;id&quot;:&quot;c5&quot;,&quot;locked&quot;:false,&quot;lower_limit&quot;:null,&quot;message_role&quot;:&quot;Primary Evidence&quot;,&quot;observations&quot;:[{&quot;label&quot;:&quot;W1&quot;,&quot;value&quot;:98.8},{&quot;label&quot;:&quot;W2&quot;,&quot;value&quot;:98.4},{&quot;label&quot;:&quot;W3&quot;,&quot;value&quot;:94.1},{&quot;label&quot;:&quot;W4&quot;,&quot;value&quot;:94.6}],&quot;order&quot;:5,&quot;section_id&quot;:&quot;analysis&quot;,&quot;section_title&quot;:&quot;Analysis&quot;,&quot;title&quot;:&quot;Process stability and specification&quot;,&quot;type&quot;:&quot;engineering&quot;,&quot;upper_limit&quot;:null,&quot;weight&quot;:1,&quot;z&quot;:5,&quot;x&quot;:484.0799999999999,&quot;y&quot;:1218.1904705882353,&quot;w&quot;:509.52000000000004,&quot;h&quot;:247.26705882352942}"/>
          <p:cNvGraphicFramePr>
            <a:graphicFrameLocks noGrp="1"/>
          </p:cNvGraphicFramePr>
          <p:nvPr/>
        </p:nvGraphicFramePr>
        <p:xfrm>
          <a:off x="2940659" y="7400187"/>
          <a:ext cx="3095200" cy="150208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14" name="VIZ::c6::box-plot-title" descr="VisualizerSemantic:{&quot;composition_role&quot;:&quot;primary_analysis&quot;,&quot;data&quot;:[[&quot;Reference&quot;,98.8],[&quot;Reference&quot;,98.5],[&quot;Reference&quot;,98.6],[&quot;Affected&quot;,94.1],[&quot;Affected&quot;,94.6],[&quot;Affected&quot;,93.8]],&quot;dataset_id&quot;:&quot;dataset-muit84yp-19l9gu&quot;,&quot;element&quot;:&quot;Box Plot&quot;,&quot;engine&quot;:&quot;CoreChartEngine&quot;,&quot;groupId&quot;:null,&quot;id&quot;:&quot;c6&quot;,&quot;locked&quot;:false,&quot;mapping&quot;:{&quot;category&quot;:&quot;population_1&quot;,&quot;cohort&quot;:&quot;population_1&quot;,&quot;value&quot;:&quot;yield_2&quot;,&quot;x&quot;:&quot;yield_2&quot;,&quot;y&quot;:&quot;yield_2&quot;},&quot;message_role&quot;:&quot;Primary Evidence&quot;,&quot;order&quot;:6,&quot;section_id&quot;:&quot;analysis&quot;,&quot;section_title&quot;:&quot;Analysis&quot;,&quot;showTitle&quot;:true,&quot;title&quot;:&quot;Control versus affected distribution&quot;,&quot;type&quot;:&quot;chart&quot;,&quot;weight&quot;:1,&quot;z&quot;:6,&quot;rows&quot;:[{&quot;label&quot;:&quot;Reference&quot;,&quot;value&quot;:98.8},{&quot;label&quot;:&quot;Reference&quot;,&quot;value&quot;:98.5},{&quot;label&quot;:&quot;Reference&quot;,&quot;value&quot;:98.6},{&quot;label&quot;:&quot;Affected&quot;,&quot;value&quot;:94.1},{&quot;label&quot;:&quot;Affected&quot;,&quot;value&quot;:94.6},{&quot;label&quot;:&quot;Affected&quot;,&quot;value&quot;:93.8}],&quot;observations&quot;:[{&quot;label&quot;:&quot;Reference&quot;,&quot;value&quot;:98.8},{&quot;label&quot;:&quot;Reference&quot;,&quot;value&quot;:98.5},{&quot;label&quot;:&quot;Reference&quot;,&quot;value&quot;:98.6},{&quot;label&quot;:&quot;Affected&quot;,&quot;value&quot;:94.1},{&quot;label&quot;:&quot;Affected&quot;,&quot;value&quot;:94.6},{&quot;label&quot;:&quot;Affected&quot;,&quot;value&quot;:93.8}],&quot;x&quot;:1007.5999999999999,&quot;y&quot;:1231.824,&quot;w&quot;:432.32000000000005,&quot;h&quot;:220.0}"/>
          <p:cNvSpPr txBox="1"/>
          <p:nvPr/>
        </p:nvSpPr>
        <p:spPr>
          <a:xfrm>
            <a:off x="6225955" y="7503053"/>
            <a:ext cx="2416131" cy="2004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Control versus affected distribution</a:t>
            </a:r>
          </a:p>
        </p:txBody>
      </p:sp>
      <p:cxnSp>
        <p:nvCxnSpPr>
          <p:cNvPr id="115" name="VIZ::c6::box-plot-grid-0"/>
          <p:cNvCxnSpPr/>
          <p:nvPr/>
        </p:nvCxnSpPr>
        <p:spPr>
          <a:xfrm>
            <a:off x="6619889" y="8485338"/>
            <a:ext cx="2048460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VIZ::c6::box-plot-axis-0"/>
          <p:cNvSpPr txBox="1"/>
          <p:nvPr/>
        </p:nvSpPr>
        <p:spPr>
          <a:xfrm>
            <a:off x="6120906" y="8421838"/>
            <a:ext cx="433328" cy="15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/>
            </a:pPr>
            <a:r>
              <a:t>93.55</a:t>
            </a:r>
          </a:p>
        </p:txBody>
      </p:sp>
      <p:cxnSp>
        <p:nvCxnSpPr>
          <p:cNvPr id="117" name="VIZ::c6::box-plot-grid-1"/>
          <p:cNvCxnSpPr/>
          <p:nvPr/>
        </p:nvCxnSpPr>
        <p:spPr>
          <a:xfrm>
            <a:off x="6619889" y="8301577"/>
            <a:ext cx="2048460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VIZ::c6::box-plot-axis-1"/>
          <p:cNvSpPr txBox="1"/>
          <p:nvPr/>
        </p:nvSpPr>
        <p:spPr>
          <a:xfrm>
            <a:off x="6120906" y="8238077"/>
            <a:ext cx="433328" cy="15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/>
            </a:pPr>
            <a:r>
              <a:t>94.925</a:t>
            </a:r>
          </a:p>
        </p:txBody>
      </p:sp>
      <p:cxnSp>
        <p:nvCxnSpPr>
          <p:cNvPr id="119" name="VIZ::c6::box-plot-grid-2"/>
          <p:cNvCxnSpPr/>
          <p:nvPr/>
        </p:nvCxnSpPr>
        <p:spPr>
          <a:xfrm>
            <a:off x="6619889" y="8117816"/>
            <a:ext cx="2048460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VIZ::c6::box-plot-axis-2"/>
          <p:cNvSpPr txBox="1"/>
          <p:nvPr/>
        </p:nvSpPr>
        <p:spPr>
          <a:xfrm>
            <a:off x="6120906" y="8054316"/>
            <a:ext cx="433328" cy="15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/>
            </a:pPr>
            <a:r>
              <a:t>96.3</a:t>
            </a:r>
          </a:p>
        </p:txBody>
      </p:sp>
      <p:cxnSp>
        <p:nvCxnSpPr>
          <p:cNvPr id="121" name="VIZ::c6::box-plot-grid-3"/>
          <p:cNvCxnSpPr/>
          <p:nvPr/>
        </p:nvCxnSpPr>
        <p:spPr>
          <a:xfrm>
            <a:off x="6619889" y="7934056"/>
            <a:ext cx="2048460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VIZ::c6::box-plot-axis-3"/>
          <p:cNvSpPr txBox="1"/>
          <p:nvPr/>
        </p:nvSpPr>
        <p:spPr>
          <a:xfrm>
            <a:off x="6120906" y="7870556"/>
            <a:ext cx="433328" cy="15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/>
            </a:pPr>
            <a:r>
              <a:t>97.675</a:t>
            </a:r>
          </a:p>
        </p:txBody>
      </p:sp>
      <p:cxnSp>
        <p:nvCxnSpPr>
          <p:cNvPr id="123" name="VIZ::c6::box-plot-grid-4"/>
          <p:cNvCxnSpPr/>
          <p:nvPr/>
        </p:nvCxnSpPr>
        <p:spPr>
          <a:xfrm>
            <a:off x="6619889" y="7750295"/>
            <a:ext cx="2048460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VIZ::c6::box-plot-axis-4"/>
          <p:cNvSpPr txBox="1"/>
          <p:nvPr/>
        </p:nvSpPr>
        <p:spPr>
          <a:xfrm>
            <a:off x="6120906" y="7686795"/>
            <a:ext cx="433328" cy="15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/>
            </a:pPr>
            <a:r>
              <a:t>99.05</a:t>
            </a:r>
          </a:p>
        </p:txBody>
      </p:sp>
      <p:cxnSp>
        <p:nvCxnSpPr>
          <p:cNvPr id="125" name="VIZ::c6::box-plot-0-whisker"/>
          <p:cNvCxnSpPr/>
          <p:nvPr/>
        </p:nvCxnSpPr>
        <p:spPr>
          <a:xfrm>
            <a:off x="7132004.0" y="7783706"/>
            <a:ext cx="0.0" cy="40093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VIZ::c6::box-plot-0-whisker-cap-0"/>
          <p:cNvCxnSpPr/>
          <p:nvPr/>
        </p:nvCxnSpPr>
        <p:spPr>
          <a:xfrm>
            <a:off x="6927158.0" y="7823799"/>
            <a:ext cx="409692.0" cy="0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VIZ::c6::box-plot-0-whisker-cap-1"/>
          <p:cNvCxnSpPr/>
          <p:nvPr/>
        </p:nvCxnSpPr>
        <p:spPr>
          <a:xfrm>
            <a:off x="6927158.0" y="7783706"/>
            <a:ext cx="409692.0" cy="0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VIZ::c6::box-plot-0-quartiles"/>
          <p:cNvSpPr/>
          <p:nvPr/>
        </p:nvSpPr>
        <p:spPr>
          <a:xfrm>
            <a:off x="6927158" y="7797070"/>
            <a:ext cx="409692" cy="20047"/>
          </a:xfrm>
          <a:prstGeom prst="rect">
            <a:avLst/>
          </a:prstGeom>
          <a:solidFill>
            <a:srgbClr val="1769D1"/>
          </a:solidFill>
          <a:ln w="15240">
            <a:solidFill>
              <a:srgbClr val="176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9" name="VIZ::c6::box-plot-0-median"/>
          <p:cNvCxnSpPr/>
          <p:nvPr/>
        </p:nvCxnSpPr>
        <p:spPr>
          <a:xfrm>
            <a:off x="6927158.0" y="7810435"/>
            <a:ext cx="409692.0" cy="0"/>
          </a:xfrm>
          <a:prstGeom prst="line">
            <a:avLst/>
          </a:prstGeom>
          <a:ln w="25400">
            <a:solidFill>
              <a:srgbClr val="232D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VIZ::c6::box-plot-0-category" title="{&quot;category&quot;:&quot;Reference&quot;,&quot;quartiles&quot;:{&quot;n&quot;:3,&quot;min&quot;:98.5,&quot;q1&quot;:98.55,&quot;median&quot;:98.6,&quot;q3&quot;:98.69999999999999,&quot;max&quot;:98.8}}"/>
          <p:cNvSpPr txBox="1"/>
          <p:nvPr/>
        </p:nvSpPr>
        <p:spPr>
          <a:xfrm>
            <a:off x="6583364" y="8545477"/>
            <a:ext cx="1097280" cy="173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/>
            </a:pPr>
            <a:r>
              <a:t>Reference</a:t>
            </a:r>
          </a:p>
        </p:txBody>
      </p:sp>
      <p:cxnSp>
        <p:nvCxnSpPr>
          <p:cNvPr id="131" name="VIZ::c6::box-plot-1-whisker"/>
          <p:cNvCxnSpPr/>
          <p:nvPr/>
        </p:nvCxnSpPr>
        <p:spPr>
          <a:xfrm>
            <a:off x="8156234.0" y="8345012"/>
            <a:ext cx="0.0" cy="106915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VIZ::c6::box-plot-1-whisker-cap-0"/>
          <p:cNvCxnSpPr/>
          <p:nvPr/>
        </p:nvCxnSpPr>
        <p:spPr>
          <a:xfrm>
            <a:off x="7951388.0" y="8451927"/>
            <a:ext cx="409692.0" cy="0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VIZ::c6::box-plot-1-whisker-cap-1"/>
          <p:cNvCxnSpPr/>
          <p:nvPr/>
        </p:nvCxnSpPr>
        <p:spPr>
          <a:xfrm>
            <a:off x="7951388.0" y="8345012"/>
            <a:ext cx="409692.0" cy="0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VIZ::c6::box-plot-1-quartiles"/>
          <p:cNvSpPr/>
          <p:nvPr/>
        </p:nvSpPr>
        <p:spPr>
          <a:xfrm>
            <a:off x="7951388" y="8378423"/>
            <a:ext cx="409692" cy="53457"/>
          </a:xfrm>
          <a:prstGeom prst="rect">
            <a:avLst/>
          </a:prstGeom>
          <a:solidFill>
            <a:srgbClr val="2E8B72"/>
          </a:solidFill>
          <a:ln w="15240">
            <a:solidFill>
              <a:srgbClr val="2E8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5" name="VIZ::c6::box-plot-1-median"/>
          <p:cNvCxnSpPr/>
          <p:nvPr/>
        </p:nvCxnSpPr>
        <p:spPr>
          <a:xfrm>
            <a:off x="7951388.0" y="8411834"/>
            <a:ext cx="409692.0" cy="0"/>
          </a:xfrm>
          <a:prstGeom prst="line">
            <a:avLst/>
          </a:prstGeom>
          <a:ln w="25400">
            <a:solidFill>
              <a:srgbClr val="232D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VIZ::c6::box-plot-1-category" title="{&quot;category&quot;:&quot;Affected&quot;,&quot;quartiles&quot;:{&quot;n&quot;:3,&quot;min&quot;:93.8,&quot;q1&quot;:93.94999999999999,&quot;median&quot;:94.1,&quot;q3&quot;:94.35,&quot;max&quot;:94.6}}"/>
          <p:cNvSpPr txBox="1"/>
          <p:nvPr/>
        </p:nvSpPr>
        <p:spPr>
          <a:xfrm>
            <a:off x="7607594" y="8545477"/>
            <a:ext cx="1097280" cy="173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/>
            </a:pPr>
            <a:r>
              <a:t>Affected</a:t>
            </a:r>
          </a:p>
        </p:txBody>
      </p:sp>
      <p:sp>
        <p:nvSpPr>
          <p:cNvPr id="9" name="VIZ::Verified finding" title="Visembler report text roles: text heading, narrative interpretation, evidence detail, action status" descr="VisualizerSemantic:{&quot;composition_role&quot;:&quot;narrative_interpretation&quot;,&quot;detail&quot;:&quot;Affected yield is 94.2% versus 98.6% reference. Contain L2407 and verify the matched chamber run before release.&quot;,&quot;element&quot;:&quot;Evidence Card&quot;,&quot;engine&quot;:&quot;EvidenceCompositeEngine&quot;,&quot;groupId&quot;:null,&quot;id&quot;:&quot;c9&quot;,&quot;locked&quot;:false,&quot;message_role&quot;:&quot;Context&quot;,&quot;order&quot;:7,&quot;section_id&quot;:&quot;analysis&quot;,&quot;section_title&quot;:&quot;Findings&quot;,&quot;showTitle&quot;:true,&quot;statement&quot;:&quot;Finding · chamber A pressure drift aligns with the L2407 yield excursion.&quot;,&quot;status&quot;:&quot;Verified&quot;,&quot;title&quot;:&quot;Verified finding&quot;,&quot;type&quot;:&quot;evidence&quot;,&quot;weight&quot;:1,&quot;z&quot;:9,&quot;x&quot;:14.0,&quot;y&quot;:1504.824,&quot;w&quot;:1572.0,&quot;h&quot;:237.60000000000002}"/>
          <p:cNvSpPr/>
          <p:nvPr/>
        </p:nvSpPr>
        <p:spPr>
          <a:xfrm>
            <a:off x="85046" y="9141411"/>
            <a:ext cx="9549488" cy="1443358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78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Verified finding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50" b="0" i="0">
                <a:solidFill>
                  <a:srgbClr val="253649"/>
                </a:solidFill>
                <a:latin typeface="Arial"/>
              </a:rPr>
              <a:t>Finding · chamber A pressure drift aligns with the L2407 yield excursion.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Affected yield is 94.2% versus 98.6% reference. Contain L2407 and verify the matched chamber run before release.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Verified</a:t>
            </a:r>
          </a:p>
        </p:txBody>
      </p:sp>
      <p:sp>
        <p:nvSpPr>
          <p:cNvPr id="12" name="VIZ::Process Flow"/>
          <p:cNvSpPr/>
          <p:nvPr/>
        </p:nvSpPr>
        <p:spPr>
          <a:xfrm>
            <a:off x="94109" y="1184330"/>
            <a:ext cx="5867954" cy="1032705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129" b="1">
                <a:solidFill>
                  <a:srgbClr val="1D1D1F"/>
                </a:solidFill>
                <a:latin typeface="Arial"/>
              </a:defRPr>
            </a:pPr>
          </a:p>
        </p:txBody>
      </p:sp>
      <p:sp>
        <p:nvSpPr>
          <p:cNvPr id="13" name="VIZ::Corrective action" title="Visembler report text roles: text heading, risk decision, conclusion next step, action status" descr="VisualizerSemantic:{&quot;composition_role&quot;:&quot;action_status&quot;,&quot;detail&quot;:&quot;Release only after chamber A and the paired reference run confirm recovery.&quot;,&quot;element&quot;:&quot;Project Card&quot;,&quot;engine&quot;:&quot;ProjectCompositeEngine&quot;,&quot;groupId&quot;:null,&quot;id&quot;:&quot;c10&quot;,&quot;locked&quot;:false,&quot;message_role&quot;:&quot;Action&quot;,&quot;order&quot;:11,&quot;section_id&quot;:&quot;delivery&quot;,&quot;section_title&quot;:&quot;Corrective action&quot;,&quot;statement&quot;:&quot;Contain lot L2407 through chamber requalification&quot;,&quot;status&quot;:&quot;Contain&quot;,&quot;title&quot;:&quot;Corrective action&quot;,&quot;type&quot;:&quot;project&quot;,&quot;weight&quot;:1,&quot;z&quot;:10,&quot;x&quot;:14.0,&quot;y&quot;:971.864,&quot;w&quot;:1572.0,&quot;h&quot;:180.95999999999998}"/>
          <p:cNvSpPr/>
          <p:nvPr/>
        </p:nvSpPr>
        <p:spPr>
          <a:xfrm>
            <a:off x="85046" y="5903818"/>
            <a:ext cx="9549488" cy="1099284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2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Corrective action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Contain lot L2407 through chamber requalification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Release only after chamber A and the paired reference run confirm recovery.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Contain</a:t>
            </a:r>
          </a:p>
        </p:txBody>
      </p:sp>
      <p:sp>
        <p:nvSpPr>
          <p:cNvPr id="14" name="VIZ::Affected die yield::spatial-panel" descr="VisualizerSemantic:{&quot;chamber&quot;:null,&quot;composition_role&quot;:&quot;primary_analysis&quot;,&quot;dataset_id&quot;:&quot;dataset-muit82kh-vdnlwy&quot;,&quot;element&quot;:&quot;Wafer Map&quot;,&quot;engine&quot;:&quot;WaferFabEngine&quot;,&quot;groupId&quot;:null,&quot;id&quot;:&quot;c4&quot;,&quot;locked&quot;:false,&quot;lot&quot;:&quot;&quot;,&quot;mapping&quot;:{&quot;die_x&quot;:&quot;die_x_1&quot;,&quot;die_y&quot;:&quot;die_y_2&quot;,&quot;value&quot;:&quot;yield_3&quot;,&quot;x&quot;:&quot;die_x_1&quot;,&quot;y&quot;:&quot;die_y_2&quot;},&quot;message_role&quot;:&quot;Primary Evidence&quot;,&quot;observations&quot;:[{&quot;x&quot;:0,&quot;y&quot;:-5,&quot;value&quot;:98.2},{&quot;x&quot;:-3,&quot;y&quot;:-4,&quot;value&quot;:98.6},{&quot;x&quot;:-2,&quot;y&quot;:-4,&quot;value&quot;:98.3},{&quot;x&quot;:-1,&quot;y&quot;:-4,&quot;value&quot;:98.8},{&quot;x&quot;:0,&quot;y&quot;:-4,&quot;value&quot;:98.5},{&quot;x&quot;:1,&quot;y&quot;:-4,&quot;value&quot;:98.2},{&quot;x&quot;:2,&quot;y&quot;:-4,&quot;value&quot;:98.7},{&quot;x&quot;:3,&quot;y&quot;:-4,&quot;value&quot;:98.4},{&quot;x&quot;:-4,&quot;y&quot;:-3,&quot;value&quot;:98.4},{&quot;x&quot;:-3,&quot;y&quot;:-3,&quot;value&quot;:98.1},{&quot;x&quot;:-2,&quot;y&quot;:-3,&quot;value&quot;:98.6},{&quot;x&quot;:-1,&quot;y&quot;:-3,&quot;value&quot;:98.3},{&quot;x&quot;:0,&quot;y&quot;:-3,&quot;value&quot;:98.8},{&quot;x&quot;:1,&quot;y&quot;:-3,&quot;value&quot;:98.5},{&quot;x&quot;:2,&quot;y&quot;:-3,&quot;value&quot;:98.2},{&quot;x&quot;:3,&quot;y&quot;:-3,&quot;value&quot;:98.7},{&quot;x&quot;:4,&quot;y&quot;:-3,&quot;value&quot;:98.4},{&quot;x&quot;:-4,&quot;y&quot;:-2,&quot;value&quot;:98.7},{&quot;x&quot;:-3,&quot;y&quot;:-2,&quot;value&quot;:98.4},{&quot;x&quot;:-2,&quot;y&quot;:-2,&quot;value&quot;:98.1},{&quot;x&quot;:-1,&quot;y&quot;:-2,&quot;value&quot;:98.6},{&quot;x&quot;:0,&quot;y&quot;:-2,&quot;value&quot;:98.3},{&quot;x&quot;:1,&quot;y&quot;:-2,&quot;value&quot;:98.8},{&quot;x&quot;:2,&quot;y&quot;:-2,&quot;value&quot;:98.5},{&quot;x&quot;:3,&quot;y&quot;:-2,&quot;value&quot;:98.2},{&quot;x&quot;:4,&quot;y&quot;:-2,&quot;value&quot;:98.7},{&quot;x&quot;:-4,&quot;y&quot;:-1,&quot;value&quot;:98.2},{&quot;x&quot;:-3,&quot;y&quot;:-1,&quot;value&quot;:98.7},{&quot;x&quot;:-2,&quot;y&quot;:-1,&quot;value&quot;:98.4},{&quot;x&quot;:-1,&quot;y&quot;:-1,&quot;value&quot;:98.1},{&quot;x&quot;:0,&quot;y&quot;:-1,&quot;value&quot;:98.6},{&quot;x&quot;:1,&quot;y&quot;:-1,&quot;value&quot;:98.3},{&quot;x&quot;:2,&quot;y&quot;:-1,&quot;value&quot;:98.8},{&quot;x&quot;:3,&quot;y&quot;:-1,&quot;value&quot;:98.5},{&quot;x&quot;:4,&quot;y&quot;:-1,&quot;value&quot;:98.2},{&quot;x&quot;:-5,&quot;y&quot;:0,&quot;value&quot;:98.8},{&quot;x&quot;:-4,&quot;y&quot;:0,&quot;value&quot;:98.5},{&quot;x&quot;:-3,&quot;y&quot;:0,&quot;value&quot;:98.2},{&quot;x&quot;:-2,&quot;y&quot;:0,&quot;value&quot;:98.7},{&quot;x&quot;:-1,&quot;y&quot;:0,&quot;value&quot;:98.4},{&quot;x&quot;:0,&quot;y&quot;:0,&quot;value&quot;:98.1},{&quot;x&quot;:1,&quot;y&quot;:0,&quot;value&quot;:98.6},{&quot;x&quot;:2,&quot;y&quot;:0,&quot;value&quot;:88.6},{&quot;x&quot;:3,&quot;y&quot;:0,&quot;value&quot;:88.7},{&quot;x&quot;:4,&quot;y&quot;:0,&quot;value&quot;:98.5},{&quot;x&quot;:5,&quot;y&quot;:0,&quot;value&quot;:98.2},{&quot;x&quot;:-4,&quot;y&quot;:1,&quot;value&quot;:98.8},{&quot;x&quot;:-3,&quot;y&quot;:1,&quot;value&quot;:98.5},{&quot;x&quot;:-2,&quot;y&quot;:1,&quot;value&quot;:98.2},{&quot;x&quot;:-1,&quot;y&quot;:1,&quot;value&quot;:98.7},{&quot;x&quot;:0,&quot;y&quot;:1,&quot;value&quot;:98.4},{&quot;x&quot;:1,&quot;y&quot;:1,&quot;value&quot;:98.1},{&quot;x&quot;:2,&quot;y&quot;:1,&quot;value&quot;:88.5},{&quot;x&quot;:3,&quot;y&quot;:1,&quot;value&quot;:88.6},{&quot;x&quot;:4,&quot;y&quot;:1,&quot;value&quot;:98.8},{&quot;x&quot;:-4,&quot;y&quot;:2,&quot;value&quot;:98.3},{&quot;x&quot;:-3,&quot;y&quot;:2,&quot;value&quot;:98.8},{&quot;x&quot;:-2,&quot;y&quot;:2,&quot;value&quot;:98.5},{&quot;x&quot;:-1,&quot;y&quot;:2,&quot;value&quot;:98.2},{&quot;x&quot;:0,&quot;y&quot;:2,&quot;value&quot;:98.7},{&quot;x&quot;:1,&quot;y&quot;:2,&quot;value&quot;:98.4},{&quot;x&quot;:2,&quot;y&quot;:2,&quot;value&quot;:98.1},{&quot;x&quot;:3,&quot;y&quot;:2,&quot;value&quot;:98.6},{&quot;x&quot;:4,&quot;y&quot;:2,&quot;value&quot;:98.3},{&quot;x&quot;:-4,&quot;y&quot;:3,&quot;value&quot;:98.6},{&quot;x&quot;:-3,&quot;y&quot;:3,&quot;value&quot;:98.3},{&quot;x&quot;:-2,&quot;y&quot;:3,&quot;value&quot;:98.8},{&quot;x&quot;:-1,&quot;y&quot;:3,&quot;value&quot;:98.5},{&quot;x&quot;:0,&quot;y&quot;:3,&quot;value&quot;:98.2},{&quot;x&quot;:1,&quot;y&quot;:3,&quot;value&quot;:98.7},{&quot;x&quot;:2,&quot;y&quot;:3,&quot;value&quot;:98.4},{&quot;x&quot;:3,&quot;y&quot;:3,&quot;value&quot;:98.1},{&quot;x&quot;:4,&quot;y&quot;:3,&quot;value&quot;:98.6},{&quot;x&quot;:-3,&quot;y&quot;:4,&quot;value&quot;:98.6},{&quot;x&quot;:-2,&quot;y&quot;:4,&quot;value&quot;:98.3},{&quot;x&quot;:-1,&quot;y&quot;:4,&quot;value&quot;:98.8},{&quot;x&quot;:0,&quot;y&quot;:4,&quot;value&quot;:98.5},{&quot;x&quot;:1,&quot;y&quot;:4,&quot;value&quot;:98.2},{&quot;x&quot;:2,&quot;y&quot;:4,&quot;value&quot;:98.7},{&quot;x&quot;:3,&quot;y&quot;:4,&quot;value&quot;:98.4},{&quot;x&quot;:0,&quot;y&quot;:5,&quot;value&quot;:98.8}],&quot;order&quot;:4,&quot;route&quot;:&quot;&quot;,&quot;section_id&quot;:&quot;analysis&quot;,&quot;section_title&quot;:&quot;Analysis&quot;,&quot;title&quot;:&quot;Affected die yield&quot;,&quot;tool&quot;:null,&quot;type&quot;:&quot;wafer&quot;,&quot;weight&quot;:1,&quot;z&quot;:4,&quot;wafer_id&quot;:null,&quot;lot_id&quot;:null,&quot;recipe&quot;:null,&quot;process&quot;:null,&quot;x&quot;:160.07999999999993,&quot;y&quot;:1186.824,&quot;w&quot;:310.0,&quot;h&quot;:310.0}"/>
          <p:cNvSpPr/>
          <p:nvPr/>
        </p:nvSpPr>
        <p:spPr>
          <a:xfrm>
            <a:off x="972444" y="7209644"/>
            <a:ext cx="1883169" cy="188316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VIZ::Affected die yield::title"/>
          <p:cNvSpPr txBox="1"/>
          <p:nvPr/>
        </p:nvSpPr>
        <p:spPr>
          <a:xfrm>
            <a:off x="1047770" y="7291940"/>
            <a:ext cx="17325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C2B3E"/>
                </a:solidFill>
              </a:defRPr>
            </a:pPr>
            <a:r>
              <a:t>Affected die yield</a:t>
            </a:r>
          </a:p>
        </p:txBody>
      </p:sp>
      <p:sp>
        <p:nvSpPr>
          <p:cNvPr id="16" name="VIZ::Affected die yield::metadata"/>
          <p:cNvSpPr txBox="1"/>
          <p:nvPr/>
        </p:nvSpPr>
        <p:spPr>
          <a:xfrm>
            <a:off x="1047770" y="7547972"/>
            <a:ext cx="1732515" cy="3013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4F5E71"/>
                </a:solidFill>
              </a:defRPr>
            </a:pPr>
            <a:r>
              <a:t>81 observations · 0 missing · Value 88.5 to 98.8</a:t>
            </a:r>
          </a:p>
        </p:txBody>
      </p:sp>
      <p:sp>
        <p:nvSpPr>
          <p:cNvPr id="17" name="VIZ::Affected die yield::wafer-outline"/>
          <p:cNvSpPr/>
          <p:nvPr/>
        </p:nvSpPr>
        <p:spPr>
          <a:xfrm>
            <a:off x="1540970" y="7924251"/>
            <a:ext cx="746116" cy="746116"/>
          </a:xfrm>
          <a:prstGeom prst="ellipse">
            <a:avLst/>
          </a:prstGeom>
          <a:solidFill>
            <a:srgbClr val="F7F9FC"/>
          </a:solidFill>
          <a:ln w="15240">
            <a:solidFill>
              <a:srgbClr val="273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VIZ::Affected die yield::orientation-notch"/>
          <p:cNvSpPr/>
          <p:nvPr/>
        </p:nvSpPr>
        <p:spPr>
          <a:xfrm>
            <a:off x="1868308" y="7920594"/>
            <a:ext cx="91440" cy="320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VIZ::Affected die yield::orientation"/>
          <p:cNvSpPr txBox="1"/>
          <p:nvPr/>
        </p:nvSpPr>
        <p:spPr>
          <a:xfrm>
            <a:off x="1817033" y="7777947"/>
            <a:ext cx="522281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00" b="1">
                <a:solidFill>
                  <a:srgbClr val="4F5E71"/>
                </a:solidFill>
              </a:defRPr>
            </a:pPr>
            <a:r>
              <a:t>N · NOTCH</a:t>
            </a:r>
          </a:p>
        </p:txBody>
      </p:sp>
      <p:sp>
        <p:nvSpPr>
          <p:cNvPr id="20" name="VIZ::Affected die yield::die-1" descr="VisualizerSemanticDie:{&quot;index&quot;:0,&quot;x&quot;:0,&quot;y&quot;:-5,&quot;value&quot;:98.2,&quot;delta&quot;:null,&quot;reference_value&quot;:null,&quot;affected_value&quot;:null}"/>
          <p:cNvSpPr/>
          <p:nvPr/>
        </p:nvSpPr>
        <p:spPr>
          <a:xfrm>
            <a:off x="1886049" y="8602098"/>
            <a:ext cx="55958" cy="5595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VIZ::Affected die yield::die-2" descr="VisualizerSemanticDie:{&quot;index&quot;:1,&quot;x&quot;:-3,&quot;y&quot;:-4,&quot;value&quot;:98.6,&quot;delta&quot;:null,&quot;reference_value&quot;:null,&quot;affected_value&quot;:null}"/>
          <p:cNvSpPr/>
          <p:nvPr/>
        </p:nvSpPr>
        <p:spPr>
          <a:xfrm>
            <a:off x="1686388" y="8535544"/>
            <a:ext cx="55958" cy="55958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VIZ::Affected die yield::die-3" descr="VisualizerSemanticDie:{&quot;index&quot;:2,&quot;x&quot;:-2,&quot;y&quot;:-4,&quot;value&quot;:98.3,&quot;delta&quot;:null,&quot;reference_value&quot;:null,&quot;affected_value&quot;:null}"/>
          <p:cNvSpPr/>
          <p:nvPr/>
        </p:nvSpPr>
        <p:spPr>
          <a:xfrm>
            <a:off x="1752941" y="8535544"/>
            <a:ext cx="55958" cy="55958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VIZ::Affected die yield::die-4" descr="VisualizerSemanticDie:{&quot;index&quot;:3,&quot;x&quot;:-1,&quot;y&quot;:-4,&quot;value&quot;:98.8,&quot;delta&quot;:null,&quot;reference_value&quot;:null,&quot;affected_value&quot;:null}"/>
          <p:cNvSpPr/>
          <p:nvPr/>
        </p:nvSpPr>
        <p:spPr>
          <a:xfrm>
            <a:off x="1819495" y="8535544"/>
            <a:ext cx="55958" cy="5595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VIZ::Affected die yield::die-5" descr="VisualizerSemanticDie:{&quot;index&quot;:4,&quot;x&quot;:0,&quot;y&quot;:-4,&quot;value&quot;:98.5,&quot;delta&quot;:null,&quot;reference_value&quot;:null,&quot;affected_value&quot;:null}"/>
          <p:cNvSpPr/>
          <p:nvPr/>
        </p:nvSpPr>
        <p:spPr>
          <a:xfrm>
            <a:off x="1886049" y="8535544"/>
            <a:ext cx="55958" cy="5595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VIZ::Affected die yield::die-6" descr="VisualizerSemanticDie:{&quot;index&quot;:5,&quot;x&quot;:1,&quot;y&quot;:-4,&quot;value&quot;:98.2,&quot;delta&quot;:null,&quot;reference_value&quot;:null,&quot;affected_value&quot;:null}"/>
          <p:cNvSpPr/>
          <p:nvPr/>
        </p:nvSpPr>
        <p:spPr>
          <a:xfrm>
            <a:off x="1952602" y="8535544"/>
            <a:ext cx="55958" cy="5595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VIZ::Affected die yield::die-7" descr="VisualizerSemanticDie:{&quot;index&quot;:6,&quot;x&quot;:2,&quot;y&quot;:-4,&quot;value&quot;:98.7,&quot;delta&quot;:null,&quot;reference_value&quot;:null,&quot;affected_value&quot;:null}"/>
          <p:cNvSpPr/>
          <p:nvPr/>
        </p:nvSpPr>
        <p:spPr>
          <a:xfrm>
            <a:off x="2019156" y="8535544"/>
            <a:ext cx="55958" cy="5595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VIZ::Affected die yield::die-8" descr="VisualizerSemanticDie:{&quot;index&quot;:7,&quot;x&quot;:3,&quot;y&quot;:-4,&quot;value&quot;:98.4,&quot;delta&quot;:null,&quot;reference_value&quot;:null,&quot;affected_value&quot;:null}"/>
          <p:cNvSpPr/>
          <p:nvPr/>
        </p:nvSpPr>
        <p:spPr>
          <a:xfrm>
            <a:off x="2085709" y="8535544"/>
            <a:ext cx="55958" cy="5595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VIZ::Affected die yield::die-9" descr="VisualizerSemanticDie:{&quot;index&quot;:8,&quot;x&quot;:-4,&quot;y&quot;:-3,&quot;value&quot;:98.4,&quot;delta&quot;:null,&quot;reference_value&quot;:null,&quot;affected_value&quot;:null}"/>
          <p:cNvSpPr/>
          <p:nvPr/>
        </p:nvSpPr>
        <p:spPr>
          <a:xfrm>
            <a:off x="1619834" y="8468991"/>
            <a:ext cx="55958" cy="5595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VIZ::Affected die yield::die-10" descr="VisualizerSemanticDie:{&quot;index&quot;:9,&quot;x&quot;:-3,&quot;y&quot;:-3,&quot;value&quot;:98.1,&quot;delta&quot;:null,&quot;reference_value&quot;:null,&quot;affected_value&quot;:null}"/>
          <p:cNvSpPr/>
          <p:nvPr/>
        </p:nvSpPr>
        <p:spPr>
          <a:xfrm>
            <a:off x="1686388" y="8468991"/>
            <a:ext cx="55958" cy="55958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VIZ::Affected die yield::die-11" descr="VisualizerSemanticDie:{&quot;index&quot;:10,&quot;x&quot;:-2,&quot;y&quot;:-3,&quot;value&quot;:98.6,&quot;delta&quot;:null,&quot;reference_value&quot;:null,&quot;affected_value&quot;:null}"/>
          <p:cNvSpPr/>
          <p:nvPr/>
        </p:nvSpPr>
        <p:spPr>
          <a:xfrm>
            <a:off x="1752941" y="8468991"/>
            <a:ext cx="55958" cy="55958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VIZ::Affected die yield::die-12" descr="VisualizerSemanticDie:{&quot;index&quot;:11,&quot;x&quot;:-1,&quot;y&quot;:-3,&quot;value&quot;:98.3,&quot;delta&quot;:null,&quot;reference_value&quot;:null,&quot;affected_value&quot;:null}"/>
          <p:cNvSpPr/>
          <p:nvPr/>
        </p:nvSpPr>
        <p:spPr>
          <a:xfrm>
            <a:off x="1819495" y="8468991"/>
            <a:ext cx="55958" cy="55958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VIZ::Affected die yield::die-13" descr="VisualizerSemanticDie:{&quot;index&quot;:12,&quot;x&quot;:0,&quot;y&quot;:-3,&quot;value&quot;:98.8,&quot;delta&quot;:null,&quot;reference_value&quot;:null,&quot;affected_value&quot;:null}"/>
          <p:cNvSpPr/>
          <p:nvPr/>
        </p:nvSpPr>
        <p:spPr>
          <a:xfrm>
            <a:off x="1886049" y="8468991"/>
            <a:ext cx="55958" cy="5595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VIZ::Affected die yield::die-14" descr="VisualizerSemanticDie:{&quot;index&quot;:13,&quot;x&quot;:1,&quot;y&quot;:-3,&quot;value&quot;:98.5,&quot;delta&quot;:null,&quot;reference_value&quot;:null,&quot;affected_value&quot;:null}"/>
          <p:cNvSpPr/>
          <p:nvPr/>
        </p:nvSpPr>
        <p:spPr>
          <a:xfrm>
            <a:off x="1952602" y="8468991"/>
            <a:ext cx="55958" cy="5595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VIZ::Affected die yield::die-15" descr="VisualizerSemanticDie:{&quot;index&quot;:14,&quot;x&quot;:2,&quot;y&quot;:-3,&quot;value&quot;:98.2,&quot;delta&quot;:null,&quot;reference_value&quot;:null,&quot;affected_value&quot;:null}"/>
          <p:cNvSpPr/>
          <p:nvPr/>
        </p:nvSpPr>
        <p:spPr>
          <a:xfrm>
            <a:off x="2019156" y="8468991"/>
            <a:ext cx="55958" cy="5595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VIZ::Affected die yield::die-16" descr="VisualizerSemanticDie:{&quot;index&quot;:15,&quot;x&quot;:3,&quot;y&quot;:-3,&quot;value&quot;:98.7,&quot;delta&quot;:null,&quot;reference_value&quot;:null,&quot;affected_value&quot;:null}"/>
          <p:cNvSpPr/>
          <p:nvPr/>
        </p:nvSpPr>
        <p:spPr>
          <a:xfrm>
            <a:off x="2085709" y="8468991"/>
            <a:ext cx="55958" cy="5595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VIZ::Affected die yield::die-17" descr="VisualizerSemanticDie:{&quot;index&quot;:16,&quot;x&quot;:4,&quot;y&quot;:-3,&quot;value&quot;:98.4,&quot;delta&quot;:null,&quot;reference_value&quot;:null,&quot;affected_value&quot;:null}"/>
          <p:cNvSpPr/>
          <p:nvPr/>
        </p:nvSpPr>
        <p:spPr>
          <a:xfrm>
            <a:off x="2152263" y="8468991"/>
            <a:ext cx="55958" cy="5595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VIZ::Affected die yield::die-18" descr="VisualizerSemanticDie:{&quot;index&quot;:17,&quot;x&quot;:-4,&quot;y&quot;:-2,&quot;value&quot;:98.7,&quot;delta&quot;:null,&quot;reference_value&quot;:null,&quot;affected_value&quot;:null}"/>
          <p:cNvSpPr/>
          <p:nvPr/>
        </p:nvSpPr>
        <p:spPr>
          <a:xfrm>
            <a:off x="1619834" y="8402437"/>
            <a:ext cx="55958" cy="5595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VIZ::Affected die yield::die-19" descr="VisualizerSemanticDie:{&quot;index&quot;:18,&quot;x&quot;:-3,&quot;y&quot;:-2,&quot;value&quot;:98.4,&quot;delta&quot;:null,&quot;reference_value&quot;:null,&quot;affected_value&quot;:null}"/>
          <p:cNvSpPr/>
          <p:nvPr/>
        </p:nvSpPr>
        <p:spPr>
          <a:xfrm>
            <a:off x="1686388" y="8402437"/>
            <a:ext cx="55958" cy="5595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VIZ::Affected die yield::die-20" descr="VisualizerSemanticDie:{&quot;index&quot;:19,&quot;x&quot;:-2,&quot;y&quot;:-2,&quot;value&quot;:98.1,&quot;delta&quot;:null,&quot;reference_value&quot;:null,&quot;affected_value&quot;:null}"/>
          <p:cNvSpPr/>
          <p:nvPr/>
        </p:nvSpPr>
        <p:spPr>
          <a:xfrm>
            <a:off x="1752941" y="8402437"/>
            <a:ext cx="55958" cy="55958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VIZ::Affected die yield::die-21" descr="VisualizerSemanticDie:{&quot;index&quot;:20,&quot;x&quot;:-1,&quot;y&quot;:-2,&quot;value&quot;:98.6,&quot;delta&quot;:null,&quot;reference_value&quot;:null,&quot;affected_value&quot;:null}"/>
          <p:cNvSpPr/>
          <p:nvPr/>
        </p:nvSpPr>
        <p:spPr>
          <a:xfrm>
            <a:off x="1819495" y="8402437"/>
            <a:ext cx="55958" cy="55958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VIZ::Affected die yield::die-22" descr="VisualizerSemanticDie:{&quot;index&quot;:21,&quot;x&quot;:0,&quot;y&quot;:-2,&quot;value&quot;:98.3,&quot;delta&quot;:null,&quot;reference_value&quot;:null,&quot;affected_value&quot;:null}"/>
          <p:cNvSpPr/>
          <p:nvPr/>
        </p:nvSpPr>
        <p:spPr>
          <a:xfrm>
            <a:off x="1886049" y="8402437"/>
            <a:ext cx="55958" cy="55958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VIZ::Affected die yield::die-23" descr="VisualizerSemanticDie:{&quot;index&quot;:22,&quot;x&quot;:1,&quot;y&quot;:-2,&quot;value&quot;:98.8,&quot;delta&quot;:null,&quot;reference_value&quot;:null,&quot;affected_value&quot;:null}"/>
          <p:cNvSpPr/>
          <p:nvPr/>
        </p:nvSpPr>
        <p:spPr>
          <a:xfrm>
            <a:off x="1952602" y="8402437"/>
            <a:ext cx="55958" cy="5595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VIZ::Affected die yield::die-24" descr="VisualizerSemanticDie:{&quot;index&quot;:23,&quot;x&quot;:2,&quot;y&quot;:-2,&quot;value&quot;:98.5,&quot;delta&quot;:null,&quot;reference_value&quot;:null,&quot;affected_value&quot;:null}"/>
          <p:cNvSpPr/>
          <p:nvPr/>
        </p:nvSpPr>
        <p:spPr>
          <a:xfrm>
            <a:off x="2019156" y="8402437"/>
            <a:ext cx="55958" cy="5595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VIZ::Affected die yield::die-25" descr="VisualizerSemanticDie:{&quot;index&quot;:24,&quot;x&quot;:3,&quot;y&quot;:-2,&quot;value&quot;:98.2,&quot;delta&quot;:null,&quot;reference_value&quot;:null,&quot;affected_value&quot;:null}"/>
          <p:cNvSpPr/>
          <p:nvPr/>
        </p:nvSpPr>
        <p:spPr>
          <a:xfrm>
            <a:off x="2085709" y="8402437"/>
            <a:ext cx="55958" cy="5595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VIZ::Affected die yield::die-26" descr="VisualizerSemanticDie:{&quot;index&quot;:25,&quot;x&quot;:4,&quot;y&quot;:-2,&quot;value&quot;:98.7,&quot;delta&quot;:null,&quot;reference_value&quot;:null,&quot;affected_value&quot;:null}"/>
          <p:cNvSpPr/>
          <p:nvPr/>
        </p:nvSpPr>
        <p:spPr>
          <a:xfrm>
            <a:off x="2152263" y="8402437"/>
            <a:ext cx="55958" cy="5595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VIZ::Affected die yield::die-27" descr="VisualizerSemanticDie:{&quot;index&quot;:26,&quot;x&quot;:-4,&quot;y&quot;:-1,&quot;value&quot;:98.2,&quot;delta&quot;:null,&quot;reference_value&quot;:null,&quot;affected_value&quot;:null}"/>
          <p:cNvSpPr/>
          <p:nvPr/>
        </p:nvSpPr>
        <p:spPr>
          <a:xfrm>
            <a:off x="1619834" y="8335884"/>
            <a:ext cx="55958" cy="5595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VIZ::Affected die yield::die-28" descr="VisualizerSemanticDie:{&quot;index&quot;:27,&quot;x&quot;:-3,&quot;y&quot;:-1,&quot;value&quot;:98.7,&quot;delta&quot;:null,&quot;reference_value&quot;:null,&quot;affected_value&quot;:null}"/>
          <p:cNvSpPr/>
          <p:nvPr/>
        </p:nvSpPr>
        <p:spPr>
          <a:xfrm>
            <a:off x="1686388" y="8335884"/>
            <a:ext cx="55958" cy="5595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VIZ::Affected die yield::die-29" descr="VisualizerSemanticDie:{&quot;index&quot;:28,&quot;x&quot;:-2,&quot;y&quot;:-1,&quot;value&quot;:98.4,&quot;delta&quot;:null,&quot;reference_value&quot;:null,&quot;affected_value&quot;:null}"/>
          <p:cNvSpPr/>
          <p:nvPr/>
        </p:nvSpPr>
        <p:spPr>
          <a:xfrm>
            <a:off x="1752941" y="8335884"/>
            <a:ext cx="55958" cy="5595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VIZ::Affected die yield::die-30" descr="VisualizerSemanticDie:{&quot;index&quot;:29,&quot;x&quot;:-1,&quot;y&quot;:-1,&quot;value&quot;:98.1,&quot;delta&quot;:null,&quot;reference_value&quot;:null,&quot;affected_value&quot;:null}"/>
          <p:cNvSpPr/>
          <p:nvPr/>
        </p:nvSpPr>
        <p:spPr>
          <a:xfrm>
            <a:off x="1819495" y="8335884"/>
            <a:ext cx="55958" cy="55958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VIZ::Affected die yield::die-31" descr="VisualizerSemanticDie:{&quot;index&quot;:30,&quot;x&quot;:0,&quot;y&quot;:-1,&quot;value&quot;:98.6,&quot;delta&quot;:null,&quot;reference_value&quot;:null,&quot;affected_value&quot;:null}"/>
          <p:cNvSpPr/>
          <p:nvPr/>
        </p:nvSpPr>
        <p:spPr>
          <a:xfrm>
            <a:off x="1886049" y="8335884"/>
            <a:ext cx="55958" cy="55958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VIZ::Affected die yield::die-32" descr="VisualizerSemanticDie:{&quot;index&quot;:31,&quot;x&quot;:1,&quot;y&quot;:-1,&quot;value&quot;:98.3,&quot;delta&quot;:null,&quot;reference_value&quot;:null,&quot;affected_value&quot;:null}"/>
          <p:cNvSpPr/>
          <p:nvPr/>
        </p:nvSpPr>
        <p:spPr>
          <a:xfrm>
            <a:off x="1952602" y="8335884"/>
            <a:ext cx="55958" cy="55958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VIZ::Affected die yield::die-33" descr="VisualizerSemanticDie:{&quot;index&quot;:32,&quot;x&quot;:2,&quot;y&quot;:-1,&quot;value&quot;:98.8,&quot;delta&quot;:null,&quot;reference_value&quot;:null,&quot;affected_value&quot;:null}"/>
          <p:cNvSpPr/>
          <p:nvPr/>
        </p:nvSpPr>
        <p:spPr>
          <a:xfrm>
            <a:off x="2019156" y="8335884"/>
            <a:ext cx="55958" cy="5595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VIZ::Affected die yield::die-34" descr="VisualizerSemanticDie:{&quot;index&quot;:33,&quot;x&quot;:3,&quot;y&quot;:-1,&quot;value&quot;:98.5,&quot;delta&quot;:null,&quot;reference_value&quot;:null,&quot;affected_value&quot;:null}"/>
          <p:cNvSpPr/>
          <p:nvPr/>
        </p:nvSpPr>
        <p:spPr>
          <a:xfrm>
            <a:off x="2085709" y="8335884"/>
            <a:ext cx="55958" cy="5595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VIZ::Affected die yield::die-35" descr="VisualizerSemanticDie:{&quot;index&quot;:34,&quot;x&quot;:4,&quot;y&quot;:-1,&quot;value&quot;:98.2,&quot;delta&quot;:null,&quot;reference_value&quot;:null,&quot;affected_value&quot;:null}"/>
          <p:cNvSpPr/>
          <p:nvPr/>
        </p:nvSpPr>
        <p:spPr>
          <a:xfrm>
            <a:off x="2152263" y="8335884"/>
            <a:ext cx="55958" cy="5595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VIZ::Affected die yield::die-36" descr="VisualizerSemanticDie:{&quot;index&quot;:35,&quot;x&quot;:-5,&quot;y&quot;:0,&quot;value&quot;:98.8,&quot;delta&quot;:null,&quot;reference_value&quot;:null,&quot;affected_value&quot;:null}"/>
          <p:cNvSpPr/>
          <p:nvPr/>
        </p:nvSpPr>
        <p:spPr>
          <a:xfrm>
            <a:off x="1553281" y="8269330"/>
            <a:ext cx="55958" cy="5595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VIZ::Affected die yield::die-37" descr="VisualizerSemanticDie:{&quot;index&quot;:36,&quot;x&quot;:-4,&quot;y&quot;:0,&quot;value&quot;:98.5,&quot;delta&quot;:null,&quot;reference_value&quot;:null,&quot;affected_value&quot;:null}"/>
          <p:cNvSpPr/>
          <p:nvPr/>
        </p:nvSpPr>
        <p:spPr>
          <a:xfrm>
            <a:off x="1619834" y="8269330"/>
            <a:ext cx="55958" cy="5595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VIZ::Affected die yield::die-38" descr="VisualizerSemanticDie:{&quot;index&quot;:37,&quot;x&quot;:-3,&quot;y&quot;:0,&quot;value&quot;:98.2,&quot;delta&quot;:null,&quot;reference_value&quot;:null,&quot;affected_value&quot;:null}"/>
          <p:cNvSpPr/>
          <p:nvPr/>
        </p:nvSpPr>
        <p:spPr>
          <a:xfrm>
            <a:off x="1686388" y="8269330"/>
            <a:ext cx="55958" cy="5595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VIZ::Affected die yield::die-39" descr="VisualizerSemanticDie:{&quot;index&quot;:38,&quot;x&quot;:-2,&quot;y&quot;:0,&quot;value&quot;:98.7,&quot;delta&quot;:null,&quot;reference_value&quot;:null,&quot;affected_value&quot;:null}"/>
          <p:cNvSpPr/>
          <p:nvPr/>
        </p:nvSpPr>
        <p:spPr>
          <a:xfrm>
            <a:off x="1752941" y="8269330"/>
            <a:ext cx="55958" cy="5595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VIZ::Affected die yield::die-40" descr="VisualizerSemanticDie:{&quot;index&quot;:39,&quot;x&quot;:-1,&quot;y&quot;:0,&quot;value&quot;:98.4,&quot;delta&quot;:null,&quot;reference_value&quot;:null,&quot;affected_value&quot;:null}"/>
          <p:cNvSpPr/>
          <p:nvPr/>
        </p:nvSpPr>
        <p:spPr>
          <a:xfrm>
            <a:off x="1819495" y="8269330"/>
            <a:ext cx="55958" cy="5595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VIZ::Affected die yield::die-41" descr="VisualizerSemanticDie:{&quot;index&quot;:40,&quot;x&quot;:0,&quot;y&quot;:0,&quot;value&quot;:98.1,&quot;delta&quot;:null,&quot;reference_value&quot;:null,&quot;affected_value&quot;:null}"/>
          <p:cNvSpPr/>
          <p:nvPr/>
        </p:nvSpPr>
        <p:spPr>
          <a:xfrm>
            <a:off x="1886049" y="8269330"/>
            <a:ext cx="55958" cy="55958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VIZ::Affected die yield::die-42" descr="VisualizerSemanticDie:{&quot;index&quot;:41,&quot;x&quot;:1,&quot;y&quot;:0,&quot;value&quot;:98.6,&quot;delta&quot;:null,&quot;reference_value&quot;:null,&quot;affected_value&quot;:null}"/>
          <p:cNvSpPr/>
          <p:nvPr/>
        </p:nvSpPr>
        <p:spPr>
          <a:xfrm>
            <a:off x="1952602" y="8269330"/>
            <a:ext cx="55958" cy="55958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VIZ::Affected die yield::die-43" descr="VisualizerSemanticDie:{&quot;index&quot;:42,&quot;x&quot;:2,&quot;y&quot;:0,&quot;value&quot;:88.6,&quot;delta&quot;:null,&quot;reference_value&quot;:null,&quot;affected_value&quot;:null}"/>
          <p:cNvSpPr/>
          <p:nvPr/>
        </p:nvSpPr>
        <p:spPr>
          <a:xfrm>
            <a:off x="2019156" y="8269330"/>
            <a:ext cx="55958" cy="55958"/>
          </a:xfrm>
          <a:prstGeom prst="rect">
            <a:avLst/>
          </a:prstGeom>
          <a:solidFill>
            <a:srgbClr val="375AC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VIZ::Affected die yield::die-44" descr="VisualizerSemanticDie:{&quot;index&quot;:43,&quot;x&quot;:3,&quot;y&quot;:0,&quot;value&quot;:88.7,&quot;delta&quot;:null,&quot;reference_value&quot;:null,&quot;affected_value&quot;:null}"/>
          <p:cNvSpPr/>
          <p:nvPr/>
        </p:nvSpPr>
        <p:spPr>
          <a:xfrm>
            <a:off x="2085709" y="8269330"/>
            <a:ext cx="55958" cy="55958"/>
          </a:xfrm>
          <a:prstGeom prst="rect">
            <a:avLst/>
          </a:prstGeom>
          <a:solidFill>
            <a:srgbClr val="395AC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VIZ::Affected die yield::die-45" descr="VisualizerSemanticDie:{&quot;index&quot;:44,&quot;x&quot;:4,&quot;y&quot;:0,&quot;value&quot;:98.5,&quot;delta&quot;:null,&quot;reference_value&quot;:null,&quot;affected_value&quot;:null}"/>
          <p:cNvSpPr/>
          <p:nvPr/>
        </p:nvSpPr>
        <p:spPr>
          <a:xfrm>
            <a:off x="2152263" y="8269330"/>
            <a:ext cx="55958" cy="5595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VIZ::Affected die yield::die-46" descr="VisualizerSemanticDie:{&quot;index&quot;:45,&quot;x&quot;:5,&quot;y&quot;:0,&quot;value&quot;:98.2,&quot;delta&quot;:null,&quot;reference_value&quot;:null,&quot;affected_value&quot;:null}"/>
          <p:cNvSpPr/>
          <p:nvPr/>
        </p:nvSpPr>
        <p:spPr>
          <a:xfrm>
            <a:off x="2218817" y="8269330"/>
            <a:ext cx="55958" cy="5595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VIZ::Affected die yield::die-47" descr="VisualizerSemanticDie:{&quot;index&quot;:46,&quot;x&quot;:-4,&quot;y&quot;:1,&quot;value&quot;:98.8,&quot;delta&quot;:null,&quot;reference_value&quot;:null,&quot;affected_value&quot;:null}"/>
          <p:cNvSpPr/>
          <p:nvPr/>
        </p:nvSpPr>
        <p:spPr>
          <a:xfrm>
            <a:off x="1619834" y="8202777"/>
            <a:ext cx="55958" cy="5595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VIZ::Affected die yield::die-48" descr="VisualizerSemanticDie:{&quot;index&quot;:47,&quot;x&quot;:-3,&quot;y&quot;:1,&quot;value&quot;:98.5,&quot;delta&quot;:null,&quot;reference_value&quot;:null,&quot;affected_value&quot;:null}"/>
          <p:cNvSpPr/>
          <p:nvPr/>
        </p:nvSpPr>
        <p:spPr>
          <a:xfrm>
            <a:off x="1686388" y="8202777"/>
            <a:ext cx="55958" cy="5595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VIZ::Affected die yield::die-49" descr="VisualizerSemanticDie:{&quot;index&quot;:48,&quot;x&quot;:-2,&quot;y&quot;:1,&quot;value&quot;:98.2,&quot;delta&quot;:null,&quot;reference_value&quot;:null,&quot;affected_value&quot;:null}"/>
          <p:cNvSpPr/>
          <p:nvPr/>
        </p:nvSpPr>
        <p:spPr>
          <a:xfrm>
            <a:off x="1752941" y="8202777"/>
            <a:ext cx="55958" cy="5595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VIZ::Affected die yield::die-50" descr="VisualizerSemanticDie:{&quot;index&quot;:49,&quot;x&quot;:-1,&quot;y&quot;:1,&quot;value&quot;:98.7,&quot;delta&quot;:null,&quot;reference_value&quot;:null,&quot;affected_value&quot;:null}"/>
          <p:cNvSpPr/>
          <p:nvPr/>
        </p:nvSpPr>
        <p:spPr>
          <a:xfrm>
            <a:off x="1819495" y="8202777"/>
            <a:ext cx="55958" cy="5595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VIZ::Affected die yield::die-51" descr="VisualizerSemanticDie:{&quot;index&quot;:50,&quot;x&quot;:0,&quot;y&quot;:1,&quot;value&quot;:98.4,&quot;delta&quot;:null,&quot;reference_value&quot;:null,&quot;affected_value&quot;:null}"/>
          <p:cNvSpPr/>
          <p:nvPr/>
        </p:nvSpPr>
        <p:spPr>
          <a:xfrm>
            <a:off x="1886049" y="8202777"/>
            <a:ext cx="55958" cy="5595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VIZ::Affected die yield::die-52" descr="VisualizerSemanticDie:{&quot;index&quot;:51,&quot;x&quot;:1,&quot;y&quot;:1,&quot;value&quot;:98.1,&quot;delta&quot;:null,&quot;reference_value&quot;:null,&quot;affected_value&quot;:null}"/>
          <p:cNvSpPr/>
          <p:nvPr/>
        </p:nvSpPr>
        <p:spPr>
          <a:xfrm>
            <a:off x="1952602" y="8202777"/>
            <a:ext cx="55958" cy="55958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VIZ::Affected die yield::die-53" descr="VisualizerSemanticDie:{&quot;index&quot;:52,&quot;x&quot;:2,&quot;y&quot;:1,&quot;value&quot;:88.5,&quot;delta&quot;:null,&quot;reference_value&quot;:null,&quot;affected_value&quot;:null}"/>
          <p:cNvSpPr/>
          <p:nvPr/>
        </p:nvSpPr>
        <p:spPr>
          <a:xfrm>
            <a:off x="2019156" y="8202777"/>
            <a:ext cx="55958" cy="55958"/>
          </a:xfrm>
          <a:prstGeom prst="rect">
            <a:avLst/>
          </a:prstGeom>
          <a:solidFill>
            <a:srgbClr val="365AC7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VIZ::Affected die yield::die-54" descr="VisualizerSemanticDie:{&quot;index&quot;:53,&quot;x&quot;:3,&quot;y&quot;:1,&quot;value&quot;:88.6,&quot;delta&quot;:null,&quot;reference_value&quot;:null,&quot;affected_value&quot;:null}"/>
          <p:cNvSpPr/>
          <p:nvPr/>
        </p:nvSpPr>
        <p:spPr>
          <a:xfrm>
            <a:off x="2085709" y="8202777"/>
            <a:ext cx="55958" cy="55958"/>
          </a:xfrm>
          <a:prstGeom prst="rect">
            <a:avLst/>
          </a:prstGeom>
          <a:solidFill>
            <a:srgbClr val="375AC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VIZ::Affected die yield::die-55" descr="VisualizerSemanticDie:{&quot;index&quot;:54,&quot;x&quot;:4,&quot;y&quot;:1,&quot;value&quot;:98.8,&quot;delta&quot;:null,&quot;reference_value&quot;:null,&quot;affected_value&quot;:null}"/>
          <p:cNvSpPr/>
          <p:nvPr/>
        </p:nvSpPr>
        <p:spPr>
          <a:xfrm>
            <a:off x="2152263" y="8202777"/>
            <a:ext cx="55958" cy="5595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VIZ::Affected die yield::die-56" descr="VisualizerSemanticDie:{&quot;index&quot;:55,&quot;x&quot;:-4,&quot;y&quot;:2,&quot;value&quot;:98.3,&quot;delta&quot;:null,&quot;reference_value&quot;:null,&quot;affected_value&quot;:null}"/>
          <p:cNvSpPr/>
          <p:nvPr/>
        </p:nvSpPr>
        <p:spPr>
          <a:xfrm>
            <a:off x="1619834" y="8136223"/>
            <a:ext cx="55958" cy="55958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VIZ::Affected die yield::die-57" descr="VisualizerSemanticDie:{&quot;index&quot;:56,&quot;x&quot;:-3,&quot;y&quot;:2,&quot;value&quot;:98.8,&quot;delta&quot;:null,&quot;reference_value&quot;:null,&quot;affected_value&quot;:null}"/>
          <p:cNvSpPr/>
          <p:nvPr/>
        </p:nvSpPr>
        <p:spPr>
          <a:xfrm>
            <a:off x="1686388" y="8136223"/>
            <a:ext cx="55958" cy="5595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VIZ::Affected die yield::die-58" descr="VisualizerSemanticDie:{&quot;index&quot;:57,&quot;x&quot;:-2,&quot;y&quot;:2,&quot;value&quot;:98.5,&quot;delta&quot;:null,&quot;reference_value&quot;:null,&quot;affected_value&quot;:null}"/>
          <p:cNvSpPr/>
          <p:nvPr/>
        </p:nvSpPr>
        <p:spPr>
          <a:xfrm>
            <a:off x="1752941" y="8136223"/>
            <a:ext cx="55958" cy="5595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VIZ::Affected die yield::die-59" descr="VisualizerSemanticDie:{&quot;index&quot;:58,&quot;x&quot;:-1,&quot;y&quot;:2,&quot;value&quot;:98.2,&quot;delta&quot;:null,&quot;reference_value&quot;:null,&quot;affected_value&quot;:null}"/>
          <p:cNvSpPr/>
          <p:nvPr/>
        </p:nvSpPr>
        <p:spPr>
          <a:xfrm>
            <a:off x="1819495" y="8136223"/>
            <a:ext cx="55958" cy="5595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VIZ::Affected die yield::die-60" descr="VisualizerSemanticDie:{&quot;index&quot;:59,&quot;x&quot;:0,&quot;y&quot;:2,&quot;value&quot;:98.7,&quot;delta&quot;:null,&quot;reference_value&quot;:null,&quot;affected_value&quot;:null}"/>
          <p:cNvSpPr/>
          <p:nvPr/>
        </p:nvSpPr>
        <p:spPr>
          <a:xfrm>
            <a:off x="1886049" y="8136223"/>
            <a:ext cx="55958" cy="5595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VIZ::Affected die yield::die-61" descr="VisualizerSemanticDie:{&quot;index&quot;:60,&quot;x&quot;:1,&quot;y&quot;:2,&quot;value&quot;:98.4,&quot;delta&quot;:null,&quot;reference_value&quot;:null,&quot;affected_value&quot;:null}"/>
          <p:cNvSpPr/>
          <p:nvPr/>
        </p:nvSpPr>
        <p:spPr>
          <a:xfrm>
            <a:off x="1952602" y="8136223"/>
            <a:ext cx="55958" cy="5595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VIZ::Affected die yield::die-62" descr="VisualizerSemanticDie:{&quot;index&quot;:61,&quot;x&quot;:2,&quot;y&quot;:2,&quot;value&quot;:98.1,&quot;delta&quot;:null,&quot;reference_value&quot;:null,&quot;affected_value&quot;:null}"/>
          <p:cNvSpPr/>
          <p:nvPr/>
        </p:nvSpPr>
        <p:spPr>
          <a:xfrm>
            <a:off x="2019156" y="8136223"/>
            <a:ext cx="55958" cy="55958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VIZ::Affected die yield::die-63" descr="VisualizerSemanticDie:{&quot;index&quot;:62,&quot;x&quot;:3,&quot;y&quot;:2,&quot;value&quot;:98.6,&quot;delta&quot;:null,&quot;reference_value&quot;:null,&quot;affected_value&quot;:null}"/>
          <p:cNvSpPr/>
          <p:nvPr/>
        </p:nvSpPr>
        <p:spPr>
          <a:xfrm>
            <a:off x="2085709" y="8136223"/>
            <a:ext cx="55958" cy="55958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VIZ::Affected die yield::die-64" descr="VisualizerSemanticDie:{&quot;index&quot;:63,&quot;x&quot;:4,&quot;y&quot;:2,&quot;value&quot;:98.3,&quot;delta&quot;:null,&quot;reference_value&quot;:null,&quot;affected_value&quot;:null}"/>
          <p:cNvSpPr/>
          <p:nvPr/>
        </p:nvSpPr>
        <p:spPr>
          <a:xfrm>
            <a:off x="2152263" y="8136223"/>
            <a:ext cx="55958" cy="55958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VIZ::Affected die yield::die-65" descr="VisualizerSemanticDie:{&quot;index&quot;:64,&quot;x&quot;:-4,&quot;y&quot;:3,&quot;value&quot;:98.6,&quot;delta&quot;:null,&quot;reference_value&quot;:null,&quot;affected_value&quot;:null}"/>
          <p:cNvSpPr/>
          <p:nvPr/>
        </p:nvSpPr>
        <p:spPr>
          <a:xfrm>
            <a:off x="1619834" y="8069669"/>
            <a:ext cx="55958" cy="55958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VIZ::Affected die yield::die-66" descr="VisualizerSemanticDie:{&quot;index&quot;:65,&quot;x&quot;:-3,&quot;y&quot;:3,&quot;value&quot;:98.3,&quot;delta&quot;:null,&quot;reference_value&quot;:null,&quot;affected_value&quot;:null}"/>
          <p:cNvSpPr/>
          <p:nvPr/>
        </p:nvSpPr>
        <p:spPr>
          <a:xfrm>
            <a:off x="1686388" y="8069669"/>
            <a:ext cx="55958" cy="55958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VIZ::Affected die yield::die-67" descr="VisualizerSemanticDie:{&quot;index&quot;:66,&quot;x&quot;:-2,&quot;y&quot;:3,&quot;value&quot;:98.8,&quot;delta&quot;:null,&quot;reference_value&quot;:null,&quot;affected_value&quot;:null}"/>
          <p:cNvSpPr/>
          <p:nvPr/>
        </p:nvSpPr>
        <p:spPr>
          <a:xfrm>
            <a:off x="1752941" y="8069669"/>
            <a:ext cx="55958" cy="5595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VIZ::Affected die yield::die-68" descr="VisualizerSemanticDie:{&quot;index&quot;:67,&quot;x&quot;:-1,&quot;y&quot;:3,&quot;value&quot;:98.5,&quot;delta&quot;:null,&quot;reference_value&quot;:null,&quot;affected_value&quot;:null}"/>
          <p:cNvSpPr/>
          <p:nvPr/>
        </p:nvSpPr>
        <p:spPr>
          <a:xfrm>
            <a:off x="1819495" y="8069669"/>
            <a:ext cx="55958" cy="5595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VIZ::Affected die yield::die-69" descr="VisualizerSemanticDie:{&quot;index&quot;:68,&quot;x&quot;:0,&quot;y&quot;:3,&quot;value&quot;:98.2,&quot;delta&quot;:null,&quot;reference_value&quot;:null,&quot;affected_value&quot;:null}"/>
          <p:cNvSpPr/>
          <p:nvPr/>
        </p:nvSpPr>
        <p:spPr>
          <a:xfrm>
            <a:off x="1886049" y="8069669"/>
            <a:ext cx="55958" cy="5595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VIZ::Affected die yield::die-70" descr="VisualizerSemanticDie:{&quot;index&quot;:69,&quot;x&quot;:1,&quot;y&quot;:3,&quot;value&quot;:98.7,&quot;delta&quot;:null,&quot;reference_value&quot;:null,&quot;affected_value&quot;:null}"/>
          <p:cNvSpPr/>
          <p:nvPr/>
        </p:nvSpPr>
        <p:spPr>
          <a:xfrm>
            <a:off x="1952602" y="8069669"/>
            <a:ext cx="55958" cy="5595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VIZ::Affected die yield::die-71" descr="VisualizerSemanticDie:{&quot;index&quot;:70,&quot;x&quot;:2,&quot;y&quot;:3,&quot;value&quot;:98.4,&quot;delta&quot;:null,&quot;reference_value&quot;:null,&quot;affected_value&quot;:null}"/>
          <p:cNvSpPr/>
          <p:nvPr/>
        </p:nvSpPr>
        <p:spPr>
          <a:xfrm>
            <a:off x="2019156" y="8069669"/>
            <a:ext cx="55958" cy="5595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VIZ::Affected die yield::die-72" descr="VisualizerSemanticDie:{&quot;index&quot;:71,&quot;x&quot;:3,&quot;y&quot;:3,&quot;value&quot;:98.1,&quot;delta&quot;:null,&quot;reference_value&quot;:null,&quot;affected_value&quot;:null}"/>
          <p:cNvSpPr/>
          <p:nvPr/>
        </p:nvSpPr>
        <p:spPr>
          <a:xfrm>
            <a:off x="2085709" y="8069669"/>
            <a:ext cx="55958" cy="55958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VIZ::Affected die yield::die-73" descr="VisualizerSemanticDie:{&quot;index&quot;:72,&quot;x&quot;:4,&quot;y&quot;:3,&quot;value&quot;:98.6,&quot;delta&quot;:null,&quot;reference_value&quot;:null,&quot;affected_value&quot;:null}"/>
          <p:cNvSpPr/>
          <p:nvPr/>
        </p:nvSpPr>
        <p:spPr>
          <a:xfrm>
            <a:off x="2152263" y="8069669"/>
            <a:ext cx="55958" cy="55958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VIZ::Affected die yield::die-74" descr="VisualizerSemanticDie:{&quot;index&quot;:73,&quot;x&quot;:-3,&quot;y&quot;:4,&quot;value&quot;:98.6,&quot;delta&quot;:null,&quot;reference_value&quot;:null,&quot;affected_value&quot;:null}"/>
          <p:cNvSpPr/>
          <p:nvPr/>
        </p:nvSpPr>
        <p:spPr>
          <a:xfrm>
            <a:off x="1686388" y="8003116"/>
            <a:ext cx="55958" cy="55958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VIZ::Affected die yield::die-75" descr="VisualizerSemanticDie:{&quot;index&quot;:74,&quot;x&quot;:-2,&quot;y&quot;:4,&quot;value&quot;:98.3,&quot;delta&quot;:null,&quot;reference_value&quot;:null,&quot;affected_value&quot;:null}"/>
          <p:cNvSpPr/>
          <p:nvPr/>
        </p:nvSpPr>
        <p:spPr>
          <a:xfrm>
            <a:off x="1752941" y="8003116"/>
            <a:ext cx="55958" cy="55958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VIZ::Affected die yield::die-76" descr="VisualizerSemanticDie:{&quot;index&quot;:75,&quot;x&quot;:-1,&quot;y&quot;:4,&quot;value&quot;:98.8,&quot;delta&quot;:null,&quot;reference_value&quot;:null,&quot;affected_value&quot;:null}"/>
          <p:cNvSpPr/>
          <p:nvPr/>
        </p:nvSpPr>
        <p:spPr>
          <a:xfrm>
            <a:off x="1819495" y="8003116"/>
            <a:ext cx="55958" cy="5595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VIZ::Affected die yield::die-77" descr="VisualizerSemanticDie:{&quot;index&quot;:76,&quot;x&quot;:0,&quot;y&quot;:4,&quot;value&quot;:98.5,&quot;delta&quot;:null,&quot;reference_value&quot;:null,&quot;affected_value&quot;:null}"/>
          <p:cNvSpPr/>
          <p:nvPr/>
        </p:nvSpPr>
        <p:spPr>
          <a:xfrm>
            <a:off x="1886049" y="8003116"/>
            <a:ext cx="55958" cy="5595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VIZ::Affected die yield::die-78" descr="VisualizerSemanticDie:{&quot;index&quot;:77,&quot;x&quot;:1,&quot;y&quot;:4,&quot;value&quot;:98.2,&quot;delta&quot;:null,&quot;reference_value&quot;:null,&quot;affected_value&quot;:null}"/>
          <p:cNvSpPr/>
          <p:nvPr/>
        </p:nvSpPr>
        <p:spPr>
          <a:xfrm>
            <a:off x="1952602" y="8003116"/>
            <a:ext cx="55958" cy="5595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VIZ::Affected die yield::die-79" descr="VisualizerSemanticDie:{&quot;index&quot;:78,&quot;x&quot;:2,&quot;y&quot;:4,&quot;value&quot;:98.7,&quot;delta&quot;:null,&quot;reference_value&quot;:null,&quot;affected_value&quot;:null}"/>
          <p:cNvSpPr/>
          <p:nvPr/>
        </p:nvSpPr>
        <p:spPr>
          <a:xfrm>
            <a:off x="2019156" y="8003116"/>
            <a:ext cx="55958" cy="5595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VIZ::Affected die yield::die-80" descr="VisualizerSemanticDie:{&quot;index&quot;:79,&quot;x&quot;:3,&quot;y&quot;:4,&quot;value&quot;:98.4,&quot;delta&quot;:null,&quot;reference_value&quot;:null,&quot;affected_value&quot;:null}"/>
          <p:cNvSpPr/>
          <p:nvPr/>
        </p:nvSpPr>
        <p:spPr>
          <a:xfrm>
            <a:off x="2085709" y="8003116"/>
            <a:ext cx="55958" cy="5595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VIZ::Affected die yield::die-81" descr="VisualizerSemanticDie:{&quot;index&quot;:80,&quot;x&quot;:0,&quot;y&quot;:5,&quot;value&quot;:98.8,&quot;delta&quot;:null,&quot;reference_value&quot;:null,&quot;affected_value&quot;:null}"/>
          <p:cNvSpPr/>
          <p:nvPr/>
        </p:nvSpPr>
        <p:spPr>
          <a:xfrm>
            <a:off x="1886049" y="7936562"/>
            <a:ext cx="55958" cy="5595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VIZ::Affected die yield::legend-title"/>
          <p:cNvSpPr txBox="1"/>
          <p:nvPr/>
        </p:nvSpPr>
        <p:spPr>
          <a:xfrm>
            <a:off x="1082172" y="8706944"/>
            <a:ext cx="1663713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50" b="1">
                <a:solidFill>
                  <a:srgbClr val="3A485B"/>
                </a:solidFill>
              </a:defRPr>
            </a:pPr>
            <a:r>
              <a:t>MEASURED VALUE</a:t>
            </a:r>
          </a:p>
        </p:txBody>
      </p:sp>
      <p:sp>
        <p:nvSpPr>
          <p:cNvPr id="102" name="VIZ::Affected die yield::legend-1"/>
          <p:cNvSpPr/>
          <p:nvPr/>
        </p:nvSpPr>
        <p:spPr>
          <a:xfrm>
            <a:off x="1082172" y="8917256"/>
            <a:ext cx="164537" cy="91440"/>
          </a:xfrm>
          <a:prstGeom prst="rect">
            <a:avLst/>
          </a:prstGeom>
          <a:solidFill>
            <a:srgbClr val="365A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VIZ::Affected die yield::legend-2"/>
          <p:cNvSpPr/>
          <p:nvPr/>
        </p:nvSpPr>
        <p:spPr>
          <a:xfrm>
            <a:off x="1269569" y="8917256"/>
            <a:ext cx="164537" cy="91440"/>
          </a:xfrm>
          <a:prstGeom prst="rect">
            <a:avLst/>
          </a:prstGeom>
          <a:solidFill>
            <a:srgbClr val="4859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VIZ::Affected die yield::legend-3"/>
          <p:cNvSpPr/>
          <p:nvPr/>
        </p:nvSpPr>
        <p:spPr>
          <a:xfrm>
            <a:off x="1456966" y="8917256"/>
            <a:ext cx="164537" cy="91440"/>
          </a:xfrm>
          <a:prstGeom prst="rect">
            <a:avLst/>
          </a:prstGeom>
          <a:solidFill>
            <a:srgbClr val="5B5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VIZ::Affected die yield::legend-4"/>
          <p:cNvSpPr/>
          <p:nvPr/>
        </p:nvSpPr>
        <p:spPr>
          <a:xfrm>
            <a:off x="1644363" y="8917256"/>
            <a:ext cx="164537" cy="91440"/>
          </a:xfrm>
          <a:prstGeom prst="rect">
            <a:avLst/>
          </a:prstGeom>
          <a:solidFill>
            <a:srgbClr val="6D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VIZ::Affected die yield::legend-5"/>
          <p:cNvSpPr/>
          <p:nvPr/>
        </p:nvSpPr>
        <p:spPr>
          <a:xfrm>
            <a:off x="1831760" y="8917256"/>
            <a:ext cx="164537" cy="91440"/>
          </a:xfrm>
          <a:prstGeom prst="rect">
            <a:avLst/>
          </a:prstGeom>
          <a:solidFill>
            <a:srgbClr val="8054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VIZ::Affected die yield::legend-6"/>
          <p:cNvSpPr/>
          <p:nvPr/>
        </p:nvSpPr>
        <p:spPr>
          <a:xfrm>
            <a:off x="2019157" y="8917256"/>
            <a:ext cx="164537" cy="91440"/>
          </a:xfrm>
          <a:prstGeom prst="rect">
            <a:avLst/>
          </a:prstGeom>
          <a:solidFill>
            <a:srgbClr val="925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VIZ::Affected die yield::legend-7"/>
          <p:cNvSpPr/>
          <p:nvPr/>
        </p:nvSpPr>
        <p:spPr>
          <a:xfrm>
            <a:off x="2206554" y="8917256"/>
            <a:ext cx="164537" cy="91440"/>
          </a:xfrm>
          <a:prstGeom prst="rect">
            <a:avLst/>
          </a:prstGeom>
          <a:solidFill>
            <a:srgbClr val="A45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VIZ::Affected die yield::legend-8"/>
          <p:cNvSpPr/>
          <p:nvPr/>
        </p:nvSpPr>
        <p:spPr>
          <a:xfrm>
            <a:off x="2393951" y="8917256"/>
            <a:ext cx="164537" cy="91440"/>
          </a:xfrm>
          <a:prstGeom prst="rect">
            <a:avLst/>
          </a:prstGeom>
          <a:solidFill>
            <a:srgbClr val="B75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VIZ::Affected die yield::legend-9"/>
          <p:cNvSpPr/>
          <p:nvPr/>
        </p:nvSpPr>
        <p:spPr>
          <a:xfrm>
            <a:off x="2581348" y="8917256"/>
            <a:ext cx="164537" cy="91440"/>
          </a:xfrm>
          <a:prstGeom prst="rect">
            <a:avLst/>
          </a:prstGeom>
          <a:solidFill>
            <a:srgbClr val="C9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VIZ::Affected die yield::legend-low"/>
          <p:cNvSpPr txBox="1"/>
          <p:nvPr/>
        </p:nvSpPr>
        <p:spPr>
          <a:xfrm>
            <a:off x="1082172" y="9031556"/>
            <a:ext cx="499113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00" b="0">
                <a:solidFill>
                  <a:srgbClr val="505E71"/>
                </a:solidFill>
              </a:defRPr>
            </a:pPr>
            <a:r>
              <a:t>88.5</a:t>
            </a:r>
          </a:p>
        </p:txBody>
      </p:sp>
      <p:sp>
        <p:nvSpPr>
          <p:cNvPr id="112" name="VIZ::Affected die yield::legend-high"/>
          <p:cNvSpPr txBox="1"/>
          <p:nvPr/>
        </p:nvSpPr>
        <p:spPr>
          <a:xfrm>
            <a:off x="2246771" y="9031556"/>
            <a:ext cx="499113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00" b="0">
                <a:solidFill>
                  <a:srgbClr val="505E71"/>
                </a:solidFill>
              </a:defRPr>
            </a:pPr>
            <a:r>
              <a:t>98.8</a:t>
            </a:r>
          </a:p>
        </p:txBody>
      </p:sp>
      <p:graphicFrame>
        <p:nvGraphicFramePr>
          <p:cNvPr id="137" name="VIZ::Clean Table" descr="VisualizerSemantic:{&quot;composition_role&quot;:&quot;detailed_evidence&quot;,&quot;customTable&quot;:{&quot;headers&quot;:[&quot;Evidence&quot;,&quot;Affected&quot;,&quot;Reference&quot;,&quot;Interpretation&quot;],&quot;rows&quot;:[[&quot;Yield distribution&quot;,&quot;94.2%&quot;,&quot;98.6%&quot;,&quot;Mean of observed cohorts&quot;],[&quot;Affected lot L2407&quot;,&quot;94.2%&quot;,&quot;—&quot;,&quot;Localized die loss&quot;],[&quot;ETCH-08 / A&quot;,&quot;Pressure +2.1%&quot;,&quot;Stable&quot;,&quot;Verify chamber&quot;]]},&quot;element&quot;:&quot;Clean Table&quot;,&quot;engine&quot;:&quot;TableEngine&quot;,&quot;groupId&quot;:null,&quot;id&quot;:&quot;c7&quot;,&quot;locked&quot;:false,&quot;message_role&quot;:&quot;Primary Evidence&quot;,&quot;order&quot;:8,&quot;rows&quot;:[[&quot;Yield distribution&quot;,&quot;94.2%&quot;,&quot;98.6%&quot;,&quot;Mean of observed cohorts&quot;],[&quot;Affected lot L2407&quot;,&quot;94.2%&quot;,&quot;—&quot;,&quot;Localized die loss&quot;],[&quot;ETCH-08 / A&quot;,&quot;Pressure +2.1%&quot;,&quot;Stable&quot;,&quot;Verify chamber&quot;]],&quot;section_id&quot;:&quot;evidence&quot;,&quot;section_title&quot;:&quot;Engineering evidence&quot;,&quot;title&quot;:&quot;Clean Table&quot;,&quot;type&quot;:&quot;table&quot;,&quot;weight&quot;:1,&quot;z&quot;:7,&quot;x&quot;:14.0,&quot;y&quot;:571.12,&quot;w&quot;:1572.0,&quot;h&quot;:366.74399999999997}"/>
          <p:cNvGraphicFramePr>
            <a:graphicFrameLocks noGrp="1"/>
          </p:cNvGraphicFramePr>
          <p:nvPr/>
        </p:nvGraphicFramePr>
        <p:xfrm>
          <a:off x="85046" y="3469404"/>
          <a:ext cx="9549488" cy="22278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7372"/>
                <a:gridCol w="2387372"/>
                <a:gridCol w="2387372"/>
                <a:gridCol w="2387372"/>
              </a:tblGrid>
              <a:tr h="556968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Evidence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Affected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Interpretation</a:t>
                      </a:r>
                    </a:p>
                  </a:txBody>
                  <a:tcPr/>
                </a:tc>
              </a:tr>
              <a:tr h="556968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Yield distribution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Mean of observed cohorts</a:t>
                      </a:r>
                    </a:p>
                  </a:txBody>
                  <a:tcPr/>
                </a:tc>
              </a:tr>
              <a:tr h="556968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Affected lot L2407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Localized die loss</a:t>
                      </a:r>
                    </a:p>
                  </a:txBody>
                  <a:tcPr/>
                </a:tc>
              </a:tr>
              <a:tr h="55697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ETCH-08 /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Pressure +2.1%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Verify chamber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38" name="VIZ::Affected die map detail image" descr="VisualizerSemantic:{&quot;alt&quot;:&quot;Wafer map detail of the same 81 measured die; a localized group of lower-yield blue cells appears near coordinates X 2–3, Y 0–1.&quot;,&quot;caption&quot;:&quot;Detail crop of the 81 die measurements already shown in the wafer map above; it adds no observations.&quot;,&quot;composition_role&quot;:&quot;detailed_evidence&quot;,&quot;element&quot;:&quot;Image + Caption&quot;,&quot;engine&quot;:&quot;ImageMediaEngine&quot;,&quot;fit&quot;:&quot;fit&quot;,&quot;focal&quot;:&quot;54% 48%&quot;,&quot;groupId&quot;:null,&quot;id&quot;:&quot;c12&quot;,&quot;locked&quot;:false,&quot;message_role&quot;:&quot;Primary Evidence&quot;,&quot;order&quot;:9,&quot;section_id&quot;:&quot;evidence&quot;,&quot;section_title&quot;:&quot;Evidence&quot;,&quot;showTitle&quot;:true,&quot;textAlign&quot;:&quot;left&quot;,&quot;title&quot;:&quot;Affected die map detail&quot;,&quot;type&quot;:&quot;image&quot;,&quot;weight&quot;:1.25,&quot;z&quot;:11,&quot;src&quot;:&quot;data:image/png;base64,iVBORw0KGgoAAAANSUhEUgAAAhwAAAHsCAIAAAAW5uOvAAEAAElEQVR42uz9Z5BlSXYmiJ1z3K94WoWOyEgtSmRlya6qbrQCGkBjAIKDoe0MjTTShlwz0pY/aLZ/aOQPmoF/+I/GHzRb212j7Q5p5M4ud0cCGKABdKN1d+mqrMpKLSNDq/fiySvcD3/ce58I+ao6Oysjwr9+lR358oZf9/Pu8+NHfQeZGQwMDAwMDJ4EyIjAwMDAwMAoFQMDAwMDo1QMDAwMDIxSMTAwMDAwMErFwMDAwMAoFQMDAwMDo1QMDAwMDIxSMTAwMDAwMErFwMDAwMAoFQMDAwMDo1QMDAwMDAyMUjEwMDAwMErFwMDAwOBwQRoRGBgcBzwdNnI0gv4yUkejVAwMDA4ZzHZvpG6UioGBwROAZuCobxIPu9Fh30kbvwr7B3/rpgPuNfmnrwcQEAiPjAZC06TLwMDAwABMoN7AwMDAAIz7y8DAAH77AeLImRIoXm8Ea3W/2gq8kBFYYPQvjAMemOiv8Z9dRxD2eY0w/hMGf+Z+rxHuGCH6mQa8T4wDg3fH747AO5xRTAOz1YMz5H63FQIDcLJKQABARgDsef8YmDF2PAFG3hoESK5B5C+yxv7Jw6Bs+6W6TZiA0TSQRL4kK9PkpAEAmAHRKBUDA4NnSaMwaGZBCAAtT12bb/zqTu2zucZm0ydiVyBysvMmOzgBIDChRmBkRkBEjn6meIPu/swEgMwIjMjJ+4AIlAyYDB6/0/d+rBIIgOLxYds4yfvx+JEyiOYGwMhAAIjxmMkSoHsXgoGlJe8AJWMmCqa7lu77sP39nkro3aJ33775EzIBRIqqO38AIGSKFRgnP0frBQSNRBB6Ulru2Zdzb/5JpFRYKyRxqPWKUSoGBkc5ldVXeqnmfz7f/NWd2kqtIwgyNrJiBN2/18c7JmoCJtbYt3Fv+5PibVoj9AYhABpQHtHPmgBo4Ebx7xIAoSYAZI19mzj1bdzRS8TXc3LH+F6id033fRaJUkFgxN71YnAOg9cn7/QpUYHd66F7l+3X941DwAIAQBEA7bgFxLKNFJiOlCKCJhLgt6VtUzqvvXbyyWkAYSwVAwMDeFZzWlEQ2pJcC1OWEASuhZqYAKPNHUAnGz1SfFrHnkXSvy3GxodGAAQkAATVVTCxsknO/gQcpTQl+kDHxlDyW4SEwNvuNajD4rvHv4sKAShRQiJRhNBno1Bs33RXFCuGRLHpfmum34Tqm7lGAIEKE5n0qzRiTtQt9CtOBJ3cJf4ZezZfvLr4Xj2FrYkIQINlg5B9pgmamIqBgcGzC0JwJGVdUcpYSrEgSEvU3D19w7ZtEWM1k2zr/UoCGXfZuLu/293Bt9klnGzKu9xrYKNHTjbunpONYpujd/2gVojG1/0esEEF1ve7kf3BTACATH33wsF5Dg6oac/7AvZmBQI1DtpekDj0aMDiAUQm1oQEoUOWTW4aSIAJ1BsYGBwKPxgzK+ZAc6C01hAgMkex7tgNhUmMhPrO/rQj9gDc78Zh3Yt5dN+Hvvd7A3KfS0oDRC4gTrZ4BkBknaguTu7FwITMyXmfo7hFbF3F43My4WjOkPxuNAdO7rXj/SjmEcVX4vsCsk7UHidjRj/obqBocBxI1g6oAUDH99IQzx+iezEzAwP2xkQEzRqQIAyJCLSOkwWMUjEwMDgkeiWK3gMC62hzi/9LNjOG5K/R5b03dKwY4o2ek58Buld1/9L/fve2zMksBq/vjpP86+D43clEY3bH4b5Nv3uLvnvtOjfePrdkfEx+jq9Pxsc+pQJJ5B/65tMdf9u9IBlz27oGRujdp09CRqkYGBjAYQmsxPlNgIiIqFn3cmiTTLBkC8TI8dW/LUYF+YRRhhRwnKSLEMcYoLsdR2f/btJworDid4CxmwMWZ0JhvAV3x4k24O69kjxfjLZeGsjx7SkbitKDGZJtfXBu3De33vuDaxmYc5966E+A5m6uNsYCQx4kFuA4YRj73sUdJeexuw9gQM+Y4kcDAwPDS2VgYCwVA4NjhiieEZ23GRAIsS9ftqdjCJGAkSNerOiaKMsrPplDXI8CGNkc2FfKF/1ufP7uL/GDZIT++sRu/hj22zoIiNh3O4zNrNjGiucGgNFdEAcrKJO7YF/1Z/d6xsTG6FkVSbYbQFJyyBT93Lt+kCUM+3K2ufuviAjA/fPsL/6MbURICjA5kh8jxpYjIqJRKgYGBocqrKKTsErkMMLeRh8FwGNfkh5UAJhs7NEVOg7Rx6qi731AgN77/eGc3vs9Z1HkVNLAqIFijwlH/4sKIaPwTzw37gU5dBQY77mZut4qZmDGbjyD40J5DQgM1BcLid5nRtDdSFCy+uj9/rBQRMgZ/dn9p67jK46XIPYLQPfuxX3Xb4/H6DjVIJ6GUSoGBgZwaEpVCFEgCERBKBA0xsd86lkSmCT1YlKNAbTtGoTkX6N8MERAAkxSfuM6fIrNIYxGoF76cnxlfGtkBETi7sjRWT42a+IZdlOZkeL3dGJgIW63hBDjDCuNgHHSM8VWFMS/2x2zL6KBfYnC8TUAfdEU2s4f01csGY+APRsuFrruLyyF3r10FFVBRkQCIkCRKDqjVAwMDA4DFEOg2A/ZC7XUIAG1jrZm1S2BHKwgUb0qjV6dCsTKY7c6lf6KDepVwvfKVgC0GLxS71GnonvjY1/tSJTX2yu3FIDdehqdVJZwUgvCAN0/EYCTOhXuS2LGJPsLk6RnBibQ0L0eNPT9qeMLekqCYjMMNGgAINQ6Lm9ERAVxQjPGCcf980dm1kwEga8BQCkwKcUGBgbPdAi+m3mEYAl0LUo7IuNKCTplR2XdQImN0h/h6Itz9JX+xYxVekcxI++mVKC/ThB71eyQnNxj+hbs/RaLRGlhn9JKamV0XzmkSqrfAXjgmh137FeEcQVJUlAJ3bUkLC/b6uGjMZXo/ayxW8bYT2PTo13ploj2S6NfPj2lQhH3FyIQkuWQZSORUSoGBgbw7Kd12oKmivbLJ7NZR2y1AwJtS0y8Lf3nbt0XZdFJ8DzeNLusukkBYLyxJoHuaMvmRCVAck1MvEiDibndDRcHTv0Qu60Sy4aSAP4guSR3N33g/mu6c4hJHqFXx94lOe6Ov3MOSfwGGAcVCcbpwV1FAklSMnfv2yXcTMgie4onSs7ujQx91yNC6JO0nBMXyE0nnxyZJl0GBgbwzFLfK81NTzU81fZ1qCK63F1zi3l7nnG8aQ5Uu2yjiN/lt+KkKd5vZGDcPbmZt/+MfTeJN3eGbXUg8ca9xzV73pH3vTvs1h1gn/cPHm23OwKwRiRy05QpoLSPBvW9USoGBgYGBqb40cDAwMAATEzFwMDg6UIz64TXEHb4c3i4Mnvuubbgi5fo865/H8bLg7tNA2CHf2voWw91X9wxyyF+xl1WxUO5KZEwSpk+EjDuLwMDOPoNu2KORu52zk2quDF6P2a1ihi3erxbnLBOcpfTChGH3M73bkwZ3zCuTRngDks2pKRyZbff5aRI/rdeiP70tvkjVFJvlIqBgYGBAZiYioGBwbNKCaNZa73zwLrrEVZrHtK+2fV3zanYWCoGBgZfxV7P3PH8ZqsDzK7rpFxbCBG/3/Gb7Q4zp1JOyonf78L3g1bb8zyfgS1Luo7j2JYQtNP3lPilBm4aXdafKNvx/Fa7EwShbVnZbMqSctsM95oJMzdbnXbHY82Oa+cyKSJzLAYTqDcwMHh6iiTa0zVzu91ZWFqbW1hRSo2PlmcmxwqFjCDR7viPF5YfL64qpcfHytMTI4V8Via7eRiqtY3ag7ml1bUNzVAp5acmRsZGStlMKtEW3Iu9ADADEcXkWcxaM1F8eI2uD8JwcXn90fxSvd4qFnJnT09PjlUAQGndbnsLy2uPF1a6Mynms/16pdPxHzxaeLy4GoZqYrxy4cyJfC7Tv0wDo1QMDAyeRglkp+PNza+sbdSkFIi4sl4VROm0qwXPL64ur25IKQhpbb0KzLZl5bJpAAiVarba9Uar43kA6DrScWwpRP8GjgmXYjeq7fvh5lZdEFVKeSGo1/GKOQjVVr2xvllrNjuRgllZ27QtWSrkgyCcX1xdWd/cfSah6njexma90eogom1bQaiWVzdCpXKZtJTCfNZGqRgYGPzWzRROvE71RvvO/ceWlK+/fAkA3v34+vzS2uzMRBDAvUfzSuk3X3keEd/75Maj+ZXRSjnayn0/qNabQaDGR8tnT04XClnXtpCI9m0A0mi2rt24R4Jeu3wxGidSOWEYbm01V9ernbY3PlqenBhpdzp37s03Gu1XX7oYhOH9uUWtezN5OL8yksyk1enML67UG+1UypmaGM2k3epW4/H88tp67eL5k+ViDgC01khkDBajVAwMDJ6GgvH9QCnd8QJm3Wi2HduK8oqDQHm+3/ECAG622kr1Yt9BEG7Vm41mO512AEEppbRI2VZ/JENr9n3f8wPPD6J3FpfXlpY3vMCXRGdOTpdLedexEUFr7QVBvdFqtDrlYmFqvLK6UZ1fXCXCS+dPplxHKd3peB3PB4BtM0HEKPTSancAMAjDdttjZhJk9IhRKgYGBvC0ah/iTdlx7HKpsLy28c6H14IgqG41T5+cEgItyyqX8vcfLrzz4bUgUPVmc3K8YtsCkgwuPwiqW431jeq9cF5pXSkWzp2ZmRirWInHKQjDtc2tldXNzeqWH4QAoLS2LLG51fnFu58+Xlj51tdfmRofiS62LUmEzVZ7o7bVaLY3N+sr65uWFB3PKxdzI5XCnXuPf/3B52Go6s3m1HjFcWQUEEq7zompCa35k8/vPF5YtSxrcrxyZnZqdnosl0l1FY9RL0apGBgYPCVYlozC70SUTjmOLYMg1JoJybYkABBhynUcxwqVYmYiTKfcbDrVznpRSKPd9prtztzCSqjU5GjFde1dM31TruM6dqPVXlmtbjVaSmmI6XcpnXbLpUK92SbCjWp9Y3MLgF3XQQDNLIWUUgBwMhNbKQUAhAhCtDt+GCrLsjJpFwAFETMrrU36qlEqBgYGT8tOSTbcdtvbrNVTKeel585Zlvj81oMw1I1WO1RqbaOaSaeuvHBOSnnjzsN2u9NotkfLWgjhOHalVMik3VTKTTl2GKrltc27D+Y7np/LpCOlIoWolPK5TMrzR6N7+UG4tLzebndy6fTk5EgUFAEAKQUJGh0pIZLne52O5/n+SLk4WimmXbfZbG9s1tIp95UXz1uWvHH7Ucfz6o3W+EgZADod/+adR9Wt+unZqa+//iIirm/WHs4t1RvNy8+dLZfykUFDAMZcMUrFwMDgt44wDLfqTdu2bMuyHen7gReESukwUFv1pmNZtmVZtvS8oNX2WHMQhvVG2/ODyGgAgCAIiYiImEEr3dVXQpCUTnQNJGUo6xu1cjE/WimOjZaz6VSch4YoEBHQ8/2Nza0gCJvtdiGXmRirpFLOVr1ZrdUZwLYtx7b8IGg0254XeL7v+eHaenVto+qHISKm064Uolqrb9WbrbbnB4H5fI1SMTAwgKeR/QU935clZW2r8dmNuwAwN79SKRdSrpNyHde1Nza2Pr1+FxDm5peLhWwumwlDffv+XKPZnp4clULML62ub9RIkOvYuUxqfKScSaf2um+77QFANpcZGSnlc2ki4riDLwJAtVa/++DxyupmKuWkUnYq5WQzKcuSJEhKsb6x9en1u4T0eGE1nXJty2q2vPnF1a16s1DIhqFaWFqdm19yLFtp7TrOSKXQp89MVMUoFQMDA3gafIiZtHtiemx1oxqESitVyGfHR8uZtCtIzE6PC6Lo/XwuMzleiSoKo02aiAAhDMJmu0NEmZQ7OV6ZHBtx+0wTHbNNMgAopTTrXDZtWVYm4+6seGdgS8p02s1lM8VCxrGtYj5LRK5jz0yOSSGCULEO87nMaKVYyGUi7krXscdGi6HSDx8trqw3fRnmsumZqbGx0VIq5RjKKUPTYmBg8FSLH0OlWq1Ox/N1xIOPkE45uWwaERvNdrvd0RqYu+9nmLneaCmtIjug0Wq3Ox4Aplw7l067rr2rTRDV1YehCpUiIse2divD9ButVscPCMm2pW1J17Zt21JKN1vtjudrraPqGsexI9dZ2/NZs+vazNxqtdueD4CWJVKO4zi2JYUxUIxSMTAwOF48MQZgWIoNDAwMfuMMNKNRwMRUDAwMjp7FAMyak26JzIwIUcAjcTftfJ8BehzDvX6LiPsri+7FuLuLrEsfg4AADN1mW1pvn2F0r6iDWJekkvtiRYgmOG/cXwYGBl9d/8fu1tzd8re/36cL+LfT+nAnQ/5uMzz4GgOjVAwMDAwMwMRUDAwMDAwMjFIxMDAwMDBKxcDAwMDAKBUDAwMDA6NUDAwMDAwMwNSpGMDxTY3tlk3AMMzv+5BjIZj0VAMDMCnFBsdGf/BeimTnm93ihv6SvfgBH1AeuOOd7bV6pqTOwMAoFYNDWem9q80Rld19hTs7J6XbaNhHDAzAuL8Mnnmewb4/d7wRaxokIiHo6e/gWnOoQtackIBg3/8AEDGpSDfaxcDAWCoGT1t57OTY+EJ7cWw0AGuttWbNWuvo5+gNjt9lVkqpUJEg27YRMfCDUIVRUxDC+D+K/pr8X/87goi/uJrYxkZlTBkDY6kYGPy23EcMDDt+QEAhSAgxzDie5zdbrVBp1uz5XhCEfhD4fuj7nh+Ege97Yeh7fhCoMFStdqvV6mSzqfGJcceS6+ub1doWM0tp2Za0bdu2pGVJ27YdW1qWY9vStm1bStu2bFvatoOIQlA+n8PhDBqtVUS8GPMjImBMcsiG69DAKBUDgydgkXTDIbHjaG8EYRgEge8Hvh/4QRAEgecHgR/4QeAFQaft+YEf+KEfBO2OHwSBUmHkmApDHYZhqLSK/whDpbXittcJgnBqcrRQLDqWBICtrcbK+kan40shHMcWggSRlFJKEkJKKaSUkkhKQURCCtu2M+mU6ziWJRHRdRzHsePW7rZlWZZjW5YV/5UIieTwhpqxYAyMUjEw+IIWSUxrDlKIna1k+1FvNDc2a9Xq1vrm5mZ1a32jWq3V1jdqm9XaerW2uVlrNJrZTHpqYtxNufV6s+11HCmlZQuZKAYSQpIQQkpJhFJK27Lyudzs9NTFsydHKuXADyrl0ief3Xi8sKy19oMwbAdK9RRSqJVWSoVaKe0FgR/42WxmtFxqttp37z2sNxrjY6MTYyOlYqFQyI2US8VivlIulgr5SqlYKuXLpeI+a2TmUKmozSLGZouxYAyMUjEw2C3HdxiLRCndarU7ntfxPM/zm612x/N8zw/CsNFsNVudZrPVarUbzVar1a63Wq1Wu9lqN5vtZqvdbntag23Z2Wwmk8lYltXxvJTjOI5j2dKS0rFtW1qWE/u1pBSWZVmWzOUyJ6cnT8/OOI4NAK7rkhCjoxXfDxHB8/0gCH3f9/3IdRYEfhAEYRCE7Y7X9jqZdDqXy2lmJApCVW+2rM1aq+Nt1rbW1jfT6VQ2k06nUtlMKp1OZTOptJtKp13LslzHsW3LdR3XddKpVCadsm3LktJYMAZgAvUGBnsbJbEpMoxFsri0cv/R/NLK2srq+srq+tzjxccLS2vrG8ycyaTzuVwq5aZcNxNtzZlUOuVmMpm066bT6ZRrp9KpTNpNp1JEpLVWWgsSUTLYtgA7ESEhIgkix5GZlJtJpyAJe9TqjVa7EyoFDKoX4eck3s/x35RWWgkhLCmV0vV6o9GMtJ7XbLXa7U6z2Wp12q1mu93xon9otdvtdkdpnXKdsdHK2EhlbGxkYmzk5OzUqRPTp05MS0sOa8EQktErBsZSMThWwZK9/DZK61ar3W53mq12u91uttrtTmejurW5UVtd32i22q22t1VvrG1U641mECoppeum8vlcqVgo5HOVcrGYz5crxVI+Xy4XS4VCqVjIpC34TdOCNTMIQaVCrlTIfclBGNY2ahvVWq0WO+g2Nmu1Wn19s1rd3AJEP1Req91ue9VqXWtutDtr65tLK6t37z6slIv5Qi6fzaZSbiadiv5Mp/a0YJJ+iMZwMTCWisERhdY6skg0MwIIIYl22ewWl1cfPlp4vLD06PHCg4ePHzyaq9WbUsp8PlfK58dGy2Njo7lsxnFt13ayuUzKdizbllI4tm1Zsj8MbtuWLS3LlpK+mFMO9yir7N+duVdM/wVG9gPt+0EQBr4X+GHg+0HsQAvCwPf9MGy3Pc/zWq1Ws9Wu1uq1rXp1s7q2sbG+UfWDIJtJj4+OnDw5PTszOTszNTszdXoPCyYIQs06sru6MA+hgbFUDI5CfXt0ZN7p12q1O41GsxnbJa1Wu7NZ3apWt9Y2NjdrWxubtdXVjVq9FYY6l02NVMqz05OzM1MnZ6fHRsqVSqlSLu2jLRhAaVBKB0HYUVprHZ/ZsUvHgn0cK9CvIwhBCKTINxa5kzA+MzGz1qw0a82auS8kBDt5XqIbJnoUhRBCkOs6GXJo3x1+q9FeW99cWl5dXFmbezRv2ZYXhJvVWrPVWV3b0ABb9ebi0urtOw9GEgsmnXLT6VTKddOZVD6bsXZomr4Dn9EvBsZSMTi0IZMoxkBI27Y51vrajTu37tx/MLfw4OHj+48e1+sNIWUhnysXC6VSsVQsFIuFcqmYz2Vz2XQUr3ZdJ51OuY5t27ZjC9xDnTADM2juj9z03EEHghAtOVD+3j86AzODZg4Va83DjMlJkSbF/yEi0N7sk4EC3/c7Ha/jec1mu+N1Wu1Os9mubm3Valsbm7VqrV6tVtfWYwsmk0lPjI6cnJ2enZk8NTt98cLpqfHxnbYLM1NvBka3GBhLxeAQhky6ZYlBqGq1ra1Go15vrG/WatWt1fXN1bWNxaW1heWVWr2hlc5GFsnM1PTUxImZqdmZqZMnph0LdzFBQt1qB0opZk72x261YO80nuybX8D9Q4hEgIS77/nJLTAyxXgoF1h0a2ZWzKz2oJNJzCdCFEJYlpVK2QQD8RsNsLy8/nBu4fHC0uPHC5YVWzCtVmdlbUNpbjTb1drWwtLK+OhIJp0qFvLFQi6fz2XSqf1sF6NeDIylYvBM2iUQMZwg4s4t7PH80kdXP//81p3Pb9y5/3Au5aYunjs9PTVJUrqOPVIpFwu5bCaTTrmZdMpxnEw6lUq7mdSAp4gBtI5MkG6MhvfaFL/EVokIgohoCJsmzv4C/cWfed6XbL8bAiFCooEmRQzg+WGz1Wm3O61Wz4KpbW1Vq7XVjarX8fwgmJ9fvPdgDhFfvfL8G6+99PzFc+fPnEwnOWyQpGhrraK7deMu5kk2MJaKwTNhmvTskr49cKve3KrXa7V6tba11WjOLyw9XlheWFxZXd9UirPZzPT05KXzZ4ul4thI+fTJE65NO7xA3PECpXREx4LYu1H3zye+FXa9ZwyM+wTzGb/0AWp/dgAGYK0TI2Yg5Tqq0ywVspVidtuvLC6t3Z+bX1vbXN/Y9Dr+g7mFRqM1N7/sODdX1zZu3Lo3MTGSy2SL+VyhkC0W8lGAZ69P0zzbBsZSMfgKNEpEvQgAUohtO1Ftq3799r3rN+++/+GnH3/6uecFs9OTp07Njo+NjI1UJsZHK+VCsVhMu47jOq7jpNOO2GaRMGjNWmn9dIv7EPHgnl0DIZanSleTFNNsb7Pa9sJWq+35frvjt9ut9Y3q6trG4tLy/MLy0vLK6vqmF/gjpdKVFy6++vKLLz5/bnpyYrtTMVTdoAuR0SsGxlIxeOrWiRDYNU08z69t1Wv1Rq22Va83F5ZXl1ZWF5fWFpdWO15g23JsbOTi+TOXLpy9eO7MxFixfzsLFXg7LJIuG/xTPjhr5iHzhX/b0+pfOCbCV0qF4R4WTCm3TdN8duPeJ1c/l1J0/KCxvLa+Wbtzfy7U+vHi4thIZWyknMtm8/lsIZ/LZTNSil0cdMZsMTCWisFv2TrRWnNsnSTn2SAIHjyav37z7gefXLv62Y3N2lYumx4fH50YHZueGp+amigXc/lcPpNJ53PZfC7r2vH+pRiAI6MkIug1dCNfLCSz3YJB6E8wqNXbta36Vr1RbzQ3NmprGxtLSytz8wsLSyvNRiuTSc1MT7z43IVXX3r+8vMXHNeBvlQxAMa+MhcjdgNjqRj8lqyTHs18tVZfW9+sbdXX1jeWVtYePpq/93Bus1bXmouFwqkTM5cunL1y+fnzp2f685eCQNWbXuxpSfwsZuf6ciGZnRZMRCfDzCQonXYLuRTAWHTxerVx7fqt1FUnDPW8v9xotecXVwCo3faWV9fHxir5XLaQz41Wytvzv024xcBYKgbw5NxBWmlmDYBS9mInrU7nnfev/vSX7z16NE8kMpmU4zjlcmF6YmJ0pFwuFrK5TD6XzedyuYzTnw2stVZKJ1UjuK1S3eBJxWAIUQiSoidcP+RabWur0dzaamzV66vrG0vLq4tLq+vrm77vSylGK+WXXnruW2+9NjkxCr08MRWV43TtFiNqA6NUDH4j66Q/D3WzWlvb2Nyobs0vLN28/eDGnfudtjcxPjIzNTExPnr+7KmXXrjU1SIA4Afs+b7WGglFH2eIkfBTpOxkZkaM+PxFNwbvhXz/waPPPr995979xaXVer3BzKOjlQtnT546OT0+WimXiiPlouM4xmoxMErF4Dfl6YpjJ4h2nydkbX3zF+98+It3Prhz71GowrHKyOlTs+fPnj45O1Uq5l3XSbluqZjvsqdogDDkqERxsCrR4KmbLwiEJAT1fzqNRqdaq/u+1/E66+vVW3ceXL12/d6DuUCFp05MvfX6y9/42isXL5ztfzCU0gBACa2YkbABmJiKwYEbUEQGH5safrC2sbm+vrlZ3Xo0v3jz9v2Hjxdb7U65VDh39uTX33ztpReeK+bjwrpQQxCE7VAxcGyVUETEbnafryoAg4MqQXW0jj5oIYTrOieybveK8bFRAG60WvOLK6trm1ev3Wq3OrfvPZqcGK2Ui5VyKZfN9HO4JQ+M+XgNjKVisHdmFyLIPjb1R3OLP/rZr37xzofzC8uOa89OTZ06dWJ2ZmpyYrRSLo1UytlM2rHijSZUoHTM3micJM945hgiCiISGFUIMcBWvVXbqm9sVFfXN+cWlm7fuX/v/sOtRmOkUnr5hUvfeOu1V688b9t2fysXHDyCGBgYS8W0X4x3mv7Mrmarvba2sbaxWa3VHzyc//zmnaWVtSAIJyZGn7t49q2vvfr8xXN2okjaXtBohVF2q8lAPUSZY8wchIoDjgiXCcl13UIuPTs9DgCPF9dy2UzH89v3H1ar9Zt3HmjNC0srU5Nj5VJxpFwqFnLdVi4m0GJgLBWDgfAJM0spuzvC5zfv/O0Pf/7zdz5Y36hWKqXzZ06dmp2ZmZoYGx2J3CDZbCo63iqGMOyZJmZPOaQ+zyjmJQTZMv4Em22/Vm+sb1TX1jcWFlbuPnh478Gj9fUN13Eunj/zjTdfe+v1K6VSHpJCJWYUIs4PM1I1MJaKCZ9AEASb1a31jerK2sb1m3ev37q3sVkDwLHRkSuXn3/rjSunZiYhqVjsdPw4zRTNPnIUgi7RB6iUavhKa0ZCKcTUWHlqrAxwZmOz+f4nnzFzq92p1xv3Hz6WUlZrWydnpybGRiYnRlOu239MMdaqgbFUjl/4hFkpBQy2HbfaXVxZ/cWvPvjVe58sLK64rnNiZurM6ZmZqcmRSrlcLIxUSmnX6kbjw1AZj8fRTUSOm6rZVpx+3Al0vd5Y39hcW99cXF598HDu/sO55ZU1IeQrLz33J3/4ncvPX+gWtYShitgqzYNhYCyV41K7QEQCURABgO/7C0sr84srd+49vH334Wa15jj2zPTEG69d+cabr5QL2W7dXL3lAYNhSj/yhkv0wWqtm+2QtQZAIcVoOT9azsO5k20v/PTzm7Zjtzve+kb19t2HP/zJL5dWVqenxqfGxyL+Y5MbZmAsleOiUZTWKlRCCpl882/fffDv/sOP3vvoahiE58+dfuPVl86cOpFOpzKZzNhIJfKwd8tNTE7XsfWRWjJm1Ak1NBqttY3NjY3q0srqp9dufvLZ9VarffH8qT/5w+9895tvQ+wE41CFcYKZyQ0zMJbKkdwdEFGKWJ3UthpLy6sLSyvXrt++futuu90ZHx158bkL3/nmW5ViDgA0g++ruhdEe4qhQz/ONS5a63YnjPibiaiQTxfzaTg1HSgu5LKbtdqNm/cWl1Z//usPa1vNyYnR6cnx8dER27JMbpiBsVTgyJbHMwvq9WX6+a8/+Ksf/PjqtZuWJa+88NyVy5dmpqcmJ8YmxkcsgQCgNITKpHUZ7MLOYsn4OQoV1JuNpeWVufmVe/cfvffBJ5/duFkqFv7sT37/H//x74+PVqJf8YIAGYQQJqfDwFgqR2Ej6OZ3haFaXFqZX1xZXF65duP244UlpfTpUxNff/PVb379jXTKBgA/5OpWqxtoNVuAwbZTBTN3/IDjOlks5bOlfPa582duTE9ubW3de/ioulX/9PNbmXT6zKmZibHRqYkxt49Uv2s0G5EaGEvl8BkoSmtgthIvxMZm7S/+5h/+zV/+3era+oXzp19/+fLZ0ydPTI9PjI/lslnbIgYIQg7D0DDRGwxHh4yOExu/1a3W5ubG8srq7QePr31++96Dh8D8ykvP/+k/+r0XLp3vPpOhUlIIE2UxMJbKIfvOJ12bCAA6HW9xeXV5df3Bw8cff3p9fbPmuM650ye/9fWvXX7+XPQrjZbX8ZmITFjV4AvxibXbvtIaAVzXOX1y5vTJmStXLruOu1mtzS8u3bzz4O/+4RdLK2vTE+MT4yPFQt4m6qklc3AxMJbKodAooVKE2M3svHHr3l/84B8++PgzFaqTJ6ZfeO7ihXOnxsYqI+VyqZCJmFo8Xxm/hMFvUtcihIhyBRlgYWl9cWl5bmHx089uXr12veP5z104+0e//63f/eZbEDefDoiiCnxzgjEwlsozX4MSMTJ1PG9jo7q4vPrxpzdu3X3QaLTGRkdeeemFP/7+7xbzaQDwAm60fK21ECSEMOrE4Depa1FK1T0VKpVynemJyvRE5fILFwu5XG2rdv3W/cfzS++890kYhKdmp6cnxzOZ9DbD2kjSwFgqzxxCpcIgtG0rOv3dvHv/l7/+8LPPb3teMDk1dv707ImZ6RMzU5MTIxFtlx+y0ppjthXzrTaA37xJKDNLISyLCCBQXG80VpZX7s8t3bn74Mbtu2vrm+dOn/izP/n911+5DH1tJfs7ihoYGEvlWbFRujUoSyurd+8/+uz67Tt3H3U8/8T0xNtfe+WVl17M51IA4Id6q9WWQgopCBFN9YnBE0KUL6i1brdDpTUClgu5ciF36cLZq5PjzKrV7iyurP345+/WavUzp09MToy5jhO5aQ1jmIGxVJ6lLC+lQqVTrhNVMv+3/+ov/uFn77Q7/vmzp9964+XzZ06MlEu2m3JtERkoYRiaL7DBUyi2te04N2yj2mg0tqrVrfev3vjRT37Rara+8eYrf/yH37l04Vxk4nieZ0nZ38jHwMBYKl9llpdlwVajef/+o5t3Hrz/8bVGqz05Pv7KlRe+9fWvpVwJAPWmHwRBcrmJjho8jfSwKDeMkNLpdLmYnZ2ZyubzDx4++ujq9Zt3HqYz766uV8+cOjE9OR7xHBu6MANjqXylWV6hIuplef38nQ//i//qXz54NH/lped/563Xz54+OTs9OTZaxIhzJTD5XQZfTW5Y1NA+yg3zw/DRo/lrtx5c/fT6nXsPmPW3vv76P/+f/ZPIRvE8P3qkEck8pwbGUnnqWV6WBIBOx1teWXs0v/jjn787v7iSz2dfeen53/3W22OVQuTsarc7JIQlDRW5wVeZG7blhaFS5Xzm3JmTp0+fTKdSjVbr/v25j65eT6f++sK502dOzZRLRej5ddnQzRkYS+VpIAxVEAaO7URfuVu37//V3/7kF+98QCS/8dZrb33tyszUeKlYSruWBggDHSplIigG8NUH/5iBHduSBACwurE1v7B87+HcT3/+7jvvfTQ+Vvnf/q//2R9979uQZIUpxZZlssKMpWLw23cmSCmkFACwsLh878Hc5zfu3rxzv+MFL7949k//0e+dnp0EgFbbb7R8QBBEgsioeoOvHBGbpOcHzSB0HCtq0HLm9IlOq33j1p3V9Y2f//pD27JPnZyZGBvJpFMmK8zAWCq//W4oSiulHMeOjnL/4r/51z/5xXsIePbsqSsvXHr+4plTJ2csKQDAC5TWJoJi8Iw6b4UQUYOWjq9q1erDufmPPrv5q19/2Gq1Xr7y3Pe/981XX3ohutjzfMuyuuzaBsZSMXhiWV6IGNkom9XavQdzt+48+PDq9U7HP3Vy5s03Xvnet9+KSho3qk3LkqaazOCZjbJQVMvSCbVmAB4fq4yPVc6cObVV3Xrn/U/u3p/76S/fr1Xr587MnpiZihiOldKGNt9YKgZPDErrqDlS9J36+x//4j/7f/43C4urb37tlW9/42tnTp2YmpwYq+QBINTgeUHU8dfIzeBQ1LJE5VMA8ODR/Oc37396/daNW3fazfbvvPXq/+Z/9c9s2waAZqvtOnY30dHAWCoGv5GNIpKyko3N2oNHc79+/+rq+mahkHvj1cvf++438hkXADq+8jxfWlJKMprd4BDVstSbXhCGxXzm1Oz07Ox0Pp9rNlvXr9+6eu3m//DvfvDSixefv3guk05FLl8ik8RoLBWD3yiIorq1io1G6xfvfPCjn/6q2fJeuvzcyy9cmD0xVSqVHEtohiDUymR5GcDhZAzT7NhSCgSA9WpjcWnl4aO5H//snV+999ELl879X/5P//uJ8dHIXnFsO8pSMTCWisEX/qYRYlQRFoTh/MLy1c9ufHj1861664VL5/8nf/qHUSf5Rsvz/TAqLjNZXgZwSBnDJPpB2GyFtm2Vi9lKMXvx3KlOx7tx6+69h/P/6t/94K2vvXzpwtnIXjEd742lYvBl6LxCpWXSbeLR/OLf/+SXP/35u47r/sF3v/m1V184MT0ZXdkxfVAMjohdDsxaCCGIpAA/1LVa7eGjxz/40S//8q9/ODZW+T//H/53r798GQB8P4h6XRu2IWOpGAz71SKiqEFeo9l6NLfw4aeff/r5LUB8/uK5b3/jayPlPDOvV5uObUlLGnVicCRCLEBIWuswVB3WWvNopTRaKUnL/uCjq/NLK3/z9z8TJE6fnCkW8qYXi7FUDL6IjRKGUlpR+tb7H33201++d+PWvUIh/ztvv/7K5UsnpicBIQy1H4TYTQgzMDhaWWEAkHIkALQ73vWbd3757id//Xc/zmcz//H/8j/63ne+DnHVvWYAaUpYjKVisD+jV5RDuVGt3bn36NfvfXLvweN0Ov3alRd+99tv59IuA9S2WpZlSSmNCjc42llhnuePlHOvXnlhanLy1p17n9+485Ofv2fb1nMXzo6OlLsVkcZeMZaKwe42iu+HjmMhYqjUD3/yy1/8+qO19er01Pibb7zy0nNnx0YrDBCG2g8VmSwvg2OQq6K1Tjm2IGCGG7fv/vLdqz/88S8sSX/6j37v97/7jXwuG31xtNYkhLHajaViMKBRiMh1bQBYXF69ceveux98ury6MTUx+ubrV77x1qspWyrNW822LS0phVHeBnAMssKElO2O73lepZR77sLZsdGxxcWljz+7/s4Hn0opXnr+0vTUeLd/trFXjKVi0GejBKHr2ADQ6Xj/v3/7N+99+CkiXjh/+vWXL186f6pYyGmGUOnA2CgGcOzcwlpr27YsgQBw78Hcux99/uOf/dr3vbffePm733rr3OlZSNi7o6wwIzRjqZg4CrmOrbWem1/87Prtjz+90Wy1L79w6RtvvvrCcxdtiaHSzZYnpamWNziOIRYppe8HW35QzqfPnDpRqVQ2Nzff/+izazfu2rbte/6JmclcNiOEiL5SRq8cJYg///M/N1L4QkrF84KI/HFjs/bf/Ku/+tHP3slmMl9/85W3vvbqudOzKcdSDEpxQudlvi0Gx1S1CBKIKAhdx5ocHy0Wi0vLq7fvP9ysbbm2Xa4UbUtqrQ2Vi7FUjns9SirlAMDq2sYHH1+7futuxwteuHTuO7/z5tTkKAJ4ofY8XwophLFRDI65vUJ+oBrNTiGfmpkaL5WKvu/9/NcfXrt+hwBLxcKFc6eEEBHppLFXjKVyDJWKDoIwYjHyff/v/uGX7334aS6bffuNV998/eXZmQlBGCjWDAgmiGJgkBRIRgz4iI4lR0fKjuM+erywvl7N5zJjo5V0yu2GYQxTt1EqcNxyvaIkrkePF9//6NMPPvlcKf2116588+3XT0xPEqEfKs8PInvfOL0MDGInmMAw1O22Z1sim0mPjlQ8z2u1O612u+N5gshx7G4+GBh7xWR/Hbdcr43N6v/rX/6ba9fvTE1OvP7KSy+9eGl6akwKDAKtAVhrQ+n1VVmSwACw/8McKXvz+XwV+WDMlhBCkCBYWV2/duPer9//eLNWPXPyxBuvvvTic+cc29bMWikhTLc6MDGVY1CP4tgAsLS8+uEn165eu9Xp+OfPnnrjtcujlTIgeL4Ow5CEoWD5Ck9HBJgYiPwb6h6D30J8hSgIVavjFbLu2GjFTaU2a7Vff/Dx1Ws3gyDMplNnT89KKcDUrxilcuQrhIMwtC0bEWpb9b/9h59//OmNSrn0wqULr7/y0uhISRD4gQZgIQjM1+ArM1IAGBAZ+MCPAAHZ6JSvxFghQtuSgWJBmM+mv/n2q67r/uDvfvLZ5zcr5WI65U5NjiEiMzMAGRpvMDGVo9ofRQhE2KzWPv70xj/8/J1qvfn2G6/+7rfenJ2dEgKDQAdBCABkYoxfHQgAgZEVaIWsd3mBRtaoNbCO9I8R2lfT654wDHW749m2zKbTlXKp1WptbG4tLq96njdSKRXyuUivRBrF6BVjqRytHo6hQikQsdlqvfP+1fc++lQzv/TCpSsvPjc1MSoEeoFiBmEoV7/CiCAwAQhWELRVu8GBFxGyD9giCBAFDkminQI7xcIBjD41bUIsTzkvnwht2woVE0K5mPv97349m8v9m7/82x/+9FcjlfJIpew6tlYaBRmlYpTKUaPyllIiQrPV+vzm3Xc/vLq4tPb8c+fe/torp0/OCEGB0r4fCiGMifKVm5Tgt9TGvL9wN2xsIBFKiznxcSEgEoc+aE25sjV1nirTgAjARp18dfYKBaHy/aCYS4+Pjbz1+pW79x98dv32T37xnlLqG2+9GvVfUUoZcRmlcoT6zAtBCJ7nX7t59533Pl5eWZ8cH3v9lZeev3AmnXK8QAGAEMIcpL66z0mDkMgISqlW3Vu40776Y3/lAZIkN81axdYJIpLU7QarwJ65SJmiqJwAIq0UIhrN8pXFVxBt2wqUJsKxkdJ/9D/+w/Gxsf/+X/+Hx/OLI5XSm69fAYBQKdMs0iiVI2KjRCR3YajuPZz75bsf3r03Nzkx9rVXI43iKs2eH0pBpmb+WVEvga/qG/7SfX/hFgpJbm67UmnVOPDRTmmvFeeJmWD9s5APFijP98uFzOzM1Le/YX127ebNO/f+w9/9RGn1+suXHduO7JWo5N4ADk+M02Agm56ZAVBpPb+0/OEn1z6/fkcK+dYbr37ttRcL+YwfRr3oBSIajfIMNYlCQiFRWCgslBZKiUKikCglyuRNkghGnTxb+WCObfuhVhqmxiv/8f/in3z/e9/6yS/e/X/8F//v+w8fR5cFQWhq6Yylcrhbokbm9uPHCz/5xXufXLuRy+Vevfz8y5cvFQt5zdzueJY0vF7P2tGIUNrkpCmVRSHJzWyzVEArDn10UmDOvM8kP5jntSvFzPmzp6Rlv/vBx/fuz/2rf/+D73/vmy8+d8F1HQAIlTZlYMZSOZSc9qwZGLbqzU8+u/Gjn/16Y7P2za+/8b3vvF0p5YOQQ8WWlMZGeSbJPjWzZq32eQFrMJ/cs/e9E4SuYweKGeDE1Ph/+p/88z/5/u/967/42//r/+0/n5tfjC7zfU9rbcRlLJXD9nALQQRbW413P7z60dXrlmU9f/HsW69fGR8tM0Oz1bFsKYXp4fhM80gPvHa+b/BM9oskSb4f1Dr+SCn74vMXbMf96a/ee7yw8otffyiEmJ2ZTKdSkNBbGIkZpXJooimRZ+Tug4d//5NfNhrt73/v22+8/MJYpaQYtNKWLQkNVZqBwW+DECFufKc0CIITJyb/j//pf/LzX73/q/c+Xl5Z++f/8z8bHakAQBgqyzIU4Mb99cyfbpVSiGhJ6fneT37+zl/94Mdb9ealC2e//fU3ZmcmibBeb/mBkobnDp55mvUDXwbPdHxFdLxgc6uVsq23X3/xj//guyTEtRu33/3w06WVNa114nw2BzujVJ5tG8UPgujn+fnl//y/+m//+u9/9tKLz//pH323UsprhiDUtm0RmUf5WSeURBIoJNLOl4gzwUgYvfLsqxZLxskUI5XiN99+Y3xs9B9+9s7f/PBn6xtVJGTmUCnzZQTj/npmNQoiOratlFpaXvv1+5/ce/i4XCq9/srl2ZlJANisNhzHidqomGflmf4gQ1+3G6pZIyGBNWsFmrsOe92s6dDXnSao0Ejrme+/IrxAqTBMp5xvvPlqEAZ/9YN/aLZaL1w4WyzkLMvq+hjMCcEolWdvIwqVlJKIllfW/uJv/uHTz2+++cbLX3v95empCQDQAJaxUQ5PBSSrgEOfWXPos+qlFINgDn0OfA4DjrYisxk9wy5MANSaNWMm46Rc+8K5Mx998vn65sa1m3dKpfz01IQgwcRRmYvxSBul8sxVpSBCx/Pu3n/03odXG63OP/snf/zdb72Zct1WJyAhTBzlcEBIkSvbMxfRSaMQZKeZ++pUUOhOk1VgT58jNwtagzb0LIekOlLQqdmpb379tfc/uvbO+590PO8f/6PvTYyPAkAYKvMhGqXyLOV6aR1pi2arff/B3Kef31asT508cebUbCmfBYBGy0fURqM802daZgBkAHRca+ocpQvstYAQUPT16kIAAK2ANbo5UZrUSoFSGNOAms/3Gf10haAg1FrrkXLhW2+/rjT8l//iX66ur79y+blIqTBrExI2SuXZSvoSgiLH149++uvPbtw5fXL29VcuT02MKqWNKoHDlWxip0VlRozMIiDHRPf9XSA5olBnrVkzo4C4C5TBs5zHh0ppPwhTjlUpF1++/Nzl5y/evnv/Rz99J5VKPXfhbBRcibhfzffVNOmCZ6ABlxZEAPDJtZv//b/962qt/kd/8N1vvvlKqZDzg5ABI5jn41neeWKlgQAkQNpguWA5LG0QNkgHRPRD9HJA2iwsFhJImgjvYaqLJALEbCZ16uSJTsf74U9+9eDR45deuFQs5AAgCEISZL6qxlL5KsustFJCCEvKIAg/+PizH/70VwD48ouXXnrhQqmYBwC/pSwgIQwXy+HRLkgMwErt2yWFARBJxIaqwSHJBPMDFQRhIec+f+F0tfbGz375/uc37nzw8Weu64xUSlJKND3tjaXy1UZTgiCQUgLA3OOF//t/9l9/ePXz3//db/7TP/v+ielJRlKao+Z0xtt+2PQKICAi4Z4gNHlfh9NTjQi2JaJqJCJUSq2sbXQ6namJsWwmDRDXLxu9YiyVr6YqxbYspfXK6vp7H3566+7DQiH/9TdfO3fmJABUt9q2bQkhDDv64TNBu60eh/WbGRya+IoQ5AWadVgq5r7/e99Mpdy/+fufdjzv4rnTpWJeCBFZnialzyiVp16VouKqlLX1zb/90c8++fTGlcvPvfby5RNTE7EspDDtmw61sWJwNJvlAGitteZs2k27Y+fPnn7vg0+r1er1m/dGKqWJsdHIRGGtwdgrYNxfT7EqRTMLxI7vf37jzl/97Y83Nmq//91vfu/bbxcLuUApzZF35Ig+k8NEEXDIU/wQNsGQQz3JWQ052tNd4DMr+UMIrVlKgUhSCq10s9W+9+BRq9WemZ4o5HOIqLQmo1SMpfK0qlI4qktodToPHs1/eu1ms9memBg/e+bkxFgF8ahXpbDmuJUI7sueRQdvu8yRRHtFIDy4o3FyvIy79u7fwebgBidRV8eDlAEno+17DSICAdJQQx0gUownNpTkD+Qto4OVQdQz5kC9MozkD6e9QkKEoVZaj1WKv/utN4Wg//Jf/Mv5haXnLp6djCtXjI/BKBV4yj0b5MZG9YOPP7t19+HpU7NXXrx0Ynqc4eAN5PAXklkoADGu2dgrNRd0tGvpfbc/AVEC54GbvDpgKBCSxMHjQDSM1vu5JZFQULSX7rWxIALroYfaf4HRb2vgA4ZCpEHJ47ZktOEljygEDKHFhpL8IXWqEIVK+X6QctJjo+UrLz1/4dyZR48XPr12c/bE1MT4qCWl6bli3F9Pz/dDhABw++6Dv/vxL1utzu995xtff+NKpVQIQq2TspSj6pJGER+FcVd6+OR9jkoHeX+dQkhAdDDHPDPua4UgEIrurPZ6Ydf64X27CRNSssa9pgRxvGy/FTIAEkXiGoJEf/+jMe2U/ODSepKPIkL7S54QBRD+5pI/9J2jhRCE4Dipqclx27bv3n+0vr55YmYyl80AQKiUcYIZSwV+m35YTURCYBAEjx4vfPTJ541m++TszAvPXRiplACg0W4f7Z7zBIrbTdVpcOhB76zLA0YKMwiJVgotF4Q9eE2fOcMa/A6HHe23WYfRXjd4ZawBUDpgZ0G6Oxxk3cs0tFvKa3Dg7+5ziz4PIpA22imwXCCxh3ZhUD53OtprchgAwi5rZA0MKC1wsmi5CY/LNucYIQIrnzsNHXRYq3ju2DftLp+YsNFyQaaAZDz+TtOGFbQiyfvbu7lEwzIDMwoL7BTaLghrN/sIAQG0Aq/FQUeFHmg1aGDiwBKkA3YGpLOf1XboK1fCIAxzGffNV18AwM9v3H7/o8+uvHipVCzYCYexyQUzSuW3FU1RKraFl1bW/vJvfnz91r3pqYk3X385n8tGPMSCxFHsOc8AxKxJCFC+3pzz7n8UbC4gCrSdvsa6yEQQ+sCK0iVr4pwYPY3ZUbBcAAal4t2Zdbx16pCbq+HG/WD1nmpXAQnIwshF1VVhOgAiUZyxp1+m0iwAJTRryR2ZiQi00tVF7/7Ham0eAEDa2PPYICOACoGBUhlRmZLjp6kyC04aEECp2H5hBhLAjKyh09Br97yFz8OtNUQCy8GuYwqRESH0WSlZHLdnr8iR02ClmRPdFu3umslCJOBO3V/8VG3c114zMXKxGygCFTIAWo7IjlrlM1Q5h6lc7LzCROsgRQS6EHhq7aH34OOwuowkwLJxQPIIgQ+sRbZsTV0UY6cgUwFhxUxlkcQYILJ0VKC2FtTavWD9se40AAHJip2D0daJAFqDtGXphDXzEuWnATHKhjqy9jcAABQLucnxsbnHC5/duJ3JZk7PzrgpJ4rq45HNujFK5dnQLgtLK+9+cHWr0frON99+6fkLjiWbnUAIEkee40ErvbXiPfjIW7iBZAk30xceRyDSfht0KMsz5KREcXLQiNl+Xtbtarh+z3v4XrC1CCjIcoG5uzUDCg49EGRPXbYqpzHa0LdTAjMQIqNubvoPrvoPPwdAclLJATz2jGnfA9ayMOroKyI/AqyT0MQuK4SgFW4+9h584K8+QJLkpKFPqQCS9pochvbkeVmagsrJ3ewnHceKgla4fs9//L5qbcbalyghEyNWPgMIJy0rp1E6dvEEUB4AQGmAHdaPCnRtybv/ob9wB6VFThpYx11eEIFIe21QoTV6ktJ5UZ7c3QhDBALQgW6sBcu3vLlPw+YGIJJ0QEeSJwANSKBDtFM83ZQjp7GITAjqyJ7WiUgpHSqVy6beePUyEv7q3Y+26o3/6T/5k1wuE5VDCiHM/m6UypNNoOXoROMHQbVWf/Bowff9kXJx9sRUpZQHgGbb46Pqe+3bTLTWyu+o+rraXEZpsZ9nHfZ6jZBgr8kqRCfLWiFJRBoMFXCsYiJGxtDX7XrYXAvrK4hC26mBuDcJDtpAQhZrrMK4gp15UKdER0jBKlT1Wri5jIjazUBMsgKABETstVgrFBK0RmEB0I4tN1mCBq1C7bdUY13VllFI7WZB9/VTIcntOoe+KoyyUoACEFkrRJG4ofpdVkp7ddVcC5sbUcJVZA9FE2PlAwAHGUoVddBirak/4oP9LkBmrbTfVvUNVV1GYelUFrSOQ+jRGttN1gGl8qwUkoxMnEEvGSfeO639jmrVVGNN1VcBSVtuLPkoAwEJVIh2SlRqrENE5Lja92iaKQQQKA5DNVouvvX6lVa789d/++OFpZXvfOPN6anxyFIxOsUolScfTRFCSCmqteZPfv7uu+9/Mj09eeXFizNT48etvJGjrGqtQAvWmnViqRCiRlaKlQIAIAlCJuWfuF+WLCtmBQDIill3QwTAwFpFPq4DateRABA0s1aAiNGsos+FGDWwUqwVA4Cw+sI8+y2RWbPWQBp7KdRR7q9mrThWMwQoDkzeZdZxR5YoIZiTGAirwRTtIQqktGalAAmjjyDWT4wArBUrxQBAAkgenFKsdSx5ZmAFXclHikqriOH/OJAGEGKotVJspWWlXDh/9tTE+Oja+saNW3dnZiYrpYIQBIYTzPSof7KsHUrF7pSllbV/85d/98HH11547uL3f+9bE2MVL1CBYjo+DbiYE//74IsHfx6K6aT/4t1evZEPHAeGm5VO3jlojbzb3GDbrIYe6oAXDHU02Uvy8MUlH+vIPZbZW+NxYYZFQCEoWu7oaOVP/+h7r7z0/CfXbv7wJ79c26hGX21lutkbS+XJdnVUSjdbrbv3Hs3NL7que/H82cmJUQDYarQty6LYV34MgBSfhUkAid6mjxi/HwWEYZiNEoGS0aJhezlS3HcXGtI1HhPR92d2dWcV3QuG2763rxG2r5H0sLOKhxLADIyJ+ytK1xUQGxY01IGsNyu5+6yimM0wa4xSuWPJY0/ycTK4iD11x6ZEgxBQCD/UzDqfzXzvO29blvj3f/33jWbrxUvnJ8ZGwBAuGaXyxOrnI5sXcate//Tares37549feLcmdMT4yMDpePH6AjTd+TvHWx7ddownDNn8CCv42SnnhnRvcvQ2nr3cb7UrLbd/Tda4652wG7mwheYlX5ys9IANDCHbbYLHCNSMK1ZhTqbdtLu2OzsNCItLq0+erxw8fwZ27Yie8U4wYz76zcnJdGEaFvWZnXrRz/99dVrN1658sIffPcb5WLe84NAxe254Dh2tcIv8v6X4/rFr3pWT3C0J9tP7Fmb1ZEJGDIgCkHTkxOvvXy5WCx88Mm1d97/uN3uSCEQUWtt5GQslSeD+cXl9z/61PP9c2dOv/DcOddx2p1AAh67dild+qz4B+pPt+29P5RMsO+3CDAirUrcX733cfi2scmv8PZZ0fCz2rlG3mONww9FvWw04N7Co3eGXON2Wf0Gs4K+j69f8tE0em8eLy2FiEQUpTtMjI/9yR9+V0rxs1++u7XVmJ6aOHt6FgCiYjVjrBilAl+6fl5KGYTh8sraZ5/fYobTp06ePDGdSacAQGkWGiJyyWMErUEFoAJABBX0pxQja1ABqxBUCKCHMQNBK1ABqwBRg5JJ1laU/aVZBcAMWg3hHWJQilWA0ax6KcXJrLQCFQ5XGs29WQHHv9tbI0f/lIx2cGVPfP2AhwoBkVWAAKAC0CEMc/7tSR52zEr3zWoICy+RPKgAkJjEYEpxdCPZV+5zXCAEBaEOlcqm7RcunZlbWPr7H//y+q27j+YWpqfGbcs2u7xxf/1G9fPRzyur6//+P/zwk8+uX7n83P/oj743PjYKAJpBCDqG/cm35Rvt/KceZfpwwuFtv7v7BfubgwiAe40Tv8PAvVnhMGuEYdY4hOnDBwqTv4z8d5/V0JT1e32IBlHaWyS+6cmJF5+/UCoWbt97eOf+o1a7HR0itdYmE8xYKl++C/3c48Vf/PqDZqv9e9/55u+89WrKdVpeKCiqn4dj18BdSLJdstMobbJTA5YKCdCadYjSBmBQ4f4M+UgChU1WiuwUoiA7NWCpkGBEIEHSjool9/TtsAZEsh1y0ohIdop7xg0iCWBmrUjawBpUcADtLhIJi6wU2WkUMh6tt0YJKmSSKB1AAFYHUAsnCxwsfowsFQEAZKfIcjCu6YF9qTwl2i45aZRylzVqzSpAywZg0JGlKPZhKSZpk50iOwVIuL34UYCSaKdQ2glbzPF60IlQaa2UGq0Uf/ebb33w8afvvH+10Wz+0z/745mpcVNjb5TKl6yfJ0LfDzY2Nu/cf9TudIql4omZyVIhAwD1lo9wbLhLsff/RCRTOas8o70OSklOpo+wHRFRBx1gLQsTJB2OqudiLsK+AnHmaLtFOyWyFat0AqUDJEg63J8HhQShD4JkfhyFzayYt8scEZkZtEJpy/KE3T4DgGS73Oe3QRQ69EBrmSuR5YAKgXVf6XtvYsyRZnREqmiVZyJmzD5VF23fpL0WqFAWJ9FyWCvQjHF0pK8GnoERUFoiU7FKJ9DN76ioR9AhMwsnbRUmRaqAJOLVIw6W08dqQ6RzsjKjQx9Jkptm1TcrQdrrgA5lZRItm3UIrGKOtf4gCiet2Z2szI9b5ZPo5gAJhZ0oWuzStJDlytwYSovjz+u46BVEJIIg1GGoRsqFt15/qdlq/8Vf/2hufuF33n4jUirGTDFKBb5E/bwQotlqf/LZzTv3Hp45PXvpwrnJ8VEd0+rxMSUuJUm5MfvUK1iaRhJoOX3EKtHpOwTWlMpRaRosdw8RReSGglJFOXLGISk7dUBCkn1uJwRA0AoIZX4cU0Vm3kH8BXEhPTNlS/apy1QcBwAUctAWoYgFWViOKIxCKge4T5oygZ0SpRn71Gti9DSgQGkPrJGIAx9YiVyFsiO9CPy2QTQzAMiUrJwBacugPcj9FZM2MgNZlkxXKD8N0gbNoPdwI0ubChP26VeocgKJUDpJDXyf5LWiTIFKkyCd3SmKo7pIkpQdkeMXwMlJrxmbXxHlWlfArFFYojCJTp41Ax6vp50IQ8VKsZSiVMyfOTU7Pj5SrW49nFs4f+ZkRAhm0oufko4/AgqcmcNQWZYEgAeP5v/r/++/Xlpe/e633v7W11+vlIvRWVUpfTwfJkLmwGOvpZWPMfX9jmaNEeOvdFDaCSfKbnz1rJEDDj3uErDvQlkf1TpbINMQuWL2si5Dj/02qCA+6e/aQhIRyELLBumC2Iv6HpAVhF7EjNmXrzUwcwAAIcFKoXT2or4HANABBG1W3t5xeAYkFBKFw2IfQn4g0Bz62mvF4f1dZsVxxah00HL2pL4HAFaoI8n7wGpPqSKisMFKgbD3aDoARzsfReswk3YQYGFp/Qf/8NPrN+9UyqXLz1/82isvFgs5IYTWTGS6rRhLZWhjJQiCxwtL9x7OWdI6d+b0VFQ/3+xIKQXR8bR/NSA6GUpnaIjvJOzXGJEBEUQK7dSBdT4RN9V+mUhI4GREJjNsfaTet0hQWGDZIpMbJrFrj6GS7iNkY9oZZoGgAdR+s2IU4GREOgO/keQj5SrAttBNH5i32Cd5Pn7np26NvcrnMr//na9n0+m//vufbmxWz8xOR/2TeNfONwZGqeyofAIiarc7jx4v3Lh1TxCNj41EOcTd5KHj61HliNYQh2nce2CheDzUUAlPfPAVB84KEo8Rw1Czwt36M/U37j0wd4oZNPJw5e1D8X7pIVom6yEkr+POnAdYIHysqCJ29mdA1hyEOpNyUu7oSKW8vLK6srIyv7h86cKZpDLKKBWjVA4yUKQUQmCj2frFux9+9OmNyYmx1165nMmk/CAUgkzDalCKwySfEvc4CmOSubv/V04rAObwAAbE2M+2/1D9s9qPiaOvf+++NRwcRkeMvXOchyo21KwU7LtA7C9FPKAQJxyQ/O4evu4Ccd9CHM06OiAcOLHjmDffr30jHxcAFvL50UpldXX14dz82vpmoZCL2DRMH3ujVPY95Ok4EXNtY/Nnv3p/YWn1n/7jP/7Gm68Vi9moagVNw2pEgL1zqRGGL5VIdquDBDrsUENkeA8zVGKODrHGYYaKctR+81ntWCN+6Vk9UckfdXuFiCLrtFIp/c5br3967fq9B3M/f+eDt994ZaRc5ATGZDFKZc/DbBSoX15dn19Y1gyzM1OTY1H/eR8AzIlk2G3ri3gZnr1ZPcHR8Em2JHk2JX+kIYhCxcC6kMt8/c1XlAp/+JNf1BuNS+fOjI9WohZeZlswSmW3aErC/ON5/tLK2qO5hWI+XymXR0fKA5yyh/WLyABDUdEPt0B+qkMNuZkO6f0famJDiAuHpLx8grIabo3DS37/NQ67wCcr+WevfT1CqLQKw1wmdebUzINH88ur6xsb1ZW1jSiy0qXvMbaKUSqwPZoihBBUrbXf/+jT6zfvnD554qUXnquUSmGoDj+FHMGBNDoMw7YbARqKkWeo3lNDDsXDMSTCE9qaEQCBdgvUf2FxDbHAIZt0xVSPQ9LC8G/0SDAMwTLzRWb1hdTPsxdZUUoLQULYo6OVkUq5Wq0uLi5vbTXS6VRCiW+Uym/HUvzzP/9zOKzh55h34fH84r/69z+4//DxKy+/+J3feWtsbCTqmKKZD284LqYJiOKyO9sO9rXTQByGboAxSpXbtTEiMw7nXeGkm8juo/UmNvTBe6++it1ZIQ6tCpNZwe5rjPIHhqHY2ntW/ZI/4NDCSQbYUJIfljZijzV2Oz8OkeUHDHu37/xikn+mzXwGx5YA4HlBs93RmgGYiIr5fCrlRG5zkwxmLJWdqUGgtV5ZXb/74JHnhyemJ0+fnCbCthcKgkOc4IFA2GPp2L0mrpcmu99hkggACXjvrQuT8kBWHNch4j69wYGwN9ou6a3Yl+e7T1E3x6w5iHt7zxC0Bh0yw/4ZTYRRZB0PWGPEo8z7bJeIyHhAChx2V71/6hr1rW7fWQ0n+b5+DQd4ufZ/HvCAG8VzZo750w5nLhkBgKBAMyhVyGe/9fU3pBC/fveDrXrz1InpSqUIAForIsMGZpRKcgBEREEUhuHGZm1uflFIOVEqjY+PSoHx44KHsAV9j7FJk/JBBxw12ca9fMcChGSyACMSqoErmYEIBTHokP2OVgEiMuKgQyNSXBgzApNkmUpaDvdXWCADELLgEFSoA5+12m20hAGLJAsLhOxSEW+/hjXqEFQArKK6yu2kvZGDQmvQGoQEKw1kJXUr2C8wQhDIoH0OPK0VAjLiQHFKlBSGDEBAAkkyWgyDFR+cpAmyxrDDOuTdKjexqy5IgpAaZSz5wWqURPIAOmC/o1XYN6ueVkVgQGRgRASyWNhxa+feaBxtjwiaIIyaFDBrjNfEA72co0eHBJANGEmet+kaIhIEoAIOoueBdpE8ACCy1qiZhQVWKmYkO1xlg4iEGAY6VGEhl3n+wpmFxZX/z3/3bxeXV//sT7535vQJwwZmlArsZPoiokazdfWzm7fuPJiamLh04cxIuZQwfR3WHHsQEhDY66jNebW1rNv1eHcbKInQAISI5GREYZxKM+hmmQFCtbNyAlmpxkqwcidsbiARCGubUgEdAjM6GZmfoNw4SHfP06sOuVXVtZVgc1G1m4gEUoDmgcuUQiKRq4jx05gfYUTQenstIhICcGszWL2vm+sRQdkOChMFDGg5IlOm/DgIF8Q+jC8t3VgONh6F7VpvjV0WSEBQIYCiVMkqn8TM+C6bI2sQEhGh3QpXH6qtZe139ijFBJIWpQtUGMfiBNhpYNiN4gxQBaqxHCzfDZub+0nezcriJOUmQNiwO+kNgArY21CNZdVYVUEbAeP+9r32aAjMKITIjIrCKUxVdpc8IQLr5oa/eCusryEJ6BFTdiUfAgParsiOUn4chLOn5A/BRhGzgUkpxkYruVy22WwuLq82mq2U6xi/l1EqvU0kql1CxLX1jZ//+v079x9dufzC2197baRc0ozAcCij9MzMETERaK/pz33q3/8wrC5xGAAwkBV/+ZGAQwBEkqIw6px61UmXRDqHDJo5zmiJvBagAUkFvr96r/X53/jLt1Ba6GSgjxYeULDfYq2s8mzq/LftVAnj5KcufTqDZpACATgMws1l/95H7TsfhNVlRIG2k2zfcedHDjwQwpl9Me1mrMIYIGrNkRKJdZxmshA1BVvL7es/8uY/RwC00z2yRUQA4rDDSsnSZOrMG5aTocxIoti4568jiQCgA9Xe8hc/b939abDxAIVEK93Hb49Akr0Gq8Aev5h5/o+t7AQQsQoRBSQrZWYSiACqXffuf+jd/0g1azuo74FVCMzkZqzRWfv0q1aqINwMMHDIgInkEwJKFbT9lTutz37gL9/eU/IqtEZPpS99106Xo3wkQEwMFQbmaEPXoa83H/kLH3rL11RzHbCfnjLpualCtFx78qXUuZyVGWFAHpR8ZN+z1sH64+Ynf+s9/pykjW52cFbEQZu1ssrTqXNvWm4GM+U+yR+6TDDo9g6vlIrffOv1ew8f3X0wNz5669L5M9lcJjqhmlI2Y6n06hlX1jau3bzTbLZPzk5fPHcq5TpBqIgObxV97JXh0A9ry/7SnWDtEfs+AIO0YopDIlAhAKKUsjUtilN26CfnUd6tBF6p5qa/etub/wSlTanCQD8VFLpTZx2y8uzpK3uydWEyVrsRri/6j28Gq3MoBNlp7jZGjPqp+C0QFro512smheK8C4cYovYa/up9b+4qApKb6/UaiWblNVgp7TXssTOWCg44ZARe2Fj1V2/6yzdRSrJzzAP9VHSnxoEHJFyvbu3FKxCFEgIv3Fj052+GW+u79VMJgFm4WVZKlE9aUUvHPckHAtXY8Fdue4+vorTIzQ90eRFCt+usfObQmX11P+cSRpKvBdXH/sqNsL4ESGiloNfJRgFKUD7aaUwVnaCd7P68q12nWlv+0h3v4VWybEoXWYexuUnR89BgHbLXsifOHyD5Q0BdDAAUatZKFQrZ3//u13/1XvqTT6+3W53pyfFiMQ8AoVLS9Fk5zkolqoMlImZotloLiyudjpfNZaYmxvLZFAB4fghwBDI6EEigsFBYIBmAQVhAiaWCCIAoJAoJJPb3dCNAdyiUNgoLuoEQRIyJ4gmFdXCaKQIixaNZNpJAacGgUgFtg5BIEg9Ky8WI61faCIjSAkU9pUIClQ2oUMgo0+DglA0UyQIlCguY+pUKChuYUVg4TJ2/ECgtlNZOpRL1cInucuDEEBCIkCwUNgoLpQW6f1YChQ0AKCw8sE09AiBh/DnagNHn1VUqIuJdRmEhyYMffqRYVt3ngXZ5HnAIyT/73yMiDEMdKlUu5q+8eGlhZfV/+Hd/vbyy/iff/86Jmcm4I2RkpRocT6XSjaa0Wp1rN27funu/XC6dPXNypFLmLnniEQASWg45GUrlWAYADN2OI0igVdwK0M2i5RzAQIWIwiI7Q6kCSpvcHOsQek09BCCxDsnO4O7U64N7mxBou5TKUiqPJMh2t1sqwgIhyUnBgac/EmSnKZVHQHIy2ywVIMFKkZPFmIr/IHFJm+wsuXkUkqwMsx7osQjAoU92BoQcQvIuuVkK/MF+Kt3eM0xuhpw0SvsAd1DURNLJUCqP0iI3y1r1JE8CgFgFZGdgCMmjsNBKkZ0lpx09HqC7MRUdu79sF60oz2LfsYSMZkWWTancNssVSLAOyc3AMJI/NJEVbaWElU2Pj47atr1Z3ZqbXz57+mTKdRFx3+ImgyOtVJgjqjhAhNX19Z/8/N1bt++fOTn7jTdfHymXkh3gaLhHGTQzK9aKddjrGhtlMekwdvFrlewsB1WCsWIdgibWigd86MA6ZB0yqwNa9vZIfHV3VqzVgFIBYB0CQvLmgTEkzToEwHhWsG1WKvFi8VBUzNEaEZhVv/sLuH+NQwwVL1AltPt97i8dRrm2zHo4cXUlj9slD19U8hq0ZlbMIQABy76YSjTJEFgd0COgJ3nFOuR9noeoB+hR4c/v2oIj5dLXXrsy93jh9r2HE2OVC+dOZzJpRNRam5qVJ1q2fdg4GABgfbN6++7DZqt98fyZF5+7kEmn/ECHmo8Q+ehe5Wk7S96Gq6U8eKgnO7EnNSt+2rN6kkM9dcl/Bc/D4QjXK81BqEqF/O99+xsvX35ufmH52vXb7bYniBAjXlqDY6ZUomiKEAQAba+zvr7JACOVyqmT0yPlvOtIpcIokcN8qAYGBtvyepRipbhcLrzx6uUL58/UG4079x/Vm83DTEZjlMoToC0BRAyCYGV1fXl1LZVyJibGioWCIEQEHsbwP3RHrANfX4Dgdv9x8KuY2BNc4BNc4zCzwq/mQ3xSa8QnK/lD8E1SWodKu7YcLefHRisdz3+8sLy+UdWaj0RqD5iYypco4WAAZOatrcb1G3cfPlpwHHtibDTlOr8VHvVnIFYfJfzE9e0kIKaJorh8mkR0zVBfKSIkiSQQBSD3h8SjODbQkGwcGKchJS9gHMj+il7DcHvEsxKYxNK3z4q/SL+peFYSUSDuGA0FkBxujXH3LYySvhgHsr9YAzOSGFZc8VCJ5AkG8u6ikXH4oTD5BAlRQK+oHgEFoI7+6WC90j+rmD1hx/NwtDp9RUxf3SyedCpFRFtb9Ydz8+fPnioVckJQwgZmtMuxCdRrraMPvt5ofvDJtdv3H108d+bi+VMp11FKM+LRauXGrAL227rT4MCPU4p72V9hlFJMfpuVf7B9phX7Ld3ZQukA0PY6Fa/OOmS/HSWVHRwuDn3daep2HUmCUjvqVNogJPudg0ZD0CpaIEIUSx+sU/GbHHZnNQRUoP2m7myhkJH4erUXJLVX59Afao2sOfTZb+lOAzQDaxB9gfowAGYEZL8DKjw4gKHCRPJ2lI/Qn1KsO/XoUx5K8lqx8rXf1F4dSCCHfXUqGlCAChA0h52Dw/6R5NtbEDqAYkfdUpN18AUkf/gqjNm27Ynx0SAI5heXH88vphw7lXK7PnajFY6HpdJH1FOr169eu7m2Xv3uN9++/MLFTMr1Q0UkjlRZLCctclUYV9QnHCFR8mhCoKUGWFL2rg5krVgFUf4S66C74QIyqyBK+En8KzhE6lDIYQDELKwkpSqha1QBAEOUtbyvTgGONsoAGFmGcZJbfI5mDn1WKt7vhjg1MzPrMLo7q6CX6MUIzKwCVgF08+iGoE1nFYLWEGV5DRY/sgpAq4OS15OaeB1yGAACq2AgzyqaVRgka4Q+/tC9c2Ojjy+qnhlQKhpUADrooxLYc2LxJ6gCJmQVDdgneeWzDllFn+CR8oMhISMSYqmQf/G5izrUi8ur167fGq2UXNfpWjNGrxwXS6XLSbxZq6+ub4ShHhsdKeWzAFBvelLiEWmFGu0SJEW6IMszIGyOTsQkB2laCJFEviIyRRAy4TPH3SJRTE7WKp/k0EdhxRUhvZMp6YiWo3QCpcMqRK32K+YQUmSL1sRpTGWRiKTD/QxUJNjvAAlZmQbLYaV2qxCM9lMFliPLM3a7hohkp1nrvqbtpMMOay0LY2i50Sa+GyNyjyCL3JxVPg0okARZaYb+NUrtN1gFsnwSpcsqALJ3m1VURyhFrmKNnqRMqcsNOVCnAizslCxNUCoblRzuMSsNAORkrcppVioqDRm0VEh7bdahVTmJlhtLPiLN3PXxl47IVKzyGUqVorqcPqXSpWmxRXYChM2cuMV2SB5YkZO2Rk9qr0W96pm+58HvMCurNIFW8jwcFRCR0qyB87nMSy9c3KzWfvLzXwW+/9orL07imOldf4yUCjMTIkrBzNWt+tLSqus4+ZFcuZjfqXUOe5JKXMRtudboGSFdHfoxEzAOMgMCodYopShOoXSjw3SPSR7j3HxmjQAyP5G68B1n5uVoM+K+7ElEjAgrUdqULmsVglIou2GSLtN7rOvQzcjJs+l8hUMfAJFo4MCOBCoAAJEfwUyBQ5+ljdTPB4xIpLUGFWCm5J5/2568EBUJcp/TBgE5IcAiK8VKsVbUI0TG/hAaA4CQsjSbPv+72m9GrGhJ85NYrKxCYE2pAqbLHHogHIyZd/skr5kR0U5ZUxcplWfddXzt4JEGIMuh8hQKO9nY+yTPgISsFQLIwmTq0neck68AIEor7gYQCzWSPKPlUnZEhwEqFVX+D4TlOY6fUbpkjz8viidYhX0Eo31KRYcIQJkxdAqsFaNAwgGmfELWDFqJ/Gjq+W/bJ15Eol0kzzqqRI+0IGuFeBTqVSI/hgp1qFQ27Z47PXPr7v1Hjxc3NmtbW434IMBsOncdF6USubba7c7c/NLyyvr4aGX2xHQ2m9Va4/A97A5FcD4iTJSOqMyKwhigANHPR9tlrkVQIWgF0gHLZR2RQNIulgoJyo7ZqUJMHbb9GxONRhz6Wvkg3N2/UtFORwIzBWG7gmggGN4fAY5y8IRgKxWz8e9yXtbMQOkSzbyEWsU7MvcvMA4Ua7+tO00UDiDtHTpCsFKiMCPyU/tHJqIsH0aBfdWa/ZJnBLBTYvyMKE8jSRBiR4fHuAQSVQiWA9KGSPK7komRRbkJO11JTMxt3q1o98LY1yScPb2EDECS0iNo5wQmkt+5+XHUJsBiO8s9ls8dNiIAZsr2yZdZqaQTV3+bgFjyHHS01wTL3VfycDir65UQdko4pVJBCtFqtjeqW34QWpYwjq9joVS6ORvMXK1tXbt+a3FpZXJ8/PmLFwr5HBHpo5QOGNkEDCAsyJQTVqvdXO3xlVGTxYR/HreFLAAQmRxwbIT8tn/ZQWuvKI7/W7FfpSvVLleYkJguJqlWtE9LXe61DsRBDgzuko4ASXByMRnXHrOiVIiZAABR2jsUZ0IxQAKsLFhZRNxzB+w1ItNxrtSAno7lyQwgHMxWEsOXdllglAMWscpTV/K4XQ0gsXRBuNjfMnkPyaNWDIgREw/vJnmywCmhA4CEUfof7xaj6tIp7+ErjJ4WtDNoZ/ZuHZY8D6EfGZHxM4lHwS+EUfs7AAAo5vOXLpxZX9+cX1heXFqZnBiVUhJipHmNfjnKlkrE94WI9Xrz3Q+uzs8vf+ebbz9/6Vw2mw6PYt5X8uzb8dFxr4g3JdvCfnXUUVbu9kYeu9xU2Cid+MC7+8mUAQksp2tq7GkV4BAdzmMeTB5w9uwyKwctN3oI9j4vU8Qztp+s+rpg7isxBqSIO4t3btz949AQkicZRcUPlDzImLZlP8lTIvm9e4F2mzbu565CwXBgL3sGYaPlHCR5OKSRleg8ls1kXr78/O079+cXl+/ef1QsZAv5fBJZMbzFR9lSAd3L+2p88tmNRrM1OTl27vSMbVkdLxRS0FE+VCAM16P94BPaQalKSevy/WlCsNc5ahhOkf16XB44DvYWxwcuH4ebVZxa9zQkH61xKMnzQVXdfc24nkB7BTyYOXQoyR/W0IpmQMRCPnfp4vlavbG4tHztxu2zp0/kczlETAJyxlQ5upZKlOoXhOFGtdZqtaWU5VIhqnkMlUIioqP48eu+NlP7b6YHbDQcuy8OHg0PVj8H5wJx346MT2JWQ6yRdbL37TUaD+oJ3J9Q8ulKfjjFzyoZCn8zyXfF9UTWeCjJJZVmAM5kUmdPn3gw9/id9z/2Ot53f+fNJMUUhEkBO5JKJYqkEKFE6Qfh4uLKwsLyxPjoyEilkM8lluzRdX0OeZz8AubOkxhtmIr0pz+rg7UFPsOSf1JDfSWSP3xRS0BUWqswTLv29MTo1MTY2trGVm2rWtv6Aqa/wSG1VOLuKYjtdvvOvYfzi8unZmcunD+TzWa0jrt1HelPh4f8mjzdoYYZ7QnO6itZIz9FWT2zkj+y/h9mVkoToWNb5UIhk8l02u31zVqn49m2TWjslCOrVPryvrbq127cnl9aOTE99fylc4VCjhHjntlH1VSJw60Hl20fLIFoqAMrwJGHdekcSOs6FLnhkFTtT26NOORQ+oAFxsf8YVxDw6wRh4tzbHOm7f0hDjsUH6Q48Ei6v7rh+uiHXC770guXFpaW55eW7z2cO3ViJpVyEFFrNh1WjqSlEm0CuLXV+PjT6yvrG6+/8tLpkzOZdCpUUS4xHdn4fJeycGe78f53humiQQJwiLBzVFayP3NURGE5xK41xFAChgyGHbxG7GVkHfBIHah7EMg6YIE9yR/EsjXkGuMUiYMkTzTch3hQvlb/ULwHgw4M/XQdTicYEWkGYM5mMq+9/KJ1TT54+PhqIT9SLqXTbpds0GiIo0d9Hz/N1Wrt9r0H6+vViYmxqfHRlGMFfhB1T8EjnPfVf5DEvteAcwKHkiAO+RqCO33bTHb+dai5YW+Bw8wKD87CPni0IamsdxHyrm4hPLjWcnjhw9CBnP0XOJTbCgc+KdznMx0yoe5wdljRrBkLhdxzl86Nj1bmHi9+8tnNaq2eOEhM266jZalwYqJqrT3Pr9bqjmOXiulKuWhbMs4lP5rUbwgIoBUoD3TY68s7UALZY2oCkkAW7F2KSACgfPZ8Vmr/XRWJgCQIK2HX3+2aqPxbh7x7fX6yWVFENS/3vB0r0D7EzI+7jtMrekeSIBzYtYY/WiMrUB6HQbIR7JH9hYRCAsk9urgnkvc7seQBtxMZ9Pe9j4YC2nNWwKC8mEcS98tJQxKAAmgvySOARuWzDmNa6Jg7Zzf3HgkQVlIGtHsqJWifQ5/jptSDz1WPEyiih5Eg7H0kf6jzYLRmZk6nnBNTE1OT40GgVtc2mu12sqsYx9cRUipRLIUQhaB2u3P/4fzq2ubFc2cmJ8dLhXzXJYpHMo5ChAQQBrq5ws0NHbRiZUDdWvG4khyJ0EqJTAWz4yBToIG17t+dmVkIQlbc2gzX5nWzxkQYk770bdzMAIzConSecmXIlMFygRkiApUuqSIA6hD9JjfXVX1d+22O+6DwtoAEElEqT/kJTBUBrYTFq5fAioDAitsbqr6kO1tJLSTvTP5DRBQuZiqUnQA7DQCgVB/tFTEAgRba0431cGNFd+ocaY5YJcSVg6xD1ExuRhTGKFNhO8WRE697GTMSAQEEHb21pBsbOvQSNhTqVaRqxQAkLHKzlKlgpgLSZQboSZ4BiJkFIXLInY1wa153tpgISQ4ofozduyhsShXJLYNbApIAOyWPoBR0atzY0M1NFfgYPw/bnx4SklIFLIxjugBAzDueByIk4M5WuPFItzYZCYW1fVaR5IlQpjFdoewY2HJQ8kfEWNGalVYZ1y6XcrMzU6VyEZibrXZvhzEdVo6SpaJZEwpEbLU79x/MraxtTE9PXjh3OuU6EefbEc370kASCDjsqM1HavV22NyI6Nb7yA27SkWIdAnGLki3gG6a4xiU2Glb6NpqcO+jYHUOhETb7avDAECCMGDWIluyp8+Tk4I073OK53ZVrd71Fm+rxiYQJly5faXmKkASsjJrWy6lS0wIeltpBQMRMqjOZrB4Ndx8FHGdDY6DoAJgICdj5WeEtCAzuvfJUYPfVuvz/oOrYXUJUKDlAquBGvKwA0rJ0qRz9lVKlwYJr5LgPEkk4KCt1u4Gy3dUp76bUgkZgCxX5ifk+Hnp5MBOAe8l+UA3l4PFD4PqYyCJ0h2ITyCC8pm1SFfssefIyuxmCnCc8hCE3FhTS7f9lQeqXUdAkFYSckwYLbUiy5GjpywnTZkiI4LaKXlEYN1aD+Y/8tceoJBopYEHnwcVADO5Wat0UkgHeOTontmZtUYEgZTLZQu5XL1er1a32h3PcWxDV3zk3F/JQ95stR/MzS8ur05PTZSLRddxAJH5iOY5MhNGe5cXbs5581fD6gKHg026oNekS+THQTo0ckFi3DcEux4MImBmQB2GQW21c/+qP3cdpYVuDnpU5wAkuNNiHVrjp0RhTKJA7BIPdx0+0dYGrJVu1oLVB97DD4PNJSRCOwUDTbqIgw4I6fhta/ISCgFRFg0NNCshgSgE+w1v+XNv4SoiopUZKPYk4qDNWsnCFNlZATgY/EsMrIhKQbHy2sHGQuf+J8HyPRQSnUxSKhgFBiR7dQ4De+Y5a+o8CAIiVgq7dPdxFw1ABBV0grUHnbmPVHMjDnpTos6Ron4twsmokdNgZ6l8RhCAhpj/P3IlJdRcWgVBY6WzcNVfuYHCQie7fY1+i3Volc/I/DSSBBQcNVbpz9GKJK8CVV/3l+54D6+GW2tAhNLpoy/TAAJ0gHbKUYGcvIQkGKJTdl8ZI3PE8xI2Njvzn3mPr5K00M33zQoABQdt1qFVmhFuQWLUauHoqpVkXUKQ69gbG8H84vLc/OLszKTrOJDwCBlj5UgolYh4HKDT6dyfe7y0snrm9OzYaNlxbKWZj3pxEmulOg3VWAu3ljn0gHfv/AhEql2Pq9xxT0kqr61q6+HGIkqbUm3mbpMuQhK6VWcVUjrPKozzxPbaRZh14Kn2VlhfDWuLSILs1M7OjyykLJ+MR4NdaUIAULAKVWsjqC0SIjlZ7ttwkaT2GlqHKN1kVrRvmX+o2k21tRpuLqGU5OZYq664kKRu1Tj0RWGcVQiiu8bd9helVHtL1VfD+lqc39XXTjhuAubk0C1or7E/vwCzUn5LNVfDrUWUFvm5XuuwqMuLV2flk1vsW+Nektfab6tmLaythLUVIELL7fF+ctL50UnJVo1VuF8+AoMOPNVYD2uLJG0KOrEp3Nd7RuuArPQwkj8CSZZRUJ6Iivnc2vr66trG3OPFsZFypFQMjkpMJTldMXOz3X7waH5zc2ukUjp9csZ17CBQkbvzaGd+xZy7Ucv3eGsb6FHfawWPB3Y3Q6Ao6ZaACLSIvkoQ34KAk173B6lrxG5WMcXT29ajPqLR7YYE9gzUc4/tGKMW631naiQgQhB9s+IDy6Tj1cVz62OdQer90xBr7Fvabj3qQUdD4RDkYNi9O9JAuLsn+W1rxP0oq6IPEZPRsK/ABQWgSs4EMNSH2JVJzxRLJM+JhjuK+cQ7KKCAEDPp9OyJ6Y1qbWOz+ujxwnMXzhQLedNg+EhZKtEHiYjNVrtarflBWCzks2kXANpeII/+54IgLJQuWm7sztrNUkHLRWEd7JsQAi0X7RRKG20X+nuSk0AVRk0DYRgnMgkUVjwaRdGLAUsFmFFIlPbBJ1wkFDZZKUBEy4UBS0UgK9QK5XCzQoqlYacwjhv191iUqHwgMdQaEeMFRtkKg5ZKlFCAlovSBiEPTgImgdJFKxWNCQOWikAOgSQKeyhrgAQKO1rjHpaKQMsdajQSKG2yUihttAafBxTICkWI0objwdSrGQA4m0mfPnVibmHx6rUbD+cWWp1Ot/+Kia0ceqUS9XnsMrrVqnVmzmbS+Wy2e8Gx8HJGzT+0jrnHUSdKBeJmHqjjJupDUT13263rvuK4KBQT3YiHYjiP9lmdNBTRekCpAILWjHq4Ey4DR5FSTAbs4xvWmqOFD+Xr5IE19o/GCKC/4Br7xB6lh3WVSjTs8BPriqv7YfVsAuzdBb7IUKxBQ2+NsVLpjqYPHo0Tyeu+lfbN6otI/nCbKUSgNSvW6XTq5Ox0+Xphfb2KCK1WR2smwqPvaj8+lkpUoVJvtKq1rWwmUyoV0ymXNSMdK1OUd7xgtx9g2G23/9VfMv2FvRz7TIy/yMR2/u7O8eELrxH6yuZx2/u/yQK/3MSe4FDd6P0+kv9KZnWoe0FqpXQqZZUKuUI+32i0tFatVpvIeL2OhFJhZtaMAgGg3fYePJxb29gsl0onZqbS6VRC3XR8PuydVc6wVxX1MFGa3qufjnconq59quq7s4IvM6td1vLlFtjlad9ttC+8xn3EDs/YGr/s8/AkZ3WoYyqslCYAklQs5JCg2Wpv1et9POimWuWQ07R0D0itTufB3PxmdatcKp6YnnRdFxCjoshjbKnwlzIIdrNUuof3J2OpfNlZPbGh+tkbd7yegKXyzK/xq5zVUaADZ+Z0OlUuFRzbqm3VOx1PM5tqlSOhVBLPTKvVfvR4cX2zVirlT0xPplMuQ9yy7biYKf15Vnu9hjpRDmZA7fcahhrrSU1suHG+6Kz2WiM92QXiF5D8kxrtiU3siUr+aLQuAkDEdCp1cma6UiqurVcfzS/6vh85wZjZBFcOcUxFc1yc3Ol0Hs7Nr66uXzx/5uSJyXTaPQ4VKgPsWCoA5YPyE5NiIPsLQIMKBkrH94k8q4ADHxjA8kH1sn2YBCufwxBCH1QwVGNHrUD5EPosBCuRhMQRgIEFKx+HnFiyQAZk4fdnfzELVn58I+UPVOft05JS+Rz6wBqi0brBZ9Ic+hwmQx3wDEULDED5oBlYgxAxKQAhhwEAs/RBh0OlSIACFbDyARiU35/9BShY+RzfKBxCXAxacbRGIiQC1ReoJwFhAFKAGmJirGPJIyR3T54HjCQffgHJH4lekNET7LrO7MyUH/gb1S1TrXJUYiqDFSr3H81vVuuVUvHkyWnHso58hQr2Z1QLiZaDlptk63ZTihG0BECUEqUNwtpdGNxlPEESAi2LbBeFhZbTY3xBBBSkQxYhSiuqmU8ynXYdEIEIhYXSIdsBEmg5vdwhABCCmJEkCiva7Bh3MBsiMgCyBiAUNskUAGJM09KrNietgUMkO6oi3FtaHLPpCgnSIdvFaFaskgJPRJKkHEZCacepXLyjWLSf4lfYIJ2YVSXhJogZN1EAMEqXpINS7vIcYj+NFmKUvCtdlFacNt2XzE06ZBQgbQBk1sh6R8Yz9g0lo7xksh1AQssBoXsV9VF9iYxSiiPp7lnPgxilFLtxSnHfIQOIiBVohcJmANYaB4r8j25kBQAB0qnUzPTk2uamqVY5UpZKt0KlFVWo+GE+l8u4DhyLChWKvdnCloUpmHheZMdZhTHlYk+pRESEgtJFWZwG4TAD6D2q6klQrmKfvIypPJIgJ82Dia0ceKyVLI6LwhhI+4CcPCcnyiec2Zdl+QQQobAHYhVIrHxEYY2dRTcPkb9y+6wQNIMGcvP2+HMoHWBEy+nLhUVA4tAH0CJVEvkpkKkDmklZjihOOCcvi/woIpHtcq8JFSKR9tschtbYLGVKXfK07QWPGpgALNcqz7LX1J36TqXCOoSI+6s4IXLjELEx8h5uZBIiM2pPXEaniEKQTDOrbqIzktBBm1nJ/CRlRoDk7oqTkw8xXZSjpxzWulUDIJTWAE0LEqgQLdcaP0tuBoB3ex4iHjagdNGZeAGtFJIku+95iK0xH7QW2YrIT4J0j0nEXmsA5HQ6NXti6sHc47nHiw8fL7RNtcphVyrbKlSqtTozZDPpfO54VKjE/FrMDGil7fHnrcI0q6CvIwpvOwyjkOjmwc6wilk2+/okMiKy1oBCjMymX/lD7jSBovrwbSdrDQwgbUznwc3Fddoakhq6qHaBAQFIUnbUmrGt0bOsAugSQ/WTJLIGBnSzmBtlBoZuFjj259swA2UnU+d/1z35ZtzMqt8rFdeuIyCBlQY3H1/A0KvsS65hJHIy1tQFURhj34tntZ05XgNrtNOQq2gSwBp75ejxI8WagQGdnD1zxRo5zT1P4A7JI6G00S2ATGnFwADUn4vFiMCsUdiieDp9Ps9BK2YN6AqKu7JilA64ebDS3DXVu9TrlNT/S5tKU7absWZehC5l/QA/W1StQuRkMTcSRQC2S54wel8UplKX/sD1m3E5J0M/h3SscYUEK41uIWEWgKPK19JfrZJJp07NTl+7UVzfqBJhs9XRzISmWuWQWypEpLSu15ubm7VMJl0uHqsKlcQ5I2yRm4T8VE9P7MGxCswKkDXv1QFCo8BsWeZH4wjuHhzEWjOHgYa99o6YKwycnHDzKAXuyy7FHPWq2IMTJdry3IJIl+OPdQedbvRXrTWHgY5iBvs49y0X7bQsTcWz2nU0BNas1F4xFYw7LkhXFE/EOw3skFiyk2utIrZs2FvygBamRmRmHHHvuSOwZq0Cjqkody1UBCCB6SJlSijkvpLnSPIxpeXOWTFrBEoVZaq8/9lMcyT5iHufj1G1SjFfyOfq9aZSYbPVJuP1OrxKJfo2iKRC5f7DudX1zVKxkFSo4LGpUIk3KY0UZ0/v3VWLScTB5L2/9owISIx7HzQxvoyFhXu2Z483KSYCxAMczAgcNfPYb1YEiLo7Du4eXGIkFjaySsrad6WnRAYBRLxXrA17a9yn/1iXlUsjDbRmx90WGJkd+60RdcJXiLCHOu9KnrpNbniv54FJRo2cGffumIXIIHjvdsKRTaIBgQZNnV2ujCSvh2JLOyLVKorAIkmFfA6QG43W1papVjkqFfWdjje/sNRotcZHR07NzriuG/mWj9WpQWt1MK0IYkw1eBDnMSs9TIvVIVJImbU+eLSIxXL/0Vjr8MBcLETCoVomK8Xhk1gjs46zofigyN/B4mKtWGvgg3vbHhy6YGYd6vAJSJ614oMZa4aS/JFsQJHNZicmRhv1ZqPR7HQ827ZMtcohjqlEP3iet7K20Wl74+Mjp05MZ9L9FSrH5SlPtq0n1ZJbPNEG3+JJDfTEPs8nt8bhlOvwY4lnbo2x4jG73+4pQrls5rmLZ5eWVmv1xtzjxRMzk65rd722xlaBQ1f8CAAdz1tZXd/aauSymfGxEcd1NA80BjQV9V+yGPvJjMZPveCcD3kZ/HF4ug7/VphEbR3Hmp4YL5UKta36wtKK5/umX/1hVSq9Wvp2Z+7x4vLqum3Z5XLRsW2ldOTQPE7HBH6GL3uKa2R46jN/krJ6yjqTn7Dkj5deiVYrpUy7LgCsb9ZW1jc8P4A4eeHYKVo47O4vnVQP+H6wuLS6UavblpXNpqQUQaDEsSMNxac+Gg6x3eyTQ/bbmRXhcLFifDYlj0PThBzcPOwpPw/DSv5IKRUEkEKkXJeQ6vXmZnXL932jJw5p9lfPXvGDYG2j2u542Wwmm3aJ0PMUoThe7kyOyjz23eWHiYfHIx10yEKMOzbywUTSPWL5PamlAIcoa9gnT6lvgUMxUH2BNR6oFGPJ8wGNOYeaFXSphXCvvC4AQXF0ib/saN0cLsSD81mGkhVg3JTzGIVUkBk0gm3blZFKNptdWl5b39jsKhVTrXL4LJVuoMzzfT8IEDGVcgVRVNHK4nj5NZEIiQ7KVIpEc0Cr3WgoOGgoViFovT8jYTQadCfGsCtPCTOw1gB6z6GYAZGktd8Co+pAFYJSCUkl73XhwKz2W6OKW1rtJ3mB+2Qn95iCD6aiE4Q2kaA9a2MQQGkOFCvFeJA2kALFvl0+osdB6f31YfI80J5FS3GLOBWCVgDHSLVEj79t2+VyMZNJdTqdWm3L90OjJw6fUmFmIiSmhJ+4ZVnSti3HsY/fJ4JxzaIOUCOggG3lgd3CB62RQ2ZglEkRCu+y2zIjMLJgRkDeTQ0gAGIYqNBjZpQuCCspwujekgABWKEOERnYilmqthFDxbfg2J7Z24pC1sBAwLDnJolAiKGvvDYDou2CEMDQN6ve/ocQIiMM9LQfdOZFqddaaxUyANCuEovmGq0x6VS/7Zq4SESDUgDMIJPO89vVZ5SvGKkdrZF3/XQQEDBQ3PEVIziSLEEMrLnvo0ZABsWgNAeaLSJBuzilMLljbIVQwma1i++SkRm1Bsb4MwIelBUCIoa+8jsMgJYLZCWV9nikiYoxqpazbatczGdSqWarvbFZ85OYirFUDp+lEiWDB2HYanXSaTebzVhSMh8nE5w1CAkA4HmquqDrmxz43aK8QQsFARilRdkSlqbRzUS1GjtKHBF1wK2NoLao23UggrjOjntHZa2BGS0HUkXKlEE6e6o6rbhT1e111d5iFUCv/L5LFkLAIQCQW8T8FKXK3CVcGShXJETUjY1gc0G3tyICmO17LkfV/RKcDGXLEeviXudLCNqquaEaa+y3+5RB34ahQ2CNTo5yE5gpAVo7qv40kEQA9tqqPq/bG6wVIEL8/CUXJ3xiZKUwVcL0BNjpveLjgeK1ejC/6dXbISJIwm21+YqBmVO2GMnKkZxlS9ppeQgEROj4eq0Rrjb8Rkf5ihGAcHulv9JAhOW0nC07pYxEBLWdCpKBCDVzYyNYm1OtLUQCYUW0cX3nEAWAKASkspStgLBBHB9LRWtmyxL5XCadduv1OiGEYWiUyqG0VBCREJXWG9Vao9XKpFLlYsG2LTw+3R6ZI4sNEZTX9B985t//JKyu6DAAYCSZfPkJtAIEJCHyI/bpK066SJksAOiQMeZCZ0Bi1iiIwzBYvd/87G+D5dsgLHIyPMiVq70WaCUrJ9zz33BOvIwYmTN9+ylzvK3oUDVXg4WP2/OfqPoKoCDpJJXz0YFXcNhBEs7EC6mLf4CZkUipIfXos1izsBCBdG2p9fEPvPkbgIi222MpRkRAHfqglSiMpc68ap28gtlyoh44NtRYRySMqJm9hr94vX3nF+HGHJAkK8Ws+tgphfaaoAJr/EL6hT+wsyVG0lphV1tEkheIBMqre/PveQufKG8rNoxiQkkERFYhAAsrbRVn7MmX5XRBpDKsgQMddR+JaE20BiL0Qn19sfUXH63eWGxaArOu6PZuQARB2OzoQOtzY+nvXy7n03mKa7ZjwUcONhJEgH6oHmx03rm/dXWusd7wEcGxBOuobgI0g0AINKcs8eps7k+vVMZyNiAEvko8ghExNJNAIAjX5hrv/qU/fwOFRW6W+5oOIJH2O6C1LI27F163T70MmXJ8oNFH/HzXratPOTKTcjOZdL3ZCsLQC4JuLf3xOuMejYr6MAw3NqutViedThULeVtKOGblvHF2VeirzSV/7maw+lD7HQAGYcctN1CACgCBhC1HZkRhHEI/jq/vwlKOwFo1N/z5zzuPPkJhi3RRq6B34hZStbdYhU6nbk8+d0BXD9bab4a1eX/xU3/jEZIQdlr391MhwX4bSaJw3NNfR0TehfeKo2ZTul33F2517rwHSJTKchjGVxISCuW1WAX2+Bl75ISlDki/4dBX9RV//jNv6SaSJdys7utcQmSpVpWVzzp0z7zZJdzcMavowN8Ja/P+8rWguRqFhmJGxVipBAAs7RyHHZGfkTrYp/GuUnp1y//oUf39e1uWxGJahpoTPn6QhLWW8pVudNRrp3N6D4J5BEAEpXmzFdxdbb/3YGu+6hFC2hZaR/0DQDFIBF9xzpVZRzY8FTHG8W6UNsCgmjV/7nr79ntk2SJd0rrveSCpOg1WoTN51h4/BSo4bhui1owASBh1UvH9wPO840QTdSSUSn9TNc8LNjaqjWYzk06XSyXbtvtj+McptREBBQqJQqKwI08XsEg8TggIKC0UskvqvN9QRCgkShuFjcIixH5LBaUNSCjkEJSdURRAxL09hEBhEQ4oFS1DRAkUhzf2Y52MesYIC5BQWNgNHCMiChRB1CUFh+xmiIhCorSQLBQWMfWtUaK0ABlJ4sEtKWPJk7B2KpWIcQVFtMD+iNGOEEf0GRJIgVKSLdGWhKpnqVgCbckMIAUS7k/EFRMWSwJLkC2IECxJOrFUBINAYGRLoKTYM4a8NxkcIkqJwkZho7RIDz4PwgJAFBbu7IUDxyiR33WcfC7r+36z2YI47YKIDAPYYbNUfD+oVrdarY7rusVC3rblMf1YkEDa5GYolUMZADAIq9f5UYXRHkpuBi37YINcWORmRaqAwqZUnvs6/SEJQGIVkpsFYQ+xdwuULjlZkSogCbJSPGipoLAAJdopoIMIRYRAJ0PpAiKSm2Wl+pUKkGCtyM2CtA8eCgmlncxKkpNlHnDxAQArn5wMCGuIoVyysxT6cbZCn1JB5QMAWRm00weKCwFsgTlXljOWLTCfEmFfIxtJQEh+qHMpaR9UhIUAlsC0LQop0fYtQnDtnlKJ3F++gqxDGVscXNElJLlZkS6QtevzIFiFlMqCtI8q3f0wLgNbynKxUG80Wq1OEITSEoYB7JDFVGKlEvjrm7VGq5XJpErlQmSpHEs/JgMza8VasQ57XWO77YTj5itqKPoa1vE4SKzD/k0EgKN3WKvh+uMysGaOZ8U6HFAqwKzDbvD/4C9uNA5iPIFuSgJGI6t4VgcHSPtnBazDfqUSvxO/qYcdisPYUokziDGaZ9yJUuthxKWjrC2lETHUFPbFVAAwUDpQWmnWQ0SANYPWHGoOtCYEqbFfqTBCqDnUOFTL7fjRClnv/zwcxwLyxNMFtm2XSgWlVKPVXt+ojoyUpBCmCyQcOu6vMAx7lko+J6XkwdyU46ZXDn4Nf/R6UkMNM7EhN6MnOasnONqTW+ATXSIPM9qTnBYf551R2rJYyKfTqVars75Z7eaAGRwOpdKzVHx/fbPabLYymXSpVLQtO2oXgseM9svAwOArtFQAwLbtcqmUTqcbzebGRrWvWsXkFh+ymEpYrdXbbS/tulFKsdZ8jClCsRcN7garEXuvLyAZHPxF+A2G6p9YdzTc/v5XOKv+X/zS4uq1B+7/IWKM/wJD4UFLHP6whLv9YsTv0nvzSU3r2PPyWlIWC/m067banerWVlepGBy2mIofbFa3Wu1OJpMql4q2bSmlieg4mikRixNS3EmXRFzOjRRFmRAJhmRnQgQiJIEoEKnXLB2j6iABFHWNHY4pMhoNBaJAEqCxP1APGL2G2ZW6s0JEEWdMdWcVBee/3KziKve+XLJoVkRD7ZVI0cSAGRj7A/VRAl5MijWE5KPPUBIKQkHIvepJiN6RFKd+8VAaBQWiICQEgYjUK7kXcQ4YIg03LSQkEb16TG5dyfMXeR6O3NcuCuLatl0uFTKZVLPZ2tis+UF/Xb3xmhwipRKGK6trjUY77brZdEoKbAcKjmdARSkOPO21OfD2yP6yKOiACg/+5mvFflt3migCEGJbto/2mqwCDjrAGnCIbVeHHLS130QSwHpb9hcHbUDJob8f8Vf83dUcdHSnGbUj25b9pb0m65CDDkBcV3jwGoO29pooJCAOZn9J7TVZecka8SDJBxx0tN/crU7Fj8o5WPmgD34ylea2r7Y6ypEoEPsD9ZKw0VFeoNu+itK38KBAva9001eNjiIEpWFH9hcjgBdozXCAmtKK/Y7uNEEFQHL789BpchiwP/TzcOSgAQjAtmSxmHddd3V9Y31903AVH646lX73l7+6tu4HKp1O2bZAAKU1IhEdx/Qv0Mw6jKq4ASlO9CKOlAoggtYHh2YRY/bDKPtLqf6K+jgzKqIOjImKh0mP6mZ/qYQ4kgB0kv2FEBW0703rFVtdWifZX2ow+wtYhawjQsM4J3j/QzxHtE1x9pcazP7COMcpVgPYs4p2lzsDq4EUL9YRr2J3/ANTv+IOAQyhhlAxIYSKB7O/IFAcKK10nK4MeDBLccQ+SQiW5l2yv1RfIhnu+zxoxSpkoljy3ZpMAFYhqzCJZNKx0ilR7JYZNCcxlVS6Xm+srm8YBrBDZqnEFAjAQRg6juO6lE6n8Th/hEjkpEWhYrOKlQrJvpTiWAGIfIWcDCDxfmzpiixHFiftzhYKm5zMwCkeSftt1koWJgBA+21SCiy5x/bGAIB22ipMI1lIgqTD/TnNsaUiZHYUSLIKgXYW0CFoZhUCSVkYs8dOI2JMHtMlC0HSQYdZy/woMOhOk1SI9l6KQANrslyrOAkqQJJkp7dbKpkG60AWJoAEhx4Ie88UFRLCycncBFqpmAymV6uBrAMAJMsVqTJKZ+9SRdAMiiFti9mK0+ik7YimhftoWhCbng6Unik7hNDyVaikLXEfwuNCSp6spLKORATX2lmnwilLjGRtKVAp3s1ljPHzYDuyPGlPniFpUyo3aKmQ9juslSyOAYD2Wrif5I8uVzGwJWUhn8vlMgDoe4FSx9NlcgiVSsR2JaWI2Nx8P5iaHHOcVDrt9p0djtExKcoKRWHL8gSdvsxhACRipw33EdIigQ6QBJWnQNpRCmivuXocQSdgDVrJbDl19mvW+BkkgcIePGUjswIAFDbZaeU1QAVku7ydADchAxOWyE+mTr4dEZYgiaTjS8L9pTwAENlxtDIc+iwdpL6+XtG2pTT6HXQy7ukrVmkSkNCyewU3GM1KIxJrjdJWrToGPmWgRzPWPYojMmsAkLnR1Ok3nakXInaAAfsXiUMfgClVRCfDfguki8LukQsnZgJrQOnI4klEBt11OfYIJZk5snNQuiJdAZKJ828gxEIIgWLNMJ63v3Op+OJ0RiDYknTfrBAw1AwAKZuyjqh3lK90ypY66aATz4sBkBEh69C5sVQla4WKAQaapkS8k16oEfFEycnYwg9Yim1c+oiErBl0KLKl1MWvWWOzSAItF/p40mLJR3rPSYWdhgx9ou4jc/TDCYjIrBlASpHLZfL5rGVZpuPj4bNUKG6aon3fT6VSmUymW7yKx8v8ppgw0XLEyKzIllBIiPhCthOBECifwxBSObBcjtxgO+ufmQElZceskxkZev9/9v40RrbkShPEzjlmdq9fX2Pf377ly33PZHIni0Wym9UbaloYTc+iVrcgQI3Wn9EPQRDQEDCABAkjQOgBNJBqJLS6odGUhK7qriqySVZxTSYzydzfe/n2LSJe7Hv4dq+ZHf2w6+7XIzzC/WU+Ml9EXGMgEfQXYWF2/LodO8v3fQ0ZLt5dtrU6ZB2BCvaQm2VgABKY6RMDZ+TAWSQBYBunX5IP2AAYEBnIlJibhMo76cgYgHL9dPwZNR4BQtyMkPzLRIhka2VT2YRMIWZ15D3oXlRAfce8wlij+LFLKoAZEBgIpM9IyLyrCk1gmRFAZsXAacoPE6mG5dulsBDBpeb8AggP4gRkB4JhT+BEn1cMSpGxuJtqiB27PzgxFb9BUcy7Ih6woASNFLzAE4goCeMcHex0Y4Y5q6gUSMts7G7aHUedCVgYUKeel1NVBIqvLDu02hFNvWqrZcjk48YQPmoMYFZIEQQZpWSkda1eTyOVA9lSbIythfWt7W0AaL6FR+txdic+A0ofBybi3Esn5Q+X6Ef3A7JxtCG2JToAGBFUANLD3CAyd9YLRgQA4XLrSOgyWkkX1XB1KDzIjYjs0N6SWdjwfwhx31o7qVVTt1D6mFOQ69uH7goRyWiM6kwCvYANN/rBWqV+YASUEPRjptR2A+HddE6IzAwcN9S5qCfRTev0HkFmqDAVV4k67LHd8s6pJIQJmi5bIOZ8CpQ3Atz5is9NkS7QlgWBL8nh4SnR4muZLYAvcbLPN66ev4c+Gjf8jCQk2nEZw5biPEkMSugX2iPfnXKiwmjSISOh37D8kaFsYWZmFgJ9z7PGrqyuRVE9WVNJ278OjFOJIh1Fulare553dKth8ZkkQOa6t3TG3Cj7EJkgCAXgAXbX5kYCdIqNHWaLIxUQuZ1auB1VbeON7IEXdwIqkrr3BHoZx+rPml2qu1OkIkApeCi6wCbN/m55X5IgvM7R2m7SwT0szwCEIAhR4v5vXbPtmJm15V0KKDGKXhDmfWpcOfZeFAI0lMH2fiIEkwSJXZ5BD4jAtSzsYXk49LBwScjMW+UygI10GqkclJpK8yrLXA9DHRlPqcDPkBD797AckQ6wnn6Ae/kh7EFtsnmb3WcmbpVt9jttuy0sOdV+cVsim4/7sqr0mCiNd8i9Wgv3flN6mCam+e+cT2x9FzeF7c1+DwyMPT0P3PBDn/V5aNCe7Wv5Q6uq4gpLgkApZY2NQm2tTbYHpqHKAYhUrOUw1NZapVTG98URJwRlBqt7rQ7un5fg1vHQKyh9n/PI9jxVF/xjz1NxrKu+78+Ynim0mpD4fRYWPQpbgWUXbXGvc+2nEwDa9DgVdsfVWwtgHo3l4dA2gMXno5TWchSZtFJ/cJxKg4KYmaMoMloLIqUE4T53xSNTX+liAe7VPojJdEu3oLF3V8F73+Qf3aoQegLnI+771/khnqVWKeUzWR5jF4bcs4ZHVxF1eBRTPVLLH9qySnw+CtJaI7C1R5XY9iBHKjbSWlsriKSSqXRBD0cEfq6zdU2BPVZ7/Nxt9RkdXesn+ZFdtR79Hg/fICJmMCZ1KgfEqSQzFq6fWGstpPQ8r5ULwAPIV/+ZMyeJxjfu/snvaSp+FKmhRAX+EUzVywYfylz8mZNyj3aDzfLGPqWJRqiO3XspGq2Q+xU6sKc2/B4t/0ifroNDUskJ4wghpJQIrBuF+pQw/SBFKmGotbZSkCcPbKSCvVANcuOw4e5T7XNCNGvO3T/SBNTLR7qX2TCeav89cg9T9aIT3GyF7a6I1cseuSef4Vhh9itxcI+HKWFX1QZsdAN3aXgkZ7D9Ld+Yh3uxlZuHocsD9sgs3/sd4vGKVDwpLRtt0+6vg+FUWp8jyxxFoTHGRSpNsi88WL1aMZcf9wpJ6d4Y1+2EYHiY3i/ugey9S9tWLHzXY+jTQ1vuvqtPUM3v/RcTe+RHVufrtkHuoSuKGRAZGHnv9xhjxcUuNuWW38BP2yzY+MghY9KevG8otm/bWc9PFxwkzuNEDEqEnqciDaYh0oVIrkMsDVgORKQSaW2FIE+pgxipEACAgZ4EXdFRte9dlmBk0+gf4g459WblFgkQGWivTywhOLIW7kXfFxFQ7gFsjMGNyI4gl/dLDCHw/oEIW+QYULGf12EbI0BJQpLQvsMezf6ratdc2dPyCBbYgN3jut8kJ0NAIMb9+OER0VoOLTuo/v7hACJKRNqbU5IBrAXLTfqwDrjMWFhl3wYwIgS2YMIWDdkOVGzsS2z8PMSW3+vpYuj2PLRadYEOXC8ZEXmeZDDa2LTWdFC6v9prKkZLF6kkWPwe/4sNAxOAAAP1si5v2qgGgEjUTJg3L78M7BgPIZMFFbDznWxb92xCRAQTYX2bwwpHIcc8krgzwENE6aGXhUwehO+01aHtp1gQEVgwFV1Zs1HVscrvPCAYABmAkCR4OVBFkNLB3lp+DIkBiA3pCMKyqW5bE6HDt7coT5o7JVQ+BnnwAka5R8bHQFiBcIt1vQlJ2Um+AuhYJlHlMDsInoxP1kRfXMPyGqKyrm1YHTZIz3b4aGZmFIq8HKgcCJ9jYpWW5dHlqnTEtS2uV9joTh1uzABIRNJHP2u9PJByJNDJN8jBFRmgEvJKJayEhgAFxej7BFoeAEAg+Apzvix4QkhCYGMTqSkEZDAMNW3Lod2umdBYROjofgRhVoliRmYU4q61x88DIYQ1vb1q61Wgjs8Dx4xqiOhlMdsfE4y2LM8AxAAELFhDWNb1LatrANTBK7J1XHbo51HlAD0GfMyjlmSxjBB9zzNGG6PjS1caoBykSEVrbQwd3O6vqGbWHoTT1/XmMhCRbKduRGITsTUyP6DGz5GaAg9339+BJCByvW5X75vVaVPZbLAUixaXu7UAgEJQpiAHpsTIOVQZZgBjdt8EkY3ZXgjnLumtBSBBMgNs2v7damBLflH2TYnScVCFPfubjeHKul2ZDpfu6eoWImJT5aXxGWSrEYXsH5WTT5CfZXKrxXaHQYhgq2vR/BW9ueDoLHfRXGoAROmJwpDsOwZB397XCwtR1WzOhMvXdXkVCEl4Leg5OsuHbI3MDamhC1QK2rxgwvKICFHVLN7Wq9O2XmklNBsBClvDAEJ6Mj8gBo/h0AmQHjCA6VCaiAzPbtTfv7/1YKMuCTOKTMKrEGGo2Vruz8mzI8HJQcp7YveNSyAgQi20i9vRnZXa/dXaZk0TgSTaERxYAF/SsT7/mfF8zlOEEJkdlGQMhIhgyyvh/Q/1+hyQoJ2EkuRIi9ELZGlE9E/tYXn3iuFw225Mh8u3dHkViGgHWxoSmzpbK/PD3uiTVMoy4sGqqhCR9KSMpNbWGCOlSPtSH3+nws2aShhFxhgppKeUI8Pjxz9QcYcRA7AxtUp97k7l0s+j+dso5C6SeWHr26wjb+I8Zvu84ePgWHiJGiS/zMxO7NGGlfr89fDuu3p9jnUEzCDaqe8BUEhZHPFOvpzpmxT5EltkZmzWA5AAmBFNFIbrM9XbvwgXrqLwyM87UZCGsxA2qrDVqv9EcPbrojTl8sWxGAjGvB8gEAHYaLO5HE1fqd78TbQ+jyRIZTimKmmKdNUApX/imVzfqBicIkRjGamFimDLpBBBmPJq9fbb9dlLiEgqywlXhyhsVGW2sjQWnH5FFMfjdA4mcjTO8oBgjalv1ZdvVW79LFq7iyTIc5ZvprukDbfZRN7wExQMir6TTIKNaV05XRyDiASmVq7PXKnffteU1+JSfJwMxIYDZuFn5fBJ3xhVHBNBASzGeTxEJ5noCu+VyNxarvzg8srlB2VPYCEjdYOm2DF0bddNZPj8aDZQ4uRgIOJMfZPzGdgyCSLAUJvptdrbdzd+c39rcTMkgowSTep7RxcWGc554tUTxamSf7zfJ4CQTSPx32TVRLY2Wl+oXv9lffYySY8y7dT3IGxUZatV/2Rw7nVRGk+oWSeCUXLPgzXVzXDxRuXWz6O1+0hi5/tI0ta3rIn80SdFblT0nQQkazQSPeaEx61YmNBTXl2ExpgwiqQUiKlXOWDdX5qIpBQHMVKxOjTb69Hi/XD2BgpF2UJSDgtJ2soG65C8nA2re6gZxvkrNpHZXo1W7kcr06zrwAzNuzwS2AiAUEgb1cTQKTZR+4G7w7DGVDej1fvh0g0UHgWlWILJfWJI2PoWGw0o/LCy8/jY5UFtvaI3lsLFe9HKNJIgL7vTqYQVIEmFIQ7rkBQJ3pHaQrJRVa/Phgs3kJC8AlsD0FiVc8BWs9H+5JPdkqBsdWiqq9Ga26Mkv8BsEnuUtrrBpk5e3kZVQNEp/dKwvI7MxlK0dE9vLQMzsAGSbcqPzCIosFBy9Kwyeh+5+sjY1Up0e6l6ebbsKewL1A7lx42KrhurBG7XDUKc0cJOuvTG8kZVz67XbyxWZtfrRJBVcoeeSt3YgicnS34tMgL3rJszs6ltR6sz4fwNkh5l+9qcirO80cjM9Uq3/DPbqG7Kq9HqvXD5JpIkL99meSFtdd3quvCLseUPWu6IkKSQiKS1DsMwG2RSn3EAuL+aqdcwjLTRQpCnZBNRf4CeQQQn/S1RSJTS6domnQq6aEOIHlTJnX67RJJAFrhdpMvN6P61m+ArIrRWJSSSbKvKoEAhgcFpxfci+QJO21zI1o4STgWEBFJITXeyZ6tSPJWQiIhCtg56aqwKEUlgTzBy3LlH3mV5sEA9Wl6gELEoC1ObRj0wMCNJJAHd7j0ISIhSoBKkBCqBzToKIUhCJYkBpEDsSmmAjqESJKESRARKoEWwAIRgGCSCBVICBQFityjACdTv8zw0+6qhB/AJUfvzsNPyaHu0/OMYqyCRp5QQFGldjyLLTDEDCKS1lQPA/WW0AUbfV0HmYHJ/IaFU5AcU5FEoyuR2RCrAhnWIXtD9E4uEwkMvID/HLk+d1Ki3GgBRSPIClF63jhpEodALyMuj8MjL7biZAjALjSro6RwhgcojP0uZPJIgL9gZqRABSfQy3WcjgSogP4+I5OWScsKIAgCYDXoBCNWT5YVH8R5lI/2VsLw1bMKe9oiEyiMvS5laJ436CJjJz6EXoFD7nyuI4AnKeaIYCE9iPiN2RCrMEBrMeUKJ7owvSmCgRN4XxYzomP7yDec8ESghumlvoxDoBZTJk/TI3/U8ELDR6AUgejgcUDh5N/LySB0tr4HCXp+ux/B8FCKfz1ZrVWu5Xg+ttU2u23Q87k6Fma21hBRk/EwQkKCYku9gIVXYMlsnTBKrf7cppZtY3px74Zu1wJa5IbfOTfm9Rl8WY+NA5+6FH2uZjZNeb33sXTTR0mPvhd7RcepatqahBp9wKk6/HbCn2ZjjVQHGa4D2VdmESnwvlo/3iDv3aPFh9pjYIDegf02nYg0wt8nX739VYjbM2jJZMJZNwqkggLaO7p5tD4a3DNY2ZgMw7Rr1AkFbjl9k6Mny1rDt9Dw8xFPazfKMD/d0PX7Ee0qJYiFfq9UAIAwjaywIcUREMA++UwGw1jIzIhHRAe7bc9K+ya/dr3+mqRrfxK/wQ/DHdFgDP+Q8naZKLuxTrKrDXj7FqvbeI/JntdXuN7HnhT3Kx2H3bAl5ruQrj+B54Edhef507+PjxYRPhE7DjS0fXZ0neFjE3mMhGcKWOdI6DMMoiqwLUhBSceh0pCMdnxfVh9Z6u1IpVyqWrRCElEYnBydSwYY8ThhFYRgeYE5Qx/3V/NrnxZ6w35jo6cTWVM1/7ZXO/VGtqn1hrQXgzgkf2arwM6zqs1m+jcuy/b3obSp8pIbvOBviztcfj+fhU8/2eA1jbKVSq9VqiJiypx8Mp9J82IjIU1JKMsboSLswEw9irb6tr6ZD9xeS6IGsAuNWnP27v1D0xBSJ5KaKG8Z2dPuQBAZE0ROFBmLc7UPS/Xdn9xdJcD1pXc+Rxl9HV9Ftdn81VwWIcRMq9m6ueI/JHiR0r1jsqaW1tcHdhXqXzEGSiD0xjiCi69dSAl1HY7OmIgiVQAaSvV1/CYEIJaEiJAJFaBuQe1dTYQZJKLDHJr5uzwP19jzsb/n4xR4t/ziqrrJlo421LEkopTDpgNPxmEcqROR5SkoZhTqM9IGMVJhZh7a6bcobJJSrhbbhVKobVoe2ug0m6lpaZx3aetlWN/fAqSAKZTN5jurdK8YmsuG2qW6Q8By4IHng2vqWNdqGPawKAKzhqGar26ayQSTARDu7v+oVIMX1CnRldbXGhmVT3SAHxNiBUwm3rTWivg0mjF/f31wmjPcoJVjLnOhoImVrG1aHNtyGBPBzz6mimq1t2+pmzDy2C6eCbG1Ycd/vfyyFxm5WzWo58iRayztxKlXjfiA03PWEiwxXQrNR1asVLQhq3s5CfWhYGy6HJonb3+N50La+bSoboLwmorOFUwm3rda25izPPVm+vm2qG+S67HZYvrphdL0nyz+WwzJH2rBlKWUS6pCOA+FU0Pc8KURV1+thZBuRCh+skgpbNhFHdbbMKoy7aJwnIMtRyLrO7iCGrqK2hk3EOmQdNkqxxjVxOqcCzGwiaHbi7ttYxyZiXWdg1vXkIQJo2dRZ68SquiWbjWEdsq4zSSbJ7uQFArBAknUIZGN85b6U741VhYzIos6m1VIMJFnX2Vmgx+4v98OmzmBY+My6BQlhZl1nE7KJWjRr+0xlDOuIdei65kCYhlMh916wDNlo6OHeYyyHxurIMmNd2aRTMYT1yGpjQ9PDDYrBMmjLdc11bYmACK1xRGRgLQiCumaPKDJsG0wIe7+HiedBhclLBqDkKGQTsYnY9m75kHWdhWHtJZ0KELOps3aWP0jIDm45FVsP65HRQghfeU1+4tS3HJRIRUopjbWhPpCRCgopCoPe1BPoZVBI8pto8zassjd+lrJFx8LRiQ8fAACEJ4oj3tg5yjoAPAPJxoWdgDUAIZEoDInSGAgv7q/pDNEnEfR5I08ACSQV07QkVxVV2BrVd4xilifeL23iB6J/zDv2JJWGkYiUz3F7j4tUiKM6oFBjp9DPc0xBuAskzgxsyc97I2fZRAhNmpYmWQhZXWNrZXGUsoMNfuJ9LK9EbtgbeQK9XIsspHVfFrZeZht5Q+fRLyZCq06Wl57oH/cmnxDVcWAAsIAJnIrVwExeoAaPifwgCAl7dzYJxOG89+xU3pOkBBZ8obnlVARiuW61tWdHsgN52WA/6dzxJQhLgTg1mHnpWOHEQIYQfEnOQ7k3jAAiC4Gks8NBzhPGQidMrEtMsQiK3vgFZibpngeToF8mG1XZWtU3TrmBrpYH4Yn8sDf2JGZKSIJUsMvy29Zob+QC+gW2BlAerKy2tTbUkdZaSvI8mTqMA+FUsKlSoDxPCKGNicKop9b9x0SVK2bKAvQy3sQ5kS3ZejnmDAduoxN3VH2ZnCiNMgNYg0k9KEQEZMsMSF7Wm3xK9o2w7syVG9PjC0W5IfRybGL69CRTkwNwI0k1eCr31B8FtU1AAlLt2SR0fIIoPcwOsEv1OKquZoGaGgEjCSoM+qeel6OnWIetAiwnqXcNAFC2D4sjbAyTaFQMmhBltNaSNaIwFjz57cyp1wAatmoTRrGAACjAy7HMclPNqsmL4izvfkHlvOELIjvgmJh3UbUjsCNJLFBhnNkCN4m/2i2PQEHBP/2CGj7uwEadLA8ISCrAwiCqjDWNeMi9xzHDFlgLnsAnRrP/8Wujm1VDAEqgTawKAY1lBgg8GskrQWyZJRIDIzaZMNF5Dk/g8f5MRtLzU4XIMAIQIrfNBoaBEAZzajjvaWNdDSapn4qEbBnZyv6p3HN/Ozj/RUABjjggOZF1lpeUybPMgOPtT7rhJls+ImUKavQi5Uc5qjU0BXZZ3jL6BSpMsDGMBukgSEC22NM5CiNjjBBSKZUQFErHgYhUlJIiLtQfyJqKyoiBSTE4BUiMnSADCOggkFpz4kxsc1HOm8qMGDguB6aAJDj2Pd7FzW0tsGFGFh5bR2hIHT4cJDE34uVGGp+UDkIciMgmsrrOe1FZNZwKZvsoWxIkkATvVqqKBZ0YmC1QIojZeV9mBsz2e7kBRN6DCx2R0EZ1U68CNP0Ed26LV4EoTYm+E4DEsLfl2VpjGN3fpN2WZwRQgRg5I4dPAYk9dEQQ2KCxjGiF16Cz72A0RTRR8ib7vaZESQe7A0TG1iLbUQEFASwDMihBI3k1nFfKcdfDTp1IZz7ngQSg4Y7YPCe+AJgb8HL9jQXtsjwiItootGGloYCy2/LcsHxO9AVi4DSi6KyOg4gMzNZay9CkOj1IkYqOtNVWSkp9yYHr/kLP86SURpv2luLHP2RhYGAkEIodcxTtIZyKDTwOmb3lBTk+41SG9++hEjvAZdxpZchASJKR9icdZ1JAXoNld0fJp9nPI1hlABFIwP7SiMz7gqiRUSBJdvPs10KriHxmRhIQO86dcQMjAnqMCCi67JEBUCPvVXNwJ65AKblbFywL24J8dnIqiCAIiFAQNtiiuNPDj4pQETrmX+Y2J9xQ/mQiyJAgBNEQGuooO8kN4P1ehndXA3Y1mX3eQQRAhcJDZsDdlsf4loPIwo9Dw66Wd0nXg8AAxu30UfUw0sbIBmkNs40lBNJxACIVKaUgbXQYRQcxUmEgBgajQXO3hk5q5ZT2UgNkiJPd+0kjNkuGvG9JnNlG3aSLMW5Q7oJ/JmZmrffvoMCu6AQkBo7LRTt2kPi/iAhCNrRv93ZRgMzcOLZgX8VG3EfXsoXCBduz5fe7MFkG0+S730NcFxEFIhLuD9d2UcteszWjsSZmZe+3GpkZdATdHlJo9cTv53zip4uhu+WJDlrjTSweaLSWghqvHFAasyPiVBKXJUJUnhJCGmPCKGx+dA7UM8jx57qzJHnrGOlN+K5xbOFnk3lv5JK6a93F/AXc08KQu9XJuOt1sO2Ix861tma5ugei4r1X9VCc10013s9seYR9pX2T6r3djttm0WYfaWLs7WlAFwp3J7Hs/XkQPVn+oHyYEylUZlsPI2ArpWzFsylH8cGpqUgp6eB2fzX09/b68CSpqHo54GzPYTo+ZEy/5yeph9lsD5NxmyJrNzqrbh2r0MNsPbJLcW/msl1+sBUPYU9/kh/Bu2h7eBu5eTf47M8DN8syj8ryB/IUttYaYwiBRIqlPwhOJXlfJyLP86SQTgynFeQfsHAZH50IDP5utOwenw32NhH+/s3V7WDGTyl4/ii6JH9flsfP60F9TIiW4k1pYwCYSIgG4z0Dp4HKQYpUSJA19qB2f/3Oq4af5fPMPcyEj2hVvU/Fj/TM4rYIo/P3+PvdYA/wXXz4PeLjZvnDN7ABX7VEpGTK+nWQur+w6VSUp6SU1ljtYMEHM1R5lOD87pzhzcpzN0x9V3mMuIjdDUPA7KbrvjCirlMx29422AOywZmLd5VneEe5uCspGXNPbO29TPVQlu/lTWy0+fH+Arj4yCwPB5gL8lPzEyNiE+FjtJFSep5qOpVHFXqmTuX3EXJ6ShJRPYyq1Zox5ki/LYhIKv5Q75+sd5iQffuGUAhs4A32bNJhANt1KkAiQGodp9w5p8kMbLkLKRkJIrn/kRXTDnC3qZy59jjkm1uO99iFlIxIEND+FDoNy9suRzMK2aRS7NCY1ngdTC+WF0i4/yHP8aq6mCvmA8X9ah0Ny1s4wgoizKAjg4hCiNSPHDCn4kCqnudJQfUorNRqpvHJP4pPdLOJbN8bZ9w1FGs/7tn4hDE220Hw95zPgcCxI1qxHT4HuwjvO5QkLNjG+7rP4gkbgj57/FFs6+3ds2eO3Kqo809gEh64PxENY7yqHb+2o6LU1BXD/UltGl97ceg0LY+uz3dv0yMgcjN42A/1ZcH0UDDAppQ97/0O4tF0KOwiFQugjY20JiKlJLUodNJ6ygGJVABASen7fj6fy+YCKcURraC4j7upc2XThttsDLPFZBcyNtVtAYRALwd+HwrfafnuPnKIja1smso6h7X4OOkA+WMUCv0c+jmQfqdUjLvWGoiqHJZNvcJGNzqVeff9AFWAmRJ42T0AnohgONw21XWra8CwG/PhujqRBEsfVQ5VHkjtcc1gMBFXyqa6yVGY2GNSnNgCM6oMBiX0c52ABgxIiMi6ZsrrHJY78UUiOLZGIpQKvRx4BRAK9rK8Nba6acobseWJdqzdcWWiUBjk0c85zuDOXQNWc1jmsMxhna2Oc1PcIuxpOC5CL4CgBCrobHlEArb1TVNZ5agag5Pa82lxbyIJUAF6OVBZQHnkLniE1oLWhoj6ioViMe84WtJxwJyKECKXC4aHBoIgo6SKj6cjdC1gsIwSUaCpVfTiJ3r5himvWqtjYEHzlHSHEQnKluTQOTX2PBYyYMFGjNS8XROzJSEgqpuV+/Ub70QrM0iSPEf5lwAh6hCsFcUBb/KiGD+LhRFACQhgdOxd2MbMiUbb7SW9eDNcuG7K60CI0ovh1o0zi41GIjl40j/xshg8BYjWWmzhqJGZiQiZzdaD+vQ70fp9AEDpJQ5xR90YgWXKFFX/KTl0FosnQHoAAMbEgRIzkABgtJZrW2bhZu3eR3pjAUmg9FtCxY6eMqqyNWpgwjv9iho7ByJrrXUHrMN4s2VSiIRc2YoefBgt3bT17fjUbhLqIIHVDIDSl8VRNXxOjDyBngcW2DBQg3qAiC0TIejQLN6t3/httPIASbRZHgGAWNfBWFEa9k88LSbOgBgE17dqTYw8ZwAiQAAdmvUHZuFGuHzf1jYBCd07knQq1qL05NAp7+RL1H8MEK2xDeI1BkC2LCQhsN16ULv9y2j1HkpJMkjUVxAA2YQATEHJGzwrhs5RaQrceWrMwWJY+SzNf4RgjK3VQyFobHS4v1TwM36TvC51GwfAqVhrhRCI6HteFEXMoLU5kkQIFggBAXRdr8/U5z7S67NW1xEAREKky2gARClFYQyEr4YvIjoaQgsgOsiWbC7X734YznyCwqMg31J5AQQirlfYGjV8XOT6xPCxPS6k7r5sbHVTr9yt338vWn+AJNALwNhWVokER3Uk4YdVNXpOEAIhmF2cjIjAYGvr9YVL9bmPEAC9XILD35HMN1iKhRTF8QZOAzsbLarqtdn63fejxdsoFPrZFkmM48qtbbHWduqCHDkNfKZTAsPG1BtRLVq9U59+z1RWYwocEnEgggQmZADyczx4mvy8GDzdSJZ1sryJ7MZi/c6H4fQ1FIqyeTYmQQtPXKuw0WrslCwNi5Hje0SuCARgtd1ejRZv1e9/aLaWgQil3+gmQADrHB6pgE2kxs4jIceOvN3yhGDBVlbrcx/WZz8i5ZFfbJHVAwIKjirMVhbHhciI4mSXfOghdStEGEW6XK6EYeR7KpfLSpHC6A9O95e1bKx1beBSiAcPFoyxGxtbR675i5MlZWujqq1tmtoG6zoAA6mESJeO0yZejnWtTXEkSYbOscqQ1aGtbZntNZQes4nJUVoH7jYbIwqDzBZJOAJA4F2gcZdGMtqGVVPdMJV1JEG63ihWu/uy4KgKJGV9G9hixwq1q7MQMVsbbpvqGiKS1e0E7MJGZbaG/DywRZKdWf0bVR42xoZ1W9005XUUkky0Sx5tk3Voa2WwBuLSOXdsr2W2HFZtbdNUN3YrP7KJABisNvVtG9WYbSv9t/PsZWuNjeq2smm211AqZp10KrHldSRqIxzrgeJOBETDdMzMJrRhxVY3TGUdkNDLQMvyFlCAiaxXl/Uys0GM6z7t2+MYZmEiW9821XWOPGZuSSEAIgkbltlq4RcB2K0KjoxbYQZmRkJCqETR6tr6ytp6vV6POb/TcbAK9c0MWK1Wr1Rrm1tbxlgiOmIZsN2VDGr4h2bmgRrfE8BDSbgT7GgSxcaLrpQvnBIwPszCsLE8bNAkY/vX/jNg+x5bkUr8TyhAeCBUb9vExJKSRY7EUrE3LefWvjixQWj/vnco3R6Wd68QgRAgxEPsEam1EteAAdSb2RPNDfEk1LqAYOJtRQFCgThg8ifwaDBzQAhRpNfXNzY3N61lTymRZr0OkFNJHmKep0ZGhlbXN8rV6uZ2JZfLurRYIy8PR6to727KLuUdfwONsnCz3bO3UC6eihPExtCaJPmvD7EwbDT7NpxK/ErP88SVD9vaZhx8NOaJ/+mhVkXte8F48tZSueepEt+4wzp+L7hny3N3y9tPYfnku4/NfvCe54GGTWzLOE1v2rTVUewnZtexiABhFK6urlcq1UIhPzQ04HneDmhdOh7rSKX5PnmeGh0ZYuBarbaxue37vlISAI8kwJ6AGl/gGOkbyh8uUon/iXq+fVHrVxKZfSACdq8//MKI2pJuO1/vbSq3jGSk0tx1q+P4YVfFO/f4sKtylLquVN5IfwFTa5s9WR67rOqzWz5OTzWmws/2PGDjlSMMIHeHURjp9c3Naq1WyOcG+/u9tPvrIR7Tx8qpKK+/VMxmgkq5tra+EUYREcaqTgxHMlLp9vUQkUrXqR7twh7FVPBYrupxtvznsKrDFqrETiUMV9c2ypVqNhsM9JWaTiWNVA5SSzEAeJ4sFQvZIFOp1dbXN8MwJMzCkSYgaqbI9/nmoaZK/tZDZeH3nw13LfhTTPXIV/WpZ9vL2snNPj6W/xSzPdpVHcKhtV7f3K7Watkg099XbKa/0nHA0l/K84YG+uYXlsrl8sraWhhFGKuuMOIRa21sAbKxUXrC1uvJH+hxqjjd4fLmjdcJ4yQMUq+F4t2zNc9Zarze02yugk27NoKN4jb3vKoe9kg977FtPe3fNOvtvRB/PVrLN/+om4oSzwNj/F/CntJfyVXhjvYBjNNfvVv+0EUq7pt6PVpb3ahUavlcbmCgz/NVgqotdboHKFKRsq+vmM1mKlUXqeijyt7GYA2b0H21KrSJlmIAZhMm4B17D2vYRBzVgJml32ohRXTIEjYRmwjY9lTgNYZNyFEdSDBSW0sxCY7qQAZ6ms2CidjUAImNSrYUAws2dba651U1zBXVwRoWKtlSDGQ5qrOu97aqluUb9epES7GOAJilYhOB7YGezhrWIUd1YMvSa1+Vs3zY6x6tZRPFs7lz31keEThuKY7/2/15sGwijupsmVXY9jyg4KjOtufn4VBHKqtr6+XtSi6bKZUKQggHx059xsFwKtSqqajB/r5cNru0vLa2thGGUYOX5OhVVFyVuJkob6W5G9+4pvoeLMMMe2bMk71J2BOtESf7rKDBm5vs5oqXDt1aihtTNTuXYNeq3KHZA0sx7y4tNBmLGy8y9yDSxbumSpqr1bHWA1Vz8w927v5KvNLTHpPvPne2vGst4N7eQbBtRZqEzv1DWf6Q6Uw0PltcD6OVtbV6rZbPZ/O5LDoafCEo9SsHraai+vuK2SDjur8irY/o24KCvEBkCjboi8GPQsVEJuQQ9YBCiaBEXrB/xgMRSXkiKIj8AEpFQYFNK7hBEigVG01BHpEgRufh3oTHkvxAZEu2Xo6pR9oiFWLpA0ny8w0gOu0V8SAK8vIiGEAE8nIJxl9HruWxNeTlAQCs7nJrFoK8jAiKIt+HQpKf43ZEPQpiHVGQRyJgA/t4YhLkBSIoxZFTrEjeBn4UXk74BVKZLpYnIuWLbEHk+2PLtyIVQBQoJFtneQRj4oBjr3dResLPimyJdQREqDJxqOS8JhIYjV5AjtlsbxkpBCDpiUxBZPtJeJQpJSMVREKpYtgpIljdgwLp4WQJD8Nwu1Jha4NMRhA54g9KcfUHBKeCSacyONCXz2XLldrq2kYYhjsSnYeccqghVk5CycIoD59Dd4gAA8lWjsIaR6suc0OyMEbCa9wssVXgaFySSQiZ71fjZ1lIJImZLCScSpywYiOLw5TJszVgLUhMuJYmPzsiEmVyqm/cjF+g/CCgQOm1HfeIoCMUQg4dRy9ga5h2JqDR4cbZoAzUwClkBmQQmZ3zmIiZRaZIXg6sbXcqCQJhBkAklZHFEW/8PGZyQDKBNm9Q0YRVMEYOHUM/y9YAW0yKtDctj0DKl6UJHr0gqhvsggxHuRhbXjOAUIEsTYj8EJKKb/mtQlfSXytZGFATZ1l4KCT6WUg4FUDBYQ3Yyv5RygRsNbBpUDcmaksx65gQ2ZIanLJRlUpjzsfEl4wmB7I1qDJq4BiqDMfvV3tbAWIMmg9Kavgso0VS6OcSlDYQU9FYlkEfeTlmi2yPDpzeeVX3f6vVmjHW92TQYP2K8fZppHKAIhVmFkIUC/lsNtgul4mEPnKRCoFTJ5MZ2XcChSfD7fjK3DzamoSSSOTnRX4UZIYtg92jQZwkFYe9Uy/Q0AlEQuVBUgUEyR2y5GepOAJesMcN1yE2JAZ9cui0p7KyXgYkjClMEqe9tYhEuUEM+pgZ7O64x3WIAwUD3uizsjjV5jJb8zADIymRKYJXSGy/k9G8rBiY9E69JEbPAjmyxeRsyCYCy5QtUWG4QRCJuy3PACADOXgaVY6jGscZkSbgHIAtA5BQIlOi4hg4Ps29LC886hv1Tr9Iw6c6W95oYKZMlvrHQPqdKYpjrIyk/JAcPc9Bvwxr7kqxM95iRqGoMISZAlsG7GR5ywxA2UFv4nkqTSIJFF5b4hEQ2DADSY8y/eDlYRcR9SFnsCCyzMaYSq3me14xn/U8lfqSA9n9xczGWilENhvkc9ntckVHJgwj93a67DQegVCFmcECCJ9KxzA/CtbsUhOJv0FAIIFCsfDBcrtkB8ZWtWyBID+sThSk0XuIQbBzUSwkCg9ItirAzRsuMwAwEmZKqLJecapBOIadNUmEBOmzO4923ZeZGVBAMKRG8xw3HeCeRJZEKDwQXuxumxmn1qoQZIB9kyo3JI2Og4YdIijMwIBCgPRZqmT41WZ5AyAzNHCaSsfAWu6gPxavAZ3lyeMOlmfXr2hJQnFEZYqdV5WwPEgFQjUShrDb8kAKsoPkF72BU2ztXqIeLcs3Lt47efZc3cXvV+PPSxM5suR2eGnr6WLnckjttPzhrWISCSEwjMz65ma5XC7ksoMD/Z7vYRzkpa3WBy1SsdaCEEQUBBmt9bY29Xp4JNlZAFCAl0PMdRVGBAut9EXnFitEL8BMQLS3VmPMu+9qt3vN5hhzfZAZDIC6iQ6zAWCzX0wmA/SCroxKPUkQkgCRwyBH2G2PZu+pYochMeN1UdFtFsu7WJ7Qy2KQJeyqeNB4HzuqxbgDXQbgBUhd4Mpsm8qPnfdoAVD4qDLUjazANvd4ZCIVIkCgSjVcXdusVGr5XHawv8+TEtJxEJ0KJ57vIOP7yquFYaVabSrYu3jl6PgY5n01CpOCSr2AhBn3LHUnGoigG5S6IYoCXYpc3JVbxTUsIffUuta1zSoWK2TstkfofkLGlufu2PaeiKQsMnZvru4GhndtXdja447QAhNvYg+fNeSemquPDq6emTnWfIQwilbXNirlai4bDAyUUtavg9395d5dz/P6+oqb25V6PYy0EYKICAGOUlsxg426t4dik9O3K07Fds8f7mDS7bwuA7aHPuZeprKGwXZ/U3uZChiM5l5wFd1Bi+x6BB7Fqh6p5a1JNCl3AzZ2aZs2bC0zd0nn9LjHQ6X3CISgtd7eKtfDMJsNisW8SiOVA+pUsHERQETf98ZGh4Rcr9Xqq+tbpWJeCAGAlg0eJaGgWNGvJ/q77mBs5C7Fi4dB1HPPvHz7n1nUW5a6Z8D5XkAUfpg9OjA/PGrL738z6JHNG/FRLAwBe4Rb4JGChjmbRFG0vrFRq9cKhdzgYH8SS586jAMZqQCA58nBwf5aPSpXqsur60HGzwYBAxt7NPlSH1kXwKObFR+/Dbbv8bP+Hfx9rOrzfR7SsccIw2htbaNcrQ4N9A8P9vt+yvp1YJ1K8yLge97QQP/a+ubq+vrc/OLwYH8hF1hGtpaJjsx9obeCSY/33F6S470GKz0s7BGuqtfZHqG5Uss/7MIOURWTuVKtzs4vrG9snj55bGJsJMhkUtavAx+pBJnM2MjQ3MLSxsbm/MLi+TMnEEt0FPVUoDt1R/eSeKOvBXCvqu1DzpZc2C4V9Fa3btepEqyIe/cE9FwW32dV8Bk22NFWTa3ez2L5z7gw7rzCR7mqXhsSDsdwok2IWKuHt+/eX1vf6C8VRoYHlUpxKgfVqbRuAdlscOLY5PSDhVu3703PzpUrtUbLPh89vlT+jImMxhyMex4P3AS2dG0448bJlZiNOzmD3m7L+2/QAS1aZWfed4/cwArCPj+MMa87d6PG2msGfgjLcxO4s9+Diz0tqhfL97wq7Nps5lbVw7IOlzq9+75Sqd25N6t1ODTQ318qCaIo0lIKOsLCZQc1UnFvGTP7vn9scnxooO+td95jgFqt3micZ3GkmO9bPgE7X5mb9/i9P/zJYAA7Xbgb3zNYw3GDAO7THtNa4e6qeFvY06T+6PwpxuZ52tENxh7OgnGrEvtAuwkRMfZQuLvLFpMHquX99EIcg3wPZyl2j1USR1Cjz6qz5S3YxqrwUVl+73lo/+tZQ0oSbFzD7JHk/xB84AiZwVizXS6H9dD3ZLGQl1IAAFsLkLJ+HbjuLwQAcrh6JcXoyODgQN/yylq5UmuiVeDQ4+qbjE1sUNdRh1YnaMl3HSEoBEqfpQeoYo5abLt8EaFABhtxWLY6QkTehetOnL0IwmeZAaEAHJABk+cYoRVgwERW19lqRyHZfqwionNMioUPpKBTHxUCAFjUEei6o/HnnYc4I1L8YWYDwgc/B8KPsXgJUzAAIQi0YOoc1azWiMC7EPUY21CAVEgek+Id0UHMbYZoDEY1NvXGkdq2sHheIhQKpLLCAxTs8JnJVTnLE4MOOaxYEyE0LJ9wKthoOUIkEH7DYknLx4LKCJasBieFYE082y6HhoggFAgfUAHQjgoMM7vmfNShrVdsFMbPw84OKHQoSQRkqcDLASmXHjqs3sVaFoKQVBjpjc3ttdX1wYH+wf5SNptta71LxwGtqVhrpRCep0qFHDOXt8vlctm6j96hz2uyBSEBgWt1u3rfrs+byhYY07j3Jrm/EIgok5P9YzR4HDMeM4A2uzEryMZsLUYL1/X2MpIA0U4BCQQ2AgbM5GRxnErjIP09b+bWcLhut+ajzQcm3EZAILnDqQAbRBS5YdF/BnMj3Fxt0iMSoQWurEULt+zWEgCClDE9YvMzbC0Ao8yIwgCVxkEFe14nmEFX7OZctHJXVzcQCYRqp6ckMCFYS9kBNXQKi+MdpmILQiIhVKt68Y5Zm7NhrUlY2fDiMZUnKUW5Puofw/4J8LPAALoDKzCayGwuRAs39fYKkgCp2vfo2KYtZgqyb5JK4yD8PTKAACbi6orZmjNbSyaqOIaenU6FGYUU+RExcAqzQwzOhjssj4jA5dVw5qreWEIUoFQiFYZNKBL6gSgOU98YyAAEHgEsPQmEcrm6sLi8tr4xNjJ4bHI8k/E4dvqpUznghXo3CvncyNDA5ub22vpGuVwLMhkhBBFae0iLZszMcXebrZfr969Ed96P1uYgigAYhGyJdBkDiCCELA37p1/080MiW0RGy4yO8clxoYMFJBOF4dLdyuUfhgvXUSj085CUikLisMLWqKHjwfmvefnBmEU4ngTjUq0QCMCh1lsL4YP3qzO/1VvzSAJlkw+4IdKla0DSH30665dUfgwArWFsQVeRLZNAJIo2FqtXflafuYSAMYNvgvmfdZWNlf3jwdmXVdBo00Bs86wkEQBsZCob4fzVyo2fRiv3UQhU2QRPCQIJrm+zibzRCzn1PVWcACI2GrHBae8sLxARTHWzfvv9+q33TXk95hcgSoh0aQCmTFaNnPDOvKSy/SLItSRYnNHin2cT1sKl25WPfxgu3EQhMZMDa1qnNwoOK2y0Gj6Vvfh1rzCUsHxTboZd2svq0K5PhzPv1ecumcoKAKHyE5Z3Il0ale9NPBdk+lRuhAHZtlnerZCtDVdmyx/9df3+FZIKgwLsEOkKq2yNGpgILryusiVs3dMPZ5qAmZmtIECESrV6b3p2ZW29v784NTWWC4ImeC51FQfeqTBzJpOZmhibE4vr65vLq+sjw4NKSUS0vSjuHdz8l9Oc1ZHZWArnb0dL9zhyeipey6noCAhRKFvdFINTng4T1ZLdQGxjyuvh4q36zMcofQpKbKOEfoa0tS02EVvtHXuhC3eHNaa+rbfmwqVr0fpMJz0VwWEVSKJfyISVPSq97txEW98Ol+7U719GxIbKS7xBRGHr22y0rZe9sbPK6P2fFRvV9PZSuHgzXLiGUpFXYE5ohJCytQ2O6kAqU9tWe8Ej3TU9CvXqfDh7Q2+uxBRmMYMygkAOQwAW2QIzi+GTKuZk3Mta2myvhgu36jOXUCgKio4QOt6jELa6xSZkZv/kSzsSaDuzk9aY6ka0MRMuXtNbC4BOT2WHU4lQZTE76IfVhBvo8Mkyla1w/nb9/sckfcr1tempkLDVbbaaw5o3+YQyBo4Mlh4AKpXa7NzcxuZWX1/x2OR4NptJPcRhcCoumY6I2WxwfGq8FoYraxt3p2fz+exQpmQZ2Fo4/GgVx0AsUaiY2K+Z0nGFdMT4X7v1hiLGNQAUHkqFQrW4bxERBUrl1Le607247D8KFAqFionTwQI4MS4LQoLQQBJJdn2DEAiFRKkQEYVKMMw3VoWEQkEPmQfEmLAZpRebhSlxULpXGEX3VTmhX5QSpQJmYBFrXrkGaAkA1m2/u+WhaXmFQqFUYKldOkwBAJLEroLw2KJGRuEs4wE2LR8LscRvSg97RCFRdnoeSKBUYBFdMhCOCkIFYoRKZXp2fm1j49TJyRPHJ3K5bIpQOQxOpXmwZbOZY1MTy2sbG5tb07Nzp08ew4ESHdYgfBdTCCqP/BwFeZbhTqditDsXKJND5XdzBohCkZejoIjSo0y+XelPACIbTV4OhepuWhIoM+TlyS8iCVKZnZEKSiBBKgDq1i0jBHlZCoqISJlcS4/SrUoQG0N+DoXXg7cTKDzycpQpopDk5ZhNMhoDYNYheTkQsrvlvQxl8hQ1NOoTToVlBMAU5MkPUHpd6reIKNybWEShYg20xPENgGwi8nMgVHe/KRSqgLw8ZaqAhHJX+stGKAPswfJOHJOCIkmPgvyOSAUQ2RrK5KAXy8PhQ6jMrK2vD/T1jY0MNREqaSvxgXYqCbRKkD0+NXF/dv7mrbszs3OVSvUooVUYLDMbtqYh0kUNp8JgjeMNZGsaBOVd6v/Mhq0GS/GErRw6sNVsNbOBXggZmePZWAMzs2FOOBUGZg0umuz6NjEzW7babSTeZtuqTGNV3AtGL94jQuMXG7MRJvbYw1TWtqzkbBJ3HaJbJFvDbHszV8PyzT0mevke0vIWbHM2ApbACafiGCfZQK+WN2w1734eANi6f+rR8ocPoTKjdTg80N/f10KoYIpQOdjprxZaxZucGB3oKy0urzBCrRYeMbQKx4Vi15zTIqXnZrjeFcK246PT9tXhrzz8wtrWsPuV3lbVYS+PYlUtjODDzrbHVAy73ovPYHn+DHuEXZYHfjTPw6dZ1eFBqJTL5bAe+Z4sFHJSpAiVQ+FUdqBVxkaGhgb7llfWKkcKrZKOdKTj80CorK6uDw70pQiVw9n9tQOtsr1dLpfLfETQKju0MVqc59j2Ij6M1kXH3/p0UzWx322/2L62Hp3+o1xV+y/CZ5mtfV/JbzCxzc/F8tjR8vg5Wx4OBUJlaSVFqBxynAq0o1XW1ze2y7UgOOxolTZVD0ISMcyNRKz5h+QAB0gCkXoqpbp+KteU5WZLdn+RBAZXse/xXEMSiBJRNH6rUVNBEX/1wlfotEZIoKsPNzlPWqvCnlcVNyLHe0SRJDOJZyPbG+MIAiGSQFefZ2zr/iILwEgCerU8tVse2vqsSAIz9siDgtiyDFK75RFQAFrs2fKI1Pl5cBuPeXHw8Ks9thAqtfvTs6vrGwMDpRShcpidShOt8oAWV9c2llbWRoeHlHfo0SoOTRByWLW1bYeN6Nj9ZXNV1mH39LfRNizb6iYqDwB3dH/Z+hZrbcMy9GJStmxCG5ZtfRNJAGs2iUK9EBxWgBRHVWDT5XSzhsOqrW7FvCA60f1FDqdibL0M+4NUEnKNNizb2iYK6Xocki3FtrbJOuSwArbbqthyFNpa2Va3O3R/RRGARQAOq2Ci7gUMt6rqJgrlOgjaESFbbCIbrwq6i0jqutsjIKEKEt1fBlCCCZENRzXgbrMZY+sVW90E6QHSTpxKbZut5noZjgZIxfWFlCuV+9Mzq2vrpVI+RagcTqeSRKscmxqvhvXltfU792fy+dxwULIM1lo63GgVy2w064h12OCoTYAfEQGYje6lcYiZ2Wg2ISA6nGNrKrSsIzYRGx1jwruq7bJlG7EJgSWbqNG15W7Nkm3U0L6F/VQmHTbCaDYRILKOki3FYN2qNFvdY7qJ2bLRzlZsolZLFRIws4lYh/HpiV27vwy7hdld4Md4fg3WMHdXN2lZHoBNxCbRZyUsm4hN2GZ53r9E734lAiQQEoxJtBRbMBEY3YN/Qtd0xzpkaD4PjVWxZR2xjdjqJk30oWcCt5bL5cr9mbnVtfXTp6ZShMrhdCpJtMrxYxNrG5vVam1xaaVeryMCHWLMozslhBD5PjV8DJUfHzq7aFqQSBYHRX4AhOQEgf1uyl8R5L3h02A1SoW+wyU0U1nC0bTIgWPoBWwMWrMPmAOFJ4IBb/As+SUkQulz3NPscCoEUR2IZGkKhc/WAOzOxiBYZmPQC+TQcb+2hUjoZ3fgVBxNi+gbRS8LxnQ5K5FEUFLDp1EoR9PC3CJEQZKOpkUNnkIVsNFA3GFVseWVKA2psVNUHGxyQzZpWkBrQCYvkIOTlC3EiBDek6uegoI3cgrYopDo51pt04BIMU2LHDrZsjypPRHfKhD5YW/4rMgPAhBIr9HrlUDUS0+UxlH6jV6W3XtkYEuZvDdyisMaCYVBO3oGicMas5F94+hn2Rpke7gL9QiARNbaxeXVSqUyMjSYIlQOoVNJ3g5yQfbUianFpZXpmfnV1bV6PbTWItIhRKtgTODOFkhl1NgZmclaHXGLhiupUYfIFoWkvnFUAdv4taSSOSKBtQgg+yeCi9/0T7wEhCg9TtAaIiCzAUaUHmUH2BprDEqEVocdxvIbrgTiF7yhC5QfZRO6dAnvIJS0GhAoGMRMP+uIhWqUOrHZvmmNRaMpNxg88WV/6klARKm4CbhxNM2NY45UwAxsbYP3C1tNAcBx5UT6cuBk9okMhxUARJIMNhn1somALQZFyg2xjkBoTPoDZ3nHWprJecefFIUBtgaEANvJ8sCoAuofR+VbC20RnistIbK1SCT7p4KnvumfegWQUEhutfwiomtXZVQZkRu0RpMxILxEMhMbAjGIJCk35I8/K/tPstXOVbbzJyMYgwiYG8ZMia1hFO2WByRky2iN7BsNnvmGd/I5JELpMSefB+CYrlSQn2NmZpOw/GHjBG/a0BhTrlQQcWpiLEaoaC1FilA5TOmvJFplfHRkaPC371+KtP7iF6pOKudwttEjxXofyhdDx7BvlIWMK8a7PBBbgyZi6YPKsHV8utThg0OC8iNe0A+WAZljcvo2xncH7bZRHYS/R6KJYzh9po9UllwHAQAz487EljtlCYQf0yx2ui8zA+b6VeYZZAOIHVZFBIA2rNpaGYUftyfsFd6pQPQdo9JkQ4MGscHlFRMNNwW8GNmhEnaS2hNYZgTwAjF6WgxOoRAxBzPvTNyx0WAMSx+kB5Z3uvxWdKGoOOrlBpu6Xx3ck4NA6oiFt0fk6iwvKTsEfkGQiNsQdgoYoINGAklQ2f0sD4D5Ae/k82y1MxO2p4Nc94eNarZeiUH1hxSzQohSCGNtGEZr65vW2nw221cqxAiVoyUJeDRqKpbZaC2lHBkaHBkefDC3MPtgcWlpdYek4aG6PrmYgAGEgqAf3Nkap9p3HiLYxHs7V7TzKhlrVjF5KLzGBZ93HTONsMZaMpoB0OXZ2g5KjFeFErxiY1XkVAgBdqtiQft1u5NIsJAgJEAu/uudV4WY0ZSNHKtVYw3tq3I5N5VjBU0GLWw/c7GpZMiWrcVmB13y8XHBkbN8rr+hg7n7PE3Ogw3Lt9uqEW+x8EH42CiW4G7VyIbl42aE3ZbHllMBv83y0MnyCbqJzuWsWO5MBaAC3O95QLSadAQA6PJsfKgQG85MUgopcbtSn5mZu333vu9542PDGd/vWbo0HQez+wsRlZKlUsH3/bX1zcXlle1yNeN7QhAR2UN4m+C4qCQEJzHnOx5ydorlolHA3/sWj8Q7tQY7nvMCPOVuznvcTBmQgPZaFbajWJrHGu9RqBdJ5d7Oq2IGkpjxYoWofSIVUo2TgvcU1WUAEHG5aE+LuS6vRo2qI8q2p3mgkaFqSR3vMdVDWD7e436Wp334qhvyZwRdnwdned+D/VYFB53vS5AkxO3tytXrt+/dnxkc6Dt39lQ2m3HveioefAidCjZ6wACgWMg/9/TFu/dn5uYXrly7debU8b5SngFNaOBwtmdwonLwKHbXZR5uZVq4q8PrEWS3L2VIqw6B+6kAQCNK426kI9j7qnp59BIxz2eZCgGgh1XxjvDus1m+iw/g7vMgN3UpDyv7l8vcWssbm1ufXL+xuLj8xIUzzzx5oVQqYuv8ScOVQxepNMonXCzkX3/5OSFodm7+w0vXRoaHBvuL7K4b4pAy8/QOxOnaBAzJuvVnm41tr6dM10O516l4f/F2Zyzg3v0F/v4s3/uh/MjM1Uueyvb2PPRi+QPMI+ngpFvb21ev39rc2Pzm1984eWIqm8k0sPRppHL4IpVGBIKIfaXC0xfPzs7N//TNu8j06svPAfMhZyx+lB9mfHQZ4t//VAgPEVuklv89W/6gFlSaY3VtY3p2jpDGRocH+kpEFEVaSEFpmHIoIxWMQ3D2lBobGx4ZHlzf2Azr0dbW1tHgJuJH98nnR3qIcA89EviIVvUwe+TPHKYcCMvvBUnCz8vycOD4vpRkrU2tXl9ZWyOi/r5SX6kgBKV9X4feqSAza22UkkEmMzo8JARtbG4ur6xpw0IgkXA/cwizny0lj26nZHeEFndPnmCPKft2Kvj9rwNdMmncYp2CzzZVQ+ilh3ROD0RbvZSme18VPCLL7zAX77VB7Kka1Esyrcc9Hjy+LxYCUcj1ja0bd+7NzS8dmxw/dWKqVCjs1HRKx6EklGw+B4BYKhXGR4cXFleWV9YWllYHBkpSEiKZQ0hShECqFzgvMzQ4oPYVRiTZU32369GMBEStA3BHvJKAf7DtNpUTvu1pVdBNMApBiB4dYjdzIQiFvdqqWyWHBOIjsjyJ+LTDLuUz7uoUUaCQe5LoPOwe4SD2fSECbG5XPvz46uyD+VMnp1554ZlCIRej6NNqyqF3KkTx1aFULDx98byn7swtLF3+5MYzT18YGewDRK358PGJJqnu98xfMCADdzsd0P0Pe8mG4P7TYaNdOEl4vzNZ0oCB77uqVucx7t/whI3DlrvVCJpBCHfO4riwocth2ogZ9jEXA6B1JFrcnauQGtj//S3PuO/KMHbAtK9PibGnXR6IttBo7zQmc0yeecgawJgZgYFhc3P7ytWb8wuLF8+//szF832lYpOZOI1VDr1TiROd+Xz25ReeqdfDm3emlZAnT0yND/fDYesBQ0AAayCssoli4sIWK0kCZe14U4QC6UOSVn0nixqDqdpazVq9K7LnBt4SEJBJovCA1E4KkCRa3oQQRqzDpqx359S+kCA92E/03oKus66D1dwBrNfaLCOBUOj2uAfwhaxhXWNdt0Z3zF44PAySAOWBUJ1V3N1vWc1hCCZky3udtOgIBYSKp9prVWBB122tZh2r9K6Yzp3W6NghSQGpTq4M44xcFIIJWWvLDcvvNhgCuOdhL/Y2RAJmU+dazZootlWD7KaBcOSYBggJhQfSg44Y/oP/Kdvc2ro//aBarYwMDYyNDikpG4pNqV841E4l+Q4X87lnn7pw5970z3/1m1qt+gff+GJCvu1w6AcDECEBRyFvzJjNRVvbjlkIiVq+xLIDV6OfFYUR6jsGQR4ssLWNfDq7ezQJImtsdUmv3DGVVSBC8qDVT8oABNYwMskMZYcoP4qZQZAZR9bb7JRwKh1oLNQ2eHMxWpu39YpjlW9L2iACG0Ci/IAYPEGFIUDJbHd4REQC1lxd1iv3bGU1RozvnMcCAwhJfpEKI1icAJEFBDCmyeEDRMxAbDGq8caCXpo25Q0gQiHbMOcIjs6ZskU5fJxKI+Bl2d3VuRG5MCAREEBYM6v3zcYCR7XkOdtYvGUAFEoERVEcwdIYyCxbAGsTURIxMxESR7ayqFfumMpa7P6bHMnMgMTWAFhSOVEcodwIZPqBvLinuc3yAEZDecVuLOrNZRtWO1veMgqBhSExfJxyg4DIrVXFN3RBRAh2ey1avKG3lpEECq8tteiIihlQKApKVBylwhh40tFjwQHnV2xkt4RlMMYur6xtbm0FGW90eND3fQDQ2kgpUq9y+COVViZUiGIhNzw4ENbri0srGxtb1jJS10zzQcr3AkkgAF3Tq/ejuU/01hI73Q5KsBRbAwBIUuQH1PhFLz+MVGAA0LbDx561KS+GD96L1u4CSVRZYJM4RAToOoOV2SFv9CnKFPdkq0cEq7myrhdvhdNX9NYKkEDp7TzaTAREcvRMJlvC4jATgtlVeCFEC6a6Fj74SK/cBgCQmcTRhvE8zJQpqKEz6AXAZu98moWwYlZmw1vvRisPgCT6PhhOUMIQ16tgtBw+Rn5AxaEOU7EFkkjAYVUv3YoeXDXVzbiWgyLBya8ZgFSg+sZh4qLMDUAm53QKOjyBNjTbC+Hse9HqPSCJXtBWziHBUR3YyMKoD89RptTJ8hwX3q22m8v6wfVw/qYubwBiB8tbg8pXY2cp34+FIY4vH7ssz2wrq+H0B+HCTZQKvSxY27hnxJZntiIoeSPnyM9B3h6mHjAiQoRaqFdX15dXV3O5YGx4sFQquHxA2vd1VJyK6+9q5riGBvsHBwc2NrcWl5bXN7fz+ZxSTrbLHuwrBgMzk/tc6zDamA/nr0frs7EMl5CJSMUAIAopS6MY9MmJUDaIn7Ctr5QB0FqtK2vh8rX6whUUirwis05w5Qobldlob/CUHDjp1CQ5vlA3y+7x0cbW2tp2tPagPns1WnuAJMgLWiTzAEDEYQ2E9FH4x19AEoBomduJFJkcuX29Ei3frs1+gIDkOVr4FiG/japsjSpNisIIIro03s5+APd+W7ZhTa8v1meuhfO3UUjyc2xt0wfHclg68qPQP/UckmAkthpBNGdiZnd6m6iuVx+EDz7R5dVdToWcgxdejsMKFobIRAKbPI0xjyU0cofWaF1eCZeu1eevopDkF9qkw1DYeplt5A2dVUNnESWg4DbKNY4jGwQ22pQ3ouXp+swnemMZiFD5sYuKSawJjEY/AOGrk88jIsddkbAja8rMprIRzt+ozXxIUlGmmKC+b1jeaDVwTJbGe5UWPUh9XwBMq+vrV67emF9YnpoYvXD2VKlQcI8SpeLBRypSaT4WpWL+7Onjd+7NzC8s3pt5cOr4sXwuy8DGHIruR4xB3TasmuqGKa+xrgO3Kz+66oiU6GVsWAVr91evsrpuqhumsoLCY6OZ25Ufw23W2uSH2Kkc4j7VW2YT2XrFlNfN9iqSYC9o9Bo5PRXBYRWEtNVtsAZwj7Iygkv+mNqW2V5FQM6ELa0RRERp69tsDflFYAtC7n+0sTEmrJrtDbO1ikJyFLWrGSpb2eAoNNUttqaxxz3h9LZeMZUNs722U/kRMY4a/ZCqWzas7d+v1W55xTZqVy5xGouRyY+yNYBivz2y5Sg01W2zvW62V4EIVQYsA1hAAjaxnkqUs7XtVvZsj6KQ1aGpbpjtFZYeG8OsY0JSaljeaJHtA7YgBBwiSRFrrUBXTdn+zfsf3703c/7siZdfeCafz6Z9X0fRqaDLcyEWi4WnnjhbD0PXA9ZfLBZyGSIM48ZjPCR1REdmFV8VufXZjl9xnUAYt2N1hRvEGUIHaqFWPsdN1TQa9wZeiNfWhMg0QweK2wdaBQbcr+mpRdhFCa6wRvdVUwyxh65WTP4KJuRGmq8QtgoV3cHmyRmoRViCFJ/j2EvSdZflkZNNFo21JanScL9lJR8JJEDb6HhrvtJTlbndVgRMcaH+U1n+YDkV983mxtaly9dW19e/9qVXnn3qQjbIpDqPR9GpNHvActng6Yvn1ze33nn30rXrt1954RmHg7XWIorD8kggkEDhofLi/qy2SEW49BcKD4TonvJ2U8kMCg+FDyyS92WUEZBG4UEvipquF0t5qDJIApUPbZEKxYGFUN1vuEgoFKoMQrNC0EzKEXIGrMFe5onVeUW8KiFReS1WY0QkgSoTl8q7z4YgFEoPlb87UgEiAEbl4V4tZB0trzIoFAof0AAlLK8isAKdZklPUznL+0AU77Epl+DwQ663retsRPGqpIfKA5t8Hgg5A6R7tfwBu6eRI2MrV6pb29sEODYyVMjnAMAYc2hZBFOnsg8PGDMba7NB5uzpEwtLK7/41XtzC0u1etTMNgAcosfC4c4sx+cjNosEDr6HgDZBQd/DVGwTX4mbKdvGEdzLnZSBbbwqQLC2zam4V+Klcm9T2Tjd3yxiu6u9fahVQctWaFtGi2ejxmy2p9ncjtwMbJu4GyeEBcDgcJ29W75pkx2Wf6g9ctLyAJZbUi6uv87aeGFdZ2uuyu6yFT685Q/Ih4kIlVL1UJcr1bX1jYH+UjGfGx0ZSqbW0zDlyNVUXG6ZlAiCzMjwYDbIVKu1pZXVSrXmKSVcvyQcMu6vHV/Q6ZtPPRV0euUzLuxTTAW/y1XBYz/V52L5R7uqA5D48qREwrX1ypVrN+/en5kYGzl3+sTgQN+Bb/B5DLNKB3TdhXzuxPGJIPCv3bx15fqd9a2Kp6SUZK09LJpCO4oEe3z12u75qObpbWGfw6qgN3M9QsvDAbY8PlLLP/YNPtZaIkCAldW1t9559/r1myPDg88+/URfX5EoLtamruWIRiqusmKMzeeyLz//tDbm/Y8u1+vRQH/fUH8BAKrGghR0ODAr1rZyER3TXy2EQW+zoU0krAAIgRvpjodQXGmsap/010OtqpkIgl1JGLAPwZVrE3tsS38lLPlQG9wz/dX7VO2Wt5/N8pzYRdNibemvnmeztu2L97I8HBbSo9hnLK+ufvjxJ1tb21/54qunTkxlfD/t+zrSkUrzyWDmvr7i6688d+70idu37//q179dXVtvNXjwoaksUvevXm+UBNR1th4v4OjKwvFvJadtfg+9LCzZttRpkuTCejIYAXX76ukOvrflKblHeDjL02e2vOsU2G931OsnuqOpP7XlH/ubqBCkLVRr4dzC0sraupDy2NR4f39JEGlj0mrKkY5UGgwdrJTs7yudODZBiEtLq0tLK7V6qKQUgvCQVFYca7oBh5hjahErsgHAxCu9TWUNoGlNCAAWASF+xRqwGqzptZRtDZCraZtWpGKh1QsAtktLcesnG2uAHauyYDWYEBw6pKeyv4kZBxLgx3jvza/uRuPWvly3ULxBiu3DprE76NVWSGDtZ7a8C5JMTKLTwqnYOH7lnpsR3KNl93genMVMBEYf9GSytdZTkkhUKrW792fuT8+WioVTJ46NjQ4LStVTUqfieA8TD8Hw4MBTT5x9sLB0f/rB7buzk+Mj2WwGkCJtDqLENCZAOSQz5OcpKLKuAwMIsRtRT5k8qQy2ICydrmlIJDzycuSXUHrkF5LAQCAiEmA0qiwixui8Nq/c5LJ365KkMhTkRbYEROgFmKQeQQHSQ5LCDwCJnQ74jncB0fHPI5HwsjJbYgD0cmh04j4uSEhgi14WEFsL3mGtmKgZUQhSPgV5ypZiRH0Su04SEFiH5OfiIzhOZyWOX0zAoVQGgwKZMHYqLdY1h6gH8rPCz5H0EIl3MTS3eFgASSjyc5QpovDIz7dWBbHl2UboZQGIrcGdlm+ZDhFRKvICzBQoqgGKFqK+iRCymvyA/KDBiYC71oRxiktK8nMiKKH0KFNsgWGhaXnTsLzBg3zmMjNbSwRseXll7a233717d/rcmZNfeOWFocE+9zOC6LBqkaVO5eHI8F3xrb+v9LUvv/7bDy5dvX5TeepbX/9iqZhjgFpo5YFMkhJYBkKQvuifUmGF+idBRw6C3joZXB1CCJHtEwPHQfrMAJY752RIUHbIG38OM4MoJMoMQKuxlRHB1MFakRui/DgIfy8sPTACCQqKcuikH9Xl8BoQgfCwRUwfM8wgkhw+Qdli3Oa7mx/fMgBQpk+NP4V+ngFA+tiqUiATgg6BmYKi6JtCL7c3qT0AAKiMGBj3Tz1P/eMoBEq/jUmMiMMaW60Gp6gwGPOa7A6BLTMhqIwcOumbyNa34xiFmt6L2GgAIOXL0qgojYPwgPcg/gIAUpQf8Saex2BoL8uzNTI/SoVREKrzNYOd5SXlB9TYGUvSVjcBEKVqdP3GjDVgLSpPjZzETIGtI9rZw/LZfm/qWcwU0TGSJRqdm5YX2T7RNwUq28XyByHeJ0QQuLK69va7H66vb/yDF7/9/DMXs0FgrSWitJqSOhVotmog0cBA6Uuvv7S2vvFv/+JHW+XKi88/dWxiBF1lBemA3T9ifi1mC6iyauyi6D8GJkpQ3yf51wERQUjyC+DlWDMDY/vlFGOeWin6TmT8oh/VHLotodqITYlJJIVeDr08IMWnVRLD72g8hKTCkPICGjnDJmrhrneJeqAXUK6fGRqrah1wjskNAKk4kTn7NY6qjnK5kWKCFqAPGEmC8tErAKkGLIPamIwBGIkyOTl+Dktjvg4be+T26NYCMyqfsn0svDiH3iTaQkSnKmYB/Lw69pwcOcOdS/HciCM99PMsM6zZETW2Wx6YGYQn+k9mMn37Wp5ReOgXwMtzUzqmaTFs4P+lJwYmKFsQx56KSdI6Ud8jAvpZzPa7ZyaRB0b3fy0zMlBxIvPEN/2wAkhtwRa3WR69AL0CkNxp+QN2VsTLXlhcnp6Zk0ocmxobHRmUQkSRTpu+UqeyE12vpBweGjg2OR6G0fTs3NLyShhpKYRAPJiVFYyT+MKj4ijhKOyvYcUuu27ZMmDn+7IFwky/zA0g7ictzwxsmNkA496sKgSZHAZFSbi/hhVYd0abPTLyDECQKYpsqaviMFvmOM+zN3hC+ehlZf9ozMPSSY4ynk27ikhnyzMDyIzom2hTIeMOYl9oXWqFYR/Lo8BgQOYHm+wwuIdUCltu4+XcKeACQAKDIub6qAfLW2331GlmtgCYKcpsqSkggB2NYZuWBziYsBVrrZQCgCq1aHl5dfbBXJDxJydHR4cHpRBpNSV1Kp17z12pbXRk6MTxyaWVtemZ+dkHi0NDA76nIJYZPoAXEXRqKPuJkbch1aAhstT5RzAu+eO+E7K7YDsaKN7TizG5YgZDD8K9e4eKTY/YQ226GQ/t9bNoY9WUluYhd4gvYvfCjPtZ3pV8khky7ix804gO9rV801adVgWc/Enae4Nugl4tD12FJjlBgdZxQk5a/kB6FIeQl4QGeHFp7Vdvv3/3/sz5s6deev7JocGBZmI4dQCpU9l5z2Nmyzw02P/Gay98+PG16zfvFAv5N15/uZDLWIYoskQHlLiFuZn42vswjTM33fISbA2bRI1hD8UU7KGFlK0FMKwTxIg7bvIxqWcPCEFr2FjuvCpM8ID1gMVjYKtZJ0lQ2hNNLf7jbntkZhvFSa1OT1yTZAV76ANmo1k/Kssbttwi5mk5WmzXAsBELu5TPA8PafnHOlJhIiQSK2trP//VO0vLy9/91ldffem5XC4wxpJIqympU9n9QSRCRIE4PNj/5ddfKm9Xf/bmO2EYPXH+zMRIPyG4QtxB/VQgJcQwuvaLdU0ti0c1VSP4+8yzIQIKfCSrau6R99cmxgNteUxWWfDxWNXjGqYkd7C4tPrJ9VsIfOLYxLHJcaWk1gYpfpvTASlNS4fKilKnTxw7eXxie7t88/a95eVVY2zjxowHX19ln6/Pa6pHONsjXVXzcr2DceTTPAmPq+VbAcRj9Tw8XvSRgkgShZFeW9+am18iwrHRodHhQc9TjVaRdKSRyh5XEmOslAKJxkeHh4cG1ja2ZucWllY2isW8lBKRrDVpg0crd457J+If4n7KD4O66WFVXab5Pa/qUU/VJfv1MOZ6OLzTkXzQY4VHBMCllfUPP7567/7shbOnnn3q3NBgfxOTkJ4IaaTS5RmyzENDAy8+99T46PDN2/c+vnK9XKllPCElWmvTtzlxW+/01VLKeiSX3N6vur0wJNJDzPZoVvWop+oYP7VRN9KjW9VRPy2ZwVorCD0l1ze3fviTN69cvf7Mk+e/9PrL+VzWGMPMaTUljVS6V1YQYHhw4EuvvxRG0ZWrt4jw2NT48ECB0NXrji63D0NDv69rCh0J9+8canVh7tOb3DxIqYeF2S7NbTHOAHvKoXfNafSwqsZs7ZCS5DfYVpr4zKtK7pG7ryq5gB2r4ofY46G9OqHrJonvkWtrG+99eCkK66dOTp09fcLzlDYGMS3Rp06lh8qKtZzJZC6cO31/du7NX7935eqN5eVVPnM81uU9wtc3ciyE+xx/COg8jjXQgGLvLT8oEJCxe1O0wxvu3bjGGEsxJpqYdrgldyBbw9yFq9hdLHjfIz5ujrWGeR9GMnfCC9y3fwCbpzzzPtl5typA5J5WZeEzWx7jZm57ZGsG1rIgAkmRNltb29MzD9ia0ZHB8bGRTMYHANY6PfRTp9L9bsLM1hopZT6fPT41XirmN7a2Z+bml9c28tmsE+86glI8Tu2OEBAtG7Onv0BAdrgYy4xAilvK8zvoLkAgIxtrmsfWrvs1YlPr3AE1uHMSh9EaZM0t6EQ7YNGBV60BowGRhQKSDRQ67lwVAYDhfVblytscs80wUidbuP4qRtZo2e7F/e6A60QAaOM97rIVgyAkgcjMRlvbqV+LufkXwRpGZJSMYtdsyACELMAgs7XMvGeY6PDhDGhjy/NRq6ZYaz1fEorllY13P/j4+s3bT188+/ST50eGBhKePj32U6fSq/YuA8DYyPAbr7340eVr73142fPUl15/eWSwZBkqVS2EOILPE7KxW8vR0n1T3kAiEDIBZ0NAF6Aw+VlRGqHcIPhyD88DYDXXt015WW8tmbCCgECyXXgDgS0QiaBP9k1hMMDuld0Og4HLa9HytCmvN+gy2wMBawEYlS/yfVgYgmwf7EWRwAxh1ZaXo7U5U9tC2L1HBKOBLQVF2T+F+SFA0Yl5QCIC1Mt68wFXVoyudULnW2BAqUSmQNlBzI6AzDRWuwsvb0K7tRItTevyJiKBlDFdQnOPxgAwZXKib4Tyg+DJTh6MAABMyLV1U17R5VUT1hEASOzum0YSMjdAfVMYlNip1ByxGN0yCCJBtLi8+pNfvD0/v/D1L7/6xusvFfI5bYz7p/TQT51KT5UVIQgRme3I8MD3vvN1RPr//fv/sLS8cvbUiZHBEiEYY2l/jotDFqQ4ynckG9XDhVuV978fzt1AoSiTT7IUI5GtV9kaNXQ8uPhl/8QL4OfBBRuOsN2B44VEADaR3ngQTr9fnX5Pby0gEqlMG0cWEes6oPDHn8o++R2VHUREGzFSK+XPlkkhMOnVB+V3/0N9+goikpflJvc7IqKwYZWtkQNjwfmXvVMvYFCMM3hNqkS2QBIBwEamsh5OX6pc+3m0fB9Jkp+YDRBJ2vo268gbP5979rsqNwBEbDSiiOWtmJmZJCKCqW3U778dzn6gq+suMwUx/MUxs0UAILys7D/hTb7gTeXJD9gCx1xz2GQ1ZmBTr0YPrpc/+FE4dwuFpEyObYI7GYWtV9hqNXIy+/TXvJN58PINFmobo0otg0REsPW6Xr4bTX9Qe3DZlNcAsUGa2WDrQgKjUWX8qaczT/6hyvYxIFtGwqNVUkGwAAQwOzd/9fpNgXj2zMkzJ48rpbTRIqWPTJ0KPGRlRRurlJocH33qiXN/9pc/untv5t707OkTE0HGF4Tuw37kkmDGmK2VcPZq/e77KD3K9rGNkrTwtrppjeb6tjf1JBuNexZeAKwx1a1obSacuxSt3keU5AecJGAnwWEFSKH0M/XtRncTd8gfMZrqVjh7o3bzXUKkoMhGt5wKSVvdstZ4Y6e8keMc1verSzDbsKo35sPZK+GDayglZQptxzcpW1m3OgSwmbNvqM7lmQapiq7p9Zn6/Md6ezlWfqSmU0E2IQAIv2B1KEqTbMJGv1WH9Vkd6o2lcOZK/c7HqBQFxbZVCWkrm1ZHHNb8E8+CMftQvYAxprwWrtwJZz/WmwuAAr0MmKTyowAToR+gn/Pq5YNOLfxppIeM9T3poShX6jdv3b105Vom4587ffz41ITvewAAJj3tU6fy6WC0AAAwOT7yhVdeuHH73o1bdwf7i+fPni7kskJQGBk4kHRgnw09SYRSofRReig9sJh0Kih9RIHS605Di+6GLVCo1m+ZhFMREqwBkihU1x4kpxGCykfExl9PrEr5aA1KD6g72zQiAgmUHiofhUTpQ1s0plD5CNjLqpymCAoPpbfbqcRGkB4KBST2Ty5hcyrlu522r8pZ3nUrUA9vokBSKD2UPiCh8AFNm1NBROGjkEex+8sxAQpEgPn5pb/8Dz+5dvP2i88++Y2vvj4+NgKxbopI8WqpU/k08Ypl1lr39RW/+dUv5HLZDz66srW1PTg4NDRQAoBaPRJCwFFrsxQeZfKULaH0KCi2p78EIKHRlMn34FcQhEQVUKZAQQlRkLcrUhEKSJKXg66sa0JSJidyJUQkP88mkf4iAUKgNRTkUfndpyKByqdMnoKS0y5rj1QkAKAKKZPfQ7YkuUWBKiC/QCbaK1IhP09eDkU3cyGh9CjIU66EQlGwI34SAIQ2osBZHru9iQq9gDJFiuqAhCrTrlEvwEToBeRlgY7aE97oUGA2xs7Ozb//0RVj9AvPPfnyi88qIYwxqW5K6lQ+LWal0UlULOSeferCxubWv/vLH88vLH31S69fOHMMAGzMsnvU7nGWrWGrwRJb3ab8COxeaZx33RImzGAbs6H73YRTAWarHR1md9QIM1vDrrnLLQASqzKarWEnmsu9rIobq4LEdprIheYebS+SvcwmthI3aeQx1qB0s3Ev5uLY8sk97rC86XFVTpbYxm8fEljd7lQYrAb3dhytfmJmBiFISdou11ZW1u7enxGEk2Njx6fGVYLiPo1SUkT9p63TNUKWfD57+uSxE8cnjTFXr9+cnV8Mw8hXSgo6ihh75u5fvabgubfZDuyqep3qEe4RHtnCjlgbsbVgjPEk+Z7c3Cr/8CdvvvPbD8+cOvblN14eGRpw+Pn0lE+dymdlIxENmYSx0aG/971vvfTC05evXv/LH/70wcKKkqQEGmvTRy0d6TgcGDXd6HFYXFr+d3/14/c/vPzsUxe+9qXXB/pjBUwn2peaK3Uqn6mywsxam2w2+MoXX3n1pWcezC28+et3HVlpQ0AUj9znrwvF1kMZ5FHN1gv31+9/Vd2meiiKLXyke3zE7+PBx88LkoIibVbXNm7dub+0vFos5p84f2Z4aEBKYaw9co05kNZUfifkP+hYJpWSg/2lk8cmc9lgc3NrevbB+bMnstlA0BHD2CMCEpJAEoiipe2IiCjQFaKJepcbASJE4b4aTcNOJErEX73I2CACOdw5IomWJKEjSnHVZux9VY3Z4j3Czj1Sb6tKbDDeV+sb9z0giV6dQdLybke8w/K25z0iIAESomj8tyFM7xaJtiH2hUcHP5/xmvj5S59cu/ncU+effur82OgQxB1faXE+dSq/gzE+NvLGqw5jf8nzvTdee2lkoHi0MPbWcFi1tW2UHqDY0f1la9tsNIfVBuYOu6T1TcRh1da3kQSA3dn9FVWBJEe1GFe4z2lrLYc1Wyu7wHFH95etbbMxPa8qsUchAZFNOyKkts065LDaZVXNDUZVG5b36P5idN9Y8zCWV4C0o/vL1rbZRBzWetojWzChszwgIZsO3V9gWYc9lf0PDX5ekBC0tLL6k1+8PTc//42vvPbF118q5HNRpKUUacdX6lQeMcbeXVZHhgb/6DvfQIR/+5c/XlpZPXvqxMhA8Shh7JGZIe5B6tT9ZTSbCFzzAnYFhTiuyLg5iq3mJE6FmY1uMHTxvkLQrs/KrQrY6KRTAWbWmq0Ba2PaXexBAcHN5kR8d3R/Gc1Gx3t0QM79auFxnxWwbRA8N51K5OR4wToh5F7a0hrdX2ZX95fRrLVzTojEPe2x0f1ldnV/GQ3NRjKEI1CwxyaNzuzcwifXbhDx2dMnTp885ikVaQ0NTHQ6UqcCj7KyYoxScnJi9Oknz//59//mzt3p23fvn5gcCYJAEBx+jD0zsCUvkAOTXr3coGkx7TQtFbZW9o8jCQ5raAwoueeRhEh+XvVPofIRiJTfIIqP01+sq4BCFkZAKDa6E0IQwTIbDcKT/WPe+GlEIj/LTUg5ApKjaWHZNwxANqyS0bjXQckMwOQFamAKrEUS5Gcb8ZNbsXA0LbJ/HIRkHYLwOoQFHGMMRVCSpXH0cgAIbNojlQgQSAUiN0gy2K8kyQzM6AVycNKr11BK8nPMJkFIFtO0yIFxIGHDGlqzD4wGhaSgpAaOU6YIDi5qeWekIj2RHwQh2dqH0aE5kIopvieVJ7Yr4a3b9z6+fDXjq7Nnjh+fmvA9Lz3WU6fyO7/OAMDE2OhrLz9389a96zduD5QK58+dKRUOL8YeYzw3sAW2sjAcnH9DTVxAFChVe3oEuUGSSEHe1itgIvQyOw3YUFFB4cn+Y4GXczDAnVLnSGxDYBCFEfTyHIWsfCRs3ZydGzMWozoGhcy5F9XIMUBCpeIjshFJMDMCMliUGVOroomIduR1HL7dScOiLI0G597wjz3XQDvaFnUjEusI2FK2hJkCR1WQPgoFgE2/48iC2QKqjBw4hUKCtSAUsGkjRY5FqgFlRuZGQKhG8q+Ft3eoR+cjRXEkuPCGN3kRiFCoHVSebA0woJehIG/DCuoIlZcwJ4Kj4HdSN5mCGj4jCsNsTBy9cZvlwUQAQKVxVFnWmkkdXuIvNsYKAkSYX1j8ix/8zbXrt1549qlvfPW18dFhSPHzqVP5HccryE2M/Ve+UMwXPrl20xg7Pj4+MtQHANV6JOjwVlaYASUVRpSfk47Xq3lONTnnkQCQTZ1NBCoDnZVrGRiABAZ9QigxeAYdS+5ODnYEhwoUCrwic0zwvktLxTID5fvpxLPKhB0q1Y61H8nWy6a8BZm8Cyo7RSoMiKCy1DflFcc78AonwhAGAKEYCTusihzxP8isGDxDhTEiAcLbVZ+IOdDYGPSyIDxwabCOIYtQVBpV2aIyOvY6vGvlgC71x9Jv2KCde5gZLAApyg2hCgCpzWUmnYrVYA2oDGSKzAz7ysYc9L4TIgTESOvZB/OXP7lutHn5hWdefek5JWWKn0+dyu8cY+++LRbyzz39RBjqt3/7wZXrt1fXN87ABIBTHhWHMD5jBgBGBOmD8DDbt7+CFTaKLig9sBYYWhwk2OAKEwqzQ5gdbLkB7igT0jjmWhmYxs819U6kh0JCUIS9sc6ISEZjFDISehk23Ji2uSoLjEASgj7MFLvUujFuCkSkRkaLW3/aRTwMIDNUGI95f3FPsn10fP7CBVjJLTR51QhUFmQGuz6j1rAxgISiaXncYXmUCvLDyENABDtilFaZioFjsRfYEUEeKn4/FiSk5O1ybWFpeXp2LpcNxseGT52YVFIm2uvSsz11Kr8zvxIDoIgK+dyFsyeff+bijTv333rnPc9T58+cKOYDY7geRoe0aI8gZPtRi53kFcFRrIPDKHdAhrKj2Gol/feUw0oqOO4BF0cAki2Kxn34QZVP2RwwsGFXtO+sOCIzTTnGHc0AbfttvsG2Yx+B+xkBSkFn6bB2u+05T/M6raAZGnbuVujN8tyz5TGB4T+klXprOfAJgBYWV3/0k19dv3n7wrlTzz19YWR40MUo6Zmegh9/f51gADA6Mvgf/b3vPvvk+b/52Zv/z3/9p7NzCwggBUbaMPPhvN3wDjSfy9E3vodEPYAbX/tM1XZqY+IbbFZyABOnYZdV7Y/wcOxZLgW1j8xxwnthcpu79tvoXOjy51vOCPeqVvUgPp/YJHb62ml57tXyOzfYwDwmU5qHt/fLGBcbwr3p2R/+9c+v37j19JPnXn3p2b5SwSlsOmml9GRPI5XfVyeYlGdOHXv5+ad+9su3L1+9/sHHn/QVcv19Jd+TRGTtoewE4/0u1B2R5I9kqi7Ai56nalSq9y/ctrCT3TcI3Rame54Ku7bePX6WP8hQR98LfFmpRZ9cvfHzN9/WOrp44czF86f7SkUA0Nqk+PnUqfy+acHcN6dOHPv2N7/84aWr731wGRm++PpLI8P9wFCJosN5zXmEp8zvfyrspeDc1VU8NCvDo5nt8bT8AUw2WGujSOcCDwBmHyz8yb/+01t37v/h19/43re/PjE+6n4s5fhKncrvPV5BtJa10QP9fd/6+hczQeZvfvbraq1+/Njk6HD/ERNePXhN4Q+T7MOeX38kfzQdv2NVR2ulIPQ9bczq6vp7H166euN2X7HwtS+9duHcaQCoR5EnZTPLnY60pvL7kvEhQgREzGS841PjT144k88HC4tLN2/fnVtYLldDojhRllIYH8jDxwHguVGHafvih0xGpeNxUnU0RkoKfLm0vPbjn771m/c/fvL8mT/6zjeOT02kHF+pU/ncuSbj/KyU8uTxyddefm5sdPDNt9/9wV//Ym1jK5vxfEXNSmA6DtiTTAqEAqGAdn01X0eRRiEHK0xxHQmEaIy5O/3gV+98sLC4+MZrL37ra18sFgphGFprKc16QZr++vziFSkEIFhrB/r7/vBrXwwy/r/8b//1vfuzTz5xfmpsEADixsT0MT1oDW64T6medzOPpeMAFOc5jkLsdrm6tLJ2/ead9c2N4cG+i+fPTIwPE1EURejyD6m9UqfyeRb9mMNIZ3xvbHT4lReeOX/25K0702++/dvBvsKJ45P5fGAth4cWuXIogxQGMGAsO0zifoWSmEA+jVcOBB2EYZv1JYB3f3nxP/zNLz+89MmxidEXn3vy+NS4y1S7T2j6XqZO5fP3K0rGKPrJ8dF/+l/8wx/8+Be/+vW7q6vr/+Q//YenTkwIgWVtPIXkGD3S8ZjGJ8TABCBAQ7itK+s2qjl6sXZeLEcMwyg98grg5UFmOE782vREgsdatCGmyZmenfurH/60XC7/s3/6n3zp9Zf6+4rGWCJMO75Sp/K4tBMJIRocxurVF58LQ/3x5esffHz1w0vXSsVcqVTwPCkOLXLlsJ08EFXNxnS4cF2XlwGJZDtnFxKbkK2R+WE1cpFUtpECS9/ZxzfxZaz1PRVkZC2Mbt6+/8u3fhOG9acunn3xuaeGhwYBoF4PlafSakrqVB5X5Mrxya988ZVLV25+8NEVKenVl54bHCgCQDUyKUD38U2OECIgGGPq2/XlO5Xbv4hW7qIQ5DmSeW5qLNpwm3XkjV6k/IgYOM0k2Jj0bX1sG2qMZYdKQYCZB4v/3b/+05u37n7tS6/+0be/PjEWo1KkTGOU1Kk8lo+vtdYY299X+sZXXg98/1fvfFCrhxMTY47DOB0Hwr1YHZrKerQ+Ey7fRKnIy7c5FVK2usG6TpmijWqNBrA0rfnYIudBCZKBD8zLq+sffHTl8pXrhXzu61967amL5wEgjLSSQgiRmgvSluLHjsPYleIRstng7KkTTz953vPV9IO5O3enV9e3anXt+kr4yOizHuCI00nBC4Ukd30JFBKFhFhjI3Unj+8lj5m1NlKQr8Tq2tbPf/Xu+x9eOXvqxB9+/Usnjk01UcyprdJI5XHnMGYG3/fOnDr+6kvPXr5y49e/eT8Mo6996fXx0X4GKFeMEGmP8eP8RhIKRSogL4dC7kx/kQRrmBSqACi93j7GIqXMgkh4RITVWv2TG7d//ZsPNje3v/yFl15/9flSqRCGkZQidSqpUzkAyBVEsJYHB/q++wdf6S8V/u//6k9v350+cXxyfLQfAbTWaXvx4w+nZ2uZDTAym5ZTAWy90plbPh2PT+LLKF8JQduV2o1bdz/46PLq2vrk+OgzT50/PjWulIwiHaNS0s8ipOmvxz5eCaOIiMZHh1958dknzp+OougHP/rZL9/+oFKL+orZjC+1Nil/y2PvWvb9ShNfj7FHcf3BUhBbe+fe7C/eevfG7bsnjo+/+vKzJ45PKiVbqJTUo6RO5UD4FU/FQdvY6PD/7D//H/2d737jr3/65n/9L//k7v0ZACCEehhaa9NLUjrS8btIfCGhFFgLzYP5lY8uX/3g4yvM/OUvvPyFV54vFnJO7ihtxYQ0/XWwNFeMsfWwng2CC+dOZ7PZn/3y7Vt3p//8L38chV9+6omzg335yKRI+8e5Wt8uWtUmaYUtRax0PJbDk4QAM/fnf/HWbz669EmxkHvu6Seef+ai00oJo0hJmX7u0kjlwPkV9D3ffT8+Nvxf/vN/8g++961//4O//j/+X/7k/uwCACiBtXrdpIjIx9KjIIpOrV+JLxRdxL7S8XkkvhDAWjYGanX9ydUbP/rJLxaXlr/51S9855tfLhUL8eVXpB4ljVQOqvAwWmtrtTCbzTz39BP5bPDb9y/dvjv9/R/9/A+++trZ0yf6SwVtbBQZojQT9vgMyya09W1TXUehwBq2ie4vIU11k3XdhttgotRYjxe7l7G5rJcBsbSy8dZv3v/Vr98lxKcvnnvjlecHB/oBoFYPPSVT8fk0Ujng9RVfue+PH5v4L//5P/n2N770/R/99P/6//jvZxeWCcGTVA/DlMHlcRLxYmDDJmRdZ11nHVrT+mLdeN1EKeTocQtTtNbuU3Tz9t1/8z/8+eWr17/zB1/5h3/vuwP9Mfo49ShppHJImoyttY7J+OUXnhaCbty+c+3Gnb/52a+/9sZLx49NFgs5tjZM45XH5C0TnsiPeGNPkV8AIUhlOVatd4kxYcMymEgNn6dMCRiAU+Kvx4Ddy9hs4GUzslKL3v3g4x/+zS+q1eoT509//UuvjY0OAUC1WvN9L/UoB+/zmLbJ7jW0sVIQAGxXKm+98/5Pf/HOvekHT144+z/5R388PjrIzOubVc9TUorUhp+n0jBrisq2smLKSxxVABFQAnBCZQXBagBGlafiOAaDIH0n/pQ2GX8+7xmi1rpWDwf78gBw+dqd/+1/9V8vLi3/F//jv//lL7xy7vQJ50iMtYQp0jGNVOCQadpbrU0+m/3W174oSPy//vs/u/TJjV/++r0vvvbcxNhIsZC11obaEKbxyueawlWBKE2J/uNxHX5HHMIct34ZY42JGRTSij18XuUvtsZ4nsoFntbm0ifX//JHP19cXD5z6vh3vvmVqYkxAChXqhnfTzXnD+gQ/+Jf/IvUCnvlwdx/3L0pG2R8398qV27curO5VT596kQ28AixXK0TUfoB+DwZo5CYJJMEoliDCyn+HghQuO8ZBMf/mt4APrfPlNamVq8Xsj4A3JuZ/9/9H/6bt3/7wR//3W//o3/4d0+fPOY+a4IobdxPI5VDrRRpLTOMDA9+7cuvEtH3f/yz37z/8eDgwGsvPjU5PlYsZI2xURqvwOeIpEdmC9rswcLSSHMhYiz7mGa9PqeyvDG+p/JZz1h79fqtH//sndt3p08cm/h7f/tbp08eczFKkPFTBuLUqRzmS3Azk4KIg/19zz9zcW1947cfXPr+D3+yvLz8x3/3u4P9RRJYrkSeUlJSWl/5/IiKsYfqe1pH+VxjlFo9H3gAMLew/C//b//mxq173/2DL/+d737z2OS4+zHf99KbGaTpryOQBAPnKoiwkM8VCjljzMLScrlcU0rlc0Ehn8v4ChC1No7vLrXb5yQwnI7HN0bJZLx81rfMn1y/9eOfvfXu+5dGhgf+8X/yD1547kkhqFZ3aeRUeivt/jo6uN/Gs14Pw8XFleu371365Mb8wvK5Myf/wR99q6+YZ+b1zYrneWk/WDrSkQz3w0jXa+HQQAEAZueX/6v/07+8Pz33t//wa2+89sL5syeDTAYArLVp9zCk6a+jFq8YawnR97xjU+Pj4yOC6P792Xc/uFwqFV578empibH+Ui7SKX4lHelI4lE4F/iFrB+G0ZVrN3/+1ns3b987MTnx3T/48skTUwBQrlYznpfWUSBF1B/NJuOWNxbi/JmTL7/wjBT47//qr//sr/5mfbMMAFJQrcFnnFosHXDUwV6mXg8JAQBu3Z393/+f/9v/95/++Rdfe+mf/8//s8mJMfczvpciHCGtqRzpeEVr65B12WxQzOfCMJyemV9aWdfGZDP+QH8pm/GQyAkKpa4lHUc5XRxkVDbjbW2XL31y469+9Ivfvv/x2MjQP/5Hf5zWUdKaSjraPjAOXYeIYRjNLyx9dOXaL9567/qtu889/cQ/+6f/6dBAEQCW17Yyvu/EhVKjpeNofUCYAcBazmc9APj5W+/91//Nn6yubvz9P/qDr77xyoVzp3PZwNVR0osXpDWVdLjPgDWWCDxPHT82MTjYH0V6bn7hk+u3/+wvf/zFV5994vzZof6CsVCthyKFcaXjiMUoROQp0oaXVtdv3bn/o5+8ubi0eubk1N//3rdOHpsEgEql6vtpHSWNVNKxRz8YACytrF67cfeHP/nlm2+9e/HCmf/N/+qfjY8MAMDy6paf8ZRMnXc6Dj+pl2U2xgohhCRPYD0yP/zxL/7Nn/55tRZ+7ztfe/XFZ5564pyUAgCMMSlmPo1U0tGpH8xYACai4cGB4cGBKAqv37x96870//fPf/DGK889+cTZoYGCZajVoybpSzrScSiVUSyzECSllAJqobkzu3j1xq033353Y3PrmScv/PHf+XZ/XxEAyuWKn/FlGqOkkUo69opXkp5iY3Pr9t3pv/rhz/7d9/9mfGzkX/yv/5fPP30eANY3K1IKIpEmkNNxKJEo2rDR2vc9XxEDPJhf/vFPf/Xjn/xSCPr2N7704nNPXTh3yv1wGqOkkUo6eqivWMvMxphSsfDCs0+y5Xfe/WhuYekvfvATY6IzJ48XSwUCqEfMbC1zCrpPx6FColiWQgSZDAGUq7Xbd2c/vnzto0ufWGuee+bCH333G/lcFtI6ShqppOOhYn/HEeJ8RaVS/eTarV/95oM/+4sflUr5/8U//c+++ZXXAKAesTE6TjoTpnZPxyEYWptIR/lsoCRZho+vXP/JL3790aWrpWLh61957dknL5w8PpnGGyXUDwAAIJNJREFUKGmkko5PyTuptanX67lc9qUXnp6YGP3w4yu37s68895HhWJhfHiw1Fcq5jIAEOqU1TgdcAiUUYA5yHh58gBgeWXtk+t3P7z0yZ2709ls5vlnL/7h17+Y8X1gqNRrKWY+jVTS8SlTAdZa9+Gx1l6+evPSJzd+/dsPwyh6+dmnvvKl186dPgYAkbHb5ZpyNc10pOPAystrbfpLOQAINf/lD/7657/6zebW9umTx7742gsXzp0eHx2OYxRr0ytUGqmk41OWWIQQxphaPcxlg2eePH/+7Mm19Y3fvH/p8tUblnlufun82eNjI0P9xWyzKyz9sKXjwDXTCyECXwJAtVa/c2/60tXb739waXu7PDE28soLz3z5jVcEETPX65HnSZGysKSRSjo+c7zCTS3I6dm5K9duvfnrd2/euZ8Lgm985fV/8He+63sCANY3K0KQEDL1LOk4KEgUrQ0RCiEyngCADy5d+5N/9f+5euP2E2dPf+HVF5568vzxybH+vpL7lRQzn0Yq6XhU8QoaY8MwzGT8Y5PjE+OjtXp9c3t7aWnltx9cAhRPPXH61ImpUjGHAJFhY6y1nH760vFYd3kxKykyvkSArXJtfmFxembhzbd/e/f+g0I++8yT57/yxitTk2Ou3KIjLaVImSLTSCUdj5gBqfmhWl5Zm3kwf/3mnTd//d6Hl66dOjH1P/3P/+GXXnsBACLNkW50hQlM35B0wGPa5aVz2YwnCQBu3Xvw/R/+9Id//Utm+9Uvv/rlL7w0OT46MjToeaoRo6SXpDRSScejjlecvr3WRik5NNg/NNh/bHK8XKnevT87M7fw1z97Kwz18WMTw4MDpUIArissMkhI6WcxHY/Z9SgbeIQeAMwvrdy8PX395p3LV2/UatUnzp/+zje//PTFc9DoG2YGIYgofYbTSCUdvzNK46aTMMYsLK48mF946zcf/OzNd3RkvvTGK3/rW1998sJp1xW2tV1VSqZcYel4rLq8jLF9xSwA1CPzb//dD37yi7fLlcqJ41OvvvjMudMnTp88lsn4e9HipSONVNLxqOOVWP/OACARToyPTIyPDA72P5hf+OjS9es3b+dzwcLyyoUzJybGRgZKOQao1jU02PVTG6bjc4pOwBXkA18ywPZ25c696UvXbr/7/qXtcnlkaOD1l5/9o+98w/18tVqTUkop0rJ8OtJI5ffIEpZwEpHWd+5O37h9770PL9+8fQ+JvvLGq//xH/9R4CsA2NiuIqAQlCKQ0/G5DGOsMUYIUkq6Isqbb7//J//qf7hzb+bZpy+88eoLF86empoaHxroh7TLKx1ppPI5soQxszYminQ2yJw/e+r82VO+75XLlXszD97/6IpS6qkLp08enywU+5QACxBF1hiTflzT8fu8+gBAJqMEKgDYKtdmZtfuTc/8/Fe/mXmwUCrmn3vmiW9+9Y2hwX7nS6JISylStHw60kjlcUGxrK1vPphbuH777s9/9dt33v1wfHT4H/+j/+hvfesr7l9rdV2rh0IIl1hIrZeO3/WTaawBAMcnBAA3785+/4c//ckv3kLEr37x1TdefX5ibGRkeKhJBpHGKOlII5XHBcWijZZC9vcV+/uKJ05MVSq1Gzdvr65tfPDxJ9lsdqCvNDjYPzk2lPElAITaGmM5LbSkA35XLF5CkOdJgcoAbGxV5hcXZx8sTc88uHP3vjH64vkz3/v2106fPObahbU2ACxEikRJRxqpPDbExsy2+YFkhoWl5emZB9du3v3k2u2FpeV8LvelN17+O9/5hqcEAFRDo6PIlfrTVEM6HnV/lzHG+L5yJT0A+PW7H/3FX/3N1Zt3BvtKF5848+QTZ08cmzh94phSsmONMB3pSCOVz5/YGJFifRW2iDQ2MjQ2MvTkhXPAP1pZW11eXf3tex/VqvUzJyfHxkb6+wf6CgEAWIZ6aJJM++lIx2cpnxBRIRefA/NLaw/mF+fmFj6+fPXWnfvWmNGRwVdffPaN115wP1Cp1ZSUUqTJ2HSkkcoB6QoDgLn5pZkH89du3nnz1+/+9oPLuWzwvW9//e/+7W85hmMA2CrXGVhQ2huWDvgs/V3WWgAWQmYz0ikCff/Hv/z+j3566/a9YjH3wtNPPv/sxZPHp8bHhouFfMo3nI40Ujl4XWE6MkHgj48Nj48NT46Pbmxs3bh1b3Nr++r128Xir+9NP5iaGBkbHcnnc5LS3rB0fPb+LgCAze3a/ZmlB/ML92bmP7l6c3llVSl55uTxr3/ltVdfeq4J2jXGSilSvuF0pJHKQeUKq4fR4uLy7NzC3MLSR5evXb1+u1yuPnnx7N/+9je+8OoLkgAAqnVdr4dCijQdkY5P3d91d3r+3//Vj//sr360uVV+8dmLr7/y/JlTx8dGhibGR50McIqTT0caqRxgrjBmNtYys5Ly2NT4salxACjks+vrmzdv37t7b+bnb76zur4+OTE2MTY6MTLgNC3qkbXWMrtSTfrJT0cHuWtmFkJ4Hrn+rs1ydX5haXZ24e79mUtXb2xtVwq54Inzp7/51S8cn5pwvxhFGoBJiDTllY40UjlUVZa19c25+cXZB/MfXb7+/sefrK5vHD8++Z1vfOWPvvN1B3ep1LTWGgCQUJBIufzS0RadMFtjjLUZz3Md6gDwmw+u/MUP/uajS9c8Jc6dOfnc0xemJsYmxkZGR4czvpf0RmlLSDrSSOWQVFkcVYaUwmFZnnzi7NDQwHa5/OHla2ura++8+2GlUj11Ynx8bHSgf6CYzzQIYFgb45IV6VmQ1k6IyJPk4PHMMLe4trC0PPtg/tKV67du3zdaD48Pvf7Kc9/79tebjiRyzeuCBBFA+gilI41UDmmVBQAqleqD+cWFxeXbd6d/9c77v3n/Uj6f/fvf+8O/970/PDE56n4m1LZeD61lInLsYaklj9qwrlHdMiAoKX3PleShWtM/+flbP/7pm9du3s7lsi888+TzzzwxNTk6MTY6ONC32yGll5J0pJHK4ayyWGuNsQCQzQZnT584e/rEmZPHNza3rt24U6nVbt+d/uVbv70+PFgq5AcH+wf6+/uLcX01MmCMsdYCphotRyU0QUSllBRxiFGP7IP5lbX19ZXVjZnZuZu37iwtrSgpT5+Y/OoXX33jteeh0SscRVoKEmnTRzrSSOVInRdxOBJF8wtLs3OLK6trt+7cv3Tl+p17s4VC/o3XX/rON7/yzMUzDafC9XrosAXusEjPi0Mc1DabNXzfVw3WheXVzbd/88GPfvrmux9cQuBnnjr/0vNPnz11YnRkcGJstFDIJeOb9AlJRxqpHKEqi/vYu94wKeXxqQnXpfPr37y/sLB0f/rBxubmjZt3Mr53597M8GBpYKB/oL9veKDkflfbJt4tzWwcyuhEukZzBqhUw9mV1dW19cWllfn5pXvTs3PzC1pHQ4N9T5w//fWvvHbq+LFmfxczuzRpmilNRxqppCELAMDm1tbc/NLC4vLM/MKdu9OXrty8c3cml89+8fWX/tYffu31l56J8xsAYT1uEiMiJEoTYocAdGLZAgMRBYFq+oSbd2feeue9N99+79qNO0qI82dPPvPkuZPHpwb6S6MjQyPDgxnfT/u70pFGKuloffKdlKQxVghRLBSKhcKFc6er9dpbb7+3vr41N7dYrVbv3Z95863fzszOjwwPDg309ff3Dw/1O1yLBdDaZUvSkuzBu1U4smoi8jxyJXhtYXOzsrK2tryytri4PP1g7u69meXlVYE4ONB38fzpb371jbOnTzTnSfu70pFGKuno3hsGAC7jsbq2ubiycufu9AcffXL1xh3lqS+8/PwffvOrr7/yfCHnNzuP66FmNq4hgBy8LXUtj7e+LwNba9kyIkopggbopFrXlz+5/uvfvP/bDy49eLCQzQbnz5y8eOHMyWMTfX3FwYG+4eHBwPfT/q50pJFKOrr3hjkQPjBIKQb6+wb6497Qdz/4eH1jc3p2rlytzTyYf+e3HywsLo2NDg8PDw70Ffv7StmsT6CafWKuXrM7KkrH5+ZIGvkp93ZIQSRQNN6WemSXVjdXVtdXVlbnFpbuTc/cuTe9sbnpe2pibPi5Z5742pdenRwfbc4WRhE0ZOfTNzcdaaSSji4kHLvdwObW9sLi8vLK2vrm1p079z+6fP3qzTuI8PRTT3z5Cy+/9MIzp49PNH9BWwjDyBjDAI2ghVJk/uPR0MUAKARJKZVsvcdrW5X3Prj01tvvXb5yfWNzq7+/dO7M8fNnTx2bHO/vKw0N9A0O9DflT+IJU5G3dKSRSjp6kWZxafEGIYe1bAVRsZAvFvLnzpwEgKvXbtXq9YWl5dX1jbn5hcufXA+j6O7dmVwum/G9UrFQKhZKpbzDXQOABTANZH7jEErPot9fIwYAOOyqbGQ3LUClEi4tb21tbW9sbpWr1fX1zTv3pu9Nz25vl7PZ4OTxyVdfeu71V54f6CslohMNwIQU6ySkJk5HGqmk41NRB8KOIKNSqS0uLy+vrK2sbty6c//B/OLG1vbWVllrPdjf/9TFcy89/9RTT17IeC1NyVBzvR5aa5FQNEsu6bn0u1QC5cZARCmlp0TzbQy1nZ6Z++TarXc/uPTx5avblcrI0ODU5NjI0MDE6PDU1PjQQN/gYH9/qZgss6W1k3SkkUo6HkHUghgfUsZah2jLZjMnj0+dPD4FADdu3X33gys379wLa+HGxmYYhkhQrlSu3743ONDXXyrlc9liMV8qFZtVfQYwFqxlY8xeDWnp+HTFklbJRLZg8M6pr6xtbG2VN7e2N7e2F5eWl1fWFhZX7tyb3tjcIqK+Yv7c6RPPPHX+4rkzuVzQ9CKOWhiJRKrhlo40UknH76JlaAcffq0erm9sbm+XNza3p2cePJhfnFtcvntv5t7MHFs+eWLq4vkzF8+ffvbpi2dOTjZ/yzJE2kZas7UADdoXjOdOD6+HLZa4twaALTMACCE8JZVomXF1o3z5k2sffvzJlWu3Zmbnq7VaIZ+dmhg9PjUxOT46Mjw0OjzQ318qFQtJ1ZM0OklHGqmk43fdIRZD8a211jIRZnxvbGQIRoYA4Jmnzt+7P3P56i1mu76xtbG5tba+fu/+TK1em19amRwb7e8rFIvFfC5bLBTy+Vw+8JLXbWvBWrYJgpA0gunYQ9H83vU/CEFEQO2xy8ZmZWu7vLm1tblVXl1dX1ldm1tYnHkwt7C0VK/X89lgfHT44vnTLz739LNPXQiCTNKLaG0AoAFpTS2fjjRSScfnIdMCscRkuLGxtb65tbGxtbVdfjC/sLC48mB+8dad+/dn5jKe99wzF198/ukL586cPX1iYnRgRxon0qy11sZAg2w/Gb0c5QNuZ0RiHa4IlVJKCYE73c/lq7c+unz1k2u3bty++2B+0Vfq+NT4yeNT4+PDI4ODIyMDhVyuWMz3FQuFhmJ8Gp2kI41U0vFYEIg1jzohhO95I8ODI8OD7l/XNzY+uXb7yrVblWp1cWk5CqPFxeVPrt1cXlm/d3/21InJYjHv7sP5XC6bDYIgE2S8bKNtrGsEc/iOvh3Xsv0jEocv2dwsV6q1arW6Xa5Yy1rr9fWNW3fv37k3vbC4vLW1rZQY6C+dOXXsxeeefuri2WOT4zv+ojGGGZCQ0gaKdKSRSjoeTw4xSABc1je3Nje31je2trfLs3Pzd+7Nzswu1OthLp/NBhmlVKlUOHF86sSxyanJ8cnxkcCTe0cwDrLfaHxu71A+oKdhM6/ViENa/9k/IgGA5bWte/dnpmfm7s8+uDf9YHV1PQxDQPCU6u8rHZscnRofGx0ZyuezrtW7r1SUUuzjyVKPko7UqaTjsUvRWP7/t3fuv21c2R2/73mSw5ckW7KsJLvxNltgC7Q/9P//uUBRoN2iu8kmjqy3SM4M53nf/WEkmpJsJ9m1sxvkfAyY5pjUXI6I+53vOfee44fiH7vb5QbeXFz+x3/+9x//9+ub5Uopba2TSnHBZ9PJfD6bZeMsG88mWZLEcRyFgUjiOAyDOI6iUOxOqf4+4e/9XTHEt7Gh99Sf+jtOl7vpkEfHh7DeFoKHI48/gtSubbu26/pe1m0npWzavmnq1brMiyLPi9W6WOWl7GUQ8DRNnu0vfvP5yR9+/+qr3/1mN2VyV53a2mF9BBTUAUBUgF9SmcKns5W2tsjLTVV1veq6riir88vrm9v1Ki/yYrNe53mx6aUapclnJ0cnL49eHh0ePj84Pj46en4QCfr0dNYjZ711Q990d/cFxAg/dC/vsTIffzp9usD3qQcZLtBQfwujbWiLUEooebciLvPq9fdnp+cXl1c3Z+dX3353+t33Z8aa/cXs2bO9aTaejEez2eRgb/Hi6CBN4jAMkyiaTMZJHH0wyAaCAiDIqQC/gHQLfuRdnHPeE0w4Z3uL2d5idr+22J2dX5+dX52eXbw5vzzlzDqrVqrrupvl0ntfltXp2cWfv/kuy0bTLBuP01GaBoFgjFFCgkBwzgTnQvBQiPfN8t6/9TTb+dQ/mOHvjQT+aVV2/fbh/o3DioIdGUMIDRU2EcbofT1GjENamb6XSmuttVJaa9P2vZSybfu6qVfrcp0X67woN1VZbIpyY50Rgs1nk5cvDl8ePT96fnBy/Pzli8M0TR6O0Btt7lMmZGuM4IsKgFMB0C88YYDeuYLLGNN1su26tuvbtuv6vqqbclOv8ny93qzWxboo1+t8lRddJ/cWs3/+6tWLo+dRFIZhsDebTrPxZJrNJtl8OvrAMBxCziK3XVewtQ67z3Y15e3j/bGH6rMTzXr73u1qtQcRLYIJwfSD03jT6rwo87JcrfOyqvN1mRfl1c3y9emb19+faWP2F7NnB3vTyXiSjRezyWw6WcynURQkcRzHURrHURTEURSGAfgSAJwK8KsoJrbd4zIkXYaU+1DZcDRiu51oB84vr74/vfj+zeXZxeUpZ8ZoKWXX9TfLlXPOI4QxHqVxEsVxHMZxlMRxFIZRFAjORSA440IwzpgQgnMeCM4444xRSimlhCCCP1Xrj603cs5b67TWSpt7/6Gl0toYpZTWRmvVS9W1fdvJtm3brq/bpu9l1/Zd15VVXZTl1pGcHB8eHz0/fL5/8uLws5cvtvven4r0sEmV7AgbfA8BcCrAr6LQ4QfmO2tt03Zt13dbB1PVVdMVm6osN6uirKumbtrB5VR1U9etMUYIPhol89lsOslmk2ycpfNpNplk89ksy0aTURoGQRBwxrgQjH6aydYhZLRXSmpje6natlvnRV6W63xTlJv1uig2m7zYrFf5cr3qe8UYjaIoiaM4jpIkSuJonKZpHI7Go0k2Wsxn8Y4jCcMgjsMoDH/komRQFABEBfg1dovy/u1fGCNCKKXvTkCcnl2eX1zdrtdlWS1XRbGphrVPy3XeNp33TgRBEsdJHMdxGEZhGkdRFMZxPBol2WjEGffOeuQp5ZRRRiljhFFGKCUED7vI76rwYkIwZowyxjDGQ3NMN/S1cnfbZobKAkOBAWutsdYYZ601xhijCaGMUSXVMi/KTdW2fS9lc7erpK+qpm5q73ySxNlkPJtkk0m2mGWTLNubT2eT8cH+4vjF4aO6KWino8lQLHK3xA34EgBEBQDQ06/NB2ZGbUzX9Q9CSVKp++BS2/Vt3zV117Rd07RN1zdtV9VNVdfee8aE1ibPi6ZpjHXeOTMIgLWEECFEEIhAcM4YF5xSJjhPk2g8GlFCBinQ2iijlVLaGKW0VkYpLZUy1mCEKGN8aFSCMCE4G48O9mcBF73Uzvtxmo5GcZrGcRgkSZTEcZLGcRCGYcA545wLwYXgw7oDwXkYBO/MkTwqxQa2BECQUwGAD8+F73QwCCNKKGeMP6ks8oiiKNf5Zp0XxaZarctVnt+u1n0vnUN9L72zjGKltDFWaa3u2scg55zRBntnjFFaE0IooVpJpRTBuOtl30vrnHXOGmOdNcZa46yzCHlCMMVECB4IEQSCUsIYn2TpfJYlUYwwEUIsZtP5fLKYZZPxaDrN5tOpEPwHL47W2r3HkYCEAOBUAOBTOZin0aFhYa5SWmklpbLOee+tdUppa81d5Mpvg1fOGmuG0NUgGNYaY9021DU0JqGUcc4IYZwSShmljDJGCWWUDAXi76rEI4wJ5ywMxNBwlxASCHHvRRjn4n3xPXAkAACiAvysOZgHjwghf/dnmG6HjYR/44msdcYYpZSUqlfKWkspvd8TM0Sn6N/+WYYszbDP5cHmFox2TQn83gEQFQD4WR3MbnWWjzsL39db9ENNk79drt4hk++pKwOGBABAVIB/mDoxD+uibK3M1ti8/fd2S/wj3j+r7+6Z3D7ubJq8f9fwMx+pxG7hGJANAABRAX7RhuYdFVbebtL8a2b5HfV6tBX/p6xMAAAARAX4lUjR2wqZTzfhgzwAAIgKAAAA8IuAwCUAAAAAQFQAAAAAEBUAAAAARAUAAAAAQFQAAAAAEBUAAAAARAUAAAAAUQEAAAAAEBUAAAAARAUAAAAAUQEAAAAAEBUAAADgH1ZU7nuQA+g9fdp/3IvvrySMDQAA9OusUuwR8u5uahr6FX30OuLO+betMn72UuXbq7E96XDkB8fw6MpsO8t+oHXg9mT4gy/+wbH94Oh+hrEBAABA6XsAAADgI8N+SsjLPW33vdus298HxXbvbe/vfN8evG+g9BPa6z3sCn73qu0t9a5henQ7//Tsjw6+75zOOYQx+Ye8Qx9GD+4BAIBfqlPZVY666dqud84HAU/jiHP2EUfjEeo66ZxjjGKMnXMY40DwjzWB7mjJO7DWSaUwwkEoBjlxzkulvPeBEJSSd6rdMDZrXdv1vVTOOUoJoywIeCD4IMP+rgnh9kRWKt33SmntEQoFT+JICP7oUj+KCmpjkPeMM0rIcMRY672nlDBK/45jAwAA+GlOZTs99VK/fnN1en6tjd6fTb44ebG/N8EYP008DHrwVAyce4fd2SKlOj276qWaT7NA8LaXnJHFfBIIgX44GeM8QgQRjBHCd57l0QC8cwghjMk7P51U6vp27T3am09HaYQQ6qW8vF5575/tL9Ik3H3xdsHC8LTt+q+/Pbu8vnXex1E4HiX7i9nB3jQMxKPEjLW23LTXy/XN7brYVM75g73Zq98cL2aTRz9/96mxttzU2pgkCkdpTCmVSudFZZ0dj5JxGj/+pJ9+bAAAAH99+MtY23VylW+KsrLWIo+arj89v5JKHezPAsERQkrpXiqMcRyH9F45rLVSG60NZzSOwkFRlNbOOowxpRRjrI0dglLrfHN+tbTOpXEUBNw5ZyxyzmttpNLe+zAUnLFh0rTOKqWV0pzzJA4Jwat8U5SNc240ihfTMWPMOd9Laa1jjEZhQO7v8duut9YKzoXgD4JcHlV12/Vqf28yThMp9e2qQB7NpxlC4ZNgHdreuyut82JTVs14lARCCM4ZJVv5xBgjfOcIldK3q3yVl977IBDeIyEYweTHpOibpru5zRez7PjoAGN0cb3sevnl5y/Gafxo0v/ZxgYAAPBjRcV7hLzDhGCMm6b/5vVZuWnSOPqX33/JBc3L6ptvz/JNFcdhMMsQQqt8c3G9ZJScHD+fjFOEkPO+atqbZbGpmmycfv7yOaNUab1alb2UnLEkjSkhddsppZ3zq7zcbOowCrjgozThjBljlTJFV63zjUdoPhvPpxPBmXOuabqrm/W62Ewn4y8/P0IYX14v//TNm17qk+NnaRyljDVdf3F52/YyG8XHhwdDsK7tuu/eXHVdP5uO9+fTJA4RpQihQPCDvVmv9Dffnp1f3nz5xTHnTGszKN/2mrxzZZp1jjF6sD/73RcvZ9MxpZRgzO5jg7tTfCfVzSrXxr76/EU2TjHGlBLB+fC/j7I428wQozQbp1Xd/uX1+TIv9xZT5/3tKm/b/ouTw+Flznuy480+9dgAAAB+slMZwugYoV6qi6tbqfSL53svX+wjhNIkKorKI08IkUrdLovL65W21jF6dnHTdXI0iq1117f5Mi+d9ULIq9ucUVJVTVW3yPs4DhHB1tp1UVnrojBQSkutCSPGWIQRIbhq2uKi1towTr33p2fXdd2/PDpgjFZNt6kabUzX9edXS+dcuWm0NkqprpNt2xOCb5b57bpAHjFKVuuSC+acLzd120mtdFW3YRAEgaCUIoQopXFMJ1mKCb68Xhnr5tPxKI3HaRIEfOsDhv0b3vnBQhCCvUdSqmHMd7E46xxGmGCCiUfeOe+9Y5QRgrU2ddMNwTpGqbHWGMPog7SI9946hxCihAwnJQQHgmejJInDctP88U/fBoEQgo/TOI7CBxG+Tzw2AACAv1pU3ibxvXfGWIxwEt9NYVEQ/NNvTzDBaRyty80fv35ttH31xTGl5C+vzy8ul59/dhgIsc4rY+ximnHBLq6WZVlbawPB0yTCGBtjm6YrNzVnbJqN4ih0zjd1t6mbcR33vTy/un1zfpMm8VevTpzz//f193nRLKZZlqVSasbo4WThnDs9u5ZShWHw8uiglypNYql0t5LLVWGtzUap4Px2lW/qViodCDGdjOg4kVJ3vbTW7X7mNIkOn82run19etn18t/+8OpgbxYIPsSgCMHOO2Od0XYIS3FGrfNdL8uq2dSNVHo2GQeCZ+N0McvCMHDOaWO882GIBWHee+/94DlOz6/ruh2l8ZdfHO/NJ1snZJ3re4kQCsOAUboNVQ2v/PO3b/7rf75O4uirV5+dHD1Lk2jIVGFC/Ccdm/OYgFkBAOBj5FQQQoQQSvEQevLeE0Jm0/Fd2KSXVzfrOAqycUoJqeq23DSz+XicJF0vOaPZKHXIbaqby6slZWQ+y8YkGfyB0loqzRgLAh7pAGGslOp72fey7WVZ1jfLnGCSxrFzrm37uumU1hgj5xznfD7N6rbNy7ptu5PjZ4tpprRBGFlrm7Zr255xEscho2xdlFc3666Xe4vZ0eFeHAarfGOsHbZbbi1CIPh8mkXhzevNZRSJOAqjMBjWUG3DP845Y613frBT1jqtbd+rdV71Um3qJo1j5/14FAvBrXVaG++RcG57JZXS1zdrZXReVPuL6dGzPTRHu4sOtDEIIeE4urcJ3vsg4M+fzc+ubs6vlqM0/vd//f0kS+8WQA+rEz7l2GD1FwAAP8j/AxFAfpnDDsdZAAAAAElFTkSuQmCC&quot;,&quot;x&quot;:995.452,&quot;y&quot;:194.96000000000004,&quot;w&quot;:589.0559999999999,&quot;h&quot;:368.1599999999999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7110" y="1184330"/>
            <a:ext cx="3578361" cy="2236475"/>
          </a:xfrm>
          <a:prstGeom prst="rect">
            <a:avLst/>
          </a:prstGeom>
        </p:spPr>
      </p:pic>
      <p:sp>
        <p:nvSpPr>
          <p:cNvPr id="139" name="VIZ::DiagramTitle::Process Flow::1" descr="VisualizerDiagramContinuation:{&quot;item_id&quot;:&quot;c8&quot;,&quot;page&quot;:1,&quot;page_count&quot;:1,&quot;direction&quot;:&quot;right&quot;}"/>
          <p:cNvSpPr txBox="1"/>
          <p:nvPr/>
        </p:nvSpPr>
        <p:spPr>
          <a:xfrm>
            <a:off x="148973" y="1202618"/>
            <a:ext cx="5758226" cy="228600"/>
          </a:xfrm>
          <a:prstGeom prst="rect">
            <a:avLst/>
          </a:prstGeom>
          <a:noFill/>
        </p:spPr>
        <p:txBody>
          <a:bodyPr wrap="none" lIns="45720" rIns="45720" tIns="22860" bIns="22860" anchor="ctr">
            <a:spAutoFit/>
          </a:bodyPr>
          <a:lstStyle/>
          <a:p>
            <a:pPr algn="ctr">
              <a:lnSpc>
                <a:spcPts val="1288"/>
              </a:lnSpc>
              <a:spcAft>
                <a:spcPts val="0"/>
              </a:spcAft>
              <a:defRPr sz="1150" b="1">
                <a:solidFill>
                  <a:srgbClr val="233449"/>
                </a:solidFill>
                <a:latin typeface="Arial"/>
              </a:defRPr>
            </a:pPr>
            <a:r>
              <a:t>Process Flow</a:t>
            </a:r>
          </a:p>
        </p:txBody>
      </p:sp>
      <p:sp>
        <p:nvSpPr>
          <p:cNvPr id="140" name="VIZ::Process Flow::Excursion signal::node-1" descr="VisualizerSemantic:{&quot;composition_role&quot;:&quot;causal_evidence&quot;,&quot;edges&quot;:[[&quot;Excursion signal&quot;,&quot;Compare affected and reference&quot;],[&quot;Compare affected and reference&quot;,&quot;Verify chamber mechanism&quot;],[&quot;Verify chamber mechanism&quot;,&quot;Confirm corrective action&quot;]],&quot;element&quot;:&quot;Process Flow&quot;,&quot;engine&quot;:&quot;DiagramEngine&quot;,&quot;groupId&quot;:null,&quot;id&quot;:&quot;c8&quot;,&quot;locked&quot;:false,&quot;message_role&quot;:&quot;Primary Evidence&quot;,&quot;nodes&quot;:[&quot;Excursion signal&quot;,&quot;Compare affected and reference&quot;,&quot;Verify chamber mechanism&quot;,&quot;Confirm corrective action&quot;],&quot;order&quot;:10,&quot;section_id&quot;:&quot;evidence&quot;,&quot;section_title&quot;:&quot;Causal analysis&quot;,&quot;title&quot;:&quot;Process Flow&quot;,&quot;type&quot;:&quot;diagram&quot;,&quot;weight&quot;:1,&quot;z&quot;:8,&quot;x&quot;:15.491999999999962,&quot;y&quot;:194.96,&quot;w&quot;:965.96,&quot;h&quot;:170.0}"/>
          <p:cNvSpPr/>
          <p:nvPr/>
        </p:nvSpPr>
        <p:spPr>
          <a:xfrm>
            <a:off x="148973" y="1507898"/>
            <a:ext cx="1288680" cy="623313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Excursion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signal</a:t>
            </a:r>
          </a:p>
        </p:txBody>
      </p:sp>
      <p:sp>
        <p:nvSpPr>
          <p:cNvPr id="141" name="VIZ::Process Flow::Compare affected and reference::node-2" descr="VisualizerDiagramNode:{&quot;item_id&quot;:&quot;c8&quot;,&quot;node_index&quot;:1,&quot;label&quot;:&quot;Compare affected and reference&quot;,&quot;page&quot;:1,&quot;page_count&quot;:1,&quot;direction&quot;:&quot;right&quot;}"/>
          <p:cNvSpPr/>
          <p:nvPr/>
        </p:nvSpPr>
        <p:spPr>
          <a:xfrm>
            <a:off x="1638821" y="1507898"/>
            <a:ext cx="1288680" cy="623313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Compare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affected and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reference</a:t>
            </a:r>
          </a:p>
        </p:txBody>
      </p:sp>
      <p:sp>
        <p:nvSpPr>
          <p:cNvPr id="142" name="VIZ::Process Flow::Verify chamber mechanism::node-3" descr="VisualizerDiagramNode:{&quot;item_id&quot;:&quot;c8&quot;,&quot;node_index&quot;:2,&quot;label&quot;:&quot;Verify chamber mechanism&quot;,&quot;page&quot;:1,&quot;page_count&quot;:1,&quot;direction&quot;:&quot;right&quot;}"/>
          <p:cNvSpPr/>
          <p:nvPr/>
        </p:nvSpPr>
        <p:spPr>
          <a:xfrm>
            <a:off x="3128669" y="1507898"/>
            <a:ext cx="1288680" cy="623313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Verify chamber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mechanism</a:t>
            </a:r>
          </a:p>
        </p:txBody>
      </p:sp>
      <p:sp>
        <p:nvSpPr>
          <p:cNvPr id="143" name="VIZ::Process Flow::Confirm corrective action::node-4" descr="VisualizerDiagramNode:{&quot;item_id&quot;:&quot;c8&quot;,&quot;node_index&quot;:3,&quot;label&quot;:&quot;Confirm corrective action&quot;,&quot;page&quot;:1,&quot;page_count&quot;:1,&quot;direction&quot;:&quot;right&quot;}"/>
          <p:cNvSpPr/>
          <p:nvPr/>
        </p:nvSpPr>
        <p:spPr>
          <a:xfrm>
            <a:off x="4618517" y="1507898"/>
            <a:ext cx="1288680" cy="623313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Confirm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corrective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action</a:t>
            </a:r>
          </a:p>
        </p:txBody>
      </p:sp>
      <p:cxnSp>
        <p:nvCxnSpPr>
          <p:cNvPr id="144" name="VIZ::DiagramEdge::Process Flow::1" descr="VisualizerSemanticEdge:{&quot;item_id&quot;:&quot;c8&quot;,&quot;edge_index&quot;:0,&quot;source&quot;:&quot;Excursion signal&quot;,&quot;target&quot;:&quot;Compare affected and reference&quot;,&quot;continuation&quot;:false}"/>
          <p:cNvCxnSpPr/>
          <p:nvPr/>
        </p:nvCxnSpPr>
        <p:spPr>
          <a:xfrm>
            <a:off x="1442225" y="1819554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VIZ::DiagramEdge::Process Flow::2" descr="VisualizerSemanticEdge:{&quot;item_id&quot;:&quot;c8&quot;,&quot;edge_index&quot;:1,&quot;source&quot;:&quot;Compare affected and reference&quot;,&quot;target&quot;:&quot;Verify chamber mechanism&quot;,&quot;continuation&quot;:false}"/>
          <p:cNvCxnSpPr/>
          <p:nvPr/>
        </p:nvCxnSpPr>
        <p:spPr>
          <a:xfrm>
            <a:off x="2932073" y="1819554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VIZ::DiagramEdge::Process Flow::3" descr="VisualizerSemanticEdge:{&quot;item_id&quot;:&quot;c8&quot;,&quot;edge_index&quot;:2,&quot;source&quot;:&quot;Verify chamber mechanism&quot;,&quot;target&quot;:&quot;Confirm corrective action&quot;,&quot;continuation&quot;:false}"/>
          <p:cNvCxnSpPr/>
          <p:nvPr/>
        </p:nvCxnSpPr>
        <p:spPr>
          <a:xfrm>
            <a:off x="4421921" y="1819554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die_x_1&quot;,&quot;name&quot;:&quot;Die X&quot;,&quot;nullable&quot;:false,&quot;profile&quot;:{&quot;distinct&quot;:11,&quot;missing&quot;:0},&quot;semantic_tags&quot;:[&quot;die_x&quot;],&quot;type&quot;:&quot;integer&quot;,&quot;unit&quot;:&quot;&quot;},{&quot;id&quot;:&quot;die_y_2&quot;,&quot;name&quot;:&quot;Die Y&quot;,&quot;nullable&quot;:false,&quot;profile&quot;:{&quot;distinct&quot;:11,&quot;missing&quot;:0},&quot;semantic_tags&quot;:[&quot;die_y&quot;],&quot;type&quot;:&quot;integer&quot;,&quot;unit&quot;:&quot;&quot;},{&quot;id&quot;:&quot;yield_3&quot;,&quot;name&quot;:&quot;Yield&quot;,&quot;nullable&quot;:false,&quot;profile&quot;:{&quot;distinct&quot;:11,&quot;missing&quot;:0},&quot;semantic_tags&quot;:[&quot;value&quot;],&quot;type&quot;:&quot;number&quot;,&quot;unit&quot;:&quot;&quot;}],&quot;id&quot;:&quot;dataset-muit82kh-vdnlwy&quot;,&quot;metadata&quot;:{&quot;header&quot;:{&quot;confidence&quot;:1,&quot;present&quot;:true,&quot;source_row&quot;:0}},&quot;name&quot;:&quot;Pasted data&quot;,&quot;revision&quot;:1,&quot;rows&quot;:[[0,-5,98.2],[-3,-4,98.6],[-2,-4,98.3],[-1,-4,98.8],[0,-4,98.5],[1,-4,98.2],[2,-4,98.7],[3,-4,98.4],[-4,-3,98.4],[-3,-3,98.1],[-2,-3,98.6],[-1,-3,98.3],[0,-3,98.8],[1,-3,98.5],[2,-3,98.2],[3,-3,98.7],[4,-3,98.4],[-4,-2,98.7],[-3,-2,98.4],[-2,-2,98.1],[-1,-2,98.6],[0,-2,98.3],[1,-2,98.8],[2,-2,98.5],[3,-2,98.2],[4,-2,98.7],[-4,-1,98.2],[-3,-1,98.7],[-2,-1,98.4],[-1,-1,98.1],[0,-1,98.6],[1,-1,98.3],[2,-1,98.8],[3,-1,98.5],[4,-1,98.2],[-5,0,98.8],[-4,0,98.5],[-3,0,98.2],[-2,0,98.7],[-1,0,98.4],[0,0,98.1],[1,0,98.6],[2,0,88.6],[3,0,88.7],[4,0,98.5],[5,0,98.2],[-4,1,98.8],[-3,1,98.5],[-2,1,98.2],[-1,1,98.7],[0,1,98.4],[1,1,98.1],[2,1,88.5],[3,1,88.6],[4,1,98.8],[-4,2,98.3],[-3,2,98.8],[-2,2,98.5],[-1,2,98.2],[0,2,98.7],[1,2,98.4],[2,2,98.1],[3,2,98.6],[4,2,98.3],[-4,3,98.6],[-3,3,98.3],[-2,3,98.8],[-1,3,98.5],[0,3,98.2],[1,3,98.7],[2,3,98.4],[3,3,98.1],[4,3,98.6],[-3,4,98.6],[-2,4,98.3],[-1,4,98.8],[0,4,98.5],[1,4,98.2],[2,4,98.7],[3,4,98.4],[0,5,98.8]],&quot;source&quot;:{&quot;imported_at&quot;:&quot;2026-09-26T19:55:56.801Z&quot;,&quot;kind&quot;:&quot;clipboard&quot;,&quot;label&quot;:&quot;TSV&quot;},&quot;warnings&quot;:[]},{&quot;fields&quot;:[{&quot;id&quot;:&quot;population_1&quot;,&quot;name&quot;:&quot;Population&quot;,&quot;nullable&quot;:false,&quot;profile&quot;:{&quot;distinct&quot;:2,&quot;missing&quot;:0},&quot;semantic_tags&quot;:[&quot;cohort&quot;],&quot;type&quot;:&quot;categorical&quot;},{&quot;id&quot;:&quot;yield_2&quot;,&quot;name&quot;:&quot;Yield&quot;,&quot;nullable&quot;:false,&quot;profile&quot;:{&quot;distinct&quot;:6,&quot;missing&quot;:0},&quot;semantic_tags&quot;:[&quot;value&quot;],&quot;type&quot;:&quot;number&quot;,&quot;unit&quot;:&quot;&quot;}],&quot;id&quot;:&quot;dataset-muit84yp-19l9gu&quot;,&quot;metadata&quot;:{&quot;header&quot;:{&quot;confidence&quot;:1,&quot;present&quot;:true,&quot;source_row&quot;:0}},&quot;name&quot;:&quot;Pasted data&quot;,&quot;revision&quot;:1,&quot;rows&quot;:[[&quot;Reference&quot;,98.8],[&quot;Reference&quot;,98.5],[&quot;Reference&quot;,98.6],[&quot;Affected&quot;,94.1],[&quot;Affected&quot;,94.6],[&quot;Affected&quot;,93.8]],&quot;source&quot;:{&quot;imported_at&quot;:&quot;2026-09-26T19:55:59.905Z&quot;,&quot;kind&quot;:&quot;clipboard&quot;,&quot;label&quot;:&quot;TSV&quot;},&quot;warnings&quot;:[]}],&quot;groups&quot;:{},&quot;items&quot;:[{&quot;body&quot;:&quot;Affected lot L2407 shows a localized die-level yield loss after ETCH-08 chamber A processing. Contain the lot until the chamber check and paired reference run confirm recovery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Investigation summary&quot;,&quot;text&quot;:&quot;Affected lot L2407 shows a localized die-level yield loss after ETCH-08 chamber A processing. Contain the lot until the chamber check and paired reference run confirm recovery.&quot;,&quot;title&quot;:&quot;Executive Statement&quot;,&quot;type&quot;:&quot;text&quot;,&quot;weight&quot;:1,&quot;z&quot;:1},{&quot;body&quot;:&quot;Lot L2407 · ETCH-08 chamber A · affected die compared with a paired reference · release held for verification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Investigation summary&quot;,&quot;text&quot;:&quot;Lot L2407 · ETCH-08 chamber A · affected die compared with a paired reference · release held for verification.&quot;,&quot;title&quot;:&quot;Affected scope&quot;,&quot;type&quot;:&quot;text&quot;,&quot;weight&quot;:1,&quot;z&quot;:2},{&quot;capability_overrides&quot;:{&quot;target&quot;:95},&quot;composition_role&quot;:&quot;hero_metric&quot;,&quot;delta&quot;:-4.4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5,&quot;title&quot;:&quot;Affected yield&quot;,&quot;type&quot;:&quot;metric&quot;,&quot;unit&quot;:&quot;%&quot;,&quot;value&quot;:94.2,&quot;weight&quot;:1,&quot;z&quot;:3},{&quot;after&quot;:94.2,&quot;before&quot;:98.6,&quot;composition_role&quot;:&quot;hero_metric&quot;,&quot;element&quot;:&quot;Before/After KPI&quot;,&quot;engine&quot;:&quot;ComparisonEngine&quot;,&quot;groupId&quot;:null,&quot;id&quot;:&quot;c11&quot;,&quot;locked&quot;:false,&quot;message_role&quot;:&quot;Supporting Evidence&quot;,&quot;order&quot;:3,&quot;section_id&quot;:&quot;performance&quot;,&quot;section_title&quot;:&quot;Performance&quot;,&quot;showTitle&quot;:true,&quot;title&quot;:&quot;Affected versus reference yield&quot;,&quot;type&quot;:&quot;comparison&quot;,&quot;unit&quot;:&quot;%&quot;,&quot;weight&quot;:1,&quot;z&quot;:4},{&quot;chamber&quot;:&quot;&quot;,&quot;composition_role&quot;:&quot;primary_analysis&quot;,&quot;dataset_id&quot;:&quot;dataset-muit82kh-vdnlwy&quot;,&quot;element&quot;:&quot;Wafer Map&quot;,&quot;engine&quot;:&quot;WaferFabEngine&quot;,&quot;groupId&quot;:null,&quot;id&quot;:&quot;c4&quot;,&quot;locked&quot;:false,&quot;lot&quot;:&quot;&quot;,&quot;mapping&quot;:{&quot;die_x&quot;:&quot;die_x_1&quot;,&quot;die_y&quot;:&quot;die_y_2&quot;,&quot;value&quot;:&quot;yield_3&quot;,&quot;x&quot;:&quot;die_x_1&quot;,&quot;y&quot;:&quot;die_y_2&quot;},&quot;message_role&quot;:&quot;Primary Evidence&quot;,&quot;observations&quot;:[],&quot;order&quot;:4,&quot;route&quot;:&quot;&quot;,&quot;section_id&quot;:&quot;analysis&quot;,&quot;section_title&quot;:&quot;Analysis&quot;,&quot;title&quot;:&quot;Affected die yield&quot;,&quot;tool&quot;:&quot;&quot;,&quot;type&quot;:&quot;wafer&quot;,&quot;weight&quot;:1,&quot;z&quot;:4},{&quot;composition_role&quot;:&quot;primary_analysis&quot;,&quot;element&quot;:&quot;SPC Control Chart&quot;,&quot;engine&quot;:&quot;EngineeringChartEngine&quot;,&quot;groupId&quot;:null,&quot;id&quot;:&quot;c5&quot;,&quot;locked&quot;:false,&quot;lower_limit&quot;:null,&quot;message_role&quot;:&quot;Primary Evidence&quot;,&quot;observations&quot;:[{&quot;label&quot;:&quot;W1&quot;,&quot;value&quot;:98.8},{&quot;label&quot;:&quot;W2&quot;,&quot;value&quot;:98.4},{&quot;label&quot;:&quot;W3&quot;,&quot;value&quot;:94.1},{&quot;label&quot;:&quot;W4&quot;,&quot;value&quot;:94.6}],&quot;order&quot;:5,&quot;section_id&quot;:&quot;analysis&quot;,&quot;section_title&quot;:&quot;Analysis&quot;,&quot;title&quot;:&quot;Process stability and specification&quot;,&quot;type&quot;:&quot;engineering&quot;,&quot;upper_limit&quot;:null,&quot;weight&quot;:1,&quot;z&quot;:5},{&quot;composition_role&quot;:&quot;primary_analysis&quot;,&quot;data&quot;:[],&quot;dataset_id&quot;:&quot;dataset-muit84yp-19l9gu&quot;,&quot;element&quot;:&quot;Box Plot&quot;,&quot;engine&quot;:&quot;CoreChartEngine&quot;,&quot;groupId&quot;:null,&quot;id&quot;:&quot;c6&quot;,&quot;locked&quot;:false,&quot;mapping&quot;:{&quot;category&quot;:&quot;population_1&quot;,&quot;cohort&quot;:&quot;population_1&quot;,&quot;value&quot;:&quot;yield_2&quot;,&quot;x&quot;:&quot;yield_2&quot;,&quot;y&quot;:&quot;yield_2&quot;},&quot;message_role&quot;:&quot;Primary Evidence&quot;,&quot;order&quot;:6,&quot;section_id&quot;:&quot;analysis&quot;,&quot;section_title&quot;:&quot;Analysis&quot;,&quot;showTitle&quot;:true,&quot;title&quot;:&quot;Control versus affected distribution&quot;,&quot;type&quot;:&quot;chart&quot;,&quot;weight&quot;:1,&quot;z&quot;:6},{&quot;composition_role&quot;:&quot;detailed_evidence&quot;,&quot;customTable&quot;:{&quot;headers&quot;:[&quot;Evidence&quot;,&quot;Affected&quot;,&quot;Reference&quot;,&quot;Interpretation&quot;],&quot;rows&quot;:[[&quot;Yield distribution&quot;,&quot;94.2%&quot;,&quot;98.6%&quot;,&quot;Mean of observed cohorts&quot;],[&quot;Affected lot L2407&quot;,&quot;94.2%&quot;,&quot;—&quot;,&quot;Localized die loss&quot;],[&quot;ETCH-08 / A&quot;,&quot;Pressure +2.1%&quot;,&quot;Stable&quot;,&quot;Verify chamber&quot;]]},&quot;element&quot;:&quot;Clean Table&quot;,&quot;engine&quot;:&quot;TableEngine&quot;,&quot;groupId&quot;:null,&quot;id&quot;:&quot;c7&quot;,&quot;locked&quot;:false,&quot;message_role&quot;:&quot;Primary Evidence&quot;,&quot;order&quot;:8,&quot;rows&quot;:[[&quot;Yield distribution&quot;,&quot;94.2%&quot;,&quot;98.6%&quot;,&quot;Mean of observed cohorts&quot;],[&quot;Affected lot L2407&quot;,&quot;94.2%&quot;,&quot;—&quot;,&quot;Localized die loss&quot;],[&quot;ETCH-08 / A&quot;,&quot;Pressure +2.1%&quot;,&quot;Stable&quot;,&quot;Verify chamber&quot;]],&quot;section_id&quot;:&quot;evidence&quot;,&quot;section_title&quot;:&quot;Engineering evidence&quot;,&quot;title&quot;:&quot;Clean Table&quot;,&quot;type&quot;:&quot;table&quot;,&quot;weight&quot;:1,&quot;z&quot;:7},{&quot;composition_role&quot;:&quot;causal_evidence&quot;,&quot;edges&quot;:[[&quot;Excursion signal&quot;,&quot;Compare affected and reference&quot;],[&quot;Compare affected and reference&quot;,&quot;Verify chamber mechanism&quot;],[&quot;Verify chamber mechanism&quot;,&quot;Confirm corrective action&quot;]],&quot;element&quot;:&quot;Process Flow&quot;,&quot;engine&quot;:&quot;DiagramEngine&quot;,&quot;groupId&quot;:null,&quot;id&quot;:&quot;c8&quot;,&quot;locked&quot;:false,&quot;message_role&quot;:&quot;Primary Evidence&quot;,&quot;nodes&quot;:[&quot;Excursion signal&quot;,&quot;Compare affected and reference&quot;,&quot;Verify chamber mechanism&quot;,&quot;Confirm corrective action&quot;],&quot;order&quot;:10,&quot;section_id&quot;:&quot;evidence&quot;,&quot;section_title&quot;:&quot;Causal analysis&quot;,&quot;title&quot;:&quot;Process Flow&quot;,&quot;type&quot;:&quot;diagram&quot;,&quot;weight&quot;:1,&quot;z&quot;:8},{&quot;composition_role&quot;:&quot;narrative_interpretation&quot;,&quot;detail&quot;:&quot;Affected yield is 94.2% versus 98.6% reference. Contain L2407 and verify the matched chamber run before release.&quot;,&quot;element&quot;:&quot;Evidence Card&quot;,&quot;engine&quot;:&quot;EvidenceCompositeEngine&quot;,&quot;groupId&quot;:null,&quot;id&quot;:&quot;c9&quot;,&quot;locked&quot;:false,&quot;message_role&quot;:&quot;Context&quot;,&quot;order&quot;:7,&quot;section_id&quot;:&quot;analysis&quot;,&quot;section_title&quot;:&quot;Findings&quot;,&quot;showTitle&quot;:true,&quot;statement&quot;:&quot;Finding · chamber A pressure drift aligns with the L2407 yield excursion.&quot;,&quot;status&quot;:&quot;Verified&quot;,&quot;title&quot;:&quot;Verified finding&quot;,&quot;type&quot;:&quot;evidence&quot;,&quot;weight&quot;:1,&quot;z&quot;:9},{&quot;composition_role&quot;:&quot;action_status&quot;,&quot;detail&quot;:&quot;Release only after chamber A and the paired reference run confirm recovery.&quot;,&quot;element&quot;:&quot;Project Card&quot;,&quot;engine&quot;:&quot;ProjectCompositeEngine&quot;,&quot;groupId&quot;:null,&quot;id&quot;:&quot;c10&quot;,&quot;locked&quot;:false,&quot;message_role&quot;:&quot;Action&quot;,&quot;order&quot;:11,&quot;section_id&quot;:&quot;delivery&quot;,&quot;section_title&quot;:&quot;Corrective action&quot;,&quot;statement&quot;:&quot;Contain lot L2407 through chamber requalification&quot;,&quot;status&quot;:&quot;Contain&quot;,&quot;title&quot;:&quot;Corrective action&quot;,&quot;type&quot;:&quot;project&quot;,&quot;weight&quot;:1,&quot;z&quot;:10},{&quot;alt&quot;:&quot;Wafer map detail of the same 81 measured die; a localized group of lower-yield blue cells appears near coordinates X 2–3, Y 0–1.&quot;,&quot;caption&quot;:&quot;Detail crop of the 81 die measurements already shown in the wafer map above; it adds no observations.&quot;,&quot;composition_role&quot;:&quot;detailed_evidence&quot;,&quot;element&quot;:&quot;Image + Caption&quot;,&quot;engine&quot;:&quot;ImageMediaEngine&quot;,&quot;fit&quot;:&quot;fit&quot;,&quot;focal&quot;:&quot;54% 48%&quot;,&quot;groupId&quot;:null,&quot;id&quot;:&quot;c12&quot;,&quot;locked&quot;:false,&quot;message_role&quot;:&quot;Primary Evidence&quot;,&quot;order&quot;:9,&quot;section_id&quot;:&quot;evidence&quot;,&quot;section_title&quot;:&quot;Evidence&quot;,&quot;showTitle&quot;:true,&quot;src&quot;:&quot;data:image/png;base64,iVBORw0KGgoAAAANSUhEUgAAAhwAAAHsCAIAAAAW5uOvAAEAAElEQVR42uz9Z5BlSXYmiJ1z3K94WoWOyEgtSmRlya6qbrQCGkBjAIKDoe0MjTTShlwz0pY/aLZ/aOQPmoF/+I/GHzRb212j7Q5p5M4ud0cCGKABdKN1d+mqrMpKLSNDq/fiySvcD3/ce58I+ao6Oysjwr9+lR358oZf9/Pu8+NHfQeZGQwMDAwMDJ4EyIjAwMDAwMAoFQMDAwMDo1QMDAwMDIxSMTAwMDAwMErFwMDAwMAoFQMDAwMDo1QMDAwMDIxSMTAwMDAwMErFwMDAwMAoFQMDAwMDo1QMDAwMDAyMUjEwMDAwMErFwMDAwOBwQRoRGBgcBzwdNnI0gv4yUkejVAwMDA4ZzHZvpG6UioGBwROAZuCobxIPu9Fh30kbvwr7B3/rpgPuNfmnrwcQEAiPjAZC06TLwMDAwABMoN7AwMDAAIz7y8DAAH77AeLImRIoXm8Ea3W/2gq8kBFYYPQvjAMemOiv8Z9dRxD2eY0w/hMGf+Z+rxHuGCH6mQa8T4wDg3fH747AO5xRTAOz1YMz5H63FQIDcLJKQABARgDsef8YmDF2PAFG3hoESK5B5C+yxv7Jw6Bs+6W6TZiA0TSQRL4kK9PkpAEAmAHRKBUDA4NnSaMwaGZBCAAtT12bb/zqTu2zucZm0ydiVyBysvMmOzgBIDChRmBkRkBEjn6meIPu/swEgMwIjMjJ+4AIlAyYDB6/0/d+rBIIgOLxYds4yfvx+JEyiOYGwMhAAIjxmMkSoHsXgoGlJe8AJWMmCqa7lu77sP39nkro3aJ33775EzIBRIqqO38AIGSKFRgnP0frBQSNRBB6Ulru2Zdzb/5JpFRYKyRxqPWKUSoGBkc5ldVXeqnmfz7f/NWd2kqtIwgyNrJiBN2/18c7JmoCJtbYt3Fv+5PibVoj9AYhABpQHtHPmgBo4Ebx7xIAoSYAZI19mzj1bdzRS8TXc3LH+F6id033fRaJUkFgxN71YnAOg9cn7/QpUYHd66F7l+3X941DwAIAQBEA7bgFxLKNFJiOlCKCJhLgt6VtUzqvvXbyyWkAYSwVAwMDeFZzWlEQ2pJcC1OWEASuhZqYAKPNHUAnGz1SfFrHnkXSvy3GxodGAAQkAATVVTCxsknO/gQcpTQl+kDHxlDyW4SEwNvuNajD4rvHv4sKAShRQiJRhNBno1Bs33RXFCuGRLHpfmum34Tqm7lGAIEKE5n0qzRiTtQt9CtOBJ3cJf4ZezZfvLr4Xj2FrYkIQINlg5B9pgmamIqBgcGzC0JwJGVdUcpYSrEgSEvU3D19w7ZtEWM1k2zr/UoCGXfZuLu/293Bt9klnGzKu9xrYKNHTjbunpONYpujd/2gVojG1/0esEEF1ve7kf3BTACATH33wsF5Dg6oac/7AvZmBQI1DtpekDj0aMDiAUQm1oQEoUOWTW4aSIAJ1BsYGBwKPxgzK+ZAc6C01hAgMkex7tgNhUmMhPrO/rQj9gDc78Zh3Yt5dN+Hvvd7A3KfS0oDRC4gTrZ4BkBknaguTu7FwITMyXmfo7hFbF3F43My4WjOkPxuNAdO7rXj/SjmEcVX4vsCsk7UHidjRj/obqBocBxI1g6oAUDH99IQzx+iezEzAwP2xkQEzRqQIAyJCLSOkwWMUjEwMDgkeiWK3gMC62hzi/9LNjOG5K/R5b03dKwY4o2ek58Buld1/9L/fve2zMksBq/vjpP86+D43clEY3bH4b5Nv3uLvnvtOjfePrdkfEx+jq9Pxsc+pQJJ5B/65tMdf9u9IBlz27oGRujdp09CRqkYGBjAYQmsxPlNgIiIqFn3cmiTTLBkC8TI8dW/LUYF+YRRhhRwnKSLEMcYoLsdR2f/btJworDid4CxmwMWZ0JhvAV3x4k24O69kjxfjLZeGsjx7SkbitKDGZJtfXBu3De33vuDaxmYc5966E+A5m6uNsYCQx4kFuA4YRj73sUdJeexuw9gQM+Y4kcDAwPDS2VgYCwVA4NjhiieEZ23GRAIsS9ftqdjCJGAkSNerOiaKMsrPplDXI8CGNkc2FfKF/1ufP7uL/GDZIT++sRu/hj22zoIiNh3O4zNrNjGiucGgNFdEAcrKJO7YF/1Z/d6xsTG6FkVSbYbQFJyyBT93Lt+kCUM+3K2ufuviAjA/fPsL/6MbURICjA5kh8jxpYjIqJRKgYGBocqrKKTsErkMMLeRh8FwGNfkh5UAJhs7NEVOg7Rx6qi731AgN77/eGc3vs9Z1HkVNLAqIFijwlH/4sKIaPwTzw37gU5dBQY77mZut4qZmDGbjyD40J5DQgM1BcLid5nRtDdSFCy+uj9/rBQRMgZ/dn9p67jK46XIPYLQPfuxX3Xb4/H6DjVIJ6GUSoGBgZwaEpVCFEgCERBKBA0xsd86lkSmCT1YlKNAbTtGoTkX6N8MERAAkxSfuM6fIrNIYxGoF76cnxlfGtkBETi7sjRWT42a+IZdlOZkeL3dGJgIW63hBDjDCuNgHHSM8VWFMS/2x2zL6KBfYnC8TUAfdEU2s4f01csGY+APRsuFrruLyyF3r10FFVBRkQCIkCRKDqjVAwMDA4DFEOg2A/ZC7XUIAG1jrZm1S2BHKwgUb0qjV6dCsTKY7c6lf6KDepVwvfKVgC0GLxS71GnonvjY1/tSJTX2yu3FIDdehqdVJZwUgvCAN0/EYCTOhXuS2LGJPsLk6RnBibQ0L0eNPT9qeMLekqCYjMMNGgAINQ6Lm9ERAVxQjPGCcf980dm1kwEga8BQCkwKcUGBgbPdAi+m3mEYAl0LUo7IuNKCTplR2XdQImN0h/h6Itz9JX+xYxVekcxI++mVKC/ThB71eyQnNxj+hbs/RaLRGlhn9JKamV0XzmkSqrfAXjgmh137FeEcQVJUlAJ3bUkLC/b6uGjMZXo/ayxW8bYT2PTo13ploj2S6NfPj2lQhH3FyIQkuWQZSORUSoGBgbw7Kd12oKmivbLJ7NZR2y1AwJtS0y8Lf3nbt0XZdFJ8DzeNLusukkBYLyxJoHuaMvmRCVAck1MvEiDibndDRcHTv0Qu60Sy4aSAP4guSR3N33g/mu6c4hJHqFXx94lOe6Ov3MOSfwGGAcVCcbpwV1FAklSMnfv2yXcTMgie4onSs7ujQx91yNC6JO0nBMXyE0nnxyZJl0GBgbwzFLfK81NTzU81fZ1qCK63F1zi3l7nnG8aQ5Uu2yjiN/lt+KkKd5vZGDcPbmZt/+MfTeJN3eGbXUg8ca9xzV73pH3vTvs1h1gn/cPHm23OwKwRiRy05QpoLSPBvW9USoGBgYGBqb40cDAwMAATEzFwMDg6UIz64TXEHb4c3i4Mnvuubbgi5fo865/H8bLg7tNA2CHf2voWw91X9wxyyF+xl1WxUO5KZEwSpk+EjDuLwMDOPoNu2KORu52zk2quDF6P2a1ihi3erxbnLBOcpfTChGH3M73bkwZ3zCuTRngDks2pKRyZbff5aRI/rdeiP70tvkjVFJvlIqBgYGBAZiYioGBwbNKCaNZa73zwLrrEVZrHtK+2fV3zanYWCoGBgZfxV7P3PH8ZqsDzK7rpFxbCBG/3/Gb7Q4zp1JOyonf78L3g1bb8zyfgS1Luo7j2JYQtNP3lPilBm4aXdafKNvx/Fa7EwShbVnZbMqSctsM95oJMzdbnXbHY82Oa+cyKSJzLAYTqDcwMHh6iiTa0zVzu91ZWFqbW1hRSo2PlmcmxwqFjCDR7viPF5YfL64qpcfHytMTI4V8Via7eRiqtY3ag7ml1bUNzVAp5acmRsZGStlMKtEW3Iu9ADADEcXkWcxaM1F8eI2uD8JwcXn90fxSvd4qFnJnT09PjlUAQGndbnsLy2uPF1a6Mynms/16pdPxHzxaeLy4GoZqYrxy4cyJfC7Tv0wDo1QMDAyeRglkp+PNza+sbdSkFIi4sl4VROm0qwXPL64ur25IKQhpbb0KzLZl5bJpAAiVarba9Uar43kA6DrScWwpRP8GjgmXYjeq7fvh5lZdEFVKeSGo1/GKOQjVVr2xvllrNjuRgllZ27QtWSrkgyCcX1xdWd/cfSah6njexma90eogom1bQaiWVzdCpXKZtJTCfNZGqRgYGPzWzRROvE71RvvO/ceWlK+/fAkA3v34+vzS2uzMRBDAvUfzSuk3X3keEd/75Maj+ZXRSjnayn0/qNabQaDGR8tnT04XClnXtpCI9m0A0mi2rt24R4Jeu3wxGidSOWEYbm01V9ernbY3PlqenBhpdzp37s03Gu1XX7oYhOH9uUWtezN5OL8yksyk1enML67UG+1UypmaGM2k3epW4/H88tp67eL5k+ViDgC01khkDBajVAwMDJ6GgvH9QCnd8QJm3Wi2HduK8oqDQHm+3/ECAG622kr1Yt9BEG7Vm41mO512AEEppbRI2VZ/JENr9n3f8wPPD6J3FpfXlpY3vMCXRGdOTpdLedexEUFr7QVBvdFqtDrlYmFqvLK6UZ1fXCXCS+dPplxHKd3peB3PB4BtM0HEKPTSancAMAjDdttjZhJk9IhRKgYGBvC0ah/iTdlx7HKpsLy28c6H14IgqG41T5+cEgItyyqX8vcfLrzz4bUgUPVmc3K8YtsCkgwuPwiqW431jeq9cF5pXSkWzp2ZmRirWInHKQjDtc2tldXNzeqWH4QAoLS2LLG51fnFu58+Xlj51tdfmRofiS62LUmEzVZ7o7bVaLY3N+sr65uWFB3PKxdzI5XCnXuPf/3B52Go6s3m1HjFcWQUEEq7zompCa35k8/vPF5YtSxrcrxyZnZqdnosl0l1FY9RL0apGBgYPCVYlozC70SUTjmOLYMg1JoJybYkABBhynUcxwqVYmYiTKfcbDrVznpRSKPd9prtztzCSqjU5GjFde1dM31TruM6dqPVXlmtbjVaSmmI6XcpnXbLpUK92SbCjWp9Y3MLgF3XQQDNLIWUUgBwMhNbKQUAhAhCtDt+GCrLsjJpFwAFETMrrU36qlEqBgYGT8tOSTbcdtvbrNVTKeel585Zlvj81oMw1I1WO1RqbaOaSaeuvHBOSnnjzsN2u9NotkfLWgjhOHalVMik3VTKTTl2GKrltc27D+Y7np/LpCOlIoWolPK5TMrzR6N7+UG4tLzebndy6fTk5EgUFAEAKQUJGh0pIZLne52O5/n+SLk4WimmXbfZbG9s1tIp95UXz1uWvHH7Ucfz6o3W+EgZADod/+adR9Wt+unZqa+//iIirm/WHs4t1RvNy8+dLZfykUFDAMZcMUrFwMDgt44wDLfqTdu2bMuyHen7gReESukwUFv1pmNZtmVZtvS8oNX2WHMQhvVG2/ODyGgAgCAIiYiImEEr3dVXQpCUTnQNJGUo6xu1cjE/WimOjZaz6VSch4YoEBHQ8/2Nza0gCJvtdiGXmRirpFLOVr1ZrdUZwLYtx7b8IGg0254XeL7v+eHaenVto+qHISKm064Uolqrb9WbrbbnB4H5fI1SMTAwgKeR/QU935clZW2r8dmNuwAwN79SKRdSrpNyHde1Nza2Pr1+FxDm5peLhWwumwlDffv+XKPZnp4clULML62ub9RIkOvYuUxqfKScSaf2um+77QFANpcZGSnlc2ki4riDLwJAtVa/++DxyupmKuWkUnYq5WQzKcuSJEhKsb6x9en1u4T0eGE1nXJty2q2vPnF1a16s1DIhqFaWFqdm19yLFtp7TrOSKXQp89MVMUoFQMDA3gafIiZtHtiemx1oxqESitVyGfHR8uZtCtIzE6PC6Lo/XwuMzleiSoKo02aiAAhDMJmu0NEmZQ7OV6ZHBtx+0wTHbNNMgAopTTrXDZtWVYm4+6seGdgS8p02s1lM8VCxrGtYj5LRK5jz0yOSSGCULEO87nMaKVYyGUi7krXscdGi6HSDx8trqw3fRnmsumZqbGx0VIq5RjKKUPTYmBg8FSLH0OlWq1Ox/N1xIOPkE45uWwaERvNdrvd0RqYu+9nmLneaCmtIjug0Wq3Ox4Aplw7l067rr2rTRDV1YehCpUiIse2divD9ButVscPCMm2pW1J17Zt21JKN1vtjudrraPqGsexI9dZ2/NZs+vazNxqtdueD4CWJVKO4zi2JYUxUIxSMTAwOF48MQZgWIoNDAwMfuMMNKNRwMRUDAwMjp7FAMyak26JzIwIUcAjcTftfJ8BehzDvX6LiPsri+7FuLuLrEsfg4AADN1mW1pvn2F0r6iDWJekkvtiRYgmOG/cXwYGBl9d/8fu1tzd8re/36cL+LfT+nAnQ/5uMzz4GgOjVAwMDAwMwMRUDAwMDAwMjFIxMDAwMDBKxcDAwMDAKBUDAwMDA6NUDAwMDAwMwNSpGMDxTY3tlk3AMMzv+5BjIZj0VAMDMCnFBsdGf/BeimTnm93ihv6SvfgBH1AeuOOd7bV6pqTOwMAoFYNDWem9q80Rld19hTs7J6XbaNhHDAzAuL8Mnnmewb4/d7wRaxokIiHo6e/gWnOoQtackIBg3/8AEDGpSDfaxcDAWCoGT1t57OTY+EJ7cWw0AGuttWbNWuvo5+gNjt9lVkqpUJEg27YRMfCDUIVRUxDC+D+K/pr8X/87goi/uJrYxkZlTBkDY6kYGPy23EcMDDt+QEAhSAgxzDie5zdbrVBp1uz5XhCEfhD4fuj7nh+Ege97Yeh7fhCoMFStdqvV6mSzqfGJcceS6+ub1doWM0tp2Za0bdu2pGVJ27YdW1qWY9vStm1bStu2bFvatoOIQlA+n8PhDBqtVUS8GPMjImBMcsiG69DAKBUDgydgkXTDIbHjaG8EYRgEge8Hvh/4QRAEgecHgR/4QeAFQaft+YEf+KEfBO2OHwSBUmHkmApDHYZhqLSK/whDpbXittcJgnBqcrRQLDqWBICtrcbK+kan40shHMcWggSRlFJKEkJKKaSUkkhKQURCCtu2M+mU6ziWJRHRdRzHsePW7rZlWZZjW5YV/5UIieTwhpqxYAyMUjEw+IIWSUxrDlKIna1k+1FvNDc2a9Xq1vrm5mZ1a32jWq3V1jdqm9XaerW2uVlrNJrZTHpqYtxNufV6s+11HCmlZQuZKAYSQpIQQkpJhFJK27Lyudzs9NTFsydHKuXADyrl0ief3Xi8sKy19oMwbAdK9RRSqJVWSoVaKe0FgR/42WxmtFxqttp37z2sNxrjY6MTYyOlYqFQyI2US8VivlIulgr5SqlYKuXLpeI+a2TmUKmozSLGZouxYAyMUjEw2C3HdxiLRCndarU7ntfxPM/zm612x/N8zw/CsNFsNVudZrPVarUbzVar1a63Wq1Wu9lqN5vtZqvdbntag23Z2Wwmk8lYltXxvJTjOI5j2dKS0rFtW1qWE/u1pBSWZVmWzOUyJ6cnT8/OOI4NAK7rkhCjoxXfDxHB8/0gCH3f9/3IdRYEfhAEYRCE7Y7X9jqZdDqXy2lmJApCVW+2rM1aq+Nt1rbW1jfT6VQ2k06nUtlMKp1OZTOptJtKp13LslzHsW3LdR3XddKpVCadsm3LktJYMAZgAvUGBnsbJbEpMoxFsri0cv/R/NLK2srq+srq+tzjxccLS2vrG8ycyaTzuVwq5aZcNxNtzZlUOuVmMpm066bT6ZRrp9KpTNpNp1JEpLVWWgsSUTLYtgA7ESEhIgkix5GZlJtJpyAJe9TqjVa7EyoFDKoX4eck3s/x35RWWgkhLCmV0vV6o9GMtJ7XbLXa7U6z2Wp12q1mu93xon9otdvtdkdpnXKdsdHK2EhlbGxkYmzk5OzUqRPTp05MS0sOa8EQktErBsZSMThWwZK9/DZK61ar3W53mq12u91uttrtTmejurW5UVtd32i22q22t1VvrG1U641mECoppeum8vlcqVgo5HOVcrGYz5crxVI+Xy4XS4VCqVjIpC34TdOCNTMIQaVCrlTIfclBGNY2ahvVWq0WO+g2Nmu1Wn19s1rd3AJEP1Req91ue9VqXWtutDtr65tLK6t37z6slIv5Qi6fzaZSbiadiv5Mp/a0YJJ+iMZwMTCWisERhdY6skg0MwIIIYl22ewWl1cfPlp4vLD06PHCg4ePHzyaq9WbUsp8PlfK58dGy2Njo7lsxnFt13ayuUzKdizbllI4tm1Zsj8MbtuWLS3LlpK+mFMO9yir7N+duVdM/wVG9gPt+0EQBr4X+GHg+0HsQAvCwPf9MGy3Pc/zWq1Ws9Wu1uq1rXp1s7q2sbG+UfWDIJtJj4+OnDw5PTszOTszNTszdXoPCyYIQs06sru6MA+hgbFUDI5CfXt0ZN7p12q1O41GsxnbJa1Wu7NZ3apWt9Y2NjdrWxubtdXVjVq9FYY6l02NVMqz05OzM1MnZ6fHRsqVSqlSLu2jLRhAaVBKB0HYUVprHZ/ZsUvHgn0cK9CvIwhBCKTINxa5kzA+MzGz1qw0a82auS8kBDt5XqIbJnoUhRBCkOs6GXJo3x1+q9FeW99cWl5dXFmbezRv2ZYXhJvVWrPVWV3b0ABb9ebi0urtOw9GEgsmnXLT6VTKddOZVD6bsXZomr4Dn9EvBsZSMTi0IZMoxkBI27Y51vrajTu37tx/MLfw4OHj+48e1+sNIWUhnysXC6VSsVQsFIuFcqmYz2Vz2XQUr3ZdJ51OuY5t27ZjC9xDnTADM2juj9z03EEHghAtOVD+3j86AzODZg4Va83DjMlJkSbF/yEi0N7sk4EC3/c7Ha/jec1mu+N1Wu1Os9mubm3Valsbm7VqrV6tVtfWYwsmk0lPjI6cnJ2enZk8NTt98cLpqfHxnbYLM1NvBka3GBhLxeAQhky6ZYlBqGq1ra1Go15vrG/WatWt1fXN1bWNxaW1heWVWr2hlc5GFsnM1PTUxImZqdmZqZMnph0LdzFBQt1qB0opZk72x261YO80nuybX8D9Q4hEgIS77/nJLTAyxXgoF1h0a2ZWzKz2oJNJzCdCFEJYlpVK2QQD8RsNsLy8/nBu4fHC0uPHC5YVWzCtVmdlbUNpbjTb1drWwtLK+OhIJp0qFvLFQi6fz2XSqf1sF6NeDIylYvBM2iUQMZwg4s4t7PH80kdXP//81p3Pb9y5/3Au5aYunjs9PTVJUrqOPVIpFwu5bCaTTrmZdMpxnEw6lUq7mdSAp4gBtI5MkG6MhvfaFL/EVokIgohoCJsmzv4C/cWfed6XbL8bAiFCooEmRQzg+WGz1Wm3O61Wz4KpbW1Vq7XVjarX8fwgmJ9fvPdgDhFfvfL8G6+99PzFc+fPnEwnOWyQpGhrraK7deMu5kk2MJaKwTNhmvTskr49cKve3KrXa7V6tba11WjOLyw9XlheWFxZXd9UirPZzPT05KXzZ4ul4thI+fTJE65NO7xA3PECpXREx4LYu1H3zye+FXa9ZwyM+wTzGb/0AWp/dgAGYK0TI2Yg5Tqq0ywVspVidtuvLC6t3Z+bX1vbXN/Y9Dr+g7mFRqM1N7/sODdX1zZu3Lo3MTGSy2SL+VyhkC0W8lGAZ69P0zzbBsZSMfgKNEpEvQgAUohtO1Ftq3799r3rN+++/+GnH3/6uecFs9OTp07Njo+NjI1UJsZHK+VCsVhMu47jOq7jpNOO2GaRMGjNWmn9dIv7EPHgnl0DIZanSleTFNNsb7Pa9sJWq+35frvjt9ut9Y3q6trG4tLy/MLy0vLK6vqmF/gjpdKVFy6++vKLLz5/bnpyYrtTMVTdoAuR0SsGxlIxeOrWiRDYNU08z69t1Wv1Rq22Va83F5ZXl1ZWF5fWFpdWO15g23JsbOTi+TOXLpy9eO7MxFixfzsLFXg7LJIuG/xTPjhr5iHzhX/b0+pfOCbCV0qF4R4WTCm3TdN8duPeJ1c/l1J0/KCxvLa+Wbtzfy7U+vHi4thIZWyknMtm8/lsIZ/LZTNSil0cdMZsMTCWisFv2TrRWnNsnSTn2SAIHjyav37z7gefXLv62Y3N2lYumx4fH50YHZueGp+amigXc/lcPpNJ53PZfC7r2vH+pRiAI6MkIug1dCNfLCSz3YJB6E8wqNXbta36Vr1RbzQ3NmprGxtLSytz8wsLSyvNRiuTSc1MT7z43IVXX3r+8vMXHNeBvlQxAMa+MhcjdgNjqRj8lqyTHs18tVZfW9+sbdXX1jeWVtYePpq/93Bus1bXmouFwqkTM5cunL1y+fnzp2f685eCQNWbXuxpSfwsZuf6ciGZnRZMRCfDzCQonXYLuRTAWHTxerVx7fqt1FUnDPW8v9xotecXVwCo3faWV9fHxir5XLaQz41Wytvzv024xcBYKgbw5NxBWmlmDYBS9mInrU7nnfev/vSX7z16NE8kMpmU4zjlcmF6YmJ0pFwuFrK5TD6XzedyuYzTnw2stVZKJ1UjuK1S3eBJxWAIUQiSoidcP+RabWur0dzaamzV66vrG0vLq4tLq+vrm77vSylGK+WXXnruW2+9NjkxCr08MRWV43TtFiNqA6NUDH4j66Q/D3WzWlvb2Nyobs0vLN28/eDGnfudtjcxPjIzNTExPnr+7KmXXrjU1SIA4Afs+b7WGglFH2eIkfBTpOxkZkaM+PxFNwbvhXz/waPPPr995979xaXVer3BzKOjlQtnT546OT0+WimXiiPlouM4xmoxMErF4Dfl6YpjJ4h2nydkbX3zF+98+It3Prhz71GowrHKyOlTs+fPnj45O1Uq5l3XSbluqZjvsqdogDDkqERxsCrR4KmbLwiEJAT1fzqNRqdaq/u+1/E66+vVW3ceXL12/d6DuUCFp05MvfX6y9/42isXL5ztfzCU0gBACa2YkbABmJiKwYEbUEQGH5safrC2sbm+vrlZ3Xo0v3jz9v2Hjxdb7U65VDh39uTX33ztpReeK+bjwrpQQxCE7VAxcGyVUETEbnafryoAg4MqQXW0jj5oIYTrOieybveK8bFRAG60WvOLK6trm1ev3Wq3OrfvPZqcGK2Ui5VyKZfN9HO4JQ+M+XgNjKVisHdmFyLIPjb1R3OLP/rZr37xzofzC8uOa89OTZ06dWJ2ZmpyYrRSLo1UytlM2rHijSZUoHTM3micJM945hgiCiISGFUIMcBWvVXbqm9sVFfXN+cWlm7fuX/v/sOtRmOkUnr5hUvfeOu1V688b9t2fysXHDyCGBgYS8W0X4x3mv7Mrmarvba2sbaxWa3VHzyc//zmnaWVtSAIJyZGn7t49q2vvfr8xXN2okjaXtBohVF2q8lAPUSZY8wchIoDjgiXCcl13UIuPTs9DgCPF9dy2UzH89v3H1ar9Zt3HmjNC0srU5Nj5VJxpFwqFnLdVi4m0GJgLBWDgfAJM0spuzvC5zfv/O0Pf/7zdz5Y36hWKqXzZ06dmp2ZmZoYGx2J3CDZbCo63iqGMOyZJmZPOaQ+zyjmJQTZMv4Em22/Vm+sb1TX1jcWFlbuPnh478Gj9fUN13Eunj/zjTdfe+v1K6VSHpJCJWYUIs4PM1I1MJaKCZ9AEASb1a31jerK2sb1m3ev37q3sVkDwLHRkSuXn3/rjSunZiYhqVjsdPw4zRTNPnIUgi7RB6iUavhKa0ZCKcTUWHlqrAxwZmOz+f4nnzFzq92p1xv3Hz6WUlZrWydnpybGRiYnRlOu239MMdaqgbFUjl/4hFkpBQy2HbfaXVxZ/cWvPvjVe58sLK64rnNiZurM6ZmZqcmRSrlcLIxUSmnX6kbjw1AZj8fRTUSOm6rZVpx+3Al0vd5Y39hcW99cXF598HDu/sO55ZU1IeQrLz33J3/4ncvPX+gWtYShitgqzYNhYCyV41K7QEQCURABgO/7C0sr84srd+49vH334Wa15jj2zPTEG69d+cabr5QL2W7dXL3lAYNhSj/yhkv0wWqtm+2QtQZAIcVoOT9azsO5k20v/PTzm7Zjtzve+kb19t2HP/zJL5dWVqenxqfGxyL+Y5MbZmAsleOiUZTWKlRCCpl882/fffDv/sOP3vvoahiE58+dfuPVl86cOpFOpzKZzNhIJfKwd8tNTE7XsfWRWjJm1Ak1NBqttY3NjY3q0srqp9dufvLZ9VarffH8qT/5w+9895tvQ+wE41CFcYKZyQ0zMJbKkdwdEFGKWJ3UthpLy6sLSyvXrt++futuu90ZHx158bkL3/nmW5ViDgA0g++ruhdEe4qhQz/ONS5a63YnjPibiaiQTxfzaTg1HSgu5LKbtdqNm/cWl1Z//usPa1vNyYnR6cnx8dER27JMbpiBsVTgyJbHMwvq9WX6+a8/+Ksf/PjqtZuWJa+88NyVy5dmpqcmJ8YmxkcsgQCgNITKpHUZ7MLOYsn4OQoV1JuNpeWVufmVe/cfvffBJ5/duFkqFv7sT37/H//x74+PVqJf8YIAGYQQJqfDwFgqR2Ej6OZ3haFaXFqZX1xZXF65duP244UlpfTpUxNff/PVb379jXTKBgA/5OpWqxtoNVuAwbZTBTN3/IDjOlks5bOlfPa582duTE9ubW3de/ioulX/9PNbmXT6zKmZibHRqYkxt49Uv2s0G5EaGEvl8BkoSmtgthIvxMZm7S/+5h/+zV/+3era+oXzp19/+fLZ0ydPTI9PjI/lslnbIgYIQg7D0DDRGwxHh4yOExu/1a3W5ubG8srq7QePr31++96Dh8D8ykvP/+k/+r0XLp3vPpOhUlIIE2UxMJbKIfvOJ12bCAA6HW9xeXV5df3Bw8cff3p9fbPmuM650ye/9fWvXX7+XPQrjZbX8ZmITFjV4AvxibXbvtIaAVzXOX1y5vTJmStXLruOu1mtzS8u3bzz4O/+4RdLK2vTE+MT4yPFQt4m6qklc3AxMJbKodAooVKE2M3svHHr3l/84B8++PgzFaqTJ6ZfeO7ihXOnxsYqI+VyqZCJmFo8Xxm/hMFvUtcihIhyBRlgYWl9cWl5bmHx089uXr12veP5z104+0e//63f/eZbEDefDoiiCnxzgjEwlsozX4MSMTJ1PG9jo7q4vPrxpzdu3X3QaLTGRkdeeemFP/7+7xbzaQDwAm60fK21ECSEMOrE4Depa1FK1T0VKpVynemJyvRE5fILFwu5XG2rdv3W/cfzS++890kYhKdmp6cnxzOZ9DbD2kjSwFgqzxxCpcIgtG0rOv3dvHv/l7/+8LPPb3teMDk1dv707ImZ6RMzU5MTIxFtlx+y0ppjthXzrTaA37xJKDNLISyLCCBQXG80VpZX7s8t3bn74Mbtu2vrm+dOn/izP/n911+5DH1tJfs7ihoYGEvlWbFRujUoSyurd+8/+uz67Tt3H3U8/8T0xNtfe+WVl17M51IA4Id6q9WWQgopCBFN9YnBE0KUL6i1brdDpTUClgu5ciF36cLZq5PjzKrV7iyurP345+/WavUzp09MToy5jhO5aQ1jmIGxVJ6lLC+lQqVTrhNVMv+3/+ov/uFn77Q7/vmzp9964+XzZ06MlEu2m3JtERkoYRiaL7DBUyi2te04N2yj2mg0tqrVrfev3vjRT37Rara+8eYrf/yH37l04Vxk4nieZ0nZ38jHwMBYKl9llpdlwVajef/+o5t3Hrz/8bVGqz05Pv7KlRe+9fWvpVwJAPWmHwRBcrmJjho8jfSwKDeMkNLpdLmYnZ2ZyubzDx4++ujq9Zt3HqYz766uV8+cOjE9OR7xHBu6MANjqXylWV6hIuplef38nQ//i//qXz54NH/lped/563Xz54+OTs9OTZaxIhzJTD5XQZfTW5Y1NA+yg3zw/DRo/lrtx5c/fT6nXsPmPW3vv76P/+f/ZPIRvE8P3qkEck8pwbGUnnqWV6WBIBOx1teWXs0v/jjn787v7iSz2dfeen53/3W22OVQuTsarc7JIQlDRW5wVeZG7blhaFS5Xzm3JmTp0+fTKdSjVbr/v25j65eT6f++sK502dOzZRLRej5ddnQzRkYS+VpIAxVEAaO7URfuVu37//V3/7kF+98QCS/8dZrb33tyszUeKlYSruWBggDHSplIigG8NUH/5iBHduSBACwurE1v7B87+HcT3/+7jvvfTQ+Vvnf/q//2R9979uQZIUpxZZlssKMpWLw23cmSCmkFACwsLh878Hc5zfu3rxzv+MFL7949k//0e+dnp0EgFbbb7R8QBBEgsioeoOvHBGbpOcHzSB0HCtq0HLm9IlOq33j1p3V9Y2f//pD27JPnZyZGBvJpFMmK8zAWCq//W4oSiulHMeOjnL/4r/51z/5xXsIePbsqSsvXHr+4plTJ2csKQDAC5TWJoJi8Iw6b4UQUYOWjq9q1erDufmPPrv5q19/2Gq1Xr7y3Pe/981XX3ohutjzfMuyuuzaBsZSMXhiWV6IGNkom9XavQdzt+48+PDq9U7HP3Vy5s03Xvnet9+KSho3qk3LkqaazOCZjbJQVMvSCbVmAB4fq4yPVc6cObVV3Xrn/U/u3p/76S/fr1Xr587MnpiZihiOldKGNt9YKgZPDErrqDlS9J36+x//4j/7f/43C4urb37tlW9/42tnTp2YmpwYq+QBINTgeUHU8dfIzeBQ1LJE5VMA8ODR/Oc37396/daNW3fazfbvvPXq/+Z/9c9s2waAZqvtOnY30dHAWCoGv5GNIpKyko3N2oNHc79+/+rq+mahkHvj1cvf++438hkXADq+8jxfWlJKMprd4BDVstSbXhCGxXzm1Oz07Ox0Pp9rNlvXr9+6eu3m//DvfvDSixefv3guk05FLl8ik8RoLBWD3yiIorq1io1G6xfvfPCjn/6q2fJeuvzcyy9cmD0xVSqVHEtohiDUymR5GcDhZAzT7NhSCgSA9WpjcWnl4aO5H//snV+999ELl879X/5P//uJ8dHIXnFsO8pSMTCWisEX/qYRYlQRFoTh/MLy1c9ufHj1861664VL5/8nf/qHUSf5Rsvz/TAqLjNZXgZwSBnDJPpB2GyFtm2Vi9lKMXvx3KlOx7tx6+69h/P/6t/94K2vvXzpwtnIXjEd742lYvBl6LxCpWXSbeLR/OLf/+SXP/35u47r/sF3v/m1V184MT0ZXdkxfVAMjohdDsxaCCGIpAA/1LVa7eGjxz/40S//8q9/ODZW+T//H/53r798GQB8P4h6XRu2IWOpGAz71SKiqEFeo9l6NLfw4aeff/r5LUB8/uK5b3/jayPlPDOvV5uObUlLGnVicCRCLEBIWuswVB3WWvNopTRaKUnL/uCjq/NLK3/z9z8TJE6fnCkW8qYXi7FUDL6IjRKGUlpR+tb7H33201++d+PWvUIh/ztvv/7K5UsnpicBIQy1H4TYTQgzMDhaWWEAkHIkALQ73vWbd3757id//Xc/zmcz//H/8j/63ne+DnHVvWYAaUpYjKVisD+jV5RDuVGt3bn36NfvfXLvweN0Ov3alRd+99tv59IuA9S2WpZlSSmNCjc42llhnuePlHOvXnlhanLy1p17n9+485Ofv2fb1nMXzo6OlLsVkcZeMZaKwe42iu+HjmMhYqjUD3/yy1/8+qO19er01Pibb7zy0nNnx0YrDBCG2g8VmSwvg2OQq6K1Tjm2IGCGG7fv/vLdqz/88S8sSX/6j37v97/7jXwuG31xtNYkhLHajaViMKBRiMh1bQBYXF69ceveux98ury6MTUx+ubrV77x1qspWyrNW822LS0phVHeBnAMssKElO2O73lepZR77sLZsdGxxcWljz+7/s4Hn0opXnr+0vTUeLd/trFXjKVi0GejBKHr2ADQ6Xj/v3/7N+99+CkiXjh/+vWXL186f6pYyGmGUOnA2CgGcOzcwlpr27YsgQBw78Hcux99/uOf/dr3vbffePm733rr3OlZSNi7o6wwIzRjqZg4CrmOrbWem1/87Prtjz+90Wy1L79w6RtvvvrCcxdtiaHSzZYnpamWNziOIRYppe8HW35QzqfPnDpRqVQ2Nzff/+izazfu2rbte/6JmclcNiOEiL5SRq8cJYg///M/N1L4QkrF84KI/HFjs/bf/Ku/+tHP3slmMl9/85W3vvbqudOzKcdSDEpxQudlvi0Gx1S1CBKIKAhdx5ocHy0Wi0vLq7fvP9ysbbm2Xa4UbUtqrQ2Vi7FUjns9SirlAMDq2sYHH1+7futuxwteuHTuO7/z5tTkKAJ4ofY8XwophLFRDI65vUJ+oBrNTiGfmpkaL5WKvu/9/NcfXrt+hwBLxcKFc6eEEBHppLFXjKVyDJWKDoIwYjHyff/v/uGX7334aS6bffuNV998/eXZmQlBGCjWDAgmiGJgkBRIRgz4iI4lR0fKjuM+erywvl7N5zJjo5V0yu2GYQxTt1EqcNxyvaIkrkePF9//6NMPPvlcKf2116588+3XT0xPEqEfKs8PInvfOL0MDGInmMAw1O22Z1sim0mPjlQ8z2u1O612u+N5gshx7G4+GBh7xWR/Hbdcr43N6v/rX/6ba9fvTE1OvP7KSy+9eGl6akwKDAKtAVhrQ+n1VVmSwACw/8McKXvz+XwV+WDMlhBCkCBYWV2/duPer9//eLNWPXPyxBuvvvTic+cc29bMWikhTLc6MDGVY1CP4tgAsLS8+uEn165eu9Xp+OfPnnrjtcujlTIgeL4Ow5CEoWD5Ck9HBJgYiPwb6h6D30J8hSgIVavjFbLu2GjFTaU2a7Vff/Dx1Ws3gyDMplNnT89KKcDUrxilcuQrhIMwtC0bEWpb9b/9h59//OmNSrn0wqULr7/y0uhISRD4gQZgIQjM1+ArM1IAGBAZ+MCPAAHZ6JSvxFghQtuSgWJBmM+mv/n2q67r/uDvfvLZ5zcr5WI65U5NjiEiMzMAGRpvMDGVo9ofRQhE2KzWPv70xj/8/J1qvfn2G6/+7rfenJ2dEgKDQAdBCABkYoxfHQgAgZEVaIWsd3mBRtaoNbCO9I8R2lfT654wDHW749m2zKbTlXKp1WptbG4tLq96njdSKRXyuUivRBrF6BVjqRytHo6hQikQsdlqvfP+1fc++lQzv/TCpSsvPjc1MSoEeoFiBmEoV7/CiCAwAQhWELRVu8GBFxGyD9giCBAFDkminQI7xcIBjD41bUIsTzkvnwht2woVE0K5mPv97349m8v9m7/82x/+9FcjlfJIpew6tlYaBRmlYpTKUaPyllIiQrPV+vzm3Xc/vLq4tPb8c+fe/torp0/OCEGB0r4fCiGMifKVm5Tgt9TGvL9wN2xsIBFKiznxcSEgEoc+aE25sjV1nirTgAjARp18dfYKBaHy/aCYS4+Pjbz1+pW79x98dv32T37xnlLqG2+9GvVfUUoZcRmlcoT6zAtBCJ7nX7t59533Pl5eWZ8cH3v9lZeev3AmnXK8QAGAEMIcpL66z0mDkMgISqlW3Vu40776Y3/lAZIkN81axdYJIpLU7QarwJ65SJmiqJwAIq0UIhrN8pXFVxBt2wqUJsKxkdJ/9D/+w/Gxsf/+X/+Hx/OLI5XSm69fAYBQKdMs0iiVI2KjRCR3YajuPZz75bsf3r03Nzkx9rVXI43iKs2eH0pBpmb+WVEvga/qG/7SfX/hFgpJbm67UmnVOPDRTmmvFeeJmWD9s5APFijP98uFzOzM1Le/YX127ebNO/f+w9/9RGn1+suXHduO7JWo5N4ADk+M02Agm56ZAVBpPb+0/OEn1z6/fkcK+dYbr37ttRcL+YwfRr3oBSIajfIMNYlCQiFRWCgslBZKiUKikCglyuRNkghGnTxb+WCObfuhVhqmxiv/8f/in3z/e9/6yS/e/X/8F//v+w8fR5cFQWhq6Yylcrhbokbm9uPHCz/5xXufXLuRy+Vevfz8y5cvFQt5zdzueJY0vF7P2tGIUNrkpCmVRSHJzWyzVEArDn10UmDOvM8kP5jntSvFzPmzp6Rlv/vBx/fuz/2rf/+D73/vmy8+d8F1HQAIlTZlYMZSOZSc9qwZGLbqzU8+u/Gjn/16Y7P2za+/8b3vvF0p5YOQQ8WWlMZGeSbJPjWzZq32eQFrMJ/cs/e9E4SuYweKGeDE1Ph/+p/88z/5/u/967/42//r/+0/n5tfjC7zfU9rbcRlLJXD9nALQQRbW413P7z60dXrlmU9f/HsW69fGR8tM0Oz1bFsKYXp4fhM80gPvHa+b/BM9oskSb4f1Dr+SCn74vMXbMf96a/ee7yw8otffyiEmJ2ZTKdSkNBbGIkZpXJooimRZ+Tug4d//5NfNhrt73/v22+8/MJYpaQYtNKWLQkNVZqBwW+DECFufKc0CIITJyb/j//pf/LzX73/q/c+Xl5Z++f/8z8bHakAQBgqyzIU4Mb99cyfbpVSiGhJ6fneT37+zl/94Mdb9ealC2e//fU3ZmcmibBeb/mBkobnDp55mvUDXwbPdHxFdLxgc6uVsq23X3/xj//guyTEtRu33/3w06WVNa114nw2BzujVJ5tG8UPgujn+fnl//y/+m//+u9/9tKLz//pH323UsprhiDUtm0RmUf5WSeURBIoJNLOl4gzwUgYvfLsqxZLxskUI5XiN99+Y3xs9B9+9s7f/PBn6xtVJGTmUCnzZQTj/npmNQoiOratlFpaXvv1+5/ce/i4XCq9/srl2ZlJANisNhzHidqomGflmf4gQ1+3G6pZIyGBNWsFmrsOe92s6dDXnSao0Ejrme+/IrxAqTBMp5xvvPlqEAZ/9YN/aLZaL1w4WyzkLMvq+hjMCcEolWdvIwqVlJKIllfW/uJv/uHTz2+++cbLX3v95empCQDQAJaxUQ5PBSSrgEOfWXPos+qlFINgDn0OfA4DjrYisxk9wy5MANSaNWMm46Rc+8K5Mx998vn65sa1m3dKpfz01IQgwcRRmYvxSBul8sxVpSBCx/Pu3n/03odXG63OP/snf/zdb72Zct1WJyAhTBzlcEBIkSvbMxfRSaMQZKeZ++pUUOhOk1VgT58jNwtagzb0LIekOlLQqdmpb379tfc/uvbO+590PO8f/6PvTYyPAkAYKvMhGqXyLOV6aR1pi2arff/B3Kef31asT508cebUbCmfBYBGy0fURqM802daZgBkAHRca+ocpQvstYAQUPT16kIAAK2ANbo5UZrUSoFSGNOAms/3Gf10haAg1FrrkXLhW2+/rjT8l//iX66ur79y+blIqTBrExI2SuXZSvoSgiLH149++uvPbtw5fXL29VcuT02MKqWNKoHDlWxip0VlRozMIiDHRPf9XSA5olBnrVkzo4C4C5TBs5zHh0ppPwhTjlUpF1++/Nzl5y/evnv/Rz99J5VKPXfhbBRcibhfzffVNOmCZ6ABlxZEAPDJtZv//b/962qt/kd/8N1vvvlKqZDzg5ABI5jn41neeWKlgQAkQNpguWA5LG0QNkgHRPRD9HJA2iwsFhJImgjvYaqLJALEbCZ16uSJTsf74U9+9eDR45deuFQs5AAgCEISZL6qxlL5KsustFJCCEvKIAg/+PizH/70VwD48ouXXnrhQqmYBwC/pSwgIQwXy+HRLkgMwErt2yWFARBJxIaqwSHJBPMDFQRhIec+f+F0tfbGz375/uc37nzw8Weu64xUSlJKND3tjaXy1UZTgiCQUgLA3OOF//t/9l9/ePXz3//db/7TP/v+ielJRlKao+Z0xtt+2PQKICAi4Z4gNHlfh9NTjQi2JaJqJCJUSq2sbXQ6namJsWwmDRDXLxu9YiyVr6YqxbYspfXK6vp7H3566+7DQiH/9TdfO3fmJABUt9q2bQkhDDv64TNBu60eh/WbGRya+IoQ5AWadVgq5r7/e99Mpdy/+fufdjzv4rnTpWJeCBFZnialzyiVp16VouKqlLX1zb/90c8++fTGlcvPvfby5RNTE7EspDDtmw61sWJwNJvlAGitteZs2k27Y+fPnn7vg0+r1er1m/dGKqWJsdHIRGGtwdgrYNxfT7EqRTMLxI7vf37jzl/97Y83Nmq//91vfu/bbxcLuUApzZF35Ig+k8NEEXDIU/wQNsGQQz3JWQ052tNd4DMr+UMIrVlKgUhSCq10s9W+9+BRq9WemZ4o5HOIqLQmo1SMpfK0qlI4qktodToPHs1/eu1ms9memBg/e+bkxFgF8ahXpbDmuJUI7sueRQdvu8yRRHtFIDy4o3FyvIy79u7fwebgBidRV8eDlAEno+17DSICAdJQQx0gUownNpTkD+Qto4OVQdQz5kC9MozkD6e9QkKEoVZaj1WKv/utN4Wg//Jf/Mv5haXnLp6djCtXjI/BKBV4yj0b5MZG9YOPP7t19+HpU7NXXrx0Ynqc4eAN5PAXklkoADGu2dgrNRd0tGvpfbc/AVEC54GbvDpgKBCSxMHjQDSM1vu5JZFQULSX7rWxIALroYfaf4HRb2vgA4ZCpEHJ47ZktOEljygEDKHFhpL8IXWqEIVK+X6QctJjo+UrLz1/4dyZR48XPr12c/bE1MT4qCWl6bli3F9Pz/dDhABw++6Dv/vxL1utzu995xtff+NKpVQIQq2TspSj6pJGER+FcVd6+OR9jkoHeX+dQkhAdDDHPDPua4UgEIrurPZ6Ydf64X27CRNSssa9pgRxvGy/FTIAEkXiGoJEf/+jMe2U/ODSepKPIkL7S54QBRD+5pI/9J2jhRCE4Dipqclx27bv3n+0vr55YmYyl80AQKiUcYIZSwV+m35YTURCYBAEjx4vfPTJ541m++TszAvPXRiplACg0W4f7Z7zBIrbTdVpcOhB76zLA0YKMwiJVgotF4Q9eE2fOcMa/A6HHe23WYfRXjd4ZawBUDpgZ0G6Oxxk3cs0tFvKa3Dg7+5ziz4PIpA22imwXCCxh3ZhUD53OtprchgAwi5rZA0MKC1wsmi5CY/LNucYIQIrnzsNHXRYq3ju2DftLp+YsNFyQaaAZDz+TtOGFbQiyfvbu7lEwzIDMwoL7BTaLghrN/sIAQG0Aq/FQUeFHmg1aGDiwBKkA3YGpLOf1XboK1fCIAxzGffNV18AwM9v3H7/o8+uvHipVCzYCYexyQUzSuW3FU1RKraFl1bW/vJvfnz91r3pqYk3X385n8tGPMSCxFHsOc8AxKxJCFC+3pzz7n8UbC4gCrSdvsa6yEQQ+sCK0iVr4pwYPY3ZUbBcAAal4t2Zdbx16pCbq+HG/WD1nmpXAQnIwshF1VVhOgAiUZyxp1+m0iwAJTRryR2ZiQi00tVF7/7Ham0eAEDa2PPYICOACoGBUhlRmZLjp6kyC04aEECp2H5hBhLAjKyh09Br97yFz8OtNUQCy8GuYwqRESH0WSlZHLdnr8iR02ClmRPdFu3umslCJOBO3V/8VG3c114zMXKxGygCFTIAWo7IjlrlM1Q5h6lc7LzCROsgRQS6EHhq7aH34OOwuowkwLJxQPIIgQ+sRbZsTV0UY6cgUwFhxUxlkcQYILJ0VKC2FtTavWD9se40AAHJip2D0daJAFqDtGXphDXzEuWnATHKhjqy9jcAABQLucnxsbnHC5/duJ3JZk7PzrgpJ4rq45HNujFK5dnQLgtLK+9+cHWr0frON99+6fkLjiWbnUAIEkee40ErvbXiPfjIW7iBZAk30xceRyDSfht0KMsz5KREcXLQiNl+Xtbtarh+z3v4XrC1CCjIcoG5uzUDCg49EGRPXbYqpzHa0LdTAjMQIqNubvoPrvoPPwdAclLJATz2jGnfA9ayMOroKyI/AqyT0MQuK4SgFW4+9h584K8+QJLkpKFPqQCS9pochvbkeVmagsrJ3ewnHceKgla4fs9//L5qbcbalyghEyNWPgMIJy0rp1E6dvEEUB4AQGmAHdaPCnRtybv/ob9wB6VFThpYx11eEIFIe21QoTV6ktJ5UZ7c3QhDBALQgW6sBcu3vLlPw+YGIJJ0QEeSJwANSKBDtFM83ZQjp7GITAjqyJ7WiUgpHSqVy6beePUyEv7q3Y+26o3/6T/5k1wuE5VDCiHM/m6UypNNoOXoROMHQbVWf/Bowff9kXJx9sRUpZQHgGbb46Pqe+3bTLTWyu+o+rraXEZpsZ9nHfZ6jZBgr8kqRCfLWiFJRBoMFXCsYiJGxtDX7XrYXAvrK4hC26mBuDcJDtpAQhZrrMK4gp15UKdER0jBKlT1Wri5jIjazUBMsgKABETstVgrFBK0RmEB0I4tN1mCBq1C7bdUY13VllFI7WZB9/VTIcntOoe+KoyyUoACEFkrRJG4ofpdVkp7ddVcC5sbUcJVZA9FE2PlAwAHGUoVddBirak/4oP9LkBmrbTfVvUNVV1GYelUFrSOQ+jRGttN1gGl8qwUkoxMnEEvGSfeO639jmrVVGNN1VcBSVtuLPkoAwEJVIh2SlRqrENE5Lja92iaKQQQKA5DNVouvvX6lVa789d/++OFpZXvfOPN6anxyFIxOsUolScfTRFCSCmqteZPfv7uu+9/Mj09eeXFizNT48etvJGjrGqtQAvWmnViqRCiRlaKlQIAIAlCJuWfuF+WLCtmBQDIill3QwTAwFpFPq4DateRABA0s1aAiNGsos+FGDWwUqwVA4Cw+sI8+y2RWbPWQBp7KdRR7q9mrThWMwQoDkzeZdZxR5YoIZiTGAirwRTtIQqktGalAAmjjyDWT4wArBUrxQBAAkgenFKsdSx5ZmAFXclHikqriOH/OJAGEGKotVJspWWlXDh/9tTE+Oja+saNW3dnZiYrpYIQBIYTzPSof7KsHUrF7pSllbV/85d/98HH11547uL3f+9bE2MVL1CBYjo+DbiYE//74IsHfx6K6aT/4t1evZEPHAeGm5VO3jlojbzb3GDbrIYe6oAXDHU02Uvy8MUlH+vIPZbZW+NxYYZFQCEoWu7oaOVP/+h7r7z0/CfXbv7wJ79c26hGX21lutkbS+XJdnVUSjdbrbv3Hs3NL7que/H82cmJUQDYarQty6LYV34MgBSfhUkAid6mjxi/HwWEYZiNEoGS0aJhezlS3HcXGtI1HhPR92d2dWcV3QuG2763rxG2r5H0sLOKhxLADIyJ+ytK1xUQGxY01IGsNyu5+6yimM0wa4xSuWPJY0/ycTK4iD11x6ZEgxBQCD/UzDqfzXzvO29blvj3f/33jWbrxUvnJ8ZGwBAuGaXyxOrnI5sXcate//Tares37549feLcmdMT4yMDpePH6AjTd+TvHWx7ddownDNn8CCv42SnnhnRvcvQ2nr3cb7UrLbd/Tda4652wG7mwheYlX5ys9IANDCHbbYLHCNSMK1ZhTqbdtLu2OzsNCItLq0+erxw8fwZ27Yie8U4wYz76zcnJdGEaFvWZnXrRz/99dVrN1658sIffPcb5WLe84NAxe254Dh2tcIv8v6X4/rFr3pWT3C0J9tP7Fmb1ZEJGDIgCkHTkxOvvXy5WCx88Mm1d97/uN3uSCEQUWtt5GQslSeD+cXl9z/61PP9c2dOv/DcOddx2p1AAh67dild+qz4B+pPt+29P5RMsO+3CDAirUrcX733cfi2scmv8PZZ0fCz2rlG3mONww9FvWw04N7Co3eGXON2Wf0Gs4K+j69f8tE0em8eLy2FiEQUpTtMjI/9yR9+V0rxs1++u7XVmJ6aOHt6FgCiYjVjrBilAl+6fl5KGYTh8sraZ5/fYobTp06ePDGdSacAQGkWGiJyyWMErUEFoAJABBX0pxQja1ABqxBUCKCHMQNBK1ABqwBRg5JJ1laU/aVZBcAMWg3hHWJQilWA0ax6KcXJrLQCFQ5XGs29WQHHv9tbI0f/lIx2cGVPfP2AhwoBkVWAAKAC0CEMc/7tSR52zEr3zWoICy+RPKgAkJjEYEpxdCPZV+5zXCAEBaEOlcqm7RcunZlbWPr7H//y+q27j+YWpqfGbcs2u7xxf/1G9fPRzyur6//+P/zwk8+uX7n83P/oj743PjYKAJpBCDqG/cm35Rvt/KceZfpwwuFtv7v7BfubgwiAe40Tv8PAvVnhMGuEYdY4hOnDBwqTv4z8d5/V0JT1e32IBlHaWyS+6cmJF5+/UCoWbt97eOf+o1a7HR0itdYmE8xYKl++C/3c48Vf/PqDZqv9e9/55u+89WrKdVpeKCiqn4dj18BdSLJdstMobbJTA5YKCdCadYjSBmBQ4f4M+UgChU1WiuwUoiA7NWCpkGBEIEHSjool9/TtsAZEsh1y0ohIdop7xg0iCWBmrUjawBpUcADtLhIJi6wU2WkUMh6tt0YJKmSSKB1AAFYHUAsnCxwsfowsFQEAZKfIcjCu6YF9qTwl2i45aZRylzVqzSpAywZg0JGlKPZhKSZpk50iOwVIuL34UYCSaKdQ2glbzPF60IlQaa2UGq0Uf/ebb33w8afvvH+10Wz+0z/745mpcVNjb5TKl6yfJ0LfDzY2Nu/cf9TudIql4omZyVIhAwD1lo9wbLhLsff/RCRTOas8o70OSklOpo+wHRFRBx1gLQsTJB2OqudiLsK+AnHmaLtFOyWyFat0AqUDJEg63J8HhQShD4JkfhyFzayYt8scEZkZtEJpy/KE3T4DgGS73Oe3QRQ69EBrmSuR5YAKgXVf6XtvYsyRZnREqmiVZyJmzD5VF23fpL0WqFAWJ9FyWCvQjHF0pK8GnoERUFoiU7FKJ9DN76ioR9AhMwsnbRUmRaqAJOLVIw6W08dqQ6RzsjKjQx9Jkptm1TcrQdrrgA5lZRItm3UIrGKOtf4gCiet2Z2szI9b5ZPo5gAJhZ0oWuzStJDlytwYSovjz+u46BVEJIIg1GGoRsqFt15/qdlq/8Vf/2hufuF33n4jUirGTDFKBb5E/bwQotlqf/LZzTv3Hp45PXvpwrnJ8VEd0+rxMSUuJUm5MfvUK1iaRhJoOX3EKtHpOwTWlMpRaRosdw8RReSGglJFOXLGISk7dUBCkn1uJwRA0AoIZX4cU0Vm3kH8BXEhPTNlS/apy1QcBwAUctAWoYgFWViOKIxCKge4T5oygZ0SpRn71Gti9DSgQGkPrJGIAx9YiVyFsiO9CPy2QTQzAMiUrJwBacugPcj9FZM2MgNZlkxXKD8N0gbNoPdwI0ubChP26VeocgKJUDpJDXyf5LWiTIFKkyCd3SmKo7pIkpQdkeMXwMlJrxmbXxHlWlfArFFYojCJTp41Ax6vp50IQ8VKsZSiVMyfOTU7Pj5SrW49nFs4f+ZkRAhm0oufko4/AgqcmcNQWZYEgAeP5v/r/++/Xlpe/e633v7W11+vlIvRWVUpfTwfJkLmwGOvpZWPMfX9jmaNEeOvdFDaCSfKbnz1rJEDDj3uErDvQlkf1TpbINMQuWL2si5Dj/02qCA+6e/aQhIRyELLBumC2Iv6HpAVhF7EjNmXrzUwcwAAIcFKoXT2or4HANABBG1W3t5xeAYkFBKFw2IfQn4g0Bz62mvF4f1dZsVxxah00HL2pL4HAFaoI8n7wGpPqSKisMFKgbD3aDoARzsfReswk3YQYGFp/Qf/8NPrN+9UyqXLz1/82isvFgs5IYTWTGS6rRhLZWhjJQiCxwtL9x7OWdI6d+b0VFQ/3+xIKQXR8bR/NSA6GUpnaIjvJOzXGJEBEUQK7dSBdT4RN9V+mUhI4GREJjNsfaTet0hQWGDZIpMbJrFrj6GS7iNkY9oZZoGgAdR+s2IU4GREOgO/keQj5SrAttBNH5i32Cd5Pn7np26NvcrnMr//na9n0+m//vufbmxWz8xOR/2TeNfONwZGqeyofAIiarc7jx4v3Lh1TxCNj41EOcTd5KHj61HliNYQh2nce2CheDzUUAlPfPAVB84KEo8Rw1Czwt36M/U37j0wd4oZNPJw5e1D8X7pIVom6yEkr+POnAdYIHysqCJ29mdA1hyEOpNyUu7oSKW8vLK6srIyv7h86cKZpDLKKBWjVA4yUKQUQmCj2frFux9+9OmNyYmx1165nMmk/CAUgkzDalCKwySfEvc4CmOSubv/V04rAObwAAbE2M+2/1D9s9qPiaOvf+++NRwcRkeMvXOchyo21KwU7LtA7C9FPKAQJxyQ/O4evu4Ccd9CHM06OiAcOLHjmDffr30jHxcAFvL50UpldXX14dz82vpmoZCL2DRMH3ujVPY95Ok4EXNtY/Nnv3p/YWn1n/7jP/7Gm68Vi9moagVNw2pEgL1zqRGGL5VIdquDBDrsUENkeA8zVGKODrHGYYaKctR+81ntWCN+6Vk9UckfdXuFiCLrtFIp/c5br3967fq9B3M/f+eDt994ZaRc5ATGZDFKZc/DbBSoX15dn19Y1gyzM1OTY1H/eR8AzIlk2G3ri3gZnr1ZPcHR8Em2JHk2JX+kIYhCxcC6kMt8/c1XlAp/+JNf1BuNS+fOjI9WohZeZlswSmW3aErC/ON5/tLK2qO5hWI+XymXR0fKA5yyh/WLyABDUdEPt0B+qkMNuZkO6f0famJDiAuHpLx8grIabo3DS37/NQ67wCcr+WevfT1CqLQKw1wmdebUzINH88ur6xsb1ZW1jSiy0qXvMbaKUSqwPZoihBBUrbXf/+jT6zfvnD554qUXnquUSmGoDj+FHMGBNDoMw7YbARqKkWeo3lNDDsXDMSTCE9qaEQCBdgvUf2FxDbHAIZt0xVSPQ9LC8G/0SDAMwTLzRWb1hdTPsxdZUUoLQULYo6OVkUq5Wq0uLi5vbTXS6VRCiW+Uym/HUvzzP/9zOKzh55h34fH84r/69z+4//DxKy+/+J3feWtsbCTqmKKZD284LqYJiOKyO9sO9rXTQByGboAxSpXbtTEiMw7nXeGkm8juo/UmNvTBe6++it1ZIQ6tCpNZwe5rjPIHhqHY2ntW/ZI/4NDCSQbYUJIfljZijzV2Oz8OkeUHDHu37/xikn+mzXwGx5YA4HlBs93RmgGYiIr5fCrlRG5zkwxmLJWdqUGgtV5ZXb/74JHnhyemJ0+fnCbCthcKgkOc4IFA2GPp2L0mrpcmu99hkggACXjvrQuT8kBWHNch4j69wYGwN9ou6a3Yl+e7T1E3x6w5iHt7zxC0Bh0yw/4ZTYRRZB0PWGPEo8z7bJeIyHhAChx2V71/6hr1rW7fWQ0n+b5+DQd4ufZ/HvCAG8VzZo750w5nLhkBgKBAMyhVyGe/9fU3pBC/fveDrXrz1InpSqUIAForIsMGZpRKcgBEREEUhuHGZm1uflFIOVEqjY+PSoHx44KHsAV9j7FJk/JBBxw12ca9fMcChGSyACMSqoErmYEIBTHokP2OVgEiMuKgQyNSXBgzApNkmUpaDvdXWCADELLgEFSoA5+12m20hAGLJAsLhOxSEW+/hjXqEFQArKK6yu2kvZGDQmvQGoQEKw1kJXUr2C8wQhDIoH0OPK0VAjLiQHFKlBSGDEBAAkkyWgyDFR+cpAmyxrDDOuTdKjexqy5IgpAaZSz5wWqURPIAOmC/o1XYN6ueVkVgQGRgRASyWNhxa+feaBxtjwiaIIyaFDBrjNfEA72co0eHBJANGEmet+kaIhIEoAIOoueBdpE8ACCy1qiZhQVWKmYkO1xlg4iEGAY6VGEhl3n+wpmFxZX/z3/3bxeXV//sT7535vQJwwZmlArsZPoiokazdfWzm7fuPJiamLh04cxIuZQwfR3WHHsQEhDY66jNebW1rNv1eHcbKInQAISI5GREYZxKM+hmmQFCtbNyAlmpxkqwcidsbiARCGubUgEdAjM6GZmfoNw4SHfP06sOuVXVtZVgc1G1m4gEUoDmgcuUQiKRq4jx05gfYUTQenstIhICcGszWL2vm+sRQdkOChMFDGg5IlOm/DgIF8Q+jC8t3VgONh6F7VpvjV0WSEBQIYCiVMkqn8TM+C6bI2sQEhGh3QpXH6qtZe139ijFBJIWpQtUGMfiBNhpYNiN4gxQBaqxHCzfDZub+0nezcriJOUmQNiwO+kNgArY21CNZdVYVUEbAeP+9r32aAjMKITIjIrCKUxVdpc8IQLr5oa/eCusryEJ6BFTdiUfAgParsiOUn4chLOn5A/BRhGzgUkpxkYruVy22WwuLq82mq2U6xi/l1EqvU0kql1CxLX1jZ//+v079x9dufzC2197baRc0ozAcCij9MzMETERaK/pz33q3/8wrC5xGAAwkBV/+ZGAQwBEkqIw6px61UmXRDqHDJo5zmiJvBagAUkFvr96r/X53/jLt1Ba6GSgjxYeULDfYq2s8mzq/LftVAnj5KcufTqDZpACATgMws1l/95H7TsfhNVlRIG2k2zfcedHDjwQwpl9Me1mrMIYIGrNkRKJdZxmshA1BVvL7es/8uY/RwC00z2yRUQA4rDDSsnSZOrMG5aTocxIoti4568jiQCgA9Xe8hc/b939abDxAIVEK93Hb49Akr0Gq8Aev5h5/o+t7AQQsQoRBSQrZWYSiACqXffuf+jd/0g1azuo74FVCMzkZqzRWfv0q1aqINwMMHDIgInkEwJKFbT9lTutz37gL9/eU/IqtEZPpS99106Xo3wkQEwMFQbmaEPXoa83H/kLH3rL11RzHbCfnjLpualCtFx78qXUuZyVGWFAHpR8ZN+z1sH64+Ynf+s9/pykjW52cFbEQZu1ssrTqXNvWm4GM+U+yR+6TDDo9g6vlIrffOv1ew8f3X0wNz5669L5M9lcJjqhmlI2Y6n06hlX1jau3bzTbLZPzk5fPHcq5TpBqIgObxV97JXh0A9ry/7SnWDtEfs+AIO0YopDIlAhAKKUsjUtilN26CfnUd6tBF6p5qa/etub/wSlTanCQD8VFLpTZx2y8uzpK3uydWEyVrsRri/6j28Gq3MoBNlp7jZGjPqp+C0QFro512smheK8C4cYovYa/up9b+4qApKb6/UaiWblNVgp7TXssTOWCg44ZARe2Fj1V2/6yzdRSrJzzAP9VHSnxoEHJFyvbu3FKxCFEgIv3Fj052+GW+u79VMJgFm4WVZKlE9aUUvHPckHAtXY8Fdue4+vorTIzQ90eRFCt+usfObQmX11P+cSRpKvBdXH/sqNsL4ESGiloNfJRgFKUD7aaUwVnaCd7P68q12nWlv+0h3v4VWybEoXWYexuUnR89BgHbLXsifOHyD5Q0BdDAAUatZKFQrZ3//u13/1XvqTT6+3W53pyfFiMQ8AoVLS9Fk5zkolqoMlImZotloLiyudjpfNZaYmxvLZFAB4fghwBDI6EEigsFBYIBmAQVhAiaWCCIAoJAoJJPb3dCNAdyiUNgoLuoEQRIyJ4gmFdXCaKQIixaNZNpJAacGgUgFtg5BIEg9Ky8WI61faCIjSAkU9pUIClQ2oUMgo0+DglA0UyQIlCguY+pUKChuYUVg4TJ2/ECgtlNZOpRL1cInucuDEEBCIkCwUNgoLpQW6f1YChQ0AKCw8sE09AiBh/DnagNHn1VUqIuJdRmEhyYMffqRYVt3ngXZ5HnAIyT/73yMiDEMdKlUu5q+8eGlhZfV/+Hd/vbyy/iff/86Jmcm4I2RkpRocT6XSjaa0Wp1rN27funu/XC6dPXNypFLmLnniEQASWg45GUrlWAYADN2OI0igVdwK0M2i5RzAQIWIwiI7Q6kCSpvcHOsQek09BCCxDsnO4O7U64N7mxBou5TKUiqPJMh2t1sqwgIhyUnBgac/EmSnKZVHQHIy2ywVIMFKkZPFmIr/IHFJm+wsuXkUkqwMsx7osQjAoU92BoQcQvIuuVkK/MF+Kt3eM0xuhpw0SvsAd1DURNLJUCqP0iI3y1r1JE8CgFgFZGdgCMmjsNBKkZ0lpx09HqC7MRUdu79sF60oz2LfsYSMZkWWTancNssVSLAOyc3AMJI/NJEVbaWElU2Pj47atr1Z3ZqbXz57+mTKdRFx3+ImgyOtVJgjqjhAhNX19Z/8/N1bt++fOTn7jTdfHymXkh3gaLhHGTQzK9aKddjrGhtlMekwdvFrlewsB1WCsWIdgibWigd86MA6ZB0yqwNa9vZIfHV3VqzVgFIBYB0CQvLmgTEkzToEwHhWsG1WKvFi8VBUzNEaEZhVv/sLuH+NQwwVL1AltPt97i8dRrm2zHo4cXUlj9slD19U8hq0ZlbMIQABy76YSjTJEFgd0COgJ3nFOuR9noeoB+hR4c/v2oIj5dLXXrsy93jh9r2HE2OVC+dOZzJpRNRam5qVJ1q2fdg4GABgfbN6++7DZqt98fyZF5+7kEmn/ECHmo8Q+ehe5Wk7S96Gq6U8eKgnO7EnNSt+2rN6kkM9dcl/Bc/D4QjXK81BqEqF/O99+xsvX35ufmH52vXb7bYniBAjXlqDY6ZUomiKEAQAba+zvr7JACOVyqmT0yPlvOtIpcIokcN8qAYGBtvyepRipbhcLrzx6uUL58/UG4079x/Vm83DTEZjlMoToC0BRAyCYGV1fXl1LZVyJibGioWCIEQEHsbwP3RHrANfX4Dgdv9x8KuY2BNc4BNc4zCzwq/mQ3xSa8QnK/lD8E1SWodKu7YcLefHRisdz3+8sLy+UdWaj0RqD5iYypco4WAAZOatrcb1G3cfPlpwHHtibDTlOr8VHvVnIFYfJfzE9e0kIKaJorh8mkR0zVBfKSIkiSQQBSD3h8SjODbQkGwcGKchJS9gHMj+il7DcHvEsxKYxNK3z4q/SL+peFYSUSDuGA0FkBxujXH3LYySvhgHsr9YAzOSGFZc8VCJ5AkG8u6ikXH4oTD5BAlRQK+oHgEFoI7+6WC90j+rmD1hx/NwtDp9RUxf3SyedCpFRFtb9Ydz8+fPnioVckJQwgZmtMuxCdRrraMPvt5ofvDJtdv3H108d+bi+VMp11FKM+LRauXGrAL227rT4MCPU4p72V9hlFJMfpuVf7B9phX7Ld3ZQukA0PY6Fa/OOmS/HSWVHRwuDn3daep2HUmCUjvqVNogJPudg0ZD0CpaIEIUSx+sU/GbHHZnNQRUoP2m7myhkJH4erUXJLVX59Afao2sOfTZb+lOAzQDaxB9gfowAGYEZL8DKjw4gKHCRPJ2lI/Qn1KsO/XoUx5K8lqx8rXf1F4dSCCHfXUqGlCAChA0h52Dw/6R5NtbEDqAYkfdUpN18AUkf/gqjNm27Ynx0SAI5heXH88vphw7lXK7PnajFY6HpdJH1FOr169eu7m2Xv3uN9++/MLFTMr1Q0UkjlRZLCctclUYV9QnHCFR8mhCoKUGWFL2rg5krVgFUf4S66C74QIyqyBK+En8KzhE6lDIYQDELKwkpSqha1QBAEOUtbyvTgGONsoAGFmGcZJbfI5mDn1WKt7vhjg1MzPrMLo7q6CX6MUIzKwCVgF08+iGoE1nFYLWEGV5DRY/sgpAq4OS15OaeB1yGAACq2AgzyqaVRgka4Q+/tC9c2Ojjy+qnhlQKhpUADrooxLYc2LxJ6gCJmQVDdgneeWzDllFn+CR8oMhISMSYqmQf/G5izrUi8ur167fGq2UXNfpWjNGrxwXS6XLSbxZq6+ub4ShHhsdKeWzAFBvelLiEWmFGu0SJEW6IMszIGyOTsQkB2laCJFEviIyRRAy4TPH3SJRTE7WKp/k0EdhxRUhvZMp6YiWo3QCpcMqRK32K+YQUmSL1sRpTGWRiKTD/QxUJNjvAAlZmQbLYaV2qxCM9lMFliPLM3a7hohkp1nrvqbtpMMOay0LY2i50Sa+GyNyjyCL3JxVPg0okARZaYb+NUrtN1gFsnwSpcsqALJ3m1VURyhFrmKNnqRMqcsNOVCnAizslCxNUCoblRzuMSsNAORkrcppVioqDRm0VEh7bdahVTmJlhtLPiLN3PXxl47IVKzyGUqVorqcPqXSpWmxRXYChM2cuMV2SB5YkZO2Rk9qr0W96pm+58HvMCurNIFW8jwcFRCR0qyB87nMSy9c3KzWfvLzXwW+/9orL07imOldf4yUCjMTIkrBzNWt+tLSqus4+ZFcuZjfqXUOe5JKXMRtudboGSFdHfoxEzAOMgMCodYopShOoXSjw3SPSR7j3HxmjQAyP5G68B1n5uVoM+K+7ElEjAgrUdqULmsVglIou2GSLtN7rOvQzcjJs+l8hUMfAJFo4MCOBCoAAJEfwUyBQ5+ljdTPB4xIpLUGFWCm5J5/2568EBUJcp/TBgE5IcAiK8VKsVbUI0TG/hAaA4CQsjSbPv+72m9GrGhJ85NYrKxCYE2pAqbLHHogHIyZd/skr5kR0U5ZUxcplWfddXzt4JEGIMuh8hQKO9nY+yTPgISsFQLIwmTq0neck68AIEor7gYQCzWSPKPlUnZEhwEqFVX+D4TlOY6fUbpkjz8viidYhX0Eo31KRYcIQJkxdAqsFaNAwgGmfELWDFqJ/Gjq+W/bJ15Eol0kzzqqRI+0IGuFeBTqVSI/hgp1qFQ27Z47PXPr7v1Hjxc3NmtbW434IMBsOncdF6USubba7c7c/NLyyvr4aGX2xHQ2m9Va4/A97A5FcD4iTJSOqMyKwhigANHPR9tlrkVQIWgF0gHLZR2RQNIulgoJyo7ZqUJMHbb9GxONRhz6Wvkg3N2/UtFORwIzBWG7gmggGN4fAY5y8IRgKxWz8e9yXtbMQOkSzbyEWsU7MvcvMA4Ua7+tO00UDiDtHTpCsFKiMCPyU/tHJqIsH0aBfdWa/ZJnBLBTYvyMKE8jSRBiR4fHuAQSVQiWA9KGSPK7komRRbkJO11JTMxt3q1o98LY1yScPb2EDECS0iNo5wQmkt+5+XHUJsBiO8s9ls8dNiIAZsr2yZdZqaQTV3+bgFjyHHS01wTL3VfycDir65UQdko4pVJBCtFqtjeqW34QWpYwjq9joVS6ORvMXK1tXbt+a3FpZXJ8/PmLFwr5HBHpo5QOGNkEDCAsyJQTVqvdXO3xlVGTxYR/HreFLAAQmRxwbIT8tn/ZQWuvKI7/W7FfpSvVLleYkJguJqlWtE9LXe61DsRBDgzuko4ASXByMRnXHrOiVIiZAABR2jsUZ0IxQAKsLFhZRNxzB+w1ItNxrtSAno7lyQwgHMxWEsOXdllglAMWscpTV/K4XQ0gsXRBuNjfMnkPyaNWDIgREw/vJnmywCmhA4CEUfof7xaj6tIp7+ErjJ4WtDNoZ/ZuHZY8D6EfGZHxM4lHwS+EUfs7AAAo5vOXLpxZX9+cX1heXFqZnBiVUhJipHmNfjnKlkrE94WI9Xrz3Q+uzs8vf+ebbz9/6Vw2mw6PYt5X8uzb8dFxr4g3JdvCfnXUUVbu9kYeu9xU2Cid+MC7+8mUAQksp2tq7GkV4BAdzmMeTB5w9uwyKwctN3oI9j4vU8Qztp+s+rpg7isxBqSIO4t3btz949AQkicZRcUPlDzImLZlP8lTIvm9e4F2mzbu565CwXBgL3sGYaPlHCR5OKSRleg8ls1kXr78/O079+cXl+/ef1QsZAv5fBJZMbzFR9lSAd3L+2p88tmNRrM1OTl27vSMbVkdLxRS0FE+VCAM16P94BPaQalKSevy/WlCsNc5ahhOkf16XB44DvYWxwcuH4ebVZxa9zQkH61xKMnzQVXdfc24nkB7BTyYOXQoyR/W0IpmQMRCPnfp4vlavbG4tHztxu2zp0/kczlETAJyxlQ5upZKlOoXhOFGtdZqtaWU5VIhqnkMlUIioqP48eu+NlP7b6YHbDQcuy8OHg0PVj8H5wJx346MT2JWQ6yRdbL37TUaD+oJ3J9Q8ulKfjjFzyoZCn8zyXfF9UTWeCjJJZVmAM5kUmdPn3gw9/id9z/2Ot53f+fNJMUUhEkBO5JKJYqkEKFE6Qfh4uLKwsLyxPjoyEilkM8lluzRdX0OeZz8AubOkxhtmIr0pz+rg7UFPsOSf1JDfSWSP3xRS0BUWqswTLv29MTo1MTY2trGVm2rWtv6Aqa/wSG1VOLuKYjtdvvOvYfzi8unZmcunD+TzWa0jrt1HelPh4f8mjzdoYYZ7QnO6itZIz9FWT2zkj+y/h9mVkoToWNb5UIhk8l02u31zVqn49m2TWjslCOrVPryvrbq127cnl9aOTE99fylc4VCjhHjntlH1VSJw60Hl20fLIFoqAMrwJGHdekcSOs6FLnhkFTtT26NOORQ+oAFxsf8YVxDw6wRh4tzbHOm7f0hDjsUH6Q48Ei6v7rh+uiHXC770guXFpaW55eW7z2cO3ViJpVyEFFrNh1WjqSlEm0CuLXV+PjT6yvrG6+/8tLpkzOZdCpUUS4xHdn4fJeycGe78f53humiQQJwiLBzVFayP3NURGE5xK41xFAChgyGHbxG7GVkHfBIHah7EMg6YIE9yR/EsjXkGuMUiYMkTzTch3hQvlb/ULwHgw4M/XQdTicYEWkGYM5mMq+9/KJ1TT54+PhqIT9SLqXTbpds0GiIo0d9Hz/N1Wrt9r0H6+vViYmxqfHRlGMFfhB1T8EjnPfVf5DEvteAcwKHkiAO+RqCO33bTHb+dai5YW+Bw8wKD87CPni0IamsdxHyrm4hPLjWcnjhw9CBnP0XOJTbCgc+KdznMx0yoe5wdljRrBkLhdxzl86Nj1bmHi9+8tnNaq2eOEhM266jZalwYqJqrT3Pr9bqjmOXiulKuWhbMs4lP5rUbwgIoBUoD3TY68s7UALZY2oCkkAW7F2KSACgfPZ8Vmr/XRWJgCQIK2HX3+2aqPxbh7x7fX6yWVFENS/3vB0r0D7EzI+7jtMrekeSIBzYtYY/WiMrUB6HQbIR7JH9hYRCAsk9urgnkvc7seQBtxMZ9Pe9j4YC2nNWwKC8mEcS98tJQxKAAmgvySOARuWzDmNa6Jg7Zzf3HgkQVlIGtHsqJWifQ5/jptSDz1WPEyiih5Eg7H0kf6jzYLRmZk6nnBNTE1OT40GgVtc2mu12sqsYx9cRUipRLIUQhaB2u3P/4fzq2ubFc2cmJ8dLhXzXJYpHMo5ChAQQBrq5ws0NHbRiZUDdWvG4khyJ0EqJTAWz4yBToIG17t+dmVkIQlbc2gzX5nWzxkQYk770bdzMAIzConSecmXIlMFygRkiApUuqSIA6hD9JjfXVX1d+22O+6DwtoAEElEqT/kJTBUBrYTFq5fAioDAitsbqr6kO1tJLSTvTP5DRBQuZiqUnQA7DQCgVB/tFTEAgRba0431cGNFd+ocaY5YJcSVg6xD1ExuRhTGKFNhO8WRE697GTMSAQEEHb21pBsbOvQSNhTqVaRqxQAkLHKzlKlgpgLSZQboSZ4BiJkFIXLInY1wa153tpgISQ4ofozduyhsShXJLYNbApIAOyWPoBR0atzY0M1NFfgYPw/bnx4SklIFLIxjugBAzDueByIk4M5WuPFItzYZCYW1fVaR5IlQpjFdoewY2HJQ8kfEWNGalVYZ1y6XcrMzU6VyEZibrXZvhzEdVo6SpaJZEwpEbLU79x/MraxtTE9PXjh3OuU6EefbEc370kASCDjsqM1HavV22NyI6Nb7yA27SkWIdAnGLki3gG6a4xiU2Glb6NpqcO+jYHUOhETb7avDAECCMGDWIluyp8+Tk4I073OK53ZVrd71Fm+rxiYQJly5faXmKkASsjJrWy6lS0wIeltpBQMRMqjOZrB4Ndx8FHGdDY6DoAJgICdj5WeEtCAzuvfJUYPfVuvz/oOrYXUJUKDlAquBGvKwA0rJ0qRz9lVKlwYJr5LgPEkk4KCt1u4Gy3dUp76bUgkZgCxX5ifk+Hnp5MBOAe8l+UA3l4PFD4PqYyCJ0h2ITyCC8pm1SFfssefIyuxmCnCc8hCE3FhTS7f9lQeqXUdAkFYSckwYLbUiy5GjpywnTZkiI4LaKXlEYN1aD+Y/8tceoJBopYEHnwcVADO5Wat0UkgHeOTontmZtUYEgZTLZQu5XL1er1a32h3PcWxDV3zk3F/JQ95stR/MzS8ur05PTZSLRddxAJH5iOY5MhNGe5cXbs5581fD6gKHg026oNekS+THQTo0ckFi3DcEux4MImBmQB2GQW21c/+qP3cdpYVuDnpU5wAkuNNiHVrjp0RhTKJA7BIPdx0+0dYGrJVu1oLVB97DD4PNJSRCOwUDTbqIgw4I6fhta/ISCgFRFg0NNCshgSgE+w1v+XNv4SoiopUZKPYk4qDNWsnCFNlZATgY/EsMrIhKQbHy2sHGQuf+J8HyPRQSnUxSKhgFBiR7dQ4De+Y5a+o8CAIiVgq7dPdxFw1ABBV0grUHnbmPVHMjDnpTos6Ron4twsmokdNgZ6l8RhCAhpj/P3IlJdRcWgVBY6WzcNVfuYHCQie7fY1+i3Volc/I/DSSBBQcNVbpz9GKJK8CVV/3l+54D6+GW2tAhNLpoy/TAAJ0gHbKUYGcvIQkGKJTdl8ZI3PE8xI2Njvzn3mPr5K00M33zQoABQdt1qFVmhFuQWLUauHoqpVkXUKQ69gbG8H84vLc/OLszKTrOJDwCBlj5UgolYh4HKDT6dyfe7y0snrm9OzYaNlxbKWZj3pxEmulOg3VWAu3ljn0gHfv/AhEql2Pq9xxT0kqr61q6+HGIkqbUm3mbpMuQhK6VWcVUjrPKozzxPbaRZh14Kn2VlhfDWuLSILs1M7OjyykLJ+MR4NdaUIAULAKVWsjqC0SIjlZ7ttwkaT2GlqHKN1kVrRvmX+o2k21tRpuLqGU5OZYq664kKRu1Tj0RWGcVQiiu8bd9helVHtL1VfD+lqc39XXTjhuAubk0C1or7E/vwCzUn5LNVfDrUWUFvm5XuuwqMuLV2flk1vsW+Nektfab6tmLaythLUVIELL7fF+ctL50UnJVo1VuF8+AoMOPNVYD2uLJG0KOrEp3Nd7RuuArPQwkj8CSZZRUJ6Iivnc2vr66trG3OPFsZFypFQMjkpMJTldMXOz3X7waH5zc2ukUjp9csZ17CBQkbvzaGd+xZy7Ucv3eGsb6FHfawWPB3Y3Q6Ao6ZaACLSIvkoQ34KAk173B6lrxG5WMcXT29ajPqLR7YYE9gzUc4/tGKMW631naiQgQhB9s+IDy6Tj1cVz62OdQer90xBr7Fvabj3qQUdD4RDkYNi9O9JAuLsn+W1rxP0oq6IPEZPRsK/ABQWgSs4EMNSH2JVJzxRLJM+JhjuK+cQ7KKCAEDPp9OyJ6Y1qbWOz+ujxwnMXzhQLedNg+EhZKtEHiYjNVrtarflBWCzks2kXANpeII/+54IgLJQuWm7sztrNUkHLRWEd7JsQAi0X7RRKG20X+nuSk0AVRk0DYRgnMgkUVjwaRdGLAUsFmFFIlPbBJ1wkFDZZKUBEy4UBS0UgK9QK5XCzQoqlYacwjhv191iUqHwgMdQaEeMFRtkKg5ZKlFCAlovSBiEPTgImgdJFKxWNCQOWikAOgSQKeyhrgAQKO1rjHpaKQMsdajQSKG2yUihttAafBxTICkWI0objwdSrGQA4m0mfPnVibmHx6rUbD+cWWp1Ot/+Kia0ceqUS9XnsMrrVqnVmzmbS+Wy2e8Gx8HJGzT+0jrnHUSdKBeJmHqjjJupDUT13263rvuK4KBQT3YiHYjiP9lmdNBTRekCpAILWjHq4Ey4DR5FSTAbs4xvWmqOFD+Xr5IE19o/GCKC/4Br7xB6lh3WVSjTs8BPriqv7YfVsAuzdBb7IUKxBQ2+NsVLpjqYPHo0Tyeu+lfbN6otI/nCbKUSgNSvW6XTq5Ox0+Xphfb2KCK1WR2smwqPvaj8+lkpUoVJvtKq1rWwmUyoV0ymXNSMdK1OUd7xgtx9g2G23/9VfMv2FvRz7TIy/yMR2/u7O8eELrxH6yuZx2/u/yQK/3MSe4FDd6P0+kv9KZnWoe0FqpXQqZZUKuUI+32i0tFatVpvIeL2OhFJhZtaMAgGg3fYePJxb29gsl0onZqbS6VRC3XR8PuydVc6wVxX1MFGa3qufjnconq59quq7s4IvM6td1vLlFtjlad9ttC+8xn3EDs/YGr/s8/AkZ3WoYyqslCYAklQs5JCg2Wpv1et9POimWuWQ07R0D0itTufB3PxmdatcKp6YnnRdFxCjoshjbKnwlzIIdrNUuof3J2OpfNlZPbGh+tkbd7yegKXyzK/xq5zVUaADZ+Z0OlUuFRzbqm3VOx1PM5tqlSOhVBLPTKvVfvR4cX2zVirlT0xPplMuQ9yy7biYKf15Vnu9hjpRDmZA7fcahhrrSU1suHG+6Kz2WiM92QXiF5D8kxrtiU3siUr+aLQuAkDEdCp1cma6UiqurVcfzS/6vh85wZjZBFcOcUxFc1yc3Ol0Hs7Nr66uXzx/5uSJyXTaPQ4VKgPsWCoA5YPyE5NiIPsLQIMKBkrH94k8q4ADHxjA8kH1sn2YBCufwxBCH1QwVGNHrUD5EPosBCuRhMQRgIEFKx+HnFiyQAZk4fdnfzELVn58I+UPVOft05JS+Rz6wBqi0brBZ9Ic+hwmQx3wDEULDED5oBlYgxAxKQAhhwEAs/RBh0OlSIACFbDyARiU35/9BShY+RzfKBxCXAxacbRGIiQC1ReoJwFhAFKAGmJirGPJIyR3T54HjCQffgHJH4lekNET7LrO7MyUH/gb1S1TrXJUYiqDFSr3H81vVuuVUvHkyWnHso58hQr2Z1QLiZaDlptk63ZTihG0BECUEqUNwtpdGNxlPEESAi2LbBeFhZbTY3xBBBSkQxYhSiuqmU8ynXYdEIEIhYXSIdsBEmg5vdwhABCCmJEkCiva7Bh3MBsiMgCyBiAUNskUAGJM09KrNietgUMkO6oi3FtaHLPpCgnSIdvFaFaskgJPRJKkHEZCacepXLyjWLSf4lfYIJ2YVSXhJogZN1EAMEqXpINS7vIcYj+NFmKUvCtdlFacNt2XzE06ZBQgbQBk1sh6R8Yz9g0lo7xksh1AQssBoXsV9VF9iYxSiiPp7lnPgxilFLtxSnHfIQOIiBVohcJmANYaB4r8j25kBQAB0qnUzPTk2uamqVY5UpZKt0KlFVWo+GE+l8u4DhyLChWKvdnCloUpmHheZMdZhTHlYk+pRESEgtJFWZwG4TAD6D2q6klQrmKfvIypPJIgJ82Dia0ceKyVLI6LwhhI+4CcPCcnyiec2Zdl+QQQobAHYhVIrHxEYY2dRTcPkb9y+6wQNIMGcvP2+HMoHWBEy+nLhUVA4tAH0CJVEvkpkKkDmklZjihOOCcvi/woIpHtcq8JFSKR9tschtbYLGVKXfK07QWPGpgALNcqz7LX1J36TqXCOoSI+6s4IXLjELEx8h5uZBIiM2pPXEaniEKQTDOrbqIzktBBm1nJ/CRlRoDk7oqTkw8xXZSjpxzWulUDIJTWAE0LEqgQLdcaP0tuBoB3ex4iHjagdNGZeAGtFJIku+95iK0xH7QW2YrIT4J0j0nEXmsA5HQ6NXti6sHc47nHiw8fL7RNtcphVyrbKlSqtTozZDPpfO54VKjE/FrMDGil7fHnrcI0q6CvIwpvOwyjkOjmwc6wilk2+/okMiKy1oBCjMymX/lD7jSBovrwbSdrDQwgbUznwc3Fddoakhq6qHaBAQFIUnbUmrGt0bOsAugSQ/WTJLIGBnSzmBtlBoZuFjj259swA2UnU+d/1z35ZtzMqt8rFdeuIyCBlQY3H1/A0KvsS65hJHIy1tQFURhj34tntZ05XgNrtNOQq2gSwBp75ejxI8WagQGdnD1zxRo5zT1P4A7JI6G00S2ATGnFwADUn4vFiMCsUdiieDp9Ps9BK2YN6AqKu7JilA64ebDS3DXVu9TrlNT/S5tKU7absWZehC5l/QA/W1StQuRkMTcSRQC2S54wel8UplKX/sD1m3E5J0M/h3SscYUEK41uIWEWgKPK19JfrZJJp07NTl+7UVzfqBJhs9XRzISmWuWQWypEpLSu15ubm7VMJl0uHqsKlcQ5I2yRm4T8VE9P7MGxCswKkDXv1QFCo8BsWeZH4wjuHhzEWjOHgYa99o6YKwycnHDzKAXuyy7FHPWq2IMTJdry3IJIl+OPdQedbvRXrTWHgY5iBvs49y0X7bQsTcWz2nU0BNas1F4xFYw7LkhXFE/EOw3skFiyk2utIrZs2FvygBamRmRmHHHvuSOwZq0Cjqkody1UBCCB6SJlSijkvpLnSPIxpeXOWTFrBEoVZaq8/9lMcyT5iHufj1G1SjFfyOfq9aZSYbPVJuP1OrxKJfo2iKRC5f7DudX1zVKxkFSo4LGpUIk3KY0UZ0/v3VWLScTB5L2/9owISIx7HzQxvoyFhXu2Z483KSYCxAMczAgcNfPYb1YEiLo7Du4eXGIkFjaySsrad6WnRAYBRLxXrA17a9yn/1iXlUsjDbRmx90WGJkd+60RdcJXiLCHOu9KnrpNbniv54FJRo2cGffumIXIIHjvdsKRTaIBgQZNnV2ujCSvh2JLOyLVKorAIkmFfA6QG43W1papVjkqFfWdjje/sNRotcZHR07NzriuG/mWj9WpQWt1MK0IYkw1eBDnMSs9TIvVIVJImbU+eLSIxXL/0Vjr8MBcLETCoVomK8Xhk1gjs46zofigyN/B4mKtWGvgg3vbHhy6YGYd6vAJSJ614oMZa4aS/JFsQJHNZicmRhv1ZqPR7HQ827ZMtcohjqlEP3iet7K20Wl74+Mjp05MZ9L9FSrH5SlPtq0n1ZJbPNEG3+JJDfTEPs8nt8bhlOvwY4lnbo2x4jG73+4pQrls5rmLZ5eWVmv1xtzjxRMzk65rd722xlaBQ1f8CAAdz1tZXd/aauSymfGxEcd1NA80BjQV9V+yGPvJjMZPveCcD3kZ/HF4ug7/VphEbR3Hmp4YL5UKta36wtKK5/umX/1hVSq9Wvp2Z+7x4vLqum3Z5XLRsW2ldOTQPE7HBH6GL3uKa2R46jN/krJ6yjqTn7Dkj5deiVYrpUy7LgCsb9ZW1jc8P4A4eeHYKVo47O4vnVQP+H6wuLS6UavblpXNpqQUQaDEsSMNxac+Gg6x3eyTQ/bbmRXhcLFifDYlj0PThBzcPOwpPw/DSv5IKRUEkEKkXJeQ6vXmZnXL932jJw5p9lfPXvGDYG2j2u542Wwmm3aJ0PMUoThe7kyOyjz23eWHiYfHIx10yEKMOzbywUTSPWL5PamlAIcoa9gnT6lvgUMxUH2BNR6oFGPJ8wGNOYeaFXSphXCvvC4AQXF0ib/saN0cLsSD81mGkhVg3JTzGIVUkBk0gm3blZFKNptdWl5b39jsKhVTrXL4LJVuoMzzfT8IEDGVcgVRVNHK4nj5NZEIiQ7KVIpEc0Cr3WgoOGgoViFovT8jYTQadCfGsCtPCTOw1gB6z6GYAZGktd8Co+pAFYJSCUkl73XhwKz2W6OKW1rtJ3mB+2Qn95iCD6aiE4Q2kaA9a2MQQGkOFCvFeJA2kALFvl0+osdB6f31YfI80J5FS3GLOBWCVgDHSLVEj79t2+VyMZNJdTqdWm3L90OjJw6fUmFmIiSmhJ+4ZVnSti3HsY/fJ4JxzaIOUCOggG3lgd3CB62RQ2ZglEkRCu+y2zIjMLJgRkDeTQ0gAGIYqNBjZpQuCCspwujekgABWKEOERnYilmqthFDxbfg2J7Z24pC1sBAwLDnJolAiKGvvDYDou2CEMDQN6ve/ocQIiMM9LQfdOZFqddaaxUyANCuEovmGq0x6VS/7Zq4SESDUgDMIJPO89vVZ5SvGKkdrZF3/XQQEDBQ3PEVIziSLEEMrLnvo0ZABsWgNAeaLSJBuzilMLljbIVQwma1i++SkRm1Bsb4MwIelBUCIoa+8jsMgJYLZCWV9nikiYoxqpazbatczGdSqWarvbFZ85OYirFUDp+lEiWDB2HYanXSaTebzVhSMh8nE5w1CAkA4HmquqDrmxz43aK8QQsFARilRdkSlqbRzUS1GjtKHBF1wK2NoLao23UggrjOjntHZa2BGS0HUkXKlEE6e6o6rbhT1e111d5iFUCv/L5LFkLAIQCQW8T8FKXK3CVcGShXJETUjY1gc0G3tyICmO17LkfV/RKcDGXLEeviXudLCNqquaEaa+y3+5RB34ahQ2CNTo5yE5gpAVo7qv40kEQA9tqqPq/bG6wVIEL8/CUXJ3xiZKUwVcL0BNjpveLjgeK1ejC/6dXbISJIwm21+YqBmVO2GMnKkZxlS9ppeQgEROj4eq0Rrjb8Rkf5ihGAcHulv9JAhOW0nC07pYxEBLWdCpKBCDVzYyNYm1OtLUQCYUW0cX3nEAWAKASkspStgLBBHB9LRWtmyxL5XCadduv1OiGEYWiUyqG0VBCREJXWG9Vao9XKpFLlYsG2LTw+3R6ZI4sNEZTX9B985t//JKyu6DAAYCSZfPkJtAIEJCHyI/bpK066SJksAOiQMeZCZ0Bi1iiIwzBYvd/87G+D5dsgLHIyPMiVq70WaCUrJ9zz33BOvIwYmTN9+ylzvK3oUDVXg4WP2/OfqPoKoCDpJJXz0YFXcNhBEs7EC6mLf4CZkUipIfXos1izsBCBdG2p9fEPvPkbgIi222MpRkRAHfqglSiMpc68ap28gtlyoh44NtRYRySMqJm9hr94vX3nF+HGHJAkK8Ws+tgphfaaoAJr/EL6hT+wsyVG0lphV1tEkheIBMqre/PveQufKG8rNoxiQkkERFYhAAsrbRVn7MmX5XRBpDKsgQMddR+JaE20BiL0Qn19sfUXH63eWGxaArOu6PZuQARB2OzoQOtzY+nvXy7n03mKa7ZjwUcONhJEgH6oHmx03rm/dXWusd7wEcGxBOuobgI0g0AINKcs8eps7k+vVMZyNiAEvko8ghExNJNAIAjX5hrv/qU/fwOFRW6W+5oOIJH2O6C1LI27F163T70MmXJ8oNFH/HzXratPOTKTcjOZdL3ZCsLQC4JuLf3xOuMejYr6MAw3NqutViedThULeVtKOGblvHF2VeirzSV/7maw+lD7HQAGYcctN1CACgCBhC1HZkRhHEI/jq/vwlKOwFo1N/z5zzuPPkJhi3RRq6B34hZStbdYhU6nbk8+d0BXD9bab4a1eX/xU3/jEZIQdlr391MhwX4bSaJw3NNfR0TehfeKo2ZTul33F2517rwHSJTKchjGVxISCuW1WAX2+Bl75ISlDki/4dBX9RV//jNv6SaSJdys7utcQmSpVpWVzzp0z7zZJdzcMavowN8Ja/P+8rWguRqFhmJGxVipBAAs7RyHHZGfkTrYp/GuUnp1y//oUf39e1uWxGJahpoTPn6QhLWW8pVudNRrp3N6D4J5BEAEpXmzFdxdbb/3YGu+6hFC2hZaR/0DQDFIBF9xzpVZRzY8FTHG8W6UNsCgmjV/7nr79ntk2SJd0rrveSCpOg1WoTN51h4/BSo4bhui1owASBh1UvH9wPO840QTdSSUSn9TNc8LNjaqjWYzk06XSyXbtvtj+McptREBBQqJQqKwI08XsEg8TggIKC0UskvqvN9QRCgkShuFjcIixH5LBaUNSCjkEJSdURRAxL09hEBhEQ4oFS1DRAkUhzf2Y52MesYIC5BQWNgNHCMiChRB1CUFh+xmiIhCorSQLBQWMfWtUaK0ABlJ4sEtKWPJk7B2KpWIcQVFtMD+iNGOEEf0GRJIgVKSLdGWhKpnqVgCbckMIAUS7k/EFRMWSwJLkC2IECxJOrFUBINAYGRLoKTYM4a8NxkcIkqJwkZho7RIDz4PwgJAFBbu7IUDxyiR33WcfC7r+36z2YI47YKIDAPYYbNUfD+oVrdarY7rusVC3rblMf1YkEDa5GYolUMZADAIq9f5UYXRHkpuBi37YINcWORmRaqAwqZUnvs6/SEJQGIVkpsFYQ+xdwuULjlZkSogCbJSPGipoLAAJdopoIMIRYRAJ0PpAiKSm2Wl+pUKkGCtyM2CtA8eCgmlncxKkpNlHnDxAQArn5wMCGuIoVyysxT6cbZCn1JB5QMAWRm00weKCwFsgTlXljOWLTCfEmFfIxtJQEh+qHMpaR9UhIUAlsC0LQop0fYtQnDtnlKJ3F++gqxDGVscXNElJLlZkS6QtevzIFiFlMqCtI8q3f0wLgNbynKxUG80Wq1OEITSEoYB7JDFVGKlEvjrm7VGq5XJpErlQmSpHEs/JgMza8VasQ57XWO77YTj5itqKPoa1vE4SKzD/k0EgKN3WKvh+uMysGaOZ8U6HFAqwKzDbvD/4C9uNA5iPIFuSgJGI6t4VgcHSPtnBazDfqUSvxO/qYcdisPYUokziDGaZ9yJUuthxKWjrC2lETHUFPbFVAAwUDpQWmnWQ0SANYPWHGoOtCYEqbFfqTBCqDnUOFTL7fjRClnv/zwcxwLyxNMFtm2XSgWlVKPVXt+ojoyUpBCmCyQcOu6vMAx7lko+J6XkwdyU46ZXDn4Nf/R6UkMNM7EhN6MnOasnONqTW+ATXSIPM9qTnBYf551R2rJYyKfTqVars75Z7eaAGRwOpdKzVHx/fbPabLYymXSpVLQtO2oXgseM9svAwOArtFQAwLbtcqmUTqcbzebGRrWvWsXkFh+ymEpYrdXbbS/tulFKsdZ8jClCsRcN7garEXuvLyAZHPxF+A2G6p9YdzTc/v5XOKv+X/zS4uq1B+7/IWKM/wJD4UFLHP6whLv9YsTv0nvzSU3r2PPyWlIWC/m067banerWVlepGBy2mIofbFa3Wu1OJpMql4q2bSmlieg4mikRixNS3EmXRFzOjRRFmRAJhmRnQgQiJIEoEKnXLB2j6iABFHWNHY4pMhoNBaJAEqCxP1APGL2G2ZW6s0JEEWdMdWcVBee/3KziKve+XLJoVkRD7ZVI0cSAGRj7A/VRAl5MijWE5KPPUBIKQkHIvepJiN6RFKd+8VAaBQWiICQEgYjUK7kXcQ4YIg03LSQkEb16TG5dyfMXeR6O3NcuCuLatl0uFTKZVLPZ2tis+UF/Xb3xmhwipRKGK6trjUY77brZdEoKbAcKjmdARSkOPO21OfD2yP6yKOiACg/+5mvFflt3migCEGJbto/2mqwCDjrAGnCIbVeHHLS130QSwHpb9hcHbUDJob8f8Vf83dUcdHSnGbUj25b9pb0m65CDDkBcV3jwGoO29pooJCAOZn9J7TVZecka8SDJBxx0tN/crU7Fj8o5WPmgD34ylea2r7Y6ypEoEPsD9ZKw0VFeoNu+itK38KBAva9001eNjiIEpWFH9hcjgBdozXCAmtKK/Y7uNEEFQHL789BpchiwP/TzcOSgAQjAtmSxmHddd3V9Y31903AVH646lX73l7+6tu4HKp1O2bZAAKU1IhEdx/Qv0Mw6jKq4ASlO9CKOlAoggtYHh2YRY/bDKPtLqf6K+jgzKqIOjImKh0mP6mZ/qYQ4kgB0kv2FEBW0703rFVtdWifZX2ow+wtYhawjQsM4J3j/QzxHtE1x9pcazP7COMcpVgPYs4p2lzsDq4EUL9YRr2J3/ANTv+IOAQyhhlAxIYSKB7O/IFAcKK10nK4MeDBLccQ+SQiW5l2yv1RfIhnu+zxoxSpkoljy3ZpMAFYhqzCJZNKx0ilR7JYZNCcxlVS6Xm+srm8YBrBDZqnEFAjAQRg6juO6lE6n8Th/hEjkpEWhYrOKlQrJvpTiWAGIfIWcDCDxfmzpiixHFiftzhYKm5zMwCkeSftt1koWJgBA+21SCiy5x/bGAIB22ipMI1lIgqTD/TnNsaUiZHYUSLIKgXYW0CFoZhUCSVkYs8dOI2JMHtMlC0HSQYdZy/woMOhOk1SI9l6KQANrslyrOAkqQJJkp7dbKpkG60AWJoAEhx4Ie88UFRLCycncBFqpmAymV6uBrAMAJMsVqTJKZ+9SRdAMiiFti9mK0+ik7YimhftoWhCbng6Unik7hNDyVaikLXEfwuNCSp6spLKORATX2lmnwilLjGRtKVAp3s1ljPHzYDuyPGlPniFpUyo3aKmQ9juslSyOAYD2Wrif5I8uVzGwJWUhn8vlMgDoe4FSx9NlcgiVSsR2JaWI2Nx8P5iaHHOcVDrt9p0djtExKcoKRWHL8gSdvsxhACRipw33EdIigQ6QBJWnQNpRCmivuXocQSdgDVrJbDl19mvW+BkkgcIePGUjswIAFDbZaeU1QAVku7ydADchAxOWyE+mTr4dEZYgiaTjS8L9pTwAENlxtDIc+iwdpL6+XtG2pTT6HXQy7ukrVmkSkNCyewU3GM1KIxJrjdJWrToGPmWgRzPWPYojMmsAkLnR1Ok3nakXInaAAfsXiUMfgClVRCfDfguki8LukQsnZgJrQOnI4klEBt11OfYIJZk5snNQuiJdAZKJ828gxEIIgWLNMJ63v3Op+OJ0RiDYknTfrBAw1AwAKZuyjqh3lK90ypY66aATz4sBkBEh69C5sVQla4WKAQaapkS8k16oEfFEycnYwg9Yim1c+oiErBl0KLKl1MWvWWOzSAItF/p40mLJR3rPSYWdhgx9ou4jc/TDCYjIrBlASpHLZfL5rGVZpuPj4bNUKG6aon3fT6VSmUymW7yKx8v8ppgw0XLEyKzIllBIiPhCthOBECifwxBSObBcjtxgO+ufmQElZceskxkZev9/9v40RrbkShPEzjlmdq9fX2Pf377ly33PZHIni0Wym9UbaloYTc+iVrcgQI3Wn9EPQRDQEDCABAkjQOgBNJBqJLS6odGUhK7qriqySVZxTSYzydzfe/n2LSJe7Hv4dq+ZHf2w6+7XIzzC/WU+Ml9EXGMgEfQXYWF2/LodO8v3fQ0ZLt5dtrU6ZB2BCvaQm2VgABKY6RMDZ+TAWSQBYBunX5IP2AAYEBnIlJibhMo76cgYgHL9dPwZNR4BQtyMkPzLRIhka2VT2YRMIWZ15D3oXlRAfce8wlij+LFLKoAZEBgIpM9IyLyrCk1gmRFAZsXAacoPE6mG5dulsBDBpeb8AggP4gRkB4JhT+BEn1cMSpGxuJtqiB27PzgxFb9BUcy7Ih6woASNFLzAE4goCeMcHex0Y4Y5q6gUSMts7G7aHUedCVgYUKeel1NVBIqvLDu02hFNvWqrZcjk48YQPmoMYFZIEQQZpWSkda1eTyOVA9lSbIythfWt7W0AaL6FR+txdic+A0ofBybi3Esn5Q+X6Ef3A7JxtCG2JToAGBFUANLD3CAyd9YLRgQA4XLrSOgyWkkX1XB1KDzIjYjs0N6SWdjwfwhx31o7qVVTt1D6mFOQ69uH7goRyWiM6kwCvYANN/rBWqV+YASUEPRjptR2A+HddE6IzAwcN9S5qCfRTev0HkFmqDAVV4k67LHd8s6pJIQJmi5bIOZ8CpQ3Atz5is9NkS7QlgWBL8nh4SnR4muZLYAvcbLPN66ev4c+Gjf8jCQk2nEZw5biPEkMSugX2iPfnXKiwmjSISOh37D8kaFsYWZmFgJ9z7PGrqyuRVE9WVNJ278OjFOJIh1Fulare553dKth8ZkkQOa6t3TG3Cj7EJkgCAXgAXbX5kYCdIqNHWaLIxUQuZ1auB1VbeON7IEXdwIqkrr3BHoZx+rPml2qu1OkIkApeCi6wCbN/m55X5IgvM7R2m7SwT0szwCEIAhR4v5vXbPtmJm15V0KKDGKXhDmfWpcOfZeFAI0lMH2fiIEkwSJXZ5BD4jAtSzsYXk49LBwScjMW+UygI10GqkclJpK8yrLXA9DHRlPqcDPkBD797AckQ6wnn6Ae/kh7EFtsnmb3WcmbpVt9jttuy0sOdV+cVsim4/7sqr0mCiNd8i9Wgv3flN6mCam+e+cT2x9FzeF7c1+DwyMPT0P3PBDn/V5aNCe7Wv5Q6uq4gpLgkApZY2NQm2tTbYHpqHKAYhUrOUw1NZapVTG98URJwRlBqt7rQ7un5fg1vHQKyh9n/PI9jxVF/xjz1NxrKu+78+Ynim0mpD4fRYWPQpbgWUXbXGvc+2nEwDa9DgVdsfVWwtgHo3l4dA2gMXno5TWchSZtFJ/cJxKg4KYmaMoMloLIqUE4T53xSNTX+liAe7VPojJdEu3oLF3V8F73+Qf3aoQegLnI+771/khnqVWKeUzWR5jF4bcs4ZHVxF1eBRTPVLLH9qySnw+CtJaI7C1R5XY9iBHKjbSWlsriKSSqXRBD0cEfq6zdU2BPVZ7/Nxt9RkdXesn+ZFdtR79Hg/fICJmMCZ1KgfEqSQzFq6fWGstpPQ8r5ULwAPIV/+ZMyeJxjfu/snvaSp+FKmhRAX+EUzVywYfylz8mZNyj3aDzfLGPqWJRqiO3XspGq2Q+xU6sKc2/B4t/0ifroNDUskJ4wghpJQIrBuF+pQw/SBFKmGotbZSkCcPbKSCvVANcuOw4e5T7XNCNGvO3T/SBNTLR7qX2TCeav89cg9T9aIT3GyF7a6I1cseuSef4Vhh9itxcI+HKWFX1QZsdAN3aXgkZ7D9Ld+Yh3uxlZuHocsD9sgs3/sd4vGKVDwpLRtt0+6vg+FUWp8jyxxFoTHGRSpNsi88WL1aMZcf9wpJ6d4Y1+2EYHiY3i/ugey9S9tWLHzXY+jTQ1vuvqtPUM3v/RcTe+RHVufrtkHuoSuKGRAZGHnv9xhjxcUuNuWW38BP2yzY+MghY9KevG8otm/bWc9PFxwkzuNEDEqEnqciDaYh0oVIrkMsDVgORKQSaW2FIE+pgxipEACAgZ4EXdFRte9dlmBk0+gf4g459WblFgkQGWivTywhOLIW7kXfFxFQ7gFsjMGNyI4gl/dLDCHw/oEIW+QYULGf12EbI0BJQpLQvsMezf6ratdc2dPyCBbYgN3jut8kJ0NAIMb9+OER0VoOLTuo/v7hACJKRNqbU5IBrAXLTfqwDrjMWFhl3wYwIgS2YMIWDdkOVGzsS2z8PMSW3+vpYuj2PLRadYEOXC8ZEXmeZDDa2LTWdFC6v9prKkZLF6kkWPwe/4sNAxOAAAP1si5v2qgGgEjUTJg3L78M7BgPIZMFFbDznWxb92xCRAQTYX2bwwpHIcc8krgzwENE6aGXhUwehO+01aHtp1gQEVgwFV1Zs1HVscrvPCAYABmAkCR4OVBFkNLB3lp+DIkBiA3pCMKyqW5bE6HDt7coT5o7JVQ+BnnwAka5R8bHQFiBcIt1vQlJ2Um+AuhYJlHlMDsInoxP1kRfXMPyGqKyrm1YHTZIz3b4aGZmFIq8HKgcCJ9jYpWW5dHlqnTEtS2uV9joTh1uzABIRNJHP2u9PJByJNDJN8jBFRmgEvJKJayEhgAFxej7BFoeAEAg+Apzvix4QkhCYGMTqSkEZDAMNW3Lod2umdBYROjofgRhVoliRmYU4q61x88DIYQ1vb1q61Wgjs8Dx4xqiOhlMdsfE4y2LM8AxAAELFhDWNb1LatrANTBK7J1XHbo51HlAD0GfMyjlmSxjBB9zzNGG6PjS1caoBykSEVrbQwd3O6vqGbWHoTT1/XmMhCRbKduRGITsTUyP6DGz5GaAg9339+BJCByvW5X75vVaVPZbLAUixaXu7UAgEJQpiAHpsTIOVQZZgBjdt8EkY3ZXgjnLumtBSBBMgNs2v7damBLflH2TYnScVCFPfubjeHKul2ZDpfu6eoWImJT5aXxGWSrEYXsH5WTT5CfZXKrxXaHQYhgq2vR/BW9ueDoLHfRXGoAROmJwpDsOwZB397XCwtR1WzOhMvXdXkVCEl4Leg5OsuHbI3MDamhC1QK2rxgwvKICFHVLN7Wq9O2XmklNBsBClvDAEJ6Mj8gBo/h0AmQHjCA6VCaiAzPbtTfv7/1YKMuCTOKTMKrEGGo2Vruz8mzI8HJQcp7YveNSyAgQi20i9vRnZXa/dXaZk0TgSTaERxYAF/SsT7/mfF8zlOEEJkdlGQMhIhgyyvh/Q/1+hyQoJ2EkuRIi9ELZGlE9E/tYXn3iuFw225Mh8u3dHkViGgHWxoSmzpbK/PD3uiTVMoy4sGqqhCR9KSMpNbWGCOlSPtSH3+nws2aShhFxhgppKeUI8Pjxz9QcYcRA7AxtUp97k7l0s+j+dso5C6SeWHr26wjb+I8Zvu84ePgWHiJGiS/zMxO7NGGlfr89fDuu3p9jnUEzCDaqe8BUEhZHPFOvpzpmxT5EltkZmzWA5AAmBFNFIbrM9XbvwgXrqLwyM87UZCGsxA2qrDVqv9EcPbrojTl8sWxGAjGvB8gEAHYaLO5HE1fqd78TbQ+jyRIZTimKmmKdNUApX/imVzfqBicIkRjGamFimDLpBBBmPJq9fbb9dlLiEgqywlXhyhsVGW2sjQWnH5FFMfjdA4mcjTO8oBgjalv1ZdvVW79LFq7iyTIc5ZvprukDbfZRN7wExQMir6TTIKNaV05XRyDiASmVq7PXKnffteU1+JSfJwMxIYDZuFn5fBJ3xhVHBNBASzGeTxEJ5noCu+VyNxarvzg8srlB2VPYCEjdYOm2DF0bddNZPj8aDZQ4uRgIOJMfZPzGdgyCSLAUJvptdrbdzd+c39rcTMkgowSTep7RxcWGc554tUTxamSf7zfJ4CQTSPx32TVRLY2Wl+oXv9lffYySY8y7dT3IGxUZatV/2Rw7nVRGk+oWSeCUXLPgzXVzXDxRuXWz6O1+0hi5/tI0ta3rIn80SdFblT0nQQkazQSPeaEx61YmNBTXl2ExpgwiqQUiKlXOWDdX5qIpBQHMVKxOjTb69Hi/XD2BgpF2UJSDgtJ2soG65C8nA2re6gZxvkrNpHZXo1W7kcr06zrwAzNuzwS2AiAUEgb1cTQKTZR+4G7w7DGVDej1fvh0g0UHgWlWILJfWJI2PoWGw0o/LCy8/jY5UFtvaI3lsLFe9HKNJIgL7vTqYQVIEmFIQ7rkBQJ3pHaQrJRVa/Phgs3kJC8AlsD0FiVc8BWs9H+5JPdkqBsdWiqq9Ga26Mkv8BsEnuUtrrBpk5e3kZVQNEp/dKwvI7MxlK0dE9vLQMzsAGSbcqPzCIosFBy9Kwyeh+5+sjY1Up0e6l6ebbsKewL1A7lx42KrhurBG7XDUKc0cJOuvTG8kZVz67XbyxWZtfrRJBVcoeeSt3YgicnS34tMgL3rJszs6ltR6sz4fwNkh5l+9qcirO80cjM9Uq3/DPbqG7Kq9HqvXD5JpIkL99meSFtdd3quvCLseUPWu6IkKSQiKS1DsMwG2RSn3EAuL+aqdcwjLTRQpCnZBNRf4CeQQQn/S1RSJTS6domnQq6aEOIHlTJnX67RJJAFrhdpMvN6P61m+ArIrRWJSSSbKvKoEAhgcFpxfci+QJO21zI1o4STgWEBFJITXeyZ6tSPJWQiIhCtg56aqwKEUlgTzBy3LlH3mV5sEA9Wl6gELEoC1ObRj0wMCNJJAHd7j0ISIhSoBKkBCqBzToKIUhCJYkBpEDsSmmAjqESJKESRARKoEWwAIRgGCSCBVICBQFityjACdTv8zw0+6qhB/AJUfvzsNPyaHu0/OMYqyCRp5QQFGldjyLLTDEDCKS1lQPA/WW0AUbfV0HmYHJ/IaFU5AcU5FEoyuR2RCrAhnWIXtD9E4uEwkMvID/HLk+d1Ki3GgBRSPIClF63jhpEodALyMuj8MjL7biZAjALjSro6RwhgcojP0uZPJIgL9gZqRABSfQy3WcjgSogP4+I5OWScsKIAgCYDXoBCNWT5YVH8R5lI/2VsLw1bMKe9oiEyiMvS5laJ436CJjJz6EXoFD7nyuI4AnKeaIYCE9iPiN2RCrMEBrMeUKJ7owvSmCgRN4XxYzomP7yDec8ESghumlvoxDoBZTJk/TI3/U8ELDR6AUgejgcUDh5N/LySB0tr4HCXp+ux/B8FCKfz1ZrVWu5Xg+ttU2u23Q87k6Fma21hBRk/EwQkKCYku9gIVXYMlsnTBKrf7cppZtY3px74Zu1wJa5IbfOTfm9Rl8WY+NA5+6FH2uZjZNeb33sXTTR0mPvhd7RcepatqahBp9wKk6/HbCn2ZjjVQHGa4D2VdmESnwvlo/3iDv3aPFh9pjYIDegf02nYg0wt8nX739VYjbM2jJZMJZNwqkggLaO7p5tD4a3DNY2ZgMw7Rr1AkFbjl9k6Mny1rDt9Dw8xFPazfKMD/d0PX7Ee0qJYiFfq9UAIAwjaywIcUREMA++UwGw1jIzIhHRAe7bc9K+ya/dr3+mqRrfxK/wQ/DHdFgDP+Q8naZKLuxTrKrDXj7FqvbeI/JntdXuN7HnhT3Kx2H3bAl5ruQrj+B54Edhef507+PjxYRPhE7DjS0fXZ0neFjE3mMhGcKWOdI6DMMoiqwLUhBSceh0pCMdnxfVh9Z6u1IpVyqWrRCElEYnBydSwYY8ThhFYRgeYE5Qx/3V/NrnxZ6w35jo6cTWVM1/7ZXO/VGtqn1hrQXgzgkf2arwM6zqs1m+jcuy/b3obSp8pIbvOBviztcfj+fhU8/2eA1jbKVSq9VqiJiypx8Mp9J82IjIU1JKMsboSLswEw9irb6tr6ZD9xeS6IGsAuNWnP27v1D0xBSJ5KaKG8Z2dPuQBAZE0ROFBmLc7UPS/Xdn9xdJcD1pXc+Rxl9HV9Ftdn81VwWIcRMq9m6ueI/JHiR0r1jsqaW1tcHdhXqXzEGSiD0xjiCi69dSAl1HY7OmIgiVQAaSvV1/CYEIJaEiJAJFaBuQe1dTYQZJKLDHJr5uzwP19jzsb/n4xR4t/ziqrrJlo421LEkopTDpgNPxmEcqROR5SkoZhTqM9IGMVJhZh7a6bcobJJSrhbbhVKobVoe2ug0m6lpaZx3aetlWN/fAqSAKZTN5jurdK8YmsuG2qW6Q8By4IHng2vqWNdqGPawKAKzhqGar26ayQSTARDu7v+oVIMX1CnRldbXGhmVT3SAHxNiBUwm3rTWivg0mjF/f31wmjPcoJVjLnOhoImVrG1aHNtyGBPBzz6mimq1t2+pmzDy2C6eCbG1Ycd/vfyyFxm5WzWo58iRayztxKlXjfiA03PWEiwxXQrNR1asVLQhq3s5CfWhYGy6HJonb3+N50La+bSoboLwmorOFUwm3rda25izPPVm+vm2qG+S67HZYvrphdL0nyz+WwzJH2rBlKWUS6pCOA+FU0Pc8KURV1+thZBuRCh+skgpbNhFHdbbMKoy7aJwnIMtRyLrO7iCGrqK2hk3EOmQdNkqxxjVxOqcCzGwiaHbi7ttYxyZiXWdg1vXkIQJo2dRZ68SquiWbjWEdsq4zSSbJ7uQFArBAknUIZGN85b6U741VhYzIos6m1VIMJFnX2Vmgx+4v98OmzmBY+My6BQlhZl1nE7KJWjRr+0xlDOuIdei65kCYhlMh916wDNlo6OHeYyyHxurIMmNd2aRTMYT1yGpjQ9PDDYrBMmjLdc11bYmACK1xRGRgLQiCumaPKDJsG0wIe7+HiedBhclLBqDkKGQTsYnY9m75kHWdhWHtJZ0KELOps3aWP0jIDm45FVsP65HRQghfeU1+4tS3HJRIRUopjbWhPpCRCgopCoPe1BPoZVBI8pto8zassjd+lrJFx8LRiQ8fAACEJ4oj3tg5yjoAPAPJxoWdgDUAIZEoDInSGAgv7q/pDNEnEfR5I08ACSQV07QkVxVV2BrVd4xilifeL23iB6J/zDv2JJWGkYiUz3F7j4tUiKM6oFBjp9DPc0xBuAskzgxsyc97I2fZRAhNmpYmWQhZXWNrZXGUsoMNfuJ9LK9EbtgbeQK9XIsspHVfFrZeZht5Q+fRLyZCq06Wl57oH/cmnxDVcWAAsIAJnIrVwExeoAaPifwgCAl7dzYJxOG89+xU3pOkBBZ8obnlVARiuW61tWdHsgN52WA/6dzxJQhLgTg1mHnpWOHEQIYQfEnOQ7k3jAAiC4Gks8NBzhPGQidMrEtMsQiK3vgFZibpngeToF8mG1XZWtU3TrmBrpYH4Yn8sDf2JGZKSIJUsMvy29Zob+QC+gW2BlAerKy2tTbUkdZaSvI8mTqMA+FUsKlSoDxPCKGNicKop9b9x0SVK2bKAvQy3sQ5kS3ZejnmDAduoxN3VH2ZnCiNMgNYg0k9KEQEZMsMSF7Wm3xK9o2w7syVG9PjC0W5IfRybGL69CRTkwNwI0k1eCr31B8FtU1AAlLt2SR0fIIoPcwOsEv1OKquZoGaGgEjCSoM+qeel6OnWIetAiwnqXcNAFC2D4sjbAyTaFQMmhBltNaSNaIwFjz57cyp1wAatmoTRrGAACjAy7HMclPNqsmL4izvfkHlvOELIjvgmJh3UbUjsCNJLFBhnNkCN4m/2i2PQEHBP/2CGj7uwEadLA8ISCrAwiCqjDWNeMi9xzHDFlgLnsAnRrP/8Wujm1VDAEqgTawKAY1lBgg8GskrQWyZJRIDIzaZMNF5Dk/g8f5MRtLzU4XIMAIQIrfNBoaBEAZzajjvaWNdDSapn4qEbBnZyv6p3HN/Ozj/RUABjjggOZF1lpeUybPMgOPtT7rhJls+ImUKavQi5Uc5qjU0BXZZ3jL6BSpMsDGMBukgSEC22NM5CiNjjBBSKZUQFErHgYhUlJIiLtQfyJqKyoiBSTE4BUiMnSADCOggkFpz4kxsc1HOm8qMGDguB6aAJDj2Pd7FzW0tsGFGFh5bR2hIHT4cJDE34uVGGp+UDkIciMgmsrrOe1FZNZwKZvsoWxIkkATvVqqKBZ0YmC1QIojZeV9mBsz2e7kBRN6DCx2R0EZ1U68CNP0Ed26LV4EoTYm+E4DEsLfl2VpjGN3fpN2WZwRQgRg5I4dPAYk9dEQQ2KCxjGiF16Cz72A0RTRR8ib7vaZESQe7A0TG1iLbUQEFASwDMihBI3k1nFfKcdfDTp1IZz7ngQSg4Y7YPCe+AJgb8HL9jQXtsjwiItootGGloYCy2/LcsHxO9AVi4DSi6KyOg4gMzNZay9CkOj1IkYqOtNVWSkp9yYHr/kLP86SURpv2luLHP2RhYGAkEIodcxTtIZyKDTwOmb3lBTk+41SG9++hEjvAZdxpZchASJKR9icdZ1JAXoNld0fJp9nPI1hlABFIwP7SiMz7gqiRUSBJdvPs10KriHxmRhIQO86dcQMjAnqMCCi67JEBUCPvVXNwJ65AKblbFywL24J8dnIqiCAIiFAQNtiiuNPDj4pQETrmX+Y2J9xQ/mQiyJAgBNEQGuooO8kN4P1ehndXA3Y1mX3eQQRAhcJDZsDdlsf4loPIwo9Dw66Wd0nXg8AAxu30UfUw0sbIBmkNs40lBNJxACIVKaUgbXQYRQcxUmEgBgajQXO3hk5q5ZT2UgNkiJPd+0kjNkuGvG9JnNlG3aSLMW5Q7oJ/JmZmrffvoMCu6AQkBo7LRTt2kPi/iAhCNrRv93ZRgMzcOLZgX8VG3EfXsoXCBduz5fe7MFkG0+S730NcFxEFIhLuD9d2UcteszWjsSZmZe+3GpkZdATdHlJo9cTv53zip4uhu+WJDlrjTSweaLSWghqvHFAasyPiVBKXJUJUnhJCGmPCKGx+dA7UM8jx57qzJHnrGOlN+K5xbOFnk3lv5JK6a93F/AXc08KQu9XJuOt1sO2Ix861tma5ugei4r1X9VCc10013s9seYR9pX2T6r3djttm0WYfaWLs7WlAFwp3J7Hs/XkQPVn+oHyYEylUZlsPI2ArpWzFsylH8cGpqUgp6eB2fzX09/b68CSpqHo54GzPYTo+ZEy/5yeph9lsD5NxmyJrNzqrbh2r0MNsPbJLcW/msl1+sBUPYU9/kh/Bu2h7eBu5eTf47M8DN8syj8ryB/IUttYaYwiBRIqlPwhOJXlfJyLP86SQTgynFeQfsHAZH50IDP5utOwenw32NhH+/s3V7WDGTyl4/ii6JH9flsfP60F9TIiW4k1pYwCYSIgG4z0Dp4HKQYpUSJA19qB2f/3Oq4af5fPMPcyEj2hVvU/Fj/TM4rYIo/P3+PvdYA/wXXz4PeLjZvnDN7ABX7VEpGTK+nWQur+w6VSUp6SU1ljtYMEHM1R5lOD87pzhzcpzN0x9V3mMuIjdDUPA7KbrvjCirlMx29422AOywZmLd5VneEe5uCspGXNPbO29TPVQlu/lTWy0+fH+Arj4yCwPB5gL8lPzEyNiE+FjtJFSep5qOpVHFXqmTuX3EXJ6ShJRPYyq1Zox5ki/LYhIKv5Q75+sd5iQffuGUAhs4A32bNJhANt1KkAiQGodp9w5p8kMbLkLKRkJIrn/kRXTDnC3qZy59jjkm1uO99iFlIxIEND+FDoNy9suRzMK2aRS7NCY1ngdTC+WF0i4/yHP8aq6mCvmA8X9ah0Ny1s4wgoizKAjg4hCiNSPHDCn4kCqnudJQfUorNRqpvHJP4pPdLOJbN8bZ9w1FGs/7tn4hDE220Hw95zPgcCxI1qxHT4HuwjvO5QkLNjG+7rP4gkbgj57/FFs6+3ds2eO3Kqo809gEh64PxENY7yqHb+2o6LU1BXD/UltGl97ceg0LY+uz3dv0yMgcjN42A/1ZcH0UDDAppQ97/0O4tF0KOwiFQugjY20JiKlJLUodNJ6ygGJVABASen7fj6fy+YCKcURraC4j7upc2XThttsDLPFZBcyNtVtAYRALwd+HwrfafnuPnKIja1smso6h7X4OOkA+WMUCv0c+jmQfqdUjLvWGoiqHJZNvcJGNzqVeff9AFWAmRJ42T0AnohgONw21XWra8CwG/PhujqRBEsfVQ5VHkjtcc1gMBFXyqa6yVGY2GNSnNgCM6oMBiX0c52ABgxIiMi6ZsrrHJY78UUiOLZGIpQKvRx4BRAK9rK8Nba6acobseWJdqzdcWWiUBjk0c85zuDOXQNWc1jmsMxhna2Oc1PcIuxpOC5CL4CgBCrobHlEArb1TVNZ5agag5Pa82lxbyIJUAF6OVBZQHnkLniE1oLWhoj6ioViMe84WtJxwJyKECKXC4aHBoIgo6SKj6cjdC1gsIwSUaCpVfTiJ3r5himvWqtjYEHzlHSHEQnKluTQOTX2PBYyYMFGjNS8XROzJSEgqpuV+/Ub70QrM0iSPEf5lwAh6hCsFcUBb/KiGD+LhRFACQhgdOxd2MbMiUbb7SW9eDNcuG7K60CI0ovh1o0zi41GIjl40j/xshg8BYjWWmzhqJGZiQiZzdaD+vQ70fp9AEDpJQ5xR90YgWXKFFX/KTl0FosnQHoAAMbEgRIzkABgtJZrW2bhZu3eR3pjAUmg9FtCxY6eMqqyNWpgwjv9iho7ByJrrXUHrMN4s2VSiIRc2YoefBgt3bT17fjUbhLqIIHVDIDSl8VRNXxOjDyBngcW2DBQg3qAiC0TIejQLN6t3/httPIASbRZHgGAWNfBWFEa9k88LSbOgBgE17dqTYw8ZwAiQAAdmvUHZuFGuHzf1jYBCd07knQq1qL05NAp7+RL1H8MEK2xDeI1BkC2LCQhsN16ULv9y2j1HkpJMkjUVxAA2YQATEHJGzwrhs5RaQrceWrMwWJY+SzNf4RgjK3VQyFobHS4v1TwM36TvC51GwfAqVhrhRCI6HteFEXMoLU5kkQIFggBAXRdr8/U5z7S67NW1xEAREKky2gARClFYQyEr4YvIjoaQgsgOsiWbC7X734YznyCwqMg31J5AQQirlfYGjV8XOT6xPCxPS6k7r5sbHVTr9yt338vWn+AJNALwNhWVokER3Uk4YdVNXpOEAIhmF2cjIjAYGvr9YVL9bmPEAC9XILD35HMN1iKhRTF8QZOAzsbLarqtdn63fejxdsoFPrZFkmM48qtbbHWduqCHDkNfKZTAsPG1BtRLVq9U59+z1RWYwocEnEgggQmZADyczx4mvy8GDzdSJZ1sryJ7MZi/c6H4fQ1FIqyeTYmQQtPXKuw0WrslCwNi5Hje0SuCARgtd1ejRZv1e9/aLaWgQil3+gmQADrHB6pgE2kxs4jIceOvN3yhGDBVlbrcx/WZz8i5ZFfbJHVAwIKjirMVhbHhciI4mSXfOghdStEGEW6XK6EYeR7KpfLSpHC6A9O95e1bKx1beBSiAcPFoyxGxtbR675i5MlZWujqq1tmtoG6zoAA6mESJeO0yZejnWtTXEkSYbOscqQ1aGtbZntNZQes4nJUVoH7jYbIwqDzBZJOAJA4F2gcZdGMtqGVVPdMJV1JEG63ihWu/uy4KgKJGV9G9hixwq1q7MQMVsbbpvqGiKS1e0E7MJGZbaG/DywRZKdWf0bVR42xoZ1W9005XUUkky0Sx5tk3Voa2WwBuLSOXdsr2W2HFZtbdNUN3YrP7KJABisNvVtG9WYbSv9t/PsZWuNjeq2smm211AqZp10KrHldSRqIxzrgeJOBETDdMzMJrRhxVY3TGUdkNDLQMvyFlCAiaxXl/Uys0GM6z7t2+MYZmEiW9821XWOPGZuSSEAIgkbltlq4RcB2K0KjoxbYQZmRkJCqETR6tr6ytp6vV6POb/TcbAK9c0MWK1Wr1Rrm1tbxlgiOmIZsN2VDGr4h2bmgRrfE8BDSbgT7GgSxcaLrpQvnBIwPszCsLE8bNAkY/vX/jNg+x5bkUr8TyhAeCBUb9vExJKSRY7EUrE3LefWvjixQWj/vnco3R6Wd68QgRAgxEPsEam1EteAAdSb2RPNDfEk1LqAYOJtRQFCgThg8ifwaDBzQAhRpNfXNzY3N61lTymRZr0OkFNJHmKep0ZGhlbXN8rV6uZ2JZfLurRYIy8PR6to727KLuUdfwONsnCz3bO3UC6eihPExtCaJPmvD7EwbDT7NpxK/ErP88SVD9vaZhx8NOaJ/+mhVkXte8F48tZSueepEt+4wzp+L7hny3N3y9tPYfnku4/NfvCe54GGTWzLOE1v2rTVUewnZtexiABhFK6urlcq1UIhPzQ04HneDmhdOh7rSKX5PnmeGh0ZYuBarbaxue37vlISAI8kwJ6AGl/gGOkbyh8uUon/iXq+fVHrVxKZfSACdq8//MKI2pJuO1/vbSq3jGSk0tx1q+P4YVfFO/f4sKtylLquVN5IfwFTa5s9WR67rOqzWz5OTzWmws/2PGDjlSMMIHeHURjp9c3Naq1WyOcG+/u9tPvrIR7Tx8qpKK+/VMxmgkq5tra+EUYREcaqTgxHMlLp9vUQkUrXqR7twh7FVPBYrupxtvznsKrDFqrETiUMV9c2ypVqNhsM9JWaTiWNVA5SSzEAeJ4sFQvZIFOp1dbXN8MwJMzCkSYgaqbI9/nmoaZK/tZDZeH3nw13LfhTTPXIV/WpZ9vL2snNPj6W/xSzPdpVHcKhtV7f3K7Watkg099XbKa/0nHA0l/K84YG+uYXlsrl8sraWhhFGKuuMOIRa21sAbKxUXrC1uvJH+hxqjjd4fLmjdcJ4yQMUq+F4t2zNc9Zarze02yugk27NoKN4jb3vKoe9kg977FtPe3fNOvtvRB/PVrLN/+om4oSzwNj/F/CntJfyVXhjvYBjNNfvVv+0EUq7pt6PVpb3ahUavlcbmCgz/NVgqotdboHKFKRsq+vmM1mKlUXqeijyt7GYA2b0H21KrSJlmIAZhMm4B17D2vYRBzVgJml32ohRXTIEjYRmwjY9lTgNYZNyFEdSDBSW0sxCY7qQAZ6ms2CidjUAImNSrYUAws2dba651U1zBXVwRoWKtlSDGQ5qrOu97aqluUb9epES7GOAJilYhOB7YGezhrWIUd1YMvSa1+Vs3zY6x6tZRPFs7lz31keEThuKY7/2/15sGwijupsmVXY9jyg4KjOtufn4VBHKqtr6+XtSi6bKZUKQggHx059xsFwKtSqqajB/r5cNru0vLa2thGGUYOX5OhVVFyVuJkob6W5G9+4pvoeLMMMe2bMk71J2BOtESf7rKDBm5vs5oqXDt1aihtTNTuXYNeq3KHZA0sx7y4tNBmLGy8y9yDSxbumSpqr1bHWA1Vz8w927v5KvNLTHpPvPne2vGst4N7eQbBtRZqEzv1DWf6Q6Uw0PltcD6OVtbV6rZbPZ/O5LDoafCEo9SsHraai+vuK2SDjur8irY/o24KCvEBkCjboi8GPQsVEJuQQ9YBCiaBEXrB/xgMRSXkiKIj8AEpFQYFNK7hBEigVG01BHpEgRufh3oTHkvxAZEu2Xo6pR9oiFWLpA0ny8w0gOu0V8SAK8vIiGEAE8nIJxl9HruWxNeTlAQCs7nJrFoK8jAiKIt+HQpKf43ZEPQpiHVGQRyJgA/t4YhLkBSIoxZFTrEjeBn4UXk74BVKZLpYnIuWLbEHk+2PLtyIVQBQoJFtneQRj4oBjr3dResLPimyJdQREqDJxqOS8JhIYjV5AjtlsbxkpBCDpiUxBZPtJeJQpJSMVREKpYtgpIljdgwLp4WQJD8Nwu1Jha4NMRhA54g9KcfUHBKeCSacyONCXz2XLldrq2kYYhjsSnYeccqghVk5CycIoD59Dd4gAA8lWjsIaR6suc0OyMEbCa9wssVXgaFySSQiZ71fjZ1lIJImZLCScSpywYiOLw5TJszVgLUhMuJYmPzsiEmVyqm/cjF+g/CCgQOm1HfeIoCMUQg4dRy9ga5h2JqDR4cbZoAzUwClkBmQQmZ3zmIiZRaZIXg6sbXcqCQJhBkAklZHFEW/8PGZyQDKBNm9Q0YRVMEYOHUM/y9YAW0yKtDctj0DKl6UJHr0gqhvsggxHuRhbXjOAUIEsTYj8EJKKb/mtQlfSXytZGFATZ1l4KCT6WUg4FUDBYQ3Yyv5RygRsNbBpUDcmaksx65gQ2ZIanLJRlUpjzsfEl4wmB7I1qDJq4BiqDMfvV3tbAWIMmg9Kavgso0VS6OcSlDYQU9FYlkEfeTlmi2yPDpzeeVX3f6vVmjHW92TQYP2K8fZppHKAIhVmFkIUC/lsNtgul4mEPnKRCoFTJ5MZ2XcChSfD7fjK3DzamoSSSOTnRX4UZIYtg92jQZwkFYe9Uy/Q0AlEQuVBUgUEyR2y5GepOAJesMcN1yE2JAZ9cui0p7KyXgYkjClMEqe9tYhEuUEM+pgZ7O64x3WIAwUD3uizsjjV5jJb8zADIymRKYJXSGy/k9G8rBiY9E69JEbPAjmyxeRsyCYCy5QtUWG4QRCJuy3PACADOXgaVY6jGscZkSbgHIAtA5BQIlOi4hg4Ps29LC886hv1Tr9Iw6c6W95oYKZMlvrHQPqdKYpjrIyk/JAcPc9Bvwxr7kqxM95iRqGoMISZAlsG7GR5ywxA2UFv4nkqTSIJFF5b4hEQ2DADSY8y/eDlYRcR9SFnsCCyzMaYSq3me14xn/U8lfqSA9n9xczGWilENhvkc9ntckVHJgwj93a67DQegVCFmcECCJ9KxzA/CtbsUhOJv0FAIIFCsfDBcrtkB8ZWtWyBID+sThSk0XuIQbBzUSwkCg9ItirAzRsuMwAwEmZKqLJecapBOIadNUmEBOmzO4923ZeZGVBAMKRG8xw3HeCeRJZEKDwQXuxumxmn1qoQZIB9kyo3JI2Og4YdIijMwIBCgPRZqmT41WZ5AyAzNHCaSsfAWu6gPxavAZ3lyeMOlmfXr2hJQnFEZYqdV5WwPEgFQjUShrDb8kAKsoPkF72BU2ztXqIeLcs3Lt47efZc3cXvV+PPSxM5suR2eGnr6WLnckjttPzhrWISCSEwjMz65ma5XC7ksoMD/Z7vYRzkpa3WBy1SsdaCEEQUBBmt9bY29Xp4JNlZAFCAl0PMdRVGBAut9EXnFitEL8BMQLS3VmPMu+9qt3vN5hhzfZAZDIC6iQ6zAWCzX0wmA/SCroxKPUkQkgCRwyBH2G2PZu+pYochMeN1UdFtFsu7WJ7Qy2KQJeyqeNB4HzuqxbgDXQbgBUhd4Mpsm8qPnfdoAVD4qDLUjazANvd4ZCIVIkCgSjVcXdusVGr5XHawv8+TEtJxEJ0KJ57vIOP7yquFYaVabSrYu3jl6PgY5n01CpOCSr2AhBn3LHUnGoigG5S6IYoCXYpc3JVbxTUsIffUuta1zSoWK2TstkfofkLGlufu2PaeiKQsMnZvru4GhndtXdja447QAhNvYg+fNeSemquPDq6emTnWfIQwilbXNirlai4bDAyUUtavg9395d5dz/P6+oqb25V6PYy0EYKICAGOUlsxg426t4dik9O3K07Fds8f7mDS7bwuA7aHPuZeprKGwXZ/U3uZChiM5l5wFd1Bi+x6BB7Fqh6p5a1JNCl3AzZ2aZs2bC0zd0nn9LjHQ6X3CISgtd7eKtfDMJsNisW8SiOVA+pUsHERQETf98ZGh4Rcr9Xqq+tbpWJeCAGAlg0eJaGgWNGvJ/q77mBs5C7Fi4dB1HPPvHz7n1nUW5a6Z8D5XkAUfpg9OjA/PGrL738z6JHNG/FRLAwBe4Rb4JGChjmbRFG0vrFRq9cKhdzgYH8SS586jAMZqQCA58nBwf5aPSpXqsur60HGzwYBAxt7NPlSH1kXwKObFR+/Dbbv8bP+Hfx9rOrzfR7SsccIw2htbaNcrQ4N9A8P9vt+yvp1YJ1K8yLge97QQP/a+ubq+vrc/OLwYH8hF1hGtpaJjsx9obeCSY/33F6S470GKz0s7BGuqtfZHqG5Uss/7MIOURWTuVKtzs4vrG9snj55bGJsJMhkUtavAx+pBJnM2MjQ3MLSxsbm/MLi+TMnEEt0FPVUoDt1R/eSeKOvBXCvqu1DzpZc2C4V9Fa3btepEqyIe/cE9FwW32dV8Bk22NFWTa3ez2L5z7gw7rzCR7mqXhsSDsdwok2IWKuHt+/eX1vf6C8VRoYHlUpxKgfVqbRuAdlscOLY5PSDhVu3703PzpUrtUbLPh89vlT+jImMxhyMex4P3AS2dG0448bJlZiNOzmD3m7L+2/QAS1aZWfed4/cwArCPj+MMa87d6PG2msGfgjLcxO4s9+Diz0tqhfL97wq7Nps5lbVw7IOlzq9+75Sqd25N6t1ODTQ318qCaIo0lIKOsLCZQc1UnFvGTP7vn9scnxooO+td95jgFqt3micZ3GkmO9bPgE7X5mb9/i9P/zJYAA7Xbgb3zNYw3GDAO7THtNa4e6qeFvY06T+6PwpxuZ52tENxh7OgnGrEvtAuwkRMfZQuLvLFpMHquX99EIcg3wPZyl2j1USR1Cjz6qz5S3YxqrwUVl+73lo/+tZQ0oSbFzD7JHk/xB84AiZwVizXS6H9dD3ZLGQl1IAAFsLkLJ+HbjuLwQAcrh6JcXoyODgQN/yylq5UmuiVeDQ4+qbjE1sUNdRh1YnaMl3HSEoBEqfpQeoYo5abLt8EaFABhtxWLY6QkTehetOnL0IwmeZAaEAHJABk+cYoRVgwERW19lqRyHZfqwionNMioUPpKBTHxUCAFjUEei6o/HnnYc4I1L8YWYDwgc/B8KPsXgJUzAAIQi0YOoc1azWiMC7EPUY21CAVEgek+Id0UHMbYZoDEY1NvXGkdq2sHheIhQKpLLCAxTs8JnJVTnLE4MOOaxYEyE0LJ9wKthoOUIkEH7DYknLx4LKCJasBieFYE082y6HhoggFAgfUAHQjgoMM7vmfNShrVdsFMbPw84OKHQoSQRkqcDLASmXHjqs3sVaFoKQVBjpjc3ttdX1wYH+wf5SNptta71LxwGtqVhrpRCep0qFHDOXt8vlctm6j96hz2uyBSEBgWt1u3rfrs+byhYY07j3Jrm/EIgok5P9YzR4HDMeM4A2uzEryMZsLUYL1/X2MpIA0U4BCQQ2AgbM5GRxnErjIP09b+bWcLhut+ajzQcm3EZAILnDqQAbRBS5YdF/BnMj3Fxt0iMSoQWurEULt+zWEgCClDE9YvMzbC0Ao8yIwgCVxkEFe14nmEFX7OZctHJXVzcQCYRqp6ckMCFYS9kBNXQKi+MdpmILQiIhVKt68Y5Zm7NhrUlY2fDiMZUnKUW5Puofw/4J8LPAALoDKzCayGwuRAs39fYKkgCp2vfo2KYtZgqyb5JK4yD8PTKAACbi6orZmjNbSyaqOIaenU6FGYUU+RExcAqzQwzOhjssj4jA5dVw5qreWEIUoFQiFYZNKBL6gSgOU98YyAAEHgEsPQmEcrm6sLi8tr4xNjJ4bHI8k/E4dvqpUznghXo3CvncyNDA5ub22vpGuVwLMhkhBBFae0iLZszMcXebrZfr969Ed96P1uYgigAYhGyJdBkDiCCELA37p1/080MiW0RGy4yO8clxoYMFJBOF4dLdyuUfhgvXUSj085CUikLisMLWqKHjwfmvefnBmEU4ngTjUq0QCMCh1lsL4YP3qzO/1VvzSAJlkw+4IdKla0DSH30665dUfgwArWFsQVeRLZNAJIo2FqtXflafuYSAMYNvgvmfdZWNlf3jwdmXVdBo00Bs86wkEQBsZCob4fzVyo2fRiv3UQhU2QRPCQIJrm+zibzRCzn1PVWcACI2GrHBae8sLxARTHWzfvv9+q33TXk95hcgSoh0aQCmTFaNnPDOvKSy/SLItSRYnNHin2cT1sKl25WPfxgu3EQhMZMDa1qnNwoOK2y0Gj6Vvfh1rzCUsHxTboZd2svq0K5PhzPv1ecumcoKAKHyE5Z3Il0ale9NPBdk+lRuhAHZtlnerZCtDVdmyx/9df3+FZIKgwLsEOkKq2yNGpgILryusiVs3dMPZ5qAmZmtIECESrV6b3p2ZW29v784NTWWC4ImeC51FQfeqTBzJpOZmhibE4vr65vLq+sjw4NKSUS0vSjuHdz8l9Oc1ZHZWArnb0dL9zhyeipey6noCAhRKFvdFINTng4T1ZLdQGxjyuvh4q36zMcofQpKbKOEfoa0tS02EVvtHXuhC3eHNaa+rbfmwqVr0fpMJz0VwWEVSKJfyISVPSq97txEW98Ol+7U719GxIbKS7xBRGHr22y0rZe9sbPK6P2fFRvV9PZSuHgzXLiGUpFXYE5ohJCytQ2O6kAqU9tWe8Ej3TU9CvXqfDh7Q2+uxBRmMYMygkAOQwAW2QIzi+GTKuZk3Mta2myvhgu36jOXUCgKio4QOt6jELa6xSZkZv/kSzsSaDuzk9aY6ka0MRMuXtNbC4BOT2WHU4lQZTE76IfVhBvo8Mkyla1w/nb9/sckfcr1tempkLDVbbaaw5o3+YQyBo4Mlh4AKpXa7NzcxuZWX1/x2OR4NptJPcRhcCoumY6I2WxwfGq8FoYraxt3p2fz+exQpmQZ2Fo4/GgVx0AsUaiY2K+Z0nGFdMT4X7v1hiLGNQAUHkqFQrW4bxERBUrl1Le607247D8KFAqFionTwQI4MS4LQoLQQBJJdn2DEAiFRKkQEYVKMMw3VoWEQkEPmQfEmLAZpRebhSlxULpXGEX3VTmhX5QSpQJmYBFrXrkGaAkA1m2/u+WhaXmFQqFUYKldOkwBAJLEroLw2KJGRuEs4wE2LR8LscRvSg97RCFRdnoeSKBUYBFdMhCOCkIFYoRKZXp2fm1j49TJyRPHJ3K5bIpQOQxOpXmwZbOZY1MTy2sbG5tb07Nzp08ew4ESHdYgfBdTCCqP/BwFeZbhTqditDsXKJND5XdzBohCkZejoIjSo0y+XelPACIbTV4OhepuWhIoM+TlyS8iCVKZnZEKSiBBKgDq1i0jBHlZCoqISJlcS4/SrUoQG0N+DoXXg7cTKDzycpQpopDk5ZhNMhoDYNYheTkQsrvlvQxl8hQ1NOoTToVlBMAU5MkPUHpd6reIKNybWEShYg20xPENgGwi8nMgVHe/KRSqgLw8ZaqAhHJX+stGKAPswfJOHJOCIkmPgvyOSAUQ2RrK5KAXy8PhQ6jMrK2vD/T1jY0MNREqaSvxgXYqCbRKkD0+NXF/dv7mrbszs3OVSvUooVUYLDMbtqYh0kUNp8JgjeMNZGsaBOVd6v/Mhq0GS/GErRw6sNVsNbOBXggZmePZWAMzs2FOOBUGZg0umuz6NjEzW7babSTeZtuqTGNV3AtGL94jQuMXG7MRJvbYw1TWtqzkbBJ3HaJbJFvDbHszV8PyzT0mevke0vIWbHM2ApbACafiGCfZQK+WN2w1734eANi6f+rR8ocPoTKjdTg80N/f10KoYIpQOdjprxZaxZucGB3oKy0urzBCrRYeMbQKx4Vi15zTIqXnZrjeFcK246PT9tXhrzz8wtrWsPuV3lbVYS+PYlUtjODDzrbHVAy73ovPYHn+DHuEXZYHfjTPw6dZ1eFBqJTL5bAe+Z4sFHJSpAiVQ+FUdqBVxkaGhgb7llfWKkcKrZKOdKTj80CorK6uDw70pQiVw9n9tQOtsr1dLpfLfETQKju0MVqc59j2Ij6M1kXH3/p0UzWx322/2L62Hp3+o1xV+y/CZ5mtfV/JbzCxzc/F8tjR8vg5Wx4OBUJlaSVFqBxynAq0o1XW1ze2y7UgOOxolTZVD0ISMcyNRKz5h+QAB0gCkXoqpbp+KteU5WZLdn+RBAZXse/xXEMSiBJRNH6rUVNBEX/1wlfotEZIoKsPNzlPWqvCnlcVNyLHe0SRJDOJZyPbG+MIAiGSQFefZ2zr/iILwEgCerU8tVse2vqsSAIz9siDgtiyDFK75RFQAFrs2fKI1Pl5cBuPeXHw8Ks9thAqtfvTs6vrGwMDpRShcpidShOt8oAWV9c2llbWRoeHlHfo0SoOTRByWLW1bYeN6Nj9ZXNV1mH39LfRNizb6iYqDwB3dH/Z+hZrbcMy9GJStmxCG5ZtfRNJAGs2iUK9EBxWgBRHVWDT5XSzhsOqrW7FvCA60f1FDqdibL0M+4NUEnKNNizb2iYK6Xocki3FtrbJOuSwArbbqthyFNpa2Va3O3R/RRGARQAOq2Ci7gUMt6rqJgrlOgjaESFbbCIbrwq6i0jqutsjIKEKEt1fBlCCCZENRzXgbrMZY+sVW90E6QHSTpxKbZut5noZjgZIxfWFlCuV+9Mzq2vrpVI+RagcTqeSRKscmxqvhvXltfU792fy+dxwULIM1lo63GgVy2w064h12OCoTYAfEQGYje6lcYiZ2Wg2ISA6nGNrKrSsIzYRGx1jwruq7bJlG7EJgSWbqNG15W7Nkm3U0L6F/VQmHTbCaDYRILKOki3FYN2qNFvdY7qJ2bLRzlZsolZLFRIws4lYh/HpiV27vwy7hdld4Md4fg3WMHdXN2lZHoBNxCbRZyUsm4hN2GZ53r9E734lAiQQEoxJtBRbMBEY3YN/Qtd0xzpkaD4PjVWxZR2xjdjqJk30oWcCt5bL5cr9mbnVtfXTp6ZShMrhdCpJtMrxYxNrG5vVam1xaaVeryMCHWLMozslhBD5PjV8DJUfHzq7aFqQSBYHRX4AhOQEgf1uyl8R5L3h02A1SoW+wyU0U1nC0bTIgWPoBWwMWrMPmAOFJ4IBb/As+SUkQulz3NPscCoEUR2IZGkKhc/WAOzOxiBYZmPQC+TQcb+2hUjoZ3fgVBxNi+gbRS8LxnQ5K5FEUFLDp1EoR9PC3CJEQZKOpkUNnkIVsNFA3GFVseWVKA2psVNUHGxyQzZpWkBrQCYvkIOTlC3EiBDek6uegoI3cgrYopDo51pt04BIMU2LHDrZsjypPRHfKhD5YW/4rMgPAhBIr9HrlUDUS0+UxlH6jV6W3XtkYEuZvDdyisMaCYVBO3oGicMas5F94+hn2Rpke7gL9QiARNbaxeXVSqUyMjSYIlQOoVNJ3g5yQfbUianFpZXpmfnV1bV6PbTWItIhRKtgTODOFkhl1NgZmclaHXGLhiupUYfIFoWkvnFUAdv4taSSOSKBtQgg+yeCi9/0T7wEhCg9TtAaIiCzAUaUHmUH2BprDEqEVocdxvIbrgTiF7yhC5QfZRO6dAnvIJS0GhAoGMRMP+uIhWqUOrHZvmmNRaMpNxg88WV/6klARKm4CbhxNM2NY45UwAxsbYP3C1tNAcBx5UT6cuBk9okMhxUARJIMNhn1somALQZFyg2xjkBoTPoDZ3nHWprJecefFIUBtgaEANvJ8sCoAuofR+VbC20RnistIbK1SCT7p4KnvumfegWQUEhutfwiomtXZVQZkRu0RpMxILxEMhMbAjGIJCk35I8/K/tPstXOVbbzJyMYgwiYG8ZMia1hFO2WByRky2iN7BsNnvmGd/I5JELpMSefB+CYrlSQn2NmZpOw/GHjBG/a0BhTrlQQcWpiLEaoaC1FilA5TOmvJFplfHRkaPC371+KtP7iF6pOKudwttEjxXofyhdDx7BvlIWMK8a7PBBbgyZi6YPKsHV8utThg0OC8iNe0A+WAZljcvo2xncH7bZRHYS/R6KJYzh9po9UllwHAQAz487EljtlCYQf0yx2ui8zA+b6VeYZZAOIHVZFBIA2rNpaGYUftyfsFd6pQPQdo9JkQ4MGscHlFRMNNwW8GNmhEnaS2hNYZgTwAjF6WgxOoRAxBzPvTNyx0WAMSx+kB5Z3uvxWdKGoOOrlBpu6Xx3ck4NA6oiFt0fk6iwvKTsEfkGQiNsQdgoYoINGAklQ2f0sD4D5Ae/k82y1MxO2p4Nc94eNarZeiUH1hxSzQohSCGNtGEZr65vW2nw221cqxAiVoyUJeDRqKpbZaC2lHBkaHBkefDC3MPtgcWlpdYek4aG6PrmYgAGEgqAf3Nkap9p3HiLYxHs7V7TzKhlrVjF5KLzGBZ93HTONsMZaMpoB0OXZ2g5KjFeFErxiY1XkVAgBdqtiQft1u5NIsJAgJEAu/uudV4WY0ZSNHKtVYw3tq3I5N5VjBU0GLWw/c7GpZMiWrcVmB13y8XHBkbN8rr+hg7n7PE3Ogw3Lt9uqEW+x8EH42CiW4G7VyIbl42aE3ZbHllMBv83y0MnyCbqJzuWsWO5MBaAC3O95QLSadAQA6PJsfKgQG85MUgopcbtSn5mZu333vu9542PDGd/vWbo0HQez+wsRlZKlUsH3/bX1zcXlle1yNeN7QhAR2UN4m+C4qCQEJzHnOx5ydorlolHA3/sWj8Q7tQY7nvMCPOVuznvcTBmQgPZaFbajWJrHGu9RqBdJ5d7Oq2IGkpjxYoWofSIVUo2TgvcU1WUAEHG5aE+LuS6vRo2qI8q2p3mgkaFqSR3vMdVDWD7e436Wp334qhvyZwRdnwdned+D/VYFB53vS5AkxO3tytXrt+/dnxkc6Dt39lQ2m3HveioefAidCjZ6wACgWMg/9/TFu/dn5uYXrly7debU8b5SngFNaOBwtmdwonLwKHbXZR5uZVq4q8PrEWS3L2VIqw6B+6kAQCNK426kI9j7qnp59BIxz2eZCgGgh1XxjvDus1m+iw/g7vMgN3UpDyv7l8vcWssbm1ufXL+xuLj8xIUzzzx5oVQqYuv8ScOVQxepNMonXCzkX3/5OSFodm7+w0vXRoaHBvuL7K4b4pAy8/QOxOnaBAzJuvVnm41tr6dM10O516l4f/F2Zyzg3v0F/v4s3/uh/MjM1Uueyvb2PPRi+QPMI+ngpFvb21ev39rc2Pzm1984eWIqm8k0sPRppHL4IpVGBIKIfaXC0xfPzs7N//TNu8j06svPAfMhZyx+lB9mfHQZ4t//VAgPEVuklv89W/6gFlSaY3VtY3p2jpDGRocH+kpEFEVaSEFpmHIoIxWMQ3D2lBobGx4ZHlzf2Azr0dbW1tHgJuJH98nnR3qIcA89EviIVvUwe+TPHKYcCMvvBUnCz8vycOD4vpRkrU2tXl9ZWyOi/r5SX6kgBKV9X4feqSAza22UkkEmMzo8JARtbG4ur6xpw0IgkXA/cwizny0lj26nZHeEFndPnmCPKft2Kvj9rwNdMmncYp2CzzZVQ+ilh3ROD0RbvZSme18VPCLL7zAX77VB7Kka1Esyrcc9Hjy+LxYCUcj1ja0bd+7NzS8dmxw/dWKqVCjs1HRKx6EklGw+B4BYKhXGR4cXFleWV9YWllYHBkpSEiKZQ0hShECqFzgvMzQ4oPYVRiTZU32369GMBEStA3BHvJKAf7DtNpUTvu1pVdBNMApBiB4dYjdzIQiFvdqqWyWHBOIjsjyJ+LTDLuUz7uoUUaCQe5LoPOwe4SD2fSECbG5XPvz46uyD+VMnp1554ZlCIRej6NNqyqF3KkTx1aFULDx98byn7swtLF3+5MYzT18YGewDRK358PGJJqnu98xfMCADdzsd0P0Pe8mG4P7TYaNdOEl4vzNZ0oCB77uqVucx7t/whI3DlrvVCJpBCHfO4riwocth2ogZ9jEXA6B1JFrcnauQGtj//S3PuO/KMHbAtK9PibGnXR6IttBo7zQmc0yeecgawJgZgYFhc3P7ytWb8wuLF8+//szF832lYpOZOI1VDr1TiROd+Xz25ReeqdfDm3emlZAnT0yND/fDYesBQ0AAayCssoli4sIWK0kCZe14U4QC6UOSVn0nixqDqdpazVq9K7LnBt4SEJBJovCA1E4KkCRa3oQQRqzDpqx359S+kCA92E/03oKus66D1dwBrNfaLCOBUOj2uAfwhaxhXWNdt0Z3zF44PAySAOWBUJ1V3N1vWc1hCCZky3udtOgIBYSKp9prVWBB122tZh2r9K6Yzp3W6NghSQGpTq4M44xcFIIJWWvLDcvvNhgCuOdhL/Y2RAJmU+dazZootlWD7KaBcOSYBggJhQfSg44Y/oP/Kdvc2ro//aBarYwMDYyNDikpG4pNqV841E4l+Q4X87lnn7pw5970z3/1m1qt+gff+GJCvu1w6AcDECEBRyFvzJjNRVvbjlkIiVq+xLIDV6OfFYUR6jsGQR4ssLWNfDq7ezQJImtsdUmv3DGVVSBC8qDVT8oABNYwMskMZYcoP4qZQZAZR9bb7JRwKh1oLNQ2eHMxWpu39YpjlW9L2iACG0Ci/IAYPEGFIUDJbHd4REQC1lxd1iv3bGU1RozvnMcCAwhJfpEKI1icAJEFBDCmyeEDRMxAbDGq8caCXpo25Q0gQiHbMOcIjs6ZskU5fJxKI+Bl2d3VuRG5MCAREEBYM6v3zcYCR7XkOdtYvGUAFEoERVEcwdIYyCxbAGsTURIxMxESR7ayqFfumMpa7P6bHMnMgMTWAFhSOVEcodwIZPqBvLinuc3yAEZDecVuLOrNZRtWO1veMgqBhSExfJxyg4DIrVXFN3RBRAh2ey1avKG3lpEECq8tteiIihlQKApKVBylwhh40tFjwQHnV2xkt4RlMMYur6xtbm0FGW90eND3fQDQ2kgpUq9y+COVViZUiGIhNzw4ENbri0srGxtb1jJS10zzQcr3AkkgAF3Tq/ejuU/01hI73Q5KsBRbAwBIUuQH1PhFLz+MVGAA0LbDx561KS+GD96L1u4CSVRZYJM4RAToOoOV2SFv9CnKFPdkq0cEq7myrhdvhdNX9NYKkEDp7TzaTAREcvRMJlvC4jATgtlVeCFEC6a6Fj74SK/cBgCQmcTRhvE8zJQpqKEz6AXAZu98moWwYlZmw1vvRisPgCT6PhhOUMIQ16tgtBw+Rn5AxaEOU7EFkkjAYVUv3YoeXDXVzbiWgyLBya8ZgFSg+sZh4qLMDUAm53QKOjyBNjTbC+Hse9HqPSCJXtBWziHBUR3YyMKoD89RptTJ8hwX3q22m8v6wfVw/qYubwBiB8tbg8pXY2cp34+FIY4vH7ssz2wrq+H0B+HCTZQKvSxY27hnxJZntiIoeSPnyM9B3h6mHjAiQoRaqFdX15dXV3O5YGx4sFQquHxA2vd1VJyK6+9q5riGBvsHBwc2NrcWl5bXN7fz+ZxSTrbLHuwrBgMzk/tc6zDamA/nr0frs7EMl5CJSMUAIAopS6MY9MmJUDaIn7Ctr5QB0FqtK2vh8rX6whUUirwis05w5Qobldlob/CUHDjp1CQ5vlA3y+7x0cbW2tp2tPagPns1WnuAJMgLWiTzAEDEYQ2E9FH4x19AEoBomduJFJkcuX29Ei3frs1+gIDkOVr4FiG/japsjSpNisIIIro03s5+APd+W7ZhTa8v1meuhfO3UUjyc2xt0wfHclg68qPQP/UckmAkthpBNGdiZnd6m6iuVx+EDz7R5dVdToWcgxdejsMKFobIRAKbPI0xjyU0cofWaF1eCZeu1eevopDkF9qkw1DYeplt5A2dVUNnESWg4DbKNY4jGwQ22pQ3ouXp+swnemMZiFD5sYuKSawJjEY/AOGrk88jIsddkbAja8rMprIRzt+ozXxIUlGmmKC+b1jeaDVwTJbGe5UWPUh9XwBMq+vrV67emF9YnpoYvXD2VKlQcI8SpeLBRypSaT4WpWL+7Onjd+7NzC8s3pt5cOr4sXwuy8DGHIruR4xB3TasmuqGKa+xrgO3Kz+66oiU6GVsWAVr91evsrpuqhumsoLCY6OZ25Ufw23W2uSH2Kkc4j7VW2YT2XrFlNfN9iqSYC9o9Bo5PRXBYRWEtNVtsAZwj7Iygkv+mNqW2V5FQM6ELa0RRERp69tsDflFYAtC7n+0sTEmrJrtDbO1ikJyFLWrGSpb2eAoNNUttqaxxz3h9LZeMZUNs722U/kRMY4a/ZCqWzas7d+v1W55xTZqVy5xGouRyY+yNYBivz2y5Sg01W2zvW62V4EIVQYsA1hAAjaxnkqUs7XtVvZsj6KQ1aGpbpjtFZYeG8OsY0JSaljeaJHtA7YgBBwiSRFrrUBXTdn+zfsf3703c/7siZdfeCafz6Z9X0fRqaDLcyEWi4WnnjhbD0PXA9ZfLBZyGSIM48ZjPCR1REdmFV8VufXZjl9xnUAYt2N1hRvEGUIHaqFWPsdN1TQa9wZeiNfWhMg0QweK2wdaBQbcr+mpRdhFCa6wRvdVUwyxh65WTP4KJuRGmq8QtgoV3cHmyRmoRViCFJ/j2EvSdZflkZNNFo21JanScL9lJR8JJEDb6HhrvtJTlbndVgRMcaH+U1n+YDkV983mxtaly9dW19e/9qVXnn3qQjbIpDqPR9GpNHvActng6Yvn1ze33nn30rXrt1954RmHg7XWIorD8kggkEDhofLi/qy2SEW49BcKD4TonvJ2U8kMCg+FDyyS92WUEZBG4UEvipquF0t5qDJIApUPbZEKxYGFUN1vuEgoFKoMQrNC0EzKEXIGrMFe5onVeUW8KiFReS1WY0QkgSoTl8q7z4YgFEoPlb87UgEiAEbl4V4tZB0trzIoFAof0AAlLK8isAKdZklPUznL+0AU77Epl+DwQ663retsRPGqpIfKA5t8Hgg5A6R7tfwBu6eRI2MrV6pb29sEODYyVMjnAMAYc2hZBFOnsg8PGDMba7NB5uzpEwtLK7/41XtzC0u1etTMNgAcosfC4c4sx+cjNosEDr6HgDZBQd/DVGwTX4mbKdvGEdzLnZSBbbwqQLC2zam4V+Klcm9T2Tjd3yxiu6u9fahVQctWaFtGi2ejxmy2p9ncjtwMbJu4GyeEBcDgcJ29W75pkx2Wf6g9ctLyAJZbUi6uv87aeGFdZ2uuyu6yFT685Q/Ih4kIlVL1UJcr1bX1jYH+UjGfGx0ZSqbW0zDlyNVUXG6ZlAiCzMjwYDbIVKu1pZXVSrXmKSVcvyQcMu6vHV/Q6ZtPPRV0euUzLuxTTAW/y1XBYz/V52L5R7uqA5D48qREwrX1ypVrN+/en5kYGzl3+sTgQN+Bb/B5DLNKB3TdhXzuxPGJIPCv3bx15fqd9a2Kp6SUZK09LJpCO4oEe3z12u75qObpbWGfw6qgN3M9QsvDAbY8PlLLP/YNPtZaIkCAldW1t9559/r1myPDg88+/URfX5EoLtamruWIRiqusmKMzeeyLz//tDbm/Y8u1+vRQH/fUH8BAKrGghR0ODAr1rZyER3TXy2EQW+zoU0krAAIgRvpjodQXGmsap/010OtqpkIgl1JGLAPwZVrE3tsS38lLPlQG9wz/dX7VO2Wt5/N8pzYRdNibemvnmeztu2L97I8HBbSo9hnLK+ufvjxJ1tb21/54qunTkxlfD/t+zrSkUrzyWDmvr7i6688d+70idu37//q179dXVtvNXjwoaksUvevXm+UBNR1th4v4OjKwvFvJadtfg+9LCzZttRpkuTCejIYAXX76ukOvrflKblHeDjL02e2vOsU2G931OsnuqOpP7XlH/ubqBCkLVRr4dzC0sraupDy2NR4f39JEGlj0mrKkY5UGgwdrJTs7yudODZBiEtLq0tLK7V6qKQUgvCQVFYca7oBh5hjahErsgHAxCu9TWUNoGlNCAAWASF+xRqwGqzptZRtDZCraZtWpGKh1QsAtktLcesnG2uAHauyYDWYEBw6pKeyv4kZBxLgx3jvza/uRuPWvly3ULxBiu3DprE76NVWSGDtZ7a8C5JMTKLTwqnYOH7lnpsR3KNl93genMVMBEYf9GSytdZTkkhUKrW792fuT8+WioVTJ46NjQ4LStVTUqfieA8TD8Hw4MBTT5x9sLB0f/rB7buzk+Mj2WwGkCJtDqLENCZAOSQz5OcpKLKuAwMIsRtRT5k8qQy2ICydrmlIJDzycuSXUHrkF5LAQCAiEmA0qiwixui8Nq/c5LJ365KkMhTkRbYEROgFmKQeQQHSQ5LCDwCJnQ74jncB0fHPI5HwsjJbYgD0cmh04j4uSEhgi14WEFsL3mGtmKgZUQhSPgV5ypZiRH0Su04SEFiH5OfiIzhOZyWOX0zAoVQGgwKZMHYqLdY1h6gH8rPCz5H0EIl3MTS3eFgASSjyc5QpovDIz7dWBbHl2UboZQGIrcGdlm+ZDhFRKvICzBQoqgGKFqK+iRCymvyA/KDBiYC71oRxiktK8nMiKKH0KFNsgWGhaXnTsLzBg3zmMjNbSwRseXll7a233717d/rcmZNfeOWFocE+9zOC6LBqkaVO5eHI8F3xrb+v9LUvv/7bDy5dvX5TeepbX/9iqZhjgFpo5YFMkhJYBkKQvuifUmGF+idBRw6C3joZXB1CCJHtEwPHQfrMAJY752RIUHbIG38OM4MoJMoMQKuxlRHB1MFakRui/DgIfy8sPTACCQqKcuikH9Xl8BoQgfCwRUwfM8wgkhw+Qdli3Oa7mx/fMgBQpk+NP4V+ngFA+tiqUiATgg6BmYKi6JtCL7c3qT0AAKiMGBj3Tz1P/eMoBEq/jUmMiMMaW60Gp6gwGPOa7A6BLTMhqIwcOumbyNa34xiFmt6L2GgAIOXL0qgojYPwgPcg/gIAUpQf8Saex2BoL8uzNTI/SoVREKrzNYOd5SXlB9TYGUvSVjcBEKVqdP3GjDVgLSpPjZzETIGtI9rZw/LZfm/qWcwU0TGSJRqdm5YX2T7RNwUq28XyByHeJ0QQuLK69va7H66vb/yDF7/9/DMXs0FgrSWitJqSOhVotmog0cBA6Uuvv7S2vvFv/+JHW+XKi88/dWxiBF1lBemA3T9ifi1mC6iyauyi6D8GJkpQ3yf51wERQUjyC+DlWDMDY/vlFGOeWin6TmT8oh/VHLotodqITYlJJIVeDr08IMWnVRLD72g8hKTCkPICGjnDJmrhrneJeqAXUK6fGRqrah1wjskNAKk4kTn7NY6qjnK5kWKCFqAPGEmC8tErAKkGLIPamIwBGIkyOTl+Dktjvg4be+T26NYCMyqfsn0svDiH3iTaQkSnKmYB/Lw69pwcOcOdS/HciCM99PMsM6zZETW2Wx6YGYQn+k9mMn37Wp5ReOgXwMtzUzqmaTFs4P+lJwYmKFsQx56KSdI6Ud8jAvpZzPa7ZyaRB0b3fy0zMlBxIvPEN/2wAkhtwRa3WR69AL0CkNxp+QN2VsTLXlhcnp6Zk0ocmxobHRmUQkSRTpu+UqeyE12vpBweGjg2OR6G0fTs3NLyShhpKYRAPJiVFYyT+MKj4ijhKOyvYcUuu27ZMmDn+7IFwky/zA0g7ictzwxsmNkA496sKgSZHAZFSbi/hhVYd0abPTLyDECQKYpsqaviMFvmOM+zN3hC+ehlZf9ozMPSSY4ynk27ikhnyzMDyIzom2hTIeMOYl9oXWqFYR/Lo8BgQOYHm+wwuIdUCltu4+XcKeACQAKDIub6qAfLW2331GlmtgCYKcpsqSkggB2NYZuWBziYsBVrrZQCgCq1aHl5dfbBXJDxJydHR4cHpRBpNSV1Kp17z12pbXRk6MTxyaWVtemZ+dkHi0NDA76nIJYZPoAXEXRqKPuJkbch1aAhstT5RzAu+eO+E7K7YDsaKN7TizG5YgZDD8K9e4eKTY/YQ226GQ/t9bNoY9WUluYhd4gvYvfCjPtZ3pV8khky7ix804gO9rV801adVgWc/Enae4Nugl4tD12FJjlBgdZxQk5a/kB6FIeQl4QGeHFp7Vdvv3/3/sz5s6deev7JocGBZmI4dQCpU9l5z2Nmyzw02P/Gay98+PG16zfvFAv5N15/uZDLWIYoskQHlLiFuZn42vswjTM33fISbA2bRI1hD8UU7KGFlK0FMKwTxIg7bvIxqWcPCEFr2FjuvCpM8ID1gMVjYKtZJ0lQ2hNNLf7jbntkZhvFSa1OT1yTZAV76ANmo1k/Kssbttwi5mk5WmzXAsBELu5TPA8PafnHOlJhIiQSK2trP//VO0vLy9/91ldffem5XC4wxpJIqympU9n9QSRCRIE4PNj/5ddfKm9Xf/bmO2EYPXH+zMRIPyG4QtxB/VQgJcQwuvaLdU0ti0c1VSP4+8yzIQIKfCSrau6R99cmxgNteUxWWfDxWNXjGqYkd7C4tPrJ9VsIfOLYxLHJcaWk1gYpfpvTASlNS4fKilKnTxw7eXxie7t88/a95eVVY2zjxowHX19ln6/Pa6pHONsjXVXzcr2DceTTPAmPq+VbAcRj9Tw8XvSRgkgShZFeW9+am18iwrHRodHhQc9TjVaRdKSRyh5XEmOslAKJxkeHh4cG1ja2ZucWllY2isW8lBKRrDVpg0crd457J+If4n7KD4O66WFVXab5Pa/qUU/VJfv1MOZ6OLzTkXzQY4VHBMCllfUPP7567/7shbOnnn3q3NBgfxOTkJ4IaaTS5RmyzENDAy8+99T46PDN2/c+vnK9XKllPCElWmvTtzlxW+/01VLKeiSX3N6vur0wJNJDzPZoVvWop+oYP7VRN9KjW9VRPy2ZwVorCD0l1ze3fviTN69cvf7Mk+e/9PrL+VzWGMPMaTUljVS6V1YQYHhw4EuvvxRG0ZWrt4jw2NT48ECB0NXrji63D0NDv69rCh0J9+8canVh7tOb3DxIqYeF2S7NbTHOAHvKoXfNafSwqsZs7ZCS5DfYVpr4zKtK7pG7ryq5gB2r4ofY46G9OqHrJonvkWtrG+99eCkK66dOTp09fcLzlDYGMS3Rp06lh8qKtZzJZC6cO31/du7NX7935eqN5eVVPnM81uU9wtc3ciyE+xx/COg8jjXQgGLvLT8oEJCxe1O0wxvu3bjGGEsxJpqYdrgldyBbw9yFq9hdLHjfIz5ujrWGeR9GMnfCC9y3fwCbpzzzPtl5typA5J5WZeEzWx7jZm57ZGsG1rIgAkmRNltb29MzD9ia0ZHB8bGRTMYHANY6PfRTp9L9bsLM1hopZT6fPT41XirmN7a2Z+bml9c28tmsE+86glI8Tu2OEBAtG7Onv0BAdrgYy4xAilvK8zvoLkAgIxtrmsfWrvs1YlPr3AE1uHMSh9EaZM0t6EQ7YNGBV60BowGRhQKSDRQ67lwVAYDhfVblytscs80wUidbuP4qRtZo2e7F/e6A60QAaOM97rIVgyAkgcjMRlvbqV+LufkXwRpGZJSMYtdsyACELMAgs7XMvGeY6PDhDGhjy/NRq6ZYaz1fEorllY13P/j4+s3bT188+/ST50eGBhKePj32U6fSq/YuA8DYyPAbr7340eVr73142fPUl15/eWSwZBkqVS2EOILPE7KxW8vR0n1T3kAiEDIBZ0NAF6Aw+VlRGqHcIPhyD88DYDXXt015WW8tmbCCgECyXXgDgS0QiaBP9k1hMMDuld0Og4HLa9HytCmvN+gy2wMBawEYlS/yfVgYgmwf7EWRwAxh1ZaXo7U5U9tC2L1HBKOBLQVF2T+F+SFA0Yl5QCIC1Mt68wFXVoyudULnW2BAqUSmQNlBzI6AzDRWuwsvb0K7tRItTevyJiKBlDFdQnOPxgAwZXKib4Tyg+DJTh6MAABMyLV1U17R5VUT1hEASOzum0YSMjdAfVMYlNip1ByxGN0yCCJBtLi8+pNfvD0/v/D1L7/6xusvFfI5bYz7p/TQT51KT5UVIQgRme3I8MD3vvN1RPr//fv/sLS8cvbUiZHBEiEYY2l/jotDFqQ4ynckG9XDhVuV978fzt1AoSiTT7IUI5GtV9kaNXQ8uPhl/8QL4OfBBRuOsN2B44VEADaR3ngQTr9fnX5Pby0gEqlMG0cWEes6oPDHn8o++R2VHUREGzFSK+XPlkkhMOnVB+V3/0N9+goikpflJvc7IqKwYZWtkQNjwfmXvVMvYFCMM3hNqkS2QBIBwEamsh5OX6pc+3m0fB9Jkp+YDRBJ2vo268gbP5979rsqNwBEbDSiiOWtmJmZJCKCqW3U778dzn6gq+suMwUx/MUxs0UAILys7D/hTb7gTeXJD9gCx1xz2GQ1ZmBTr0YPrpc/+FE4dwuFpEyObYI7GYWtV9hqNXIy+/TXvJN58PINFmobo0otg0REsPW6Xr4bTX9Qe3DZlNcAsUGa2WDrQgKjUWX8qaczT/6hyvYxIFtGwqNVUkGwAAQwOzd/9fpNgXj2zMkzJ48rpbTRIqWPTJ0KPGRlRRurlJocH33qiXN/9pc/untv5t707OkTE0HGF4Tuw37kkmDGmK2VcPZq/e77KD3K9rGNkrTwtrppjeb6tjf1JBuNexZeAKwx1a1obSacuxSt3keU5AecJGAnwWEFSKH0M/XtRncTd8gfMZrqVjh7o3bzXUKkoMhGt5wKSVvdstZ4Y6e8keMc1verSzDbsKo35sPZK+GDayglZQptxzcpW1m3OgSwmbNvqM7lmQapiq7p9Zn6/Md6ezlWfqSmU0E2IQAIv2B1KEqTbMJGv1WH9Vkd6o2lcOZK/c7HqBQFxbZVCWkrm1ZHHNb8E8+CMftQvYAxprwWrtwJZz/WmwuAAr0MmKTyowAToR+gn/Pq5YNOLfxppIeM9T3poShX6jdv3b105Vom4587ffz41ITvewAAJj3tU6fy6WC0AAAwOT7yhVdeuHH73o1bdwf7i+fPni7kskJQGBk4kHRgnw09SYRSofRReig9sJh0Kih9RIHS605Di+6GLVCo1m+ZhFMREqwBkihU1x4kpxGCykfExl9PrEr5aA1KD6g72zQiAgmUHiofhUTpQ1s0plD5CNjLqpymCAoPpbfbqcRGkB4KBST2Ty5hcyrlu522r8pZ3nUrUA9vokBSKD2UPiCh8AFNm1NBROGjkEex+8sxAQpEgPn5pb/8Dz+5dvP2i88++Y2vvj4+NgKxbopI8WqpU/k08Ypl1lr39RW/+dUv5HLZDz66srW1PTg4NDRQAoBaPRJCwFFrsxQeZfKULaH0KCi2p78EIKHRlMn34FcQhEQVUKZAQQlRkLcrUhEKSJKXg66sa0JSJidyJUQkP88mkf4iAUKgNRTkUfndpyKByqdMnoKS0y5rj1QkAKAKKZPfQ7YkuUWBKiC/QCbaK1IhP09eDkU3cyGh9CjIU66EQlGwI34SAIQ2osBZHru9iQq9gDJFiuqAhCrTrlEvwEToBeRlgY7aE97oUGA2xs7Ozb//0RVj9AvPPfnyi88qIYwxqW5K6lQ+LWal0UlULOSeferCxubWv/vLH88vLH31S69fOHMMAGzMsnvU7nGWrWGrwRJb3ab8COxeaZx33RImzGAbs6H73YRTAWarHR1md9QIM1vDrrnLLQASqzKarWEnmsu9rIobq4LEdprIheYebS+SvcwmthI3aeQx1qB0s3Ev5uLY8sk97rC86XFVTpbYxm8fEljd7lQYrAb3dhytfmJmBiFISdou11ZW1u7enxGEk2Njx6fGVYLiPo1SUkT9p63TNUKWfD57+uSxE8cnjTFXr9+cnV8Mw8hXSgo6ihh75u5fvabgubfZDuyqep3qEe4RHtnCjlgbsbVgjPEk+Z7c3Cr/8CdvvvPbD8+cOvblN14eGRpw+Pn0lE+dymdlIxENmYSx0aG/971vvfTC05evXv/LH/70wcKKkqQEGmvTRy0d6TgcGDXd6HFYXFr+d3/14/c/vPzsUxe+9qXXB/pjBUwn2peaK3Uqn6mywsxam2w2+MoXX3n1pWcezC28+et3HVlpQ0AUj9znrwvF1kMZ5FHN1gv31+9/Vd2meiiKLXyke3zE7+PBx88LkoIibVbXNm7dub+0vFos5p84f2Z4aEBKYaw9co05kNZUfifkP+hYJpWSg/2lk8cmc9lgc3NrevbB+bMnstlA0BHD2CMCEpJAEoiipe2IiCjQFaKJepcbASJE4b4aTcNOJErEX73I2CACOdw5IomWJKEjSnHVZux9VY3Z4j3Czj1Sb6tKbDDeV+sb9z0giV6dQdLybke8w/K25z0iIAESomj8tyFM7xaJtiH2hUcHP5/xmvj5S59cu/ncU+effur82OgQxB1faXE+dSq/gzE+NvLGqw5jf8nzvTdee2lkoHi0MPbWcFi1tW2UHqDY0f1la9tsNIfVBuYOu6T1TcRh1da3kQSA3dn9FVWBJEe1GFe4z2lrLYc1Wyu7wHFH95etbbMxPa8qsUchAZFNOyKkts065LDaZVXNDUZVG5b36P5idN9Y8zCWV4C0o/vL1rbZRBzWetojWzChszwgIZsO3V9gWYc9lf0PDX5ekBC0tLL6k1+8PTc//42vvPbF118q5HNRpKUUacdX6lQeMcbeXVZHhgb/6DvfQIR/+5c/XlpZPXvqxMhA8Shh7JGZIe5B6tT9ZTSbCFzzAnYFhTiuyLg5iq3mJE6FmY1uMHTxvkLQrs/KrQrY6KRTAWbWmq0Ba2PaXexBAcHN5kR8d3R/Gc1Gx3t0QM79auFxnxWwbRA8N51K5OR4wToh5F7a0hrdX2ZX95fRrLVzTojEPe2x0f1ldnV/GQ3NRjKEI1CwxyaNzuzcwifXbhDx2dMnTp885ikVaQ0NTHQ6UqcCj7KyYoxScnJi9Oknz//59//mzt3p23fvn5gcCYJAEBx+jD0zsCUvkAOTXr3coGkx7TQtFbZW9o8jCQ5raAwoueeRhEh+XvVPofIRiJTfIIqP01+sq4BCFkZAKDa6E0IQwTIbDcKT/WPe+GlEIj/LTUg5ApKjaWHZNwxANqyS0bjXQckMwOQFamAKrEUS5Gcb8ZNbsXA0LbJ/HIRkHYLwOoQFHGMMRVCSpXH0cgAIbNojlQgQSAUiN0gy2K8kyQzM6AVycNKr11BK8nPMJkFIFtO0yIFxIGHDGlqzD4wGhaSgpAaOU6YIDi5qeWekIj2RHwQh2dqH0aE5kIopvieVJ7Yr4a3b9z6+fDXjq7Nnjh+fmvA9Lz3WU6fyO7/OAMDE2OhrLz9389a96zduD5QK58+dKRUOL8YeYzw3sAW2sjAcnH9DTVxAFChVe3oEuUGSSEHe1itgIvQyOw3YUFFB4cn+Y4GXczDAnVLnSGxDYBCFEfTyHIWsfCRs3ZydGzMWozoGhcy5F9XIMUBCpeIjshFJMDMCMliUGVOroomIduR1HL7dScOiLI0G597wjz3XQDvaFnUjEusI2FK2hJkCR1WQPgoFgE2/48iC2QKqjBw4hUKCtSAUsGkjRY5FqgFlRuZGQKhG8q+Ft3eoR+cjRXEkuPCGN3kRiFCoHVSebA0woJehIG/DCuoIlZcwJ4Kj4HdSN5mCGj4jCsNsTBy9cZvlwUQAQKVxVFnWmkkdXuIvNsYKAkSYX1j8ix/8zbXrt1549qlvfPW18dFhSPHzqVP5HccryE2M/Ve+UMwXPrl20xg7Pj4+MtQHANV6JOjwVlaYASUVRpSfk47Xq3lONTnnkQCQTZ1NBCoDnZVrGRiABAZ9QigxeAYdS+5ODnYEhwoUCrwic0zwvktLxTID5fvpxLPKhB0q1Y61H8nWy6a8BZm8Cyo7RSoMiKCy1DflFcc78AonwhAGAKEYCTusihzxP8isGDxDhTEiAcLbVZ+IOdDYGPSyIDxwabCOIYtQVBpV2aIyOvY6vGvlgC71x9Jv2KCde5gZLAApyg2hCgCpzWUmnYrVYA2oDGSKzAz7ysYc9L4TIgTESOvZB/OXP7lutHn5hWdefek5JWWKn0+dyu8cY+++LRbyzz39RBjqt3/7wZXrt1fXN87ABIBTHhWHMD5jBgBGBOmD8DDbt7+CFTaKLig9sBYYWhwk2OAKEwqzQ5gdbLkB7igT0jjmWhmYxs819U6kh0JCUIS9sc6ISEZjFDISehk23Ji2uSoLjEASgj7MFLvUujFuCkSkRkaLW3/aRTwMIDNUGI95f3FPsn10fP7CBVjJLTR51QhUFmQGuz6j1rAxgISiaXncYXmUCvLDyENABDtilFaZioFjsRfYEUEeKn4/FiSk5O1ybWFpeXp2LpcNxseGT52YVFIm2uvSsz11Kr8zvxIDoIgK+dyFsyeff+bijTv333rnPc9T58+cKOYDY7geRoe0aI8gZPtRi53kFcFRrIPDKHdAhrKj2Gol/feUw0oqOO4BF0cAki2Kxn34QZVP2RwwsGFXtO+sOCIzTTnGHc0AbfttvsG2Yx+B+xkBSkFn6bB2u+05T/M6raAZGnbuVujN8tyz5TGB4T+klXprOfAJgBYWV3/0k19dv3n7wrlTzz19YWR40MUo6Zmegh9/f51gADA6Mvgf/b3vPvvk+b/52Zv/z3/9p7NzCwggBUbaMPPhvN3wDjSfy9E3vodEPYAbX/tM1XZqY+IbbFZyABOnYZdV7Y/wcOxZLgW1j8xxwnthcpu79tvoXOjy51vOCPeqVvUgPp/YJHb62ml57tXyOzfYwDwmU5qHt/fLGBcbwr3p2R/+9c+v37j19JPnXn3p2b5SwSlsOmml9GRPI5XfVyeYlGdOHXv5+ad+9su3L1+9/sHHn/QVcv19Jd+TRGTtoewE4/0u1B2R5I9kqi7Ai56nalSq9y/ctrCT3TcI3Rame54Ku7bePX6WP8hQR98LfFmpRZ9cvfHzN9/WOrp44czF86f7SkUA0Nqk+PnUqfy+acHcN6dOHPv2N7/84aWr731wGRm++PpLI8P9wFCJosN5zXmEp8zvfyrspeDc1VU8NCvDo5nt8bT8AUw2WGujSOcCDwBmHyz8yb/+01t37v/h19/43re/PjE+6n4s5fhKncrvPV5BtJa10QP9fd/6+hczQeZvfvbraq1+/Njk6HD/ERNePXhN4Q+T7MOeX38kfzQdv2NVR2ulIPQ9bczq6vp7H166euN2X7HwtS+9duHcaQCoR5EnZTPLnY60pvL7kvEhQgREzGS841PjT144k88HC4tLN2/fnVtYLldDojhRllIYH8jDxwHguVGHafvih0xGpeNxUnU0RkoKfLm0vPbjn771m/c/fvL8mT/6zjeOT02kHF+pU/ncuSbj/KyU8uTxyddefm5sdPDNt9/9wV//Ym1jK5vxfEXNSmA6DtiTTAqEAqGAdn01X0eRRiEHK0xxHQmEaIy5O/3gV+98sLC4+MZrL37ra18sFgphGFprKc16QZr++vziFSkEIFhrB/r7/vBrXwwy/r/8b//1vfuzTz5xfmpsEADixsT0MT1oDW64T6medzOPpeMAFOc5jkLsdrm6tLJ2/ead9c2N4cG+i+fPTIwPE1EURejyD6m9UqfyeRb9mMNIZ3xvbHT4lReeOX/25K0702++/dvBvsKJ45P5fGAth4cWuXIogxQGMGAsO0zifoWSmEA+jVcOBB2EYZv1JYB3f3nxP/zNLz+89MmxidEXn3vy+NS4y1S7T2j6XqZO5fP3K0rGKPrJ8dF/+l/8wx/8+Be/+vW7q6vr/+Q//YenTkwIgWVtPIXkGD3S8ZjGJ8TABCBAQ7itK+s2qjl6sXZeLEcMwyg98grg5UFmOE782vREgsdatCGmyZmenfurH/60XC7/s3/6n3zp9Zf6+4rGWCJMO75Sp/K4tBMJIRocxurVF58LQ/3x5esffHz1w0vXSsVcqVTwPCkOLXLlsJ08EFXNxnS4cF2XlwGJZDtnFxKbkK2R+WE1cpFUtpECS9/ZxzfxZaz1PRVkZC2Mbt6+/8u3fhOG9acunn3xuaeGhwYBoF4PlafSakrqVB5X5Mrxya988ZVLV25+8NEVKenVl54bHCgCQDUyKUD38U2OECIgGGPq2/XlO5Xbv4hW7qIQ5DmSeW5qLNpwm3XkjV6k/IgYOM0k2Jj0bX1sG2qMZYdKQYCZB4v/3b/+05u37n7tS6/+0be/PjEWo1KkTGOU1Kk8lo+vtdYY299X+sZXXg98/1fvfFCrhxMTY47DOB0Hwr1YHZrKerQ+Ey7fRKnIy7c5FVK2usG6TpmijWqNBrA0rfnYIudBCZKBD8zLq+sffHTl8pXrhXzu61967amL5wEgjLSSQgiRmgvSluLHjsPYleIRstng7KkTTz953vPV9IO5O3enV9e3anXt+kr4yOizHuCI00nBC4Ukd30JFBKFhFhjI3Unj+8lj5m1NlKQr8Tq2tbPf/Xu+x9eOXvqxB9+/Usnjk01UcyprdJI5XHnMGYG3/fOnDr+6kvPXr5y49e/eT8Mo6996fXx0X4GKFeMEGmP8eP8RhIKRSogL4dC7kx/kQRrmBSqACi93j7GIqXMgkh4RITVWv2TG7d//ZsPNje3v/yFl15/9flSqRCGkZQidSqpUzkAyBVEsJYHB/q++wdf6S8V/u//6k9v350+cXxyfLQfAbTWaXvx4w+nZ2uZDTAym5ZTAWy90plbPh2PT+LLKF8JQduV2o1bdz/46PLq2vrk+OgzT50/PjWulIwiHaNS0s8ipOmvxz5eCaOIiMZHh1958dknzp+OougHP/rZL9/+oFKL+orZjC+1Nil/y2PvWvb9ShNfj7FHcf3BUhBbe+fe7C/eevfG7bsnjo+/+vKzJ45PKiVbqJTUo6RO5UD4FU/FQdvY6PD/7D//H/2d737jr3/65n/9L//k7v0ZACCEehhaa9NLUjrS8btIfCGhFFgLzYP5lY8uX/3g4yvM/OUvvPyFV54vFnJO7ihtxYQ0/XWwNFeMsfWwng2CC+dOZ7PZn/3y7Vt3p//8L38chV9+6omzg335yKRI+8e5Wt8uWtUmaYUtRax0PJbDk4QAM/fnf/HWbz669EmxkHvu6Seef+ai00oJo0hJmX7u0kjlwPkV9D3ffT8+Nvxf/vN/8g++961//4O//j/+X/7k/uwCACiBtXrdpIjIx9KjIIpOrV+JLxRdxL7S8XkkvhDAWjYGanX9ydUbP/rJLxaXlr/51S9855tfLhUL8eVXpB4ljVQOqvAwWmtrtTCbzTz39BP5bPDb9y/dvjv9/R/9/A+++trZ0yf6SwVtbBQZojQT9vgMyya09W1TXUehwBq2ie4vIU11k3XdhttgotRYjxe7l7G5rJcBsbSy8dZv3v/Vr98lxKcvnnvjlecHB/oBoFYPPSVT8fk0Ujng9RVfue+PH5v4L//5P/n2N770/R/99P/6//jvZxeWCcGTVA/DlMHlcRLxYmDDJmRdZ11nHVrT+mLdeN1EKeTocQtTtNbuU3Tz9t1/8z/8+eWr17/zB1/5h3/vuwP9Mfo49ShppHJImoyttY7J+OUXnhaCbty+c+3Gnb/52a+/9sZLx49NFgs5tjZM45XH5C0TnsiPeGNPkV8AIUhlOVatd4kxYcMymEgNn6dMCRiAU+Kvx4Ddy9hs4GUzslKL3v3g4x/+zS+q1eoT509//UuvjY0OAUC1WvN9L/UoB+/zmLbJ7jW0sVIQAGxXKm+98/5Pf/HOvekHT144+z/5R388PjrIzOubVc9TUorUhp+n0jBrisq2smLKSxxVABFQAnBCZQXBagBGlafiOAaDIH0n/pQ2GX8+7xmi1rpWDwf78gBw+dqd/+1/9V8vLi3/F//jv//lL7xy7vQJ50iMtYQp0jGNVOCQadpbrU0+m/3W174oSPy//vs/u/TJjV/++r0vvvbcxNhIsZC11obaEKbxyueawlWBKE2J/uNxHX5HHMIct34ZY42JGRTSij18XuUvtsZ4nsoFntbm0ifX//JHP19cXD5z6vh3vvmVqYkxAChXqhnfTzXnD+gQ/+Jf/IvUCnvlwdx/3L0pG2R8398qV27curO5VT596kQ28AixXK0TUfoB+DwZo5CYJJMEoliDCyn+HghQuO8ZBMf/mt4APrfPlNamVq8Xsj4A3JuZ/9/9H/6bt3/7wR//3W//o3/4d0+fPOY+a4IobdxPI5VDrRRpLTOMDA9+7cuvEtH3f/yz37z/8eDgwGsvPjU5PlYsZI2xURqvwOeIpEdmC9rswcLSSHMhYiz7mGa9PqeyvDG+p/JZz1h79fqtH//sndt3p08cm/h7f/tbp08eczFKkPFTBuLUqRzmS3Azk4KIg/19zz9zcW1947cfXPr+D3+yvLz8x3/3u4P9RRJYrkSeUlJSWl/5/IiKsYfqe1pH+VxjlFo9H3gAMLew/C//b//mxq173/2DL/+d737z2OS4+zHf99KbGaTpryOQBAPnKoiwkM8VCjljzMLScrlcU0rlc0Ehn8v4ChC1No7vLrXb5yQwnI7HN0bJZLx81rfMn1y/9eOfvfXu+5dGhgf+8X/yD1547kkhqFZ3aeRUeivt/jo6uN/Gs14Pw8XFleu371365Mb8wvK5Myf/wR99q6+YZ+b1zYrneWk/WDrSkQz3w0jXa+HQQAEAZueX/6v/07+8Pz33t//wa2+89sL5syeDTAYArLVp9zCk6a+jFq8YawnR97xjU+Pj4yOC6P792Xc/uFwqFV578empibH+Ui7SKX4lHelI4lE4F/iFrB+G0ZVrN3/+1ns3b987MTnx3T/48skTUwBQrlYznpfWUSBF1B/NJuOWNxbi/JmTL7/wjBT47//qr//sr/5mfbMMAFJQrcFnnFosHXDUwV6mXg8JAQBu3Z393/+f/9v/95/++Rdfe+mf/8//s8mJMfczvpciHCGtqRzpeEVr65B12WxQzOfCMJyemV9aWdfGZDP+QH8pm/GQyAkKpa4lHUc5XRxkVDbjbW2XL31y469+9Ivfvv/x2MjQP/5Hf5zWUdKaSjraPjAOXYeIYRjNLyx9dOXaL9567/qtu889/cQ/+6f/6dBAEQCW17Yyvu/EhVKjpeNofUCYAcBazmc9APj5W+/91//Nn6yubvz9P/qDr77xyoVzp3PZwNVR0osXpDWVdLjPgDWWCDxPHT82MTjYH0V6bn7hk+u3/+wvf/zFV5994vzZof6CsVCthyKFcaXjiMUoROQp0oaXVtdv3bn/o5+8ubi0eubk1N//3rdOHpsEgEql6vtpHSWNVNKxRz8YACytrF67cfeHP/nlm2+9e/HCmf/N/+qfjY8MAMDy6paf8ZRMnXc6Dj+pl2U2xgohhCRPYD0yP/zxL/7Nn/55tRZ+7ztfe/XFZ5564pyUAgCMMSlmPo1U0tGpH8xYACai4cGB4cGBKAqv37x96870//fPf/DGK889+cTZoYGCZajVoybpSzrScSiVUSyzECSllAJqobkzu3j1xq033353Y3PrmScv/PHf+XZ/XxEAyuWKn/FlGqOkkUo69opXkp5iY3Pr9t3pv/rhz/7d9/9mfGzkX/yv/5fPP30eANY3K1IKIpEmkNNxKJEo2rDR2vc9XxEDPJhf/vFPf/Xjn/xSCPr2N7704nNPXTh3yv1wGqOkkUo6eqivWMvMxphSsfDCs0+y5Xfe/WhuYekvfvATY6IzJ48XSwUCqEfMbC1zCrpPx6FColiWQgSZDAGUq7Xbd2c/vnzto0ufWGuee+bCH333G/lcFtI6ShqppOOhYn/HEeJ8RaVS/eTarV/95oM/+4sflUr5/8U//c+++ZXXAKAesTE6TjoTpnZPxyEYWptIR/lsoCRZho+vXP/JL3790aWrpWLh61957dknL5w8PpnGGyXUDwAAIJNJREFUKGmkko5PyTuptanX67lc9qUXnp6YGP3w4yu37s68895HhWJhfHiw1Fcq5jIAEOqU1TgdcAiUUYA5yHh58gBgeWXtk+t3P7z0yZ2709ls5vlnL/7h17+Y8X1gqNRrKWY+jVTS8SlTAdZa9+Gx1l6+evPSJzd+/dsPwyh6+dmnvvKl186dPgYAkbHb5ZpyNc10pOPAystrbfpLOQAINf/lD/7657/6zebW9umTx7742gsXzp0eHx2OYxRr0ytUGqmk41OWWIQQxphaPcxlg2eePH/+7Mm19Y3fvH/p8tUblnlufun82eNjI0P9xWyzKyz9sKXjwDXTCyECXwJAtVa/c2/60tXb739waXu7PDE28soLz3z5jVcEETPX65HnSZGysKSRSjo+c7zCTS3I6dm5K9duvfnrd2/euZ8Lgm985fV/8He+63sCANY3K0KQEDL1LOk4KEgUrQ0RCiEyngCADy5d+5N/9f+5euP2E2dPf+HVF5568vzxybH+vpL7lRQzn0Yq6XhU8QoaY8MwzGT8Y5PjE+OjtXp9c3t7aWnltx9cAhRPPXH61ImpUjGHAJFhY6y1nH760vFYd3kxKykyvkSArXJtfmFxembhzbd/e/f+g0I++8yT57/yxitTk2Ou3KIjLaVImSLTSCUdj5gBqfmhWl5Zm3kwf/3mnTd//d6Hl66dOjH1P/3P/+GXXnsBACLNkW50hQlM35B0wGPa5aVz2YwnCQBu3Xvw/R/+9Id//Utm+9Uvv/rlL7w0OT46MjToeaoRo6SXpDRSScejjlecvr3WRik5NNg/NNh/bHK8XKnevT87M7fw1z97Kwz18WMTw4MDpUIArissMkhI6WcxHY/Z9SgbeIQeAMwvrdy8PX395p3LV2/UatUnzp/+zje//PTFc9DoG2YGIYgofYbTSCUdvzNK46aTMMYsLK48mF946zcf/OzNd3RkvvTGK3/rW1998sJp1xW2tV1VSqZcYel4rLq8jLF9xSwA1CPzb//dD37yi7fLlcqJ41OvvvjMudMnTp88lsn4e9HipSONVNLxqOOVWP/OACARToyPTIyPDA72P5hf+OjS9es3b+dzwcLyyoUzJybGRgZKOQao1jU02PVTG6bjc4pOwBXkA18ywPZ25c696UvXbr/7/qXtcnlkaOD1l5/9o+98w/18tVqTUkop0rJ8OtJI5ffIEpZwEpHWd+5O37h9770PL9+8fQ+JvvLGq//xH/9R4CsA2NiuIqAQlCKQ0/G5DGOsMUYIUkq6Isqbb7//J//qf7hzb+bZpy+88eoLF86empoaHxroh7TLKx1ppPI5soQxszYminQ2yJw/e+r82VO+75XLlXszD97/6IpS6qkLp08enywU+5QACxBF1hiTflzT8fu8+gBAJqMEKgDYKtdmZtfuTc/8/Fe/mXmwUCrmn3vmiW9+9Y2hwX7nS6JISylStHw60kjlcUGxrK1vPphbuH777s9/9dt33v1wfHT4H/+j/+hvfesr7l9rdV2rh0IIl1hIrZeO3/WTaawBAMcnBAA3785+/4c//ckv3kLEr37x1TdefX5ibGRkeKhJBpHGKOlII5XHBcWijZZC9vcV+/uKJ05MVSq1Gzdvr65tfPDxJ9lsdqCvNDjYPzk2lPElAITaGmM5LbSkA35XLF5CkOdJgcoAbGxV5hcXZx8sTc88uHP3vjH64vkz3/v2106fPObahbU2ACxEikRJRxqpPDbExsy2+YFkhoWl5emZB9du3v3k2u2FpeV8LvelN17+O9/5hqcEAFRDo6PIlfrTVEM6HnV/lzHG+L5yJT0A+PW7H/3FX/3N1Zt3BvtKF5848+QTZ08cmzh94phSsmONMB3pSCOVz5/YGJFifRW2iDQ2MjQ2MvTkhXPAP1pZW11eXf3tex/VqvUzJyfHxkb6+wf6CgEAWIZ6aJJM++lIx2cpnxBRIRefA/NLaw/mF+fmFj6+fPXWnfvWmNGRwVdffPaN115wP1Cp1ZSUUqTJ2HSkkcoB6QoDgLn5pZkH89du3nnz1+/+9oPLuWzwvW9//e/+7W85hmMA2CrXGVhQ2huWDvgs/V3WWgAWQmYz0ikCff/Hv/z+j3566/a9YjH3wtNPPv/sxZPHp8bHhouFfMo3nI40Ujl4XWE6MkHgj48Nj48NT46Pbmxs3bh1b3Nr++r128Xir+9NP5iaGBkbHcnnc5LS3rB0fPb+LgCAze3a/ZmlB/ML92bmP7l6c3llVSl55uTxr3/ltVdfeq4J2jXGSilSvuF0pJHKQeUKq4fR4uLy7NzC3MLSR5evXb1+u1yuPnnx7N/+9je+8OoLkgAAqnVdr4dCijQdkY5P3d91d3r+3//Vj//sr360uVV+8dmLr7/y/JlTx8dGhibGR50McIqTT0caqRxgrjBmNtYys5Ly2NT4salxACjks+vrmzdv37t7b+bnb76zur4+OTE2MTY6MTLgNC3qkbXWMrtSTfrJT0cHuWtmFkJ4Hrn+rs1ydX5haXZ24e79mUtXb2xtVwq54Inzp7/51S8cn5pwvxhFGoBJiDTllY40UjlUVZa19c25+cXZB/MfXb7+/sefrK5vHD8++Z1vfOWPvvN1B3ep1LTWGgCQUJBIufzS0RadMFtjjLUZz3Md6gDwmw+u/MUP/uajS9c8Jc6dOfnc0xemJsYmxkZGR4czvpf0RmlLSDrSSOWQVFkcVYaUwmFZnnzi7NDQwHa5/OHla2ura++8+2GlUj11Ynx8bHSgf6CYzzQIYFgb45IV6VmQ1k6IyJPk4PHMMLe4trC0PPtg/tKV67du3zdaD48Pvf7Kc9/79tebjiRyzeuCBBFA+gilI41UDmmVBQAqleqD+cWFxeXbd6d/9c77v3n/Uj6f/fvf+8O/970/PDE56n4m1LZeD61lInLsYaklj9qwrlHdMiAoKX3PleShWtM/+flbP/7pm9du3s7lsi888+TzzzwxNTk6MTY6ONC32yGll5J0pJHK4ayyWGuNsQCQzQZnT584e/rEmZPHNza3rt24U6nVbt+d/uVbv70+PFgq5AcH+wf6+/uLcX01MmCMsdYCphotRyU0QUSllBRxiFGP7IP5lbX19ZXVjZnZuZu37iwtrSgpT5+Y/OoXX33jteeh0SscRVoKEmnTRzrSSOVInRdxOBJF8wtLs3OLK6trt+7cv3Tl+p17s4VC/o3XX/rON7/yzMUzDafC9XrosAXusEjPi0Mc1DabNXzfVw3WheXVzbd/88GPfvrmux9cQuBnnjr/0vNPnz11YnRkcGJstFDIJeOb9AlJRxqpHKEqi/vYu94wKeXxqQnXpfPr37y/sLB0f/rBxubmjZt3Mr53597M8GBpYKB/oL9veKDkflfbJt4tzWwcyuhEukZzBqhUw9mV1dW19cWllfn5pXvTs3PzC1pHQ4N9T5w//fWvvHbq+LFmfxczuzRpmilNRxqppCELAMDm1tbc/NLC4vLM/MKdu9OXrty8c3cml89+8fWX/tYffu31l56J8xsAYT1uEiMiJEoTYocAdGLZAgMRBYFq+oSbd2feeue9N99+79qNO0qI82dPPvPkuZPHpwb6S6MjQyPDgxnfT/u70pFGKuloffKdlKQxVghRLBSKhcKFc6er9dpbb7+3vr41N7dYrVbv3Z95863fzszOjwwPDg309ff3Dw/1O1yLBdDaZUvSkuzBu1U4smoi8jxyJXhtYXOzsrK2tryytri4PP1g7u69meXlVYE4ONB38fzpb371jbOnTzTnSfu70pFGKuno3hsGAC7jsbq2ubiycufu9AcffXL1xh3lqS+8/PwffvOrr7/yfCHnNzuP66FmNq4hgBy8LXUtj7e+LwNba9kyIkopggbopFrXlz+5/uvfvP/bDy49eLCQzQbnz5y8eOHMyWMTfX3FwYG+4eHBwPfT/q50pJFKOrr3hjkQPjBIKQb6+wb6497Qdz/4eH1jc3p2rlytzTyYf+e3HywsLo2NDg8PDw70Ffv7StmsT6CafWKuXrM7KkrH5+ZIGvkp93ZIQSRQNN6WemSXVjdXVtdXVlbnFpbuTc/cuTe9sbnpe2pibPi5Z5742pdenRwfbc4WRhE0ZOfTNzcdaaSSji4kHLvdwObW9sLi8vLK2vrm1p079z+6fP3qzTuI8PRTT3z5Cy+/9MIzp49PNH9BWwjDyBjDAI2ghVJk/uPR0MUAKARJKZVsvcdrW5X3Prj01tvvXb5yfWNzq7+/dO7M8fNnTx2bHO/vKw0N9A0O9DflT+IJU5G3dKSRSjp6kWZxafEGIYe1bAVRsZAvFvLnzpwEgKvXbtXq9YWl5dX1jbn5hcufXA+j6O7dmVwum/G9UrFQKhZKpbzDXQOABTANZH7jEErPot9fIwYAOOyqbGQ3LUClEi4tb21tbW9sbpWr1fX1zTv3pu9Nz25vl7PZ4OTxyVdfeu71V54f6CslohMNwIQU6ySkJk5HGqmk41NRB8KOIKNSqS0uLy+vrK2sbty6c//B/OLG1vbWVllrPdjf/9TFcy89/9RTT17IeC1NyVBzvR5aa5FQNEsu6bn0u1QC5cZARCmlp0TzbQy1nZ6Z++TarXc/uPTx5avblcrI0ODU5NjI0MDE6PDU1PjQQN/gYH9/qZgss6W1k3SkkUo6HkHUghgfUsZah2jLZjMnj0+dPD4FADdu3X33gys379wLa+HGxmYYhkhQrlSu3743ONDXXyrlc9liMV8qFZtVfQYwFqxlY8xeDWnp+HTFklbJRLZg8M6pr6xtbG2VN7e2N7e2F5eWl1fWFhZX7tyb3tjcIqK+Yv7c6RPPPHX+4rkzuVzQ9CKOWhiJRKrhlo40UknH76JlaAcffq0erm9sbm+XNza3p2cePJhfnFtcvntv5t7MHFs+eWLq4vkzF8+ffvbpi2dOTjZ/yzJE2kZas7UADdoXjOdOD6+HLZa4twaALTMACCE8JZVomXF1o3z5k2sffvzJlWu3Zmbnq7VaIZ+dmhg9PjUxOT46Mjw0OjzQ318qFQtJ1ZM0OklHGqmk43fdIRZD8a211jIRZnxvbGQIRoYA4Jmnzt+7P3P56i1mu76xtbG5tba+fu/+TK1em19amRwb7e8rFIvFfC5bLBTy+Vw+8JLXbWvBWrYJgpA0gunYQ9H83vU/CEFEQO2xy8ZmZWu7vLm1tblVXl1dX1ldm1tYnHkwt7C0VK/X89lgfHT44vnTLz739LNPXQiCTNKLaG0AoAFpTS2fjjRSScfnIdMCscRkuLGxtb65tbGxtbVdfjC/sLC48mB+8dad+/dn5jKe99wzF198/ukL586cPX1iYnRgRxon0qy11sZAg2w/Gb0c5QNuZ0RiHa4IlVJKCYE73c/lq7c+unz1k2u3bty++2B+0Vfq+NT4yeNT4+PDI4ODIyMDhVyuWMz3FQuFhmJ8Gp2kI41U0vFYEIg1jzohhO95I8ODI8OD7l/XNzY+uXb7yrVblWp1cWk5CqPFxeVPrt1cXlm/d3/21InJYjHv7sP5XC6bDYIgE2S8bKNtrGsEc/iOvh3Xsv0jEocv2dwsV6q1arW6Xa5Yy1rr9fWNW3fv37k3vbC4vLW1rZQY6C+dOXXsxeeefuri2WOT4zv+ojGGGZCQ0gaKdKSRSjoeTw4xSABc1je3Nje31je2trfLs3Pzd+7Nzswu1OthLp/NBhmlVKlUOHF86sSxyanJ8cnxkcCTe0cwDrLfaHxu71A+oKdhM6/ViENa/9k/IgGA5bWte/dnpmfm7s8+uDf9YHV1PQxDQPCU6u8rHZscnRofGx0ZyuezrtW7r1SUUuzjyVKPko7UqaTjsUvRWP7/t3fuv21c2R2/73mSw5ckW7KsJLvxNltgC7Q/9P//uUBRoN2iu8kmjqy3SM4M53nf/WEkmpJsJ9m1sxvkfAyY5pjUXI6I+53vOfee44fiH7vb5QbeXFz+x3/+9x//9+ub5Uopba2TSnHBZ9PJfD6bZeMsG88mWZLEcRyFgUjiOAyDOI6iUOxOqf4+4e/9XTHEt7Gh99Sf+jtOl7vpkEfHh7DeFoKHI48/gtSubbu26/pe1m0npWzavmnq1brMiyLPi9W6WOWl7GUQ8DRNnu0vfvP5yR9+/+qr3/1mN2VyV53a2mF9BBTUAUBUgF9SmcKns5W2tsjLTVV1veq6riir88vrm9v1Ki/yYrNe53mx6aUapclnJ0cnL49eHh0ePj84Pj46en4QCfr0dNYjZ711Q990d/cFxAg/dC/vsTIffzp9usD3qQcZLtBQfwujbWiLUEooebciLvPq9fdnp+cXl1c3Z+dX3353+t33Z8aa/cXs2bO9aTaejEez2eRgb/Hi6CBN4jAMkyiaTMZJHH0wyAaCAiDIqQC/gHQLfuRdnHPeE0w4Z3uL2d5idr+22J2dX5+dX52eXbw5vzzlzDqrVqrrupvl0ntfltXp2cWfv/kuy0bTLBuP01GaBoFgjFFCgkBwzgTnQvBQiPfN8t6/9TTb+dQ/mOHvjQT+aVV2/fbh/o3DioIdGUMIDRU2EcbofT1GjENamb6XSmuttVJaa9P2vZSybfu6qVfrcp0X67woN1VZbIpyY50Rgs1nk5cvDl8ePT96fnBy/Pzli8M0TR6O0Btt7lMmZGuM4IsKgFMB0C88YYDeuYLLGNN1su26tuvbtuv6vqqbclOv8ny93qzWxboo1+t8lRddJ/cWs3/+6tWLo+dRFIZhsDebTrPxZJrNJtl8OvrAMBxCziK3XVewtQ67z3Y15e3j/bGH6rMTzXr73u1qtQcRLYIJwfSD03jT6rwo87JcrfOyqvN1mRfl1c3y9emb19+faWP2F7NnB3vTyXiSjRezyWw6WcynURQkcRzHURrHURTEURSGAfgSAJwK8KsoJrbd4zIkXYaU+1DZcDRiu51oB84vr74/vfj+zeXZxeUpZ8ZoKWXX9TfLlXPOI4QxHqVxEsVxHMZxlMRxFIZRFAjORSA440IwzpgQgnMeCM4444xRSimlhCCCP1Xrj603cs5b67TWSpt7/6Gl0toYpZTWRmvVS9W1fdvJtm3brq/bpu9l1/Zd15VVXZTl1pGcHB8eHz0/fL5/8uLws5cvtvven4r0sEmV7AgbfA8BcCrAr6LQ4QfmO2tt03Zt13dbB1PVVdMVm6osN6uirKumbtrB5VR1U9etMUYIPhol89lsOslmk2ycpfNpNplk89ksy0aTURoGQRBwxrgQjH6aydYhZLRXSmpje6natlvnRV6W63xTlJv1uig2m7zYrFf5cr3qe8UYjaIoiaM4jpIkSuJonKZpHI7Go0k2Wsxn8Y4jCcMgjsMoDH/komRQFABEBfg1dovy/u1fGCNCKKXvTkCcnl2eX1zdrtdlWS1XRbGphrVPy3XeNp33TgRBEsdJHMdxGEZhGkdRFMZxPBol2WjEGffOeuQp5ZRRRiljhFFGKCUED7vI76rwYkIwZowyxjDGQ3NMN/S1cnfbZobKAkOBAWutsdYYZ601xhijCaGMUSXVMi/KTdW2fS9lc7erpK+qpm5q73ySxNlkPJtkk0m2mGWTLNubT2eT8cH+4vjF4aO6KWino8lQLHK3xA34EgBEBQDQ06/NB2ZGbUzX9Q9CSVKp++BS2/Vt3zV117Rd07RN1zdtV9VNVdfee8aE1ibPi6ZpjHXeOTMIgLWEECFEEIhAcM4YF5xSJjhPk2g8GlFCBinQ2iijlVLaGKW0VkYpLZUy1mCEKGN8aFSCMCE4G48O9mcBF73Uzvtxmo5GcZrGcRgkSZTEcZLGcRCGYcA545wLwYXgw7oDwXkYBO/MkTwqxQa2BECQUwGAD8+F73QwCCNKKGeMP6ks8oiiKNf5Zp0XxaZarctVnt+u1n0vnUN9L72zjGKltDFWaa3u2scg55zRBntnjFFaE0IooVpJpRTBuOtl30vrnHXOGmOdNcZa46yzCHlCMMVECB4IEQSCUsIYn2TpfJYlUYwwEUIsZtP5fLKYZZPxaDrN5tOpEPwHL47W2r3HkYCEAOBUAOBTOZin0aFhYa5SWmklpbLOee+tdUppa81d5Mpvg1fOGmuG0NUgGNYaY9021DU0JqGUcc4IYZwSShmljDJGCWWUDAXi76rEI4wJ5ywMxNBwlxASCHHvRRjn4n3xPXAkAACiAvysOZgHjwghf/dnmG6HjYR/44msdcYYpZSUqlfKWkspvd8TM0Sn6N/+WYYszbDP5cHmFox2TQn83gEQFQD4WR3MbnWWjzsL39db9ENNk79drt4hk++pKwOGBABAVIB/mDoxD+uibK3M1ti8/fd2S/wj3j+r7+6Z3D7ubJq8f9fwMx+pxG7hGJANAABRAX7RhuYdFVbebtL8a2b5HfV6tBX/p6xMAAAARAX4lUjR2wqZTzfhgzwAAIgKAAAA8IuAwCUAAAAAQFQAAAAAEBUAAAAARAUAAAAAQFQAAAAAEBUAAAAARAUAAAAAUQEAAAAAEBUAAAAARAUAAAAAUQEAAAAAEBUAAADgH1ZU7nuQA+g9fdp/3IvvrySMDQAA9OusUuwR8u5uahr6FX30OuLO+betMn72UuXbq7E96XDkB8fw6MpsO8t+oHXg9mT4gy/+wbH94Oh+hrEBAABA6XsAAADgI8N+SsjLPW33vdus298HxXbvbe/vfN8evG+g9BPa6z3sCn73qu0t9a5henQ7//Tsjw6+75zOOYQx+Ye8Qx9GD+4BAIBfqlPZVY666dqud84HAU/jiHP2EUfjEeo66ZxjjGKMnXMY40DwjzWB7mjJO7DWSaUwwkEoBjlxzkulvPeBEJSSd6rdMDZrXdv1vVTOOUoJoywIeCD4IMP+rgnh9kRWKt33SmntEQoFT+JICP7oUj+KCmpjkPeMM0rIcMRY672nlDBK/45jAwAA+GlOZTs99VK/fnN1en6tjd6fTb44ebG/N8EYP008DHrwVAyce4fd2SKlOj276qWaT7NA8LaXnJHFfBIIgX44GeM8QgQRjBHCd57l0QC8cwghjMk7P51U6vp27T3am09HaYQQ6qW8vF5575/tL9Ik3H3xdsHC8LTt+q+/Pbu8vnXex1E4HiX7i9nB3jQMxKPEjLW23LTXy/XN7brYVM75g73Zq98cL2aTRz9/96mxttzU2pgkCkdpTCmVSudFZZ0dj5JxGj/+pJ9+bAAAAH99+MtY23VylW+KsrLWIo+arj89v5JKHezPAsERQkrpXiqMcRyH9F45rLVSG60NZzSOwkFRlNbOOowxpRRjrI0dglLrfHN+tbTOpXEUBNw5ZyxyzmttpNLe+zAUnLFh0rTOKqWV0pzzJA4Jwat8U5SNc240ihfTMWPMOd9Laa1jjEZhQO7v8duut9YKzoXgD4JcHlV12/Vqf28yThMp9e2qQB7NpxlC4ZNgHdreuyut82JTVs14lARCCM4ZJVv5xBgjfOcIldK3q3yVl977IBDeIyEYweTHpOibpru5zRez7PjoAGN0cb3sevnl5y/Gafxo0v/ZxgYAAPBjRcV7hLzDhGCMm6b/5vVZuWnSOPqX33/JBc3L6ptvz/JNFcdhMMsQQqt8c3G9ZJScHD+fjFOEkPO+atqbZbGpmmycfv7yOaNUab1alb2UnLEkjSkhddsppZ3zq7zcbOowCrjgozThjBljlTJFV63zjUdoPhvPpxPBmXOuabqrm/W62Ewn4y8/P0IYX14v//TNm17qk+NnaRyljDVdf3F52/YyG8XHhwdDsK7tuu/eXHVdP5uO9+fTJA4RpQihQPCDvVmv9Dffnp1f3nz5xTHnTGszKN/2mrxzZZp1jjF6sD/73RcvZ9MxpZRgzO5jg7tTfCfVzSrXxr76/EU2TjHGlBLB+fC/j7I428wQozQbp1Xd/uX1+TIv9xZT5/3tKm/b/ouTw+Flznuy480+9dgAAAB+slMZwugYoV6qi6tbqfSL53svX+wjhNIkKorKI08IkUrdLovL65W21jF6dnHTdXI0iq1117f5Mi+d9ULIq9ucUVJVTVW3yPs4DhHB1tp1UVnrojBQSkutCSPGWIQRIbhq2uKi1towTr33p2fXdd2/PDpgjFZNt6kabUzX9edXS+dcuWm0NkqprpNt2xOCb5b57bpAHjFKVuuSC+acLzd120mtdFW3YRAEgaCUIoQopXFMJ1mKCb68Xhnr5tPxKI3HaRIEfOsDhv0b3vnBQhCCvUdSqmHMd7E46xxGmGCCiUfeOe+9Y5QRgrU2ddMNwTpGqbHWGMPog7SI9946hxCihAwnJQQHgmejJInDctP88U/fBoEQgo/TOI7CBxG+Tzw2AACAv1pU3ibxvXfGWIxwEt9NYVEQ/NNvTzDBaRyty80fv35ttH31xTGl5C+vzy8ul59/dhgIsc4rY+ximnHBLq6WZVlbawPB0yTCGBtjm6YrNzVnbJqN4ih0zjd1t6mbcR33vTy/un1zfpMm8VevTpzz//f193nRLKZZlqVSasbo4WThnDs9u5ZShWHw8uiglypNYql0t5LLVWGtzUap4Px2lW/qViodCDGdjOg4kVJ3vbTW7X7mNIkOn82run19etn18t/+8OpgbxYIPsSgCMHOO2Od0XYIS3FGrfNdL8uq2dSNVHo2GQeCZ+N0McvCMHDOaWO882GIBWHee+/94DlOz6/ruh2l8ZdfHO/NJ1snZJ3re4kQCsOAUboNVQ2v/PO3b/7rf75O4uirV5+dHD1Lk2jIVGFC/Ccdm/OYgFkBAOBj5FQQQoQQSvEQevLeE0Jm0/Fd2KSXVzfrOAqycUoJqeq23DSz+XicJF0vOaPZKHXIbaqby6slZWQ+y8YkGfyB0loqzRgLAh7pAGGslOp72fey7WVZ1jfLnGCSxrFzrm37uumU1hgj5xznfD7N6rbNy7ptu5PjZ4tpprRBGFlrm7Zr255xEscho2xdlFc3666Xe4vZ0eFeHAarfGOsHbZbbi1CIPh8mkXhzevNZRSJOAqjMBjWUG3DP845Y613frBT1jqtbd+rdV71Um3qJo1j5/14FAvBrXVaG++RcG57JZXS1zdrZXReVPuL6dGzPTRHu4sOtDEIIeE4urcJ3vsg4M+fzc+ubs6vlqM0/vd//f0kS+8WQA+rEz7l2GD1FwAAP8j/AxFAfpnDDsdZAAAAAElFTkSuQmCC&quot;,&quot;textAlign&quot;:&quot;left&quot;,&quot;title&quot;:&quot;Affected die map detail&quot;,&quot;type&quot;:&quot;image&quot;,&quot;weight&quot;:1.25,&quot;z&quot;:11}],&quot;layoutPreset&quot;:&quot;investigation&quot;,&quot;mode&quot;:&quot;smart&quot;,&quot;nextId&quot;:13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