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0124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by week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W1</c:v>
                </c:pt>
                <c:pt idx="2">
                  <c:v>W2</c:v>
                </c:pt>
                <c:pt idx="3">
                  <c:v>W2</c:v>
                </c:pt>
                <c:pt idx="4">
                  <c:v>W3</c:v>
                </c:pt>
                <c:pt idx="5">
                  <c:v>W3</c:v>
                </c:pt>
                <c:pt idx="6">
                  <c:v>W4</c:v>
                </c:pt>
                <c:pt idx="7">
                  <c:v>W4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8.2</c:v>
                </c:pt>
                <c:pt idx="2">
                  <c:v>8.1</c:v>
                </c:pt>
                <c:pt idx="3">
                  <c:v>8.7</c:v>
                </c:pt>
                <c:pt idx="4">
                  <c:v>8.4</c:v>
                </c:pt>
                <c:pt idx="5">
                  <c:v>9.4</c:v>
                </c:pt>
                <c:pt idx="6">
                  <c:v>8.5</c:v>
                </c:pt>
                <c:pt idx="7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Outcome distribution by cohort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Outcome distribution by cohort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Control</c:v>
                </c:pt>
                <c:pt idx="1">
                  <c:v>Control</c:v>
                </c:pt>
                <c:pt idx="2">
                  <c:v>Control</c:v>
                </c:pt>
                <c:pt idx="3">
                  <c:v>Control</c:v>
                </c:pt>
                <c:pt idx="4">
                  <c:v>Treatment</c:v>
                </c:pt>
                <c:pt idx="5">
                  <c:v>Treatment</c:v>
                </c:pt>
                <c:pt idx="6">
                  <c:v>Treatment</c:v>
                </c:pt>
                <c:pt idx="7">
                  <c:v>Treatment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  <c:pt idx="4">
                  <c:v>8.2</c:v>
                </c:pt>
                <c:pt idx="5">
                  <c:v>8.7</c:v>
                </c:pt>
                <c:pt idx="6">
                  <c:v>9.4</c:v>
                </c:pt>
                <c:pt idx="7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105886" y="302530"/>
            <a:ext cx="8012835" cy="91485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8224607" y="487679"/>
            <a:ext cx="3770745" cy="54455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Hypothesis and context</a:t>
            </a:r>
          </a:p>
          <a:p>
            <a:pPr>
              <a:defRPr sz="1000"/>
            </a:pPr>
            <a: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900.4800000000001,&quot;y&quot;:200.46,&quot;w&quot;:685.52,&quot;h&quot;:205.0}"/>
          <p:cNvSpPr/>
          <p:nvPr/>
        </p:nvSpPr>
        <p:spPr>
          <a:xfrm>
            <a:off x="6810577" y="1516134"/>
            <a:ext cx="5184775" cy="155047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Treatment conversion</a:t>
            </a:r>
          </a:p>
          <a:p>
            <a:pPr>
              <a:defRPr b="1" sz="2400"/>
            </a:pPr>
            <a:r>
              <a:t>9.8%</a:t>
            </a:r>
          </a:p>
        </p:txBody>
      </p:sp>
      <p:sp>
        <p:nvSpPr>
          <p:cNvPr id="5" name="VIZ::Treatment conversion · Week 1 to 4 KPI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14.0,&quot;y&quot;:194.96,&quot;w&quot;:872.4800000000001,&quot;h&quot;:216.0}"/>
          <p:cNvSpPr/>
          <p:nvPr/>
        </p:nvSpPr>
        <p:spPr>
          <a:xfrm>
            <a:off x="105886" y="1474536"/>
            <a:ext cx="6598805" cy="163366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Treatment conversion · Week 1 to 4</a:t>
            </a:r>
          </a:p>
          <a:p>
            <a:pPr>
              <a:defRPr b="1" sz="2400"/>
            </a:pPr>
            <a:r>
              <a:t>8.2 → 9.8</a:t>
            </a:r>
          </a:p>
          <a:p>
            <a:pPr>
              <a:defRPr sz="900"/>
            </a:pPr>
            <a:r>
              <a:t>%</a:t>
            </a:r>
          </a:p>
        </p:txBody>
      </p:sp>
      <p:graphicFrame>
        <p:nvGraphicFramePr>
          <p:cNvPr id="6" name="Chart 5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fqg2ic-g1qa1f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x&quot;:811.6593939393938,&quot;y&quot;:444.96000000000004,&quot;w&quot;:738.5212121212122,&quot;h&quot;:358.40000000000003}"/>
          <p:cNvGraphicFramePr>
            <a:graphicFrameLocks noGrp="1"/>
          </p:cNvGraphicFramePr>
          <p:nvPr/>
        </p:nvGraphicFramePr>
        <p:xfrm>
          <a:off x="6138803" y="3365354"/>
          <a:ext cx="5585638" cy="271067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fqg4of-o4a7ds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424.1454545454546,&quot;y&quot;:811.3600000000001,&quot;w&quot;:751.7090909090908,&quot;h&quot;:364.79999999999995}"/>
          <p:cNvGraphicFramePr>
            <a:graphicFrameLocks noGrp="1"/>
          </p:cNvGraphicFramePr>
          <p:nvPr/>
        </p:nvGraphicFramePr>
        <p:xfrm>
          <a:off x="3207929" y="6136538"/>
          <a:ext cx="5685381" cy="275908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,&quot;x&quot;:49.819393939393876,&quot;y&quot;:566.1600000000001,&quot;w&quot;:747.8399999999999,&quot;h&quot;:116.0}"/>
          <p:cNvSpPr/>
          <p:nvPr/>
        </p:nvSpPr>
        <p:spPr>
          <a:xfrm>
            <a:off x="376798" y="4282023"/>
            <a:ext cx="5656118" cy="8773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Interpretation</a:t>
            </a:r>
          </a:p>
          <a:p>
            <a:pPr>
              <a:defRPr sz="1000"/>
            </a:pPr>
            <a: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1503.16,&quot;w&quot;:1572.0,&quot;h&quot;:94.0}"/>
          <p:cNvSpPr/>
          <p:nvPr/>
        </p:nvSpPr>
        <p:spPr>
          <a:xfrm>
            <a:off x="105886" y="11368811"/>
            <a:ext cx="11889467" cy="7109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Recommendation</a:t>
            </a:r>
          </a:p>
          <a:p>
            <a:pPr>
              <a:defRPr sz="1000"/>
            </a:pPr>
            <a:r>
              <a:t>Stage a limited treatment rollout</a:t>
            </a:r>
            <a:br/>
            <a:r>
              <a:t>Pause expansion if the quality guardrail moves outside its agreed range.</a:t>
            </a:r>
            <a:br/>
            <a:r>
              <a:t>Review</a:t>
            </a:r>
          </a:p>
        </p:txBody>
      </p:sp>
      <p:graphicFrame>
        <p:nvGraphicFramePr>
          <p:cNvPr id="11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210.16,&quot;w&quot;:1572.0,&quot;h&quot;:259.0}"/>
          <p:cNvGraphicFramePr>
            <a:graphicFrameLocks noGrp="1"/>
          </p:cNvGraphicFramePr>
          <p:nvPr/>
        </p:nvGraphicFramePr>
        <p:xfrm>
          <a:off x="105886" y="9152772"/>
          <a:ext cx="11889467" cy="195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2366"/>
                <a:gridCol w="2972366"/>
                <a:gridCol w="2972366"/>
                <a:gridCol w="2972369"/>
              </a:tblGrid>
              <a:tr h="48972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4897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897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897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fqg2ic-g1qa1f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09-24T16:14:52.596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fqg4of-o4a7ds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09-24T16:14:55.407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fqg4of-o4a7ds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fqg2ic-g1qa1f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