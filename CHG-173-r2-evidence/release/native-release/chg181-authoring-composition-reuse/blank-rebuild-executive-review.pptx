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23715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40.0,&quot;w&quot;:1059.44,&quot;h&quot;:122.93120000000002}"/>
          <p:cNvSpPr/>
          <p:nvPr/>
        </p:nvSpPr>
        <p:spPr>
          <a:xfrm>
            <a:off x="104332" y="298093"/>
            <a:ext cx="7895287" cy="91612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Hero Title</a:t>
            </a:r>
          </a:p>
          <a:p>
            <a:pPr>
              <a:defRPr sz="1000"/>
            </a:pPr>
            <a:r>
              <a:t>West revenue leads East by 25 units in the regional review.</a:t>
            </a:r>
          </a:p>
        </p:txBody>
      </p:sp>
      <p:sp>
        <p:nvSpPr>
          <p:cNvPr id="3" name="VIZ::Body Narrative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087.44,&quot;y&quot;:65.46560000000001,&quot;w&quot;:498.56,&quot;h&quot;:72.0}"/>
          <p:cNvSpPr/>
          <p:nvPr/>
        </p:nvSpPr>
        <p:spPr>
          <a:xfrm>
            <a:off x="8103952" y="487870"/>
            <a:ext cx="3715429" cy="53656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676.48,&quot;y&quot;:202.43120000000002,&quot;w&quot;:447.76,&quot;h&quot;:205.0}"/>
          <p:cNvSpPr/>
          <p:nvPr/>
        </p:nvSpPr>
        <p:spPr>
          <a:xfrm>
            <a:off x="5041346" y="1508582"/>
            <a:ext cx="3336851" cy="15277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Regional revenue total</a:t>
            </a:r>
          </a:p>
          <a:p>
            <a:pPr>
              <a:defRPr b="1" sz="2400"/>
            </a:pPr>
            <a:r>
              <a:t>385 units</a:t>
            </a:r>
          </a:p>
        </p:txBody>
      </p:sp>
      <p:sp>
        <p:nvSpPr>
          <p:cNvPr id="5" name="VIZ::West lead over East KPI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1138.24,&quot;y&quot;:202.43120000000002,&quot;w&quot;:447.76,&quot;h&quot;:205.0}"/>
          <p:cNvSpPr/>
          <p:nvPr/>
        </p:nvSpPr>
        <p:spPr>
          <a:xfrm>
            <a:off x="8482530" y="1508582"/>
            <a:ext cx="3336851" cy="15277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West lead over East</a:t>
            </a:r>
          </a:p>
          <a:p>
            <a:pPr>
              <a:defRPr b="1" sz="2400"/>
            </a:pPr>
            <a:r>
              <a:t>25 units</a:t>
            </a:r>
          </a:p>
        </p:txBody>
      </p:sp>
      <p:sp>
        <p:nvSpPr>
          <p:cNvPr id="6" name="VIZ::East to West revenue KPI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4.0,&quot;y&quot;:196.93120000000002,&quot;w&quot;:648.48,&quot;h&quot;:216.0}"/>
          <p:cNvSpPr/>
          <p:nvPr/>
        </p:nvSpPr>
        <p:spPr>
          <a:xfrm>
            <a:off x="104332" y="1467594"/>
            <a:ext cx="4832681" cy="160970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East to West revenue</a:t>
            </a:r>
          </a:p>
          <a:p>
            <a:pPr>
              <a:defRPr b="1" sz="2400"/>
            </a:pPr>
            <a:r>
              <a:t>180 → 205</a:t>
            </a:r>
          </a:p>
          <a:p>
            <a:pPr>
              <a:defRPr sz="900"/>
            </a:pPr>
            <a:r>
              <a:t>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&quot;:[[&quot;East&quot;,180],[&quot;West&quot;,205]],&quot;dataset_id&quot;:&quot;dataset-muft6dnt-1x4u9x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851.2230303030303,&quot;y&quot;:446.9312,&quot;w&quot;:659.3939393939394,&quot;h&quot;:320.0}"/>
          <p:cNvGraphicFramePr>
            <a:graphicFrameLocks noGrp="1"/>
          </p:cNvGraphicFramePr>
          <p:nvPr/>
        </p:nvGraphicFramePr>
        <p:xfrm>
          <a:off x="6343587" y="3330675"/>
          <a:ext cx="4914015" cy="238474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East&quot;,180],[&quot;West&quot;,205]],&quot;dataset_id&quot;:&quot;dataset-muft6dnt-1x4u9x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470.3030303030303,&quot;y&quot;:774.9312,&quot;w&quot;:659.3939393939394,&quot;h&quot;:320.0}"/>
          <p:cNvGraphicFramePr>
            <a:graphicFrameLocks noGrp="1"/>
          </p:cNvGraphicFramePr>
          <p:nvPr/>
        </p:nvGraphicFramePr>
        <p:xfrm>
          <a:off x="3504849" y="5775036"/>
          <a:ext cx="4914015" cy="238474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Body Narrative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89.38303030303041,&quot;y&quot;:446.9312,&quot;w&quot;:747.8399999999999,&quot;h&quot;:116.0}"/>
          <p:cNvSpPr/>
          <p:nvPr/>
        </p:nvSpPr>
        <p:spPr>
          <a:xfrm>
            <a:off x="666111" y="3330675"/>
            <a:ext cx="5573144" cy="86446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384.9312,&quot;w&quot;:1572.0,&quot;h&quot;:101.52000000000001}"/>
          <p:cNvSpPr/>
          <p:nvPr/>
        </p:nvSpPr>
        <p:spPr>
          <a:xfrm>
            <a:off x="104332" y="10320953"/>
            <a:ext cx="11715049" cy="75655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Validate the West lead before shifting regional targets</a:t>
            </a:r>
            <a:br/>
            <a:r>
              <a:t>The destination contains two regions; confirm the pattern in the next operating window.</a:t>
            </a:r>
            <a:br/>
            <a:r>
              <a:t>Review</a:t>
            </a:r>
          </a:p>
        </p:txBody>
      </p:sp>
      <p:sp>
        <p:nvSpPr>
          <p:cNvPr id="12" name="VIZ::Key Takeaway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520.4512,&quot;w&quot;:1572.0,&quot;h&quot;:100.80000000000001}"/>
          <p:cNvSpPr/>
          <p:nvPr/>
        </p:nvSpPr>
        <p:spPr>
          <a:xfrm>
            <a:off x="104332" y="11330891"/>
            <a:ext cx="11715049" cy="75119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validate the West lead in the next operating window before shifting regional targets.</a:t>
            </a:r>
          </a:p>
        </p:txBody>
      </p:sp>
      <p:graphicFrame>
        <p:nvGraphicFramePr>
          <p:cNvPr id="13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1128.9312,&quot;w&quot;:1572.0,&quot;h&quot;:222.0}"/>
          <p:cNvGraphicFramePr>
            <a:graphicFrameLocks noGrp="1"/>
          </p:cNvGraphicFramePr>
          <p:nvPr/>
        </p:nvGraphicFramePr>
        <p:xfrm>
          <a:off x="104332" y="8413158"/>
          <a:ext cx="11715049" cy="1654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8762"/>
                <a:gridCol w="2928762"/>
                <a:gridCol w="2928762"/>
                <a:gridCol w="2928763"/>
              </a:tblGrid>
              <a:tr h="551471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5514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55147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ft6dnt-1x4u9x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4T17:31:19.337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t6dnt-1x4u9x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t6dnt-1x4u9x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