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3897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</c:v>
                </c:pt>
                <c:pt idx="1">
                  <c:v>1395</c:v>
                </c:pt>
                <c:pt idx="2">
                  <c:v>1522</c:v>
                </c:pt>
                <c:pt idx="3">
                  <c:v>1611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38</c:v>
                </c:pt>
                <c:pt idx="2">
                  <c:v>35</c:v>
                </c:pt>
                <c:pt idx="3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3466" y="238474"/>
            <a:ext cx="6316230" cy="65437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Order volume rose while returns fell across the spring launch.</a:t>
            </a:r>
          </a:p>
        </p:txBody>
      </p:sp>
      <p:sp>
        <p:nvSpPr>
          <p:cNvPr id="3" name="VIZ::Body Narrative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483162" y="351034"/>
            <a:ext cx="2972343" cy="4292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Monthly operating review · Jan–Apr · Source: order and returns ledger.</a:t>
            </a:r>
          </a:p>
        </p:txBody>
      </p:sp>
      <p:sp>
        <p:nvSpPr>
          <p:cNvPr id="4" name="VIZ::April orders KPI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447.76,&quot;weight&quot;:1.15,&quot;x&quot;:676.48,&quot;y&quot;:185.26,&quot;z&quot;:3}"/>
          <p:cNvSpPr/>
          <p:nvPr/>
        </p:nvSpPr>
        <p:spPr>
          <a:xfrm>
            <a:off x="4033077" y="1104493"/>
            <a:ext cx="2669481" cy="110890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April orders</a:t>
            </a:r>
          </a:p>
          <a:p>
            <a:pPr>
              <a:defRPr b="1" sz="2400"/>
            </a:pPr>
            <a:r>
              <a:t>1611</a:t>
            </a:r>
          </a:p>
        </p:txBody>
      </p:sp>
      <p:sp>
        <p:nvSpPr>
          <p:cNvPr id="5" name="VIZ::Order growth since January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1138.24,&quot;y&quot;:185.26,&quot;z&quot;:4}"/>
          <p:cNvSpPr/>
          <p:nvPr/>
        </p:nvSpPr>
        <p:spPr>
          <a:xfrm>
            <a:off x="6786024" y="1104493"/>
            <a:ext cx="2669481" cy="110890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Order growth since January</a:t>
            </a:r>
          </a:p>
          <a:p>
            <a:pPr>
              <a:defRPr b="1" sz="2400"/>
            </a:pPr>
            <a:r>
              <a:t>331 orders</a:t>
            </a:r>
          </a:p>
        </p:txBody>
      </p:sp>
      <p:sp>
        <p:nvSpPr>
          <p:cNvPr id="6" name="VIZ::Monthly returns KPI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648.48,&quot;weight&quot;:1.15,&quot;x&quot;:14.0,&quot;y&quot;:183.76,&quot;z&quot;:5}"/>
          <p:cNvSpPr/>
          <p:nvPr/>
        </p:nvSpPr>
        <p:spPr>
          <a:xfrm>
            <a:off x="83466" y="1095550"/>
            <a:ext cx="3866145" cy="112679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Monthly returns</a:t>
            </a:r>
          </a:p>
          <a:p>
            <a:pPr>
              <a:defRPr b="1" sz="2400"/>
            </a:pPr>
            <a:r>
              <a:t>42 → 31</a:t>
            </a:r>
          </a:p>
        </p:txBody>
      </p:sp>
      <p:graphicFrame>
        <p:nvGraphicFramePr>
          <p:cNvPr id="7" name="Chart 6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ft6lot-qky8cx&quot;,&quot;drill&quot;:null,&quot;element&quot;:&quot;Line Chart&quot;,&quot;engine&quot;:&quot;CoreChartEngine&quot;,&quot;groupId&quot;:null,&quot;h&quot;:364.7999999999999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751.7090909090908,&quot;weight&quot;:1.8,&quot;x&quot;:805.0654545454545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4799685" y="2425045"/>
          <a:ext cx="4481582" cy="217488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Jan&quot;,42],[&quot;Feb&quot;,38],[&quot;Mar&quot;,35],[&quot;Apr&quot;,31]],&quot;dataset_id&quot;:&quot;dataset-muft6lot-qky8cx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470.3030303030303,&quot;y&quot;:779.56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2803879" y="4647625"/>
          <a:ext cx="3931212" cy="190779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747.8399999999999,&quot;weight&quot;:1.1,&quot;x&quot;:43.22545454545457,&quot;y&quot;:531.16,&quot;z&quot;:11}"/>
          <p:cNvSpPr/>
          <p:nvPr/>
        </p:nvSpPr>
        <p:spPr>
          <a:xfrm>
            <a:off x="257704" y="3166700"/>
            <a:ext cx="4458515" cy="6915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729338" y="6758123"/>
            <a:ext cx="4080295" cy="150834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649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794.86,&quot;z&quot;:7}"/>
          <p:cNvSpPr/>
          <p:nvPr/>
        </p:nvSpPr>
        <p:spPr>
          <a:xfrm>
            <a:off x="83466" y="10700699"/>
            <a:ext cx="9372039" cy="6276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Review rising orders alongside falling returns</a:t>
            </a:r>
            <a:br/>
            <a:r>
              <a:t>Check the fulfillment mix before changing the spring capacity plan.</a:t>
            </a:r>
            <a:br/>
            <a:r>
              <a:t>Review</a:t>
            </a:r>
          </a:p>
        </p:txBody>
      </p:sp>
      <p:sp>
        <p:nvSpPr>
          <p:cNvPr id="13" name="VIZ::Key Takeaway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934.1399999999999,&quot;z&quot;:12}"/>
          <p:cNvSpPr/>
          <p:nvPr/>
        </p:nvSpPr>
        <p:spPr>
          <a:xfrm>
            <a:off x="83466" y="11531067"/>
            <a:ext cx="9372039" cy="5723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review the return mix before changing fulfillment capacity.</a:t>
            </a:r>
          </a:p>
        </p:txBody>
      </p:sp>
      <p:graphicFrame>
        <p:nvGraphicFramePr>
          <p:cNvPr id="14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366.3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394.56,&quot;z&quot;:6}"/>
          <p:cNvGraphicFramePr>
            <a:graphicFrameLocks noGrp="1"/>
          </p:cNvGraphicFramePr>
          <p:nvPr/>
        </p:nvGraphicFramePr>
        <p:xfrm>
          <a:off x="83466" y="8314168"/>
          <a:ext cx="9372039" cy="2183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013"/>
                <a:gridCol w="3124013"/>
                <a:gridCol w="3124013"/>
              </a:tblGrid>
              <a:tr h="36397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36397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84202" y="6776411"/>
            <a:ext cx="397056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6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1133.56,&quot;z&quot;:8}"/>
          <p:cNvSpPr/>
          <p:nvPr/>
        </p:nvSpPr>
        <p:spPr>
          <a:xfrm>
            <a:off x="2784202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7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827135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18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4870068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lfillment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19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5913001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0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630539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673472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716405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ft6lot-qky8cx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4T17:31:29.741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ft6lot-qky8cx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t6lot-qky8cx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94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00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986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