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101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by shift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measurement trend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1838" y="205252"/>
            <a:ext cx="5436317" cy="62068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5579994" y="330867"/>
            <a:ext cx="2558267" cy="3694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Report context</a:t>
            </a:r>
          </a:p>
          <a:p>
            <a:pPr>
              <a:defRPr sz="1000"/>
            </a:pPr>
            <a:r>
              <a:t>Line 4 · shifts A–C · chamber A controls · capacity release review.</a:t>
            </a:r>
          </a:p>
        </p:txBody>
      </p:sp>
      <p:sp>
        <p:nvSpPr>
          <p:cNvPr id="4" name="VIZ::First pass yield KPI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4.96,&quot;w&quot;:872.4800000000001,&quot;h&quot;:206.0}"/>
          <p:cNvSpPr/>
          <p:nvPr/>
        </p:nvSpPr>
        <p:spPr>
          <a:xfrm>
            <a:off x="71838" y="1000400"/>
            <a:ext cx="4476967" cy="105705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First pass yield</a:t>
            </a:r>
          </a:p>
          <a:p>
            <a:pPr>
              <a:defRPr b="1" sz="2400"/>
            </a:pPr>
            <a:r>
              <a:t>95%</a:t>
            </a:r>
          </a:p>
        </p:txBody>
      </p:sp>
      <p:sp>
        <p:nvSpPr>
          <p:cNvPr id="5" name="VIZ::Unplanned downtime KPI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4.96,&quot;w&quot;:685.52,&quot;h&quot;:206.0}"/>
          <p:cNvSpPr/>
          <p:nvPr/>
        </p:nvSpPr>
        <p:spPr>
          <a:xfrm>
            <a:off x="4620644" y="1000400"/>
            <a:ext cx="3517617" cy="105705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Unplanned downtime</a:t>
            </a:r>
          </a:p>
          <a:p>
            <a:pPr>
              <a:defRPr b="1" sz="2400"/>
            </a:pPr>
            <a:r>
              <a:t>8.3 h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A&quot;,94.1],[&quot;B&quot;,94.6],[&quot;C&quot;,95]],&quot;dataset_id&quot;:&quot;dataset-muft58ef-abs3o0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775.8399999999999,&quot;y&quot;:434.96000000000004,&quot;w&quot;:810.1600000000001,&quot;h&quot;:393.16588235294125}"/>
          <p:cNvGraphicFramePr>
            <a:graphicFrameLocks noGrp="1"/>
          </p:cNvGraphicFramePr>
          <p:nvPr/>
        </p:nvGraphicFramePr>
        <p:xfrm>
          <a:off x="3981077" y="2231915"/>
          <a:ext cx="4157184" cy="201745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primary_analysis&quot;,&quot;dataset_id&quot;:&quot;dataset-muft5aiv-quwokm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365.6242424242424,&quot;y&quot;:836.1258823529413,&quot;w&quot;:868.7515151515152,&quot;h&quot;:421.6}"/>
          <p:cNvGraphicFramePr>
            <a:graphicFrameLocks noGrp="1"/>
          </p:cNvGraphicFramePr>
          <p:nvPr/>
        </p:nvGraphicFramePr>
        <p:xfrm>
          <a:off x="1876132" y="4290423"/>
          <a:ext cx="4457835" cy="216336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Body Narrative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573.5429411764707,&quot;w&quot;:747.8399999999999,&quot;h&quot;:116.0}"/>
          <p:cNvSpPr/>
          <p:nvPr/>
        </p:nvSpPr>
        <p:spPr>
          <a:xfrm>
            <a:off x="71838" y="2943028"/>
            <a:ext cx="3837400" cy="59523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1997928" y="6628249"/>
            <a:ext cx="4214244" cy="87232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788.1658823529415,&quot;w&quot;:1572.0,&quot;h&quot;:255.2}"/>
          <p:cNvSpPr/>
          <p:nvPr/>
        </p:nvSpPr>
        <p:spPr>
          <a:xfrm>
            <a:off x="71838" y="9175638"/>
            <a:ext cx="8066423" cy="130951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Evidence Card</a:t>
            </a:r>
          </a:p>
          <a:p>
            <a:pPr>
              <a:defRPr sz="1000"/>
            </a:pPr>
            <a:r>
              <a:t>Measurement system remains within the qualified reference range.</a:t>
            </a:r>
            <a:br/>
            <a:r>
              <a:t>Sample: 30 parts · method: inline metrology · source: shift B inspection.</a:t>
            </a:r>
            <a:br/>
            <a:r>
              <a:t>Verified</a:t>
            </a:r>
          </a:p>
        </p:txBody>
      </p:sp>
      <p:sp>
        <p:nvSpPr>
          <p:cNvPr id="12" name="VIZ::Risk Callout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2077.3658823529413,&quot;w&quot;:1572.0,&quot;h&quot;:94.0}"/>
          <p:cNvSpPr/>
          <p:nvPr/>
        </p:nvSpPr>
        <p:spPr>
          <a:xfrm>
            <a:off x="71838" y="10659613"/>
            <a:ext cx="8066423" cy="48234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Hold added capacity until the paired-lot check closes</a:t>
            </a:r>
            <a:br/>
            <a:r>
              <a:t>Keep the recipe locked and attach the next-shift control evidence.</a:t>
            </a:r>
            <a:br/>
            <a:r>
              <a:t>Review</a:t>
            </a:r>
          </a:p>
        </p:txBody>
      </p:sp>
      <p:sp>
        <p:nvSpPr>
          <p:cNvPr id="13" name="VIZ::Project Card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2205.3658823529413,&quot;w&quot;:1572.0,&quot;h&quot;:156.0}"/>
          <p:cNvSpPr/>
          <p:nvPr/>
        </p:nvSpPr>
        <p:spPr>
          <a:xfrm>
            <a:off x="71838" y="11316421"/>
            <a:ext cx="8066423" cy="80048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Project Card</a:t>
            </a:r>
          </a:p>
          <a:p>
            <a:pPr>
              <a:defRPr sz="1000"/>
            </a:pPr>
            <a:r>
              <a:t>Complete chamber verification and update the runbook.</a:t>
            </a:r>
            <a:br/>
            <a:r>
              <a:t>Owner: Equipment Engineering · due next shift · evidence: paired control lot.</a:t>
            </a:r>
            <a:br/>
            <a:r>
              <a:t>Active</a:t>
            </a:r>
          </a:p>
        </p:txBody>
      </p:sp>
      <p:sp>
        <p:nvSpPr>
          <p:cNvPr id="14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052792" y="6646537"/>
            <a:ext cx="4104516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5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1291.7258823529414,&quot;w&quot;:821.28,&quot;h&quot;:170.0}"/>
          <p:cNvSpPr/>
          <p:nvPr/>
        </p:nvSpPr>
        <p:spPr>
          <a:xfrm>
            <a:off x="2052792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6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129213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7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205634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8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282055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19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2932617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009038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085459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1469.7258823529414,&quot;w&quot;:1572.0,&quot;h&quot;:300.44}"/>
          <p:cNvGraphicFramePr>
            <a:graphicFrameLocks noGrp="1"/>
          </p:cNvGraphicFramePr>
          <p:nvPr/>
        </p:nvGraphicFramePr>
        <p:xfrm>
          <a:off x="71838" y="7541622"/>
          <a:ext cx="8066423" cy="1541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84"/>
                <a:gridCol w="1613284"/>
                <a:gridCol w="1613284"/>
                <a:gridCol w="1613284"/>
                <a:gridCol w="1613287"/>
              </a:tblGrid>
              <a:tr h="38541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8541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38541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38541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ft58ef-abs3o0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4T17:30:25.863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ft5aiv-quwokm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4T17:30:28.615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ft58ef-abs3o0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ft5aiv-quwokm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