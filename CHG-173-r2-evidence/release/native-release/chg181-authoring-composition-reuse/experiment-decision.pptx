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012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105886" y="302530"/>
            <a:ext cx="8012835" cy="9148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8224607" y="487679"/>
            <a:ext cx="3770745" cy="54455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Hypothesis and context</a:t>
            </a:r>
          </a:p>
          <a:p>
            <a:pPr>
              <a:defRPr sz="1000"/>
            </a:pPr>
            <a: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200.46,&quot;w&quot;:685.52,&quot;h&quot;:205.0}"/>
          <p:cNvSpPr/>
          <p:nvPr/>
        </p:nvSpPr>
        <p:spPr>
          <a:xfrm>
            <a:off x="6810577" y="1516134"/>
            <a:ext cx="5184775" cy="155047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</a:t>
            </a:r>
          </a:p>
          <a:p>
            <a:pPr>
              <a:defRPr b="1" sz="2400"/>
            </a:pPr>
            <a:r>
              <a:t>9.8%</a:t>
            </a:r>
          </a:p>
        </p:txBody>
      </p:sp>
      <p:sp>
        <p:nvSpPr>
          <p:cNvPr id="5" name="VIZ::Treatment conversion · Week 1 to 4 KPI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105886" y="1474536"/>
            <a:ext cx="6598805" cy="163366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 · Week 1 to 4</a:t>
            </a:r>
          </a:p>
          <a:p>
            <a:pPr>
              <a:defRPr b="1" sz="2400"/>
            </a:pPr>
            <a:r>
              <a:t>8.2 → 9.8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ft4zvr-byderw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811.6593939393938,&quot;y&quot;:444.96000000000004,&quot;w&quot;:738.5212121212122,&quot;h&quot;:358.40000000000003}"/>
          <p:cNvGraphicFramePr>
            <a:graphicFrameLocks noGrp="1"/>
          </p:cNvGraphicFramePr>
          <p:nvPr/>
        </p:nvGraphicFramePr>
        <p:xfrm>
          <a:off x="6138803" y="3365354"/>
          <a:ext cx="5585638" cy="27106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ft520g-tfn7ib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424.1454545454546,&quot;y&quot;:811.3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07929" y="6136538"/>
          <a:ext cx="5685381" cy="275908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49.819393939393876,&quot;y&quot;:566.1600000000001,&quot;w&quot;:747.8399999999999,&quot;h&quot;:116.0}"/>
          <p:cNvSpPr/>
          <p:nvPr/>
        </p:nvSpPr>
        <p:spPr>
          <a:xfrm>
            <a:off x="376798" y="4282023"/>
            <a:ext cx="5656118" cy="8773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000"/>
            </a:pPr>
            <a: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503.16,&quot;w&quot;:1572.0,&quot;h&quot;:94.0}"/>
          <p:cNvSpPr/>
          <p:nvPr/>
        </p:nvSpPr>
        <p:spPr>
          <a:xfrm>
            <a:off x="105886" y="11368811"/>
            <a:ext cx="11889467" cy="7109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000"/>
            </a:pPr>
            <a:r>
              <a:t>Stage a limited treatment rollout</a:t>
            </a:r>
            <a:br/>
            <a:r>
              <a:t>Pause expansion if the quality guardrail moves outside its agreed range.</a:t>
            </a:r>
            <a:br/>
            <a: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210.16,&quot;w&quot;:1572.0,&quot;h&quot;:259.0}"/>
          <p:cNvGraphicFramePr>
            <a:graphicFrameLocks noGrp="1"/>
          </p:cNvGraphicFramePr>
          <p:nvPr/>
        </p:nvGraphicFramePr>
        <p:xfrm>
          <a:off x="105886" y="9152772"/>
          <a:ext cx="11889467" cy="195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66"/>
                <a:gridCol w="2972366"/>
                <a:gridCol w="2972366"/>
                <a:gridCol w="2972369"/>
              </a:tblGrid>
              <a:tr h="4897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ft4zvr-byderw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4T17:30:14.823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ft520g-tfn7ib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4T17:30:17.584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ft520g-tfn7ib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t4zvr-byderw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