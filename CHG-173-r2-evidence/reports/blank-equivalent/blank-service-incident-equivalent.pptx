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003691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P1 incidents per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 incidents per week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W36-1</c:v>
                </c:pt>
                <c:pt idx="1">
                  <c:v>W36-2</c:v>
                </c:pt>
                <c:pt idx="2">
                  <c:v>W36-3</c:v>
                </c:pt>
                <c:pt idx="3">
                  <c:v>W36-4</c:v>
                </c:pt>
                <c:pt idx="4">
                  <c:v>W36-5</c:v>
                </c:pt>
                <c:pt idx="5">
                  <c:v>W36-6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37</c:v>
                </c:pt>
                <c:pt idx="2">
                  <c:v>31</c:v>
                </c:pt>
                <c:pt idx="3">
                  <c:v>25</c:v>
                </c:pt>
                <c:pt idx="4">
                  <c:v>19</c:v>
                </c:pt>
                <c:pt idx="5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Customer impact hours per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impact hours per week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W36-1</c:v>
                </c:pt>
                <c:pt idx="1">
                  <c:v>W36-2</c:v>
                </c:pt>
                <c:pt idx="2">
                  <c:v>W36-3</c:v>
                </c:pt>
                <c:pt idx="3">
                  <c:v>W36-4</c:v>
                </c:pt>
                <c:pt idx="4">
                  <c:v>W36-5</c:v>
                </c:pt>
                <c:pt idx="5">
                  <c:v>W36-6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136</c:v>
                </c:pt>
                <c:pt idx="1">
                  <c:v>102</c:v>
                </c:pt>
                <c:pt idx="2">
                  <c:v>84</c:v>
                </c:pt>
                <c:pt idx="3">
                  <c:v>61</c:v>
                </c:pt>
                <c:pt idx="4">
                  <c:v>39</c:v>
                </c:pt>
                <c:pt idx="5">
                  <c:v>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descr="VisualizerSemantic:{&quot;body&quot;:&quot;INC-2026-0918-447 restored core traffic, but a long-tail retry storm left high-value customers degraded for 96 minutes.&quot;,&quot;composition_role&quot;:&quot;report_headline&quot;,&quot;element&quot;:&quot;Hero Title&quot;,&quot;engine&quot;:&quot;TextEngine&quot;,&quot;groupId&quot;:null,&quot;id&quot;:&quot;c9&quot;,&quot;locked&quot;:false,&quot;message_role&quot;:&quot;Headline&quot;,&quot;order&quot;:0,&quot;section_id&quot;:&quot;opening&quot;,&quot;section_title&quot;:&quot;Overview&quot;,&quot;showTitle&quot;:false,&quot;text&quot;:&quot;INC-2026-0918-447 restored core traffic, but a long-tail retry storm left high-value customers degraded for 96 minutes.&quot;,&quot;textAlign&quot;:&quot;left&quot;,&quot;title&quot;:&quot;Hero Title&quot;,&quot;type&quot;:&quot;text&quot;,&quot;weight&quot;:1.1,&quot;z&quot;:9,&quot;x&quot;:14.0,&quot;y&quot;:40.0,&quot;w&quot;:1059.44,&quot;h&quot;:109.76}"/>
          <p:cNvSpPr/>
          <p:nvPr/>
        </p:nvSpPr>
        <p:spPr>
          <a:xfrm>
            <a:off x="87532" y="250092"/>
            <a:ext cx="6623944" cy="68625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Hero Title</a:t>
            </a:r>
          </a:p>
          <a:p>
            <a:pPr>
              <a:defRPr sz="1000"/>
            </a:pPr>
            <a:r>
              <a:t>INC-2026-0918-447 restored core traffic, but a long-tail retry storm left high-value customers degraded for 96 minutes.</a:t>
            </a:r>
          </a:p>
        </p:txBody>
      </p:sp>
      <p:sp>
        <p:nvSpPr>
          <p:cNvPr id="3" name="VIZ::Body Narrative" descr="VisualizerSemantic:{&quot;body&quot;:&quot;Edge API · us-central-2 / shard 17 · incident window 2026-09-18 14:06–15:42 UTC · 31,884 requests failed or retried · incident commander: Platform Reliability.&quot;,&quot;composition_role&quot;:&quot;context&quot;,&quot;element&quot;:&quot;Body Narrative&quot;,&quot;engine&quot;:&quot;TextEngine&quot;,&quot;groupId&quot;:null,&quot;id&quot;:&quot;c10&quot;,&quot;locked&quot;:false,&quot;message_role&quot;:&quot;Context&quot;,&quot;order&quot;:1,&quot;section_id&quot;:&quot;opening&quot;,&quot;section_title&quot;:&quot;Overview&quot;,&quot;showTitle&quot;:false,&quot;text&quot;:&quot;Edge API · us-central-2 / shard 17 · incident window 2026-09-18 14:06–15:42 UTC · 31,884 requests failed or retried · incident commander: Platform Reliability.&quot;,&quot;textAlign&quot;:&quot;left&quot;,&quot;title&quot;:&quot;Body Narrative&quot;,&quot;type&quot;:&quot;text&quot;,&quot;weight&quot;:1.1,&quot;z&quot;:10,&quot;x&quot;:1087.44,&quot;y&quot;:43.38,&quot;w&quot;:498.56,&quot;h&quot;:103.0}"/>
          <p:cNvSpPr/>
          <p:nvPr/>
        </p:nvSpPr>
        <p:spPr>
          <a:xfrm>
            <a:off x="6799008" y="271225"/>
            <a:ext cx="3117150" cy="64398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Edge API · us-central-2 / shard 17 · incident window 2026-09-18 14:06–15:42 UTC · 31,884 requests failed or retried · incident commander: Platform Reliability.</a:t>
            </a:r>
          </a:p>
        </p:txBody>
      </p:sp>
      <p:sp>
        <p:nvSpPr>
          <p:cNvPr id="4" name="VIZ::Availability during event KPI" descr="VisualizerSemantic:{&quot;capability_overrides&quot;:{&quot;target&quot;:99.9},&quot;composition_role&quot;:&quot;hero_metric&quot;,&quot;delta&quot;:-0.48,&quot;element&quot;:&quot;Hero KPI&quot;,&quot;engine&quot;:&quot;MetricEngine&quot;,&quot;groupId&quot;:null,&quot;id&quot;:&quot;c3&quot;,&quot;locked&quot;:false,&quot;message_role&quot;:&quot;Headline&quot;,&quot;order&quot;:2,&quot;period&quot;:&quot;vs prior period&quot;,&quot;section_id&quot;:&quot;performance&quot;,&quot;section_title&quot;:&quot;Performance&quot;,&quot;showTitle&quot;:true,&quot;target&quot;:99.9,&quot;textAlign&quot;:&quot;left&quot;,&quot;title&quot;:&quot;Availability during event&quot;,&quot;type&quot;:&quot;metric&quot;,&quot;unit&quot;:&quot;%&quot;,&quot;value&quot;:99.42,&quot;weight&quot;:1.15,&quot;z&quot;:3,&quot;x&quot;:676.48,&quot;y&quot;:188.76,&quot;w&quot;:447.76,&quot;h&quot;:186.0}"/>
          <p:cNvSpPr/>
          <p:nvPr/>
        </p:nvSpPr>
        <p:spPr>
          <a:xfrm>
            <a:off x="4229560" y="1180185"/>
            <a:ext cx="2799532" cy="116292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Availability during event</a:t>
            </a:r>
          </a:p>
          <a:p>
            <a:pPr>
              <a:defRPr b="1" sz="2400"/>
            </a:pPr>
            <a:r>
              <a:t>99.42%</a:t>
            </a:r>
          </a:p>
        </p:txBody>
      </p:sp>
      <p:sp>
        <p:nvSpPr>
          <p:cNvPr id="5" name="VIZ::Latest weekly customer impact hours · from 136h KPI" descr="VisualizerSemantic:{&quot;capability_overrides&quot;:{&quot;target&quot;:8},&quot;composition_role&quot;:&quot;hero_metric&quot;,&quot;delta&quot;:-114,&quot;element&quot;:&quot;Hero KPI&quot;,&quot;engine&quot;:&quot;MetricEngine&quot;,&quot;groupId&quot;:null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hours&quot;},&quot;order&quot;:3,&quot;period&quot;:&quot;vs prior period&quot;,&quot;section_id&quot;:&quot;performance&quot;,&quot;section_title&quot;:&quot;Performance&quot;,&quot;showTitle&quot;:true,&quot;target&quot;:8,&quot;textAlign&quot;:&quot;left&quot;,&quot;title&quot;:&quot;Latest weekly customer impact hours · from 136h&quot;,&quot;type&quot;:&quot;metric&quot;,&quot;unit&quot;:&quot;hours&quot;,&quot;value&quot;:22,&quot;weight&quot;:1.15,&quot;z&quot;:4,&quot;x&quot;:1138.24,&quot;y&quot;:188.76,&quot;w&quot;:447.76,&quot;h&quot;:186.0}"/>
          <p:cNvSpPr/>
          <p:nvPr/>
        </p:nvSpPr>
        <p:spPr>
          <a:xfrm>
            <a:off x="7116626" y="1180185"/>
            <a:ext cx="2799532" cy="116292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Latest weekly customer impact hours · from 136h</a:t>
            </a:r>
          </a:p>
          <a:p>
            <a:pPr>
              <a:defRPr b="1" sz="2400"/>
            </a:pPr>
            <a:r>
              <a:t>22 hours</a:t>
            </a:r>
          </a:p>
        </p:txBody>
      </p:sp>
      <p:sp>
        <p:nvSpPr>
          <p:cNvPr id="6" name="VIZ::P1 incidents · initial to latest KPI" descr="VisualizerSemantic:{&quot;after&quot;:15,&quot;before&quot;:42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cases&quot;},&quot;order&quot;:4,&quot;section_id&quot;:&quot;performance&quot;,&quot;section_title&quot;:&quot;Performance&quot;,&quot;showTitle&quot;:true,&quot;textAlign&quot;:&quot;left&quot;,&quot;title&quot;:&quot;P1 incidents · initial to latest&quot;,&quot;type&quot;:&quot;comparison&quot;,&quot;unit&quot;:&quot;cases&quot;,&quot;weight&quot;:1.15,&quot;z&quot;:5,&quot;x&quot;:14.0,&quot;y&quot;:183.76,&quot;w&quot;:648.48,&quot;h&quot;:196.0}"/>
          <p:cNvSpPr/>
          <p:nvPr/>
        </p:nvSpPr>
        <p:spPr>
          <a:xfrm>
            <a:off x="87532" y="1148923"/>
            <a:ext cx="4054496" cy="122545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P1 incidents · initial to latest</a:t>
            </a:r>
          </a:p>
          <a:p>
            <a:pPr>
              <a:defRPr b="1" sz="2400"/>
            </a:pPr>
            <a:r>
              <a:t>42 → 15</a:t>
            </a:r>
          </a:p>
          <a:p>
            <a:pPr>
              <a:defRPr sz="900"/>
            </a:pPr>
            <a:r>
              <a:t>cases</a:t>
            </a:r>
          </a:p>
        </p:txBody>
      </p:sp>
      <p:graphicFrame>
        <p:nvGraphicFramePr>
          <p:cNvPr id="7" name="Chart 6" descr="VisualizerSemantic:{&quot;brush&quot;:[0,5],&quot;composition_role&quot;:&quot;primary_analysis&quot;,&quot;cross&quot;:null,&quot;data&quot;:[[&quot;W36-1&quot;,42],[&quot;W36-2&quot;,37],[&quot;W36-3&quot;,31],[&quot;W36-4&quot;,25],[&quot;W36-5&quot;,19],[&quot;W36-6&quot;,15]],&quot;dataset_id&quot;:&quot;dataset-mufvg1od-o2h3qs&quot;,&quot;drill&quot;:null,&quot;element&quot;:&quot;Line Chart&quot;,&quot;engine&quot;:&quot;CoreChartEngine&quot;,&quot;groupId&quot;:null,&quot;id&quot;:&quot;c1&quot;,&quot;locked&quot;:false,&quot;mapping&quot;:{&quot;category&quot;:&quot;incident_week_1&quot;,&quot;value&quot;:&quot;p1_incidents_2&quot;,&quot;x&quot;:&quot;incident_week_1&quot;,&quot;y&quot;:&quot;p1_incidents_2&quot;},&quot;message_role&quot;:&quot;Supporting Evidence&quot;,&quot;order&quot;:5,&quot;revealed&quot;:true,&quot;rows&quot;:[{&quot;label&quot;:&quot;W36-1&quot;,&quot;value&quot;:42},{&quot;label&quot;:&quot;W36-2&quot;,&quot;value&quot;:37},{&quot;label&quot;:&quot;W36-3&quot;,&quot;value&quot;:31},{&quot;label&quot;:&quot;W36-4&quot;,&quot;value&quot;:25},{&quot;label&quot;:&quot;W36-5&quot;,&quot;value&quot;:19},{&quot;label&quot;:&quot;W36-6&quot;,&quot;value&quot;:15}],&quot;section_id&quot;:&quot;analysis&quot;,&quot;section_title&quot;:&quot;Analysis&quot;,&quot;showTitle&quot;:true,&quot;textAlign&quot;:&quot;left&quot;,&quot;title&quot;:&quot;P1 incidents per week&quot;,&quot;type&quot;:&quot;chart&quot;,&quot;variant&quot;:&quot;line&quot;,&quot;view_type&quot;:&quot;line&quot;,&quot;weight&quot;:1.8,&quot;z&quot;:1,&quot;observations&quot;:[{&quot;label&quot;:&quot;W36-1&quot;,&quot;value&quot;:42},{&quot;label&quot;:&quot;W36-2&quot;,&quot;value&quot;:37},{&quot;label&quot;:&quot;W36-3&quot;,&quot;value&quot;:31},{&quot;label&quot;:&quot;W36-4&quot;,&quot;value&quot;:25},{&quot;label&quot;:&quot;W36-5&quot;,&quot;value&quot;:19},{&quot;label&quot;:&quot;W36-6&quot;,&quot;value&quot;:15}],&quot;x&quot;:805.0654545454545,&quot;y&quot;:413.76,&quot;w&quot;:751.7090909090908,&quot;h&quot;:364.79999999999995}"/>
          <p:cNvGraphicFramePr>
            <a:graphicFrameLocks noGrp="1"/>
          </p:cNvGraphicFramePr>
          <p:nvPr/>
        </p:nvGraphicFramePr>
        <p:xfrm>
          <a:off x="5033516" y="2586954"/>
          <a:ext cx="4699915" cy="228084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5],&quot;composition_role&quot;:&quot;supporting_analysis&quot;,&quot;cross&quot;:null,&quot;data&quot;:[[&quot;W36-1&quot;,136],[&quot;W36-2&quot;,102],[&quot;W36-3&quot;,84],[&quot;W36-4&quot;,61],[&quot;W36-5&quot;,39],[&quot;W36-6&quot;,22]],&quot;dataset_id&quot;:&quot;dataset-mufvg1od-o2h3qs&quot;,&quot;drill&quot;:null,&quot;element&quot;:&quot;Line Chart&quot;,&quot;engine&quot;:&quot;CoreChartEngine&quot;,&quot;groupId&quot;:null,&quot;id&quot;:&quot;c2&quot;,&quot;locked&quot;:false,&quot;mapping&quot;:{&quot;category&quot;:&quot;incident_week_1&quot;,&quot;value&quot;:&quot;p1_incidents_2&quot;,&quot;x&quot;:&quot;incident_week_1&quot;,&quot;y&quot;:&quot;customer_impact_hours_3&quot;},&quot;message_role&quot;:&quot;Supporting Evidence&quot;,&quot;order&quot;:6,&quot;revealed&quot;:true,&quot;rows&quot;:[{&quot;label&quot;:&quot;W36-1&quot;,&quot;value&quot;:136},{&quot;label&quot;:&quot;W36-2&quot;,&quot;value&quot;:102},{&quot;label&quot;:&quot;W36-3&quot;,&quot;value&quot;:84},{&quot;label&quot;:&quot;W36-4&quot;,&quot;value&quot;:61},{&quot;label&quot;:&quot;W36-5&quot;,&quot;value&quot;:39},{&quot;label&quot;:&quot;W36-6&quot;,&quot;value&quot;:22}],&quot;section_id&quot;:&quot;analysis&quot;,&quot;section_title&quot;:&quot;Analysis&quot;,&quot;showTitle&quot;:true,&quot;textAlign&quot;:&quot;left&quot;,&quot;title&quot;:&quot;Customer impact hours per week&quot;,&quot;type&quot;:&quot;chart&quot;,&quot;variant&quot;:&quot;line&quot;,&quot;view_type&quot;:&quot;line&quot;,&quot;weight&quot;:1.8,&quot;z&quot;:2,&quot;observations&quot;:[{&quot;label&quot;:&quot;W36-1&quot;,&quot;value&quot;:136},{&quot;label&quot;:&quot;W36-2&quot;,&quot;value&quot;:102},{&quot;label&quot;:&quot;W36-3&quot;,&quot;value&quot;:84},{&quot;label&quot;:&quot;W36-4&quot;,&quot;value&quot;:61},{&quot;label&quot;:&quot;W36-5&quot;,&quot;value&quot;:39},{&quot;label&quot;:&quot;W36-6&quot;,&quot;value&quot;:22}],&quot;x&quot;:470.3030303030303,&quot;y&quot;:786.56,&quot;w&quot;:659.3939393939394,&quot;h&quot;:320.0}"/>
          <p:cNvGraphicFramePr>
            <a:graphicFrameLocks noGrp="1"/>
          </p:cNvGraphicFramePr>
          <p:nvPr/>
        </p:nvGraphicFramePr>
        <p:xfrm>
          <a:off x="2940479" y="4917814"/>
          <a:ext cx="4122733" cy="200073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descr="VisualizerSemantic:{&quot;body&quot;:&quot;P1 tickets decline from 42 to 15 and customer impact from 136 to 22 hours across six weekly checks after queue isolation. The decline tracks the mitigated period; it does not prove the retry governor alone caused recovery. The next deploy must retain per-tenant queue ceilings and compare the matched traffic cohort.&quot;,&quot;composition_role&quot;:&quot;narrative_interpretation&quot;,&quot;element&quot;:&quot;Body Narrative&quot;,&quot;engine&quot;:&quot;TextEngine&quot;,&quot;groupId&quot;:null,&quot;id&quot;:&quot;c11&quot;,&quot;locked&quot;:false,&quot;message_role&quot;:&quot;Context&quot;,&quot;order&quot;:7,&quot;section_id&quot;:&quot;analysis&quot;,&quot;section_title&quot;:&quot;Analysis&quot;,&quot;showTitle&quot;:false,&quot;text&quot;:&quot;P1 tickets decline from 42 to 15 and customer impact from 136 to 22 hours across six weekly checks after queue isolation. The decline tracks the mitigated period; it does not prove the retry governor alone caused recovery. The next deploy must retain per-tenant queue ceilings and compare the matched traffic cohort.&quot;,&quot;textAlign&quot;:&quot;left&quot;,&quot;title&quot;:&quot;Body Narrative&quot;,&quot;type&quot;:&quot;text&quot;,&quot;weight&quot;:1.1,&quot;z&quot;:11,&quot;x&quot;:43.22545454545457,&quot;y&quot;:538.16,&quot;w&quot;:747.8399999999999,&quot;h&quot;:116.0}"/>
          <p:cNvSpPr/>
          <p:nvPr/>
        </p:nvSpPr>
        <p:spPr>
          <a:xfrm>
            <a:off x="270258" y="3364741"/>
            <a:ext cx="4675725" cy="72526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P1 tickets decline from 42 to 15 and customer impact from 136 to 22 hours across six weekly checks after queue isolation. The decline tracks the mitigated period; it does not prove the retry governor alone caused recovery. The next deploy must retain per-tenant queue ceilings and compare the matched traffic cohort.</a:t>
            </a:r>
          </a:p>
        </p:txBody>
      </p:sp>
      <p:sp>
        <p:nvSpPr>
          <p:cNvPr id="11" name="VIZ::Incident response and release gate::continuation-reference" descr="VisualizerSemantic:{&quot;composition_role&quot;:&quot;causal_evidence&quot;,&quot;direction&quot;:&quot;right&quot;,&quot;edges&quot;:[[&quot;Scope tenant impact&quot;,&quot;Isolate retry queue&quot;],[&quot;Isolate retry queue&quot;,&quot;Replay delayed callbacks&quot;],[&quot;Replay delayed callbacks&quot;,&quot;Verify matched shard&quot;],[&quot;Verify matched shard&quot;,&quot;Reopen rollout gate&quot;]],&quot;element&quot;:&quot;Process Flow&quot;,&quot;engine&quot;:&quot;DiagramEngine&quot;,&quot;groupId&quot;:null,&quot;id&quot;:&quot;c8&quot;,&quot;locked&quot;:false,&quot;message_role&quot;:&quot;Primary Evidence&quot;,&quot;nodes&quot;:[&quot;Scope tenant impact&quot;,&quot;Isolate retry queue&quot;,&quot;Replay delayed callbacks&quot;,&quot;Verify matched shard&quot;,&quot;Reopen rollout gate&quot;],&quot;order&quot;:9,&quot;section_id&quot;:&quot;evidence&quot;,&quot;section_title&quot;:&quot;Evidence&quot;,&quot;showTitle&quot;:true,&quot;textAlign&quot;:&quot;left&quot;,&quot;title&quot;:&quot;Incident response and release gate&quot;,&quot;type&quot;:&quot;diagram&quot;,&quot;weight&quot;:1.5,&quot;z&quot;:8,&quot;x&quot;:457.8,&quot;y&quot;:1140.56,&quot;w&quot;:684.4,&quot;h&quot;:233.0}"/>
          <p:cNvSpPr/>
          <p:nvPr/>
        </p:nvSpPr>
        <p:spPr>
          <a:xfrm>
            <a:off x="2862306" y="7131131"/>
            <a:ext cx="4279078" cy="1456787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12" name="VIZ::Risk Callout" descr="VisualizerSemantic:{&quot;composition_role&quot;:&quot;decision_risk&quot;,&quot;detail&quot;:&quot;Core traffic recovered, but high-value customer retries exceeded the 90-minute objective. Do not convert observed recovery into causal proof.&quot;,&quot;element&quot;:&quot;Risk Callout&quot;,&quot;engine&quot;:&quot;DecisionCompositeEngine&quot;,&quot;groupId&quot;:null,&quot;id&quot;:&quot;c7&quot;,&quot;locked&quot;:false,&quot;message_role&quot;:&quot;Risk&quot;,&quot;order&quot;:10,&quot;section_id&quot;:&quot;decision&quot;,&quot;section_title&quot;:&quot;Decision&quot;,&quot;showTitle&quot;:false,&quot;statement&quot;:&quot;Keep production rollout gated on the matched-shard saturation probe&quot;,&quot;status&quot;:&quot;Monitor&quot;,&quot;textAlign&quot;:&quot;left&quot;,&quot;title&quot;:&quot;Risk Callout&quot;,&quot;type&quot;:&quot;decision&quot;,&quot;weight&quot;:1.15,&quot;z&quot;:7,&quot;x&quot;:14.0,&quot;y&quot;:1700.46,&quot;w&quot;:1572.0,&quot;h&quot;:105.28000000000002}"/>
          <p:cNvSpPr/>
          <p:nvPr/>
        </p:nvSpPr>
        <p:spPr>
          <a:xfrm>
            <a:off x="87532" y="10631798"/>
            <a:ext cx="9828626" cy="65824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Keep production rollout gated on the matched-shard saturation probe</a:t>
            </a:r>
            <a:br/>
            <a:r>
              <a:t>Core traffic recovered, but high-value customer retries exceeded the 90-minute objective. Do not convert observed recovery into causal proof.</a:t>
            </a:r>
            <a:br/>
            <a:r>
              <a:t>Monitor</a:t>
            </a:r>
          </a:p>
        </p:txBody>
      </p:sp>
      <p:sp>
        <p:nvSpPr>
          <p:cNvPr id="13" name="VIZ::Key Takeaway" descr="VisualizerSemantic:{&quot;body&quot;:&quot;Next step: keep the retry governor at 0.82, publish the customer reconciliation, and reopen rollout only after the matched shard passes the 30-minute saturation probe.&quot;,&quot;composition_role&quot;:&quot;conclusion&quot;,&quot;element&quot;:&quot;Key Takeaway&quot;,&quot;engine&quot;:&quot;TextEngine&quot;,&quot;groupId&quot;:null,&quot;id&quot;:&quot;c12&quot;,&quot;locked&quot;:false,&quot;message_role&quot;:&quot;Action&quot;,&quot;order&quot;:11,&quot;section_id&quot;:&quot;delivery&quot;,&quot;section_title&quot;:&quot;Next steps&quot;,&quot;showTitle&quot;:false,&quot;text&quot;:&quot;Next step: keep the retry governor at 0.82, publish the customer reconciliation, and reopen rollout only after the matched shard passes the 30-minute saturation probe.&quot;,&quot;textAlign&quot;:&quot;left&quot;,&quot;title&quot;:&quot;Key Takeaway&quot;,&quot;type&quot;:&quot;text&quot;,&quot;weight&quot;:1.1,&quot;z&quot;:12,&quot;x&quot;:14.0,&quot;y&quot;:1839.74,&quot;w&quot;:1572.0,&quot;h&quot;:96.0}"/>
          <p:cNvSpPr/>
          <p:nvPr/>
        </p:nvSpPr>
        <p:spPr>
          <a:xfrm>
            <a:off x="87532" y="11502619"/>
            <a:ext cx="9828626" cy="60022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keep the retry governor at 0.82, publish the customer reconciliation, and reopen rollout only after the matched shard passes the 30-minute saturation probe.</a:t>
            </a:r>
          </a:p>
        </p:txBody>
      </p:sp>
      <p:graphicFrame>
        <p:nvGraphicFramePr>
          <p:cNvPr id="14" name="VIZ::Clean Table" descr="VisualizerSemantic:{&quot;composition_role&quot;:&quot;detailed_evidence&quot;,&quot;customTable&quot;:{&quot;headers&quot;:[&quot;Service / incident reference&quot;,&quot;Impact&quot;,&quot;Owner&quot;,&quot;Status&quot;],&quot;rows&quot;:[[&quot;edge-api / INC-2026-0918-447&quot;,&quot;96 min degraded&quot;,&quot;Platform Reliability&quot;,&quot;Reconciliation pending&quot;],[&quot;tenant-gateway / TRACE-73A91F2C&quot;,&quot;1,842 retrying accounts&quot;,&quot;Edge Operations&quot;,&quot;Retry governor 0.82&quot;],[&quot;billing-webhook / INC-2026-0919-021&quot;,&quot;14 late callbacks&quot;,&quot;Payments SRE&quot;,&quot;Replay verified&quot;]]},&quot;element&quot;:&quot;Clean Table&quot;,&quot;engine&quot;:&quot;TableEngine&quot;,&quot;groupId&quot;:null,&quot;id&quot;:&quot;c6&quot;,&quot;locked&quot;:false,&quot;message_role&quot;:&quot;Primary Evidence&quot;,&quot;order&quot;:8,&quot;rows&quot;:[[&quot;edge-api / INC-2026-0918-447&quot;,&quot;96 min degraded&quot;,&quot;Platform Reliability&quot;,&quot;Reconciliation pending&quot;],[&quot;tenant-gateway / TRACE-73A91F2C&quot;,&quot;1,842 retrying accounts&quot;,&quot;Edge Operations&quot;,&quot;Retry governor 0.82&quot;],[&quot;billing-webhook / INC-2026-0919-021&quot;,&quot;14 late callbacks&quot;,&quot;Payments SRE&quot;,&quot;Replay verified&quot;]],&quot;section_id&quot;:&quot;evidence&quot;,&quot;section_title&quot;:&quot;Evidence&quot;,&quot;showTitle&quot;:false,&quot;textAlign&quot;:&quot;left&quot;,&quot;title&quot;:&quot;Clean Table&quot;,&quot;type&quot;:&quot;table&quot;,&quot;weight&quot;:1.55,&quot;z&quot;:6,&quot;x&quot;:14.0,&quot;y&quot;:1381.56,&quot;w&quot;:1572.0,&quot;h&quot;:284.90000000000003}"/>
          <p:cNvGraphicFramePr>
            <a:graphicFrameLocks noGrp="1"/>
          </p:cNvGraphicFramePr>
          <p:nvPr/>
        </p:nvGraphicFramePr>
        <p:xfrm>
          <a:off x="87532" y="8637937"/>
          <a:ext cx="9828626" cy="1781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156"/>
                <a:gridCol w="2457156"/>
                <a:gridCol w="2457156"/>
                <a:gridCol w="2457158"/>
              </a:tblGrid>
              <a:tr h="445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Service / incident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45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edge-api / INC-2026-0918-447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96 min degraded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Platform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Reconciliation pending</a:t>
                      </a:r>
                    </a:p>
                  </a:txBody>
                  <a:tcPr/>
                </a:tc>
              </a:tr>
              <a:tr h="445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tenant-gateway / TRACE-73A91F2C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1,842 retrying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Edge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Retry governor 0.82</a:t>
                      </a:r>
                    </a:p>
                  </a:txBody>
                  <a:tcPr/>
                </a:tc>
              </a:tr>
              <a:tr h="4453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billing-webhook / INC-2026-0919-021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14 late callbacks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Payments SRE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Replay 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incident_week_1&quot;,&quot;name&quot;:&quot;Incident week&quot;,&quot;nullable&quot;:false,&quot;profile&quot;:{&quot;distinct&quot;:6,&quot;missing&quot;:0},&quot;semantic_tags&quot;:[],&quot;type&quot;:&quot;string&quot;},{&quot;id&quot;:&quot;p1_incidents_2&quot;,&quot;name&quot;:&quot;P1 incidents&quot;,&quot;nullable&quot;:false,&quot;profile&quot;:{&quot;distinct&quot;:6,&quot;missing&quot;:0},&quot;semantic_tags&quot;:[],&quot;type&quot;:&quot;integer&quot;,&quot;unit&quot;:&quot;&quot;},{&quot;id&quot;:&quot;customer_impact_hours_3&quot;,&quot;name&quot;:&quot;Customer impact hours&quot;,&quot;nullable&quot;:false,&quot;profile&quot;:{&quot;distinct&quot;:6,&quot;missing&quot;:0},&quot;semantic_tags&quot;:[],&quot;type&quot;:&quot;integer&quot;,&quot;unit&quot;:&quot;&quot;}],&quot;id&quot;:&quot;dataset-mufvg1od-o2h3qs&quot;,&quot;metadata&quot;:{&quot;header&quot;:{&quot;confidence&quot;:0.8333333333333334,&quot;present&quot;:true,&quot;source_row&quot;:0}},&quot;name&quot;:&quot;Pasted data&quot;,&quot;revision&quot;:2,&quot;rows&quot;:[[&quot;W36-1&quot;,42,136],[&quot;W36-2&quot;,37,102],[&quot;W36-3&quot;,31,84],[&quot;W36-4&quot;,25,61],[&quot;W36-5&quot;,19,39],[&quot;W36-6&quot;,15,22]],&quot;source&quot;:{&quot;imported_at&quot;:&quot;2026-09-24T18:34:49.597Z&quot;,&quot;kind&quot;:&quot;clipboard&quot;,&quot;label&quot;:&quot;TSV&quot;},&quot;warnings&quot;:[]}],&quot;groups&quot;:{},&quot;items&quot;:[{&quot;brush&quot;:[0,5],&quot;composition_role&quot;:&quot;primary_analysis&quot;,&quot;cross&quot;:null,&quot;data&quot;:[[&quot;Lot A&quot;,64],[&quot;Lot B&quot;,72],[&quot;Lot C&quot;,68],[&quot;Lot D&quot;,81],[&quot;Lot E&quot;,77],[&quot;Lot F&quot;,89]],&quot;dataset_id&quot;:&quot;dataset-mufvg1od-o2h3qs&quot;,&quot;drill&quot;:null,&quot;element&quot;:&quot;Line Chart&quot;,&quot;engine&quot;:&quot;CoreChartEngine&quot;,&quot;groupId&quot;:null,&quot;id&quot;:&quot;c1&quot;,&quot;locked&quot;:false,&quot;mapping&quot;:{&quot;category&quot;:&quot;incident_week_1&quot;,&quot;value&quot;:&quot;p1_incidents_2&quot;,&quot;x&quot;:&quot;incident_week_1&quot;,&quot;y&quot;:&quot;p1_incidents_2&quot;},&quot;message_role&quot;:&quot;Supporting Evidence&quot;,&quot;order&quot;:5,&quot;revealed&quot;:true,&quot;rows&quot;:[{&quot;label&quot;:&quot;Lot A&quot;,&quot;value&quot;:64},{&quot;label&quot;:&quot;Lot B&quot;,&quot;value&quot;:72},{&quot;label&quot;:&quot;Lot C&quot;,&quot;value&quot;:68},{&quot;label&quot;:&quot;Lot D&quot;,&quot;value&quot;:81},{&quot;label&quot;:&quot;Lot E&quot;,&quot;value&quot;:77},{&quot;label&quot;:&quot;Lot F&quot;,&quot;value&quot;:89}],&quot;section_id&quot;:&quot;analysis&quot;,&quot;section_title&quot;:&quot;Analysis&quot;,&quot;showTitle&quot;:true,&quot;textAlign&quot;:&quot;left&quot;,&quot;title&quot;:&quot;P1 incidents per week&quot;,&quot;type&quot;:&quot;chart&quot;,&quot;variant&quot;:&quot;line&quot;,&quot;view_type&quot;:&quot;line&quot;,&quot;weight&quot;:1.8,&quot;z&quot;:1},{&quot;brush&quot;:[0,5],&quot;composition_role&quot;:&quot;supporting_analysis&quot;,&quot;cross&quot;:null,&quot;data&quot;:[[&quot;Lot A&quot;,64],[&quot;Lot B&quot;,72],[&quot;Lot C&quot;,68],[&quot;Lot D&quot;,81],[&quot;Lot E&quot;,77],[&quot;Lot F&quot;,89]],&quot;dataset_id&quot;:&quot;dataset-mufvg1od-o2h3qs&quot;,&quot;drill&quot;:null,&quot;element&quot;:&quot;Line Chart&quot;,&quot;engine&quot;:&quot;CoreChartEngine&quot;,&quot;groupId&quot;:null,&quot;id&quot;:&quot;c2&quot;,&quot;locked&quot;:false,&quot;mapping&quot;:{&quot;category&quot;:&quot;incident_week_1&quot;,&quot;value&quot;:&quot;p1_incidents_2&quot;,&quot;x&quot;:&quot;incident_week_1&quot;,&quot;y&quot;:&quot;customer_impact_hours_3&quot;},&quot;message_role&quot;:&quot;Supporting Evidence&quot;,&quot;order&quot;:6,&quot;revealed&quot;:true,&quot;rows&quot;:[{&quot;label&quot;:&quot;Lot A&quot;,&quot;value&quot;:64},{&quot;label&quot;:&quot;Lot B&quot;,&quot;value&quot;:72},{&quot;label&quot;:&quot;Lot C&quot;,&quot;value&quot;:68},{&quot;label&quot;:&quot;Lot D&quot;,&quot;value&quot;:81},{&quot;label&quot;:&quot;Lot E&quot;,&quot;value&quot;:77},{&quot;label&quot;:&quot;Lot F&quot;,&quot;value&quot;:89}],&quot;section_id&quot;:&quot;analysis&quot;,&quot;section_title&quot;:&quot;Analysis&quot;,&quot;showTitle&quot;:true,&quot;textAlign&quot;:&quot;left&quot;,&quot;title&quot;:&quot;Customer impact hours per week&quot;,&quot;type&quot;:&quot;chart&quot;,&quot;variant&quot;:&quot;line&quot;,&quot;view_type&quot;:&quot;line&quot;,&quot;weight&quot;:1.8,&quot;z&quot;:2},{&quot;capability_overrides&quot;:{&quot;target&quot;:99.9},&quot;composition_role&quot;:&quot;hero_metric&quot;,&quot;delta&quot;:-0.48,&quot;element&quot;:&quot;Hero KPI&quot;,&quot;engine&quot;:&quot;MetricEngine&quot;,&quot;groupId&quot;:null,&quot;id&quot;:&quot;c3&quot;,&quot;locked&quot;:false,&quot;message_role&quot;:&quot;Headline&quot;,&quot;order&quot;:2,&quot;period&quot;:&quot;vs prior period&quot;,&quot;section_id&quot;:&quot;performance&quot;,&quot;section_title&quot;:&quot;Performance&quot;,&quot;showTitle&quot;:true,&quot;target&quot;:99.9,&quot;textAlign&quot;:&quot;left&quot;,&quot;title&quot;:&quot;Availability during event&quot;,&quot;type&quot;:&quot;metric&quot;,&quot;unit&quot;:&quot;%&quot;,&quot;value&quot;:99.42,&quot;weight&quot;:1.15,&quot;z&quot;:3},{&quot;capability_overrides&quot;:{&quot;target&quot;:8},&quot;composition_role&quot;:&quot;hero_metric&quot;,&quot;delta&quot;:-114,&quot;element&quot;:&quot;Hero KPI&quot;,&quot;engine&quot;:&quot;MetricEngine&quot;,&quot;groupId&quot;:null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hours&quot;},&quot;order&quot;:3,&quot;period&quot;:&quot;vs prior period&quot;,&quot;section_id&quot;:&quot;performance&quot;,&quot;section_title&quot;:&quot;Performance&quot;,&quot;showTitle&quot;:true,&quot;target&quot;:8,&quot;textAlign&quot;:&quot;left&quot;,&quot;title&quot;:&quot;Latest weekly customer impact hours · from 136h&quot;,&quot;type&quot;:&quot;metric&quot;,&quot;unit&quot;:&quot;hours&quot;,&quot;value&quot;:22,&quot;weight&quot;:1.15,&quot;z&quot;:4},{&quot;after&quot;:15,&quot;before&quot;:42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cases&quot;},&quot;order&quot;:4,&quot;section_id&quot;:&quot;performance&quot;,&quot;section_title&quot;:&quot;Performance&quot;,&quot;showTitle&quot;:true,&quot;textAlign&quot;:&quot;left&quot;,&quot;title&quot;:&quot;P1 incidents · initial to latest&quot;,&quot;type&quot;:&quot;comparison&quot;,&quot;unit&quot;:&quot;cases&quot;,&quot;weight&quot;:1.15,&quot;z&quot;:5},{&quot;composition_role&quot;:&quot;detailed_evidence&quot;,&quot;customTable&quot;:{&quot;headers&quot;:[&quot;Service / incident reference&quot;,&quot;Impact&quot;,&quot;Owner&quot;,&quot;Status&quot;],&quot;rows&quot;:[[&quot;edge-api / INC-2026-0918-447&quot;,&quot;96 min degraded&quot;,&quot;Platform Reliability&quot;,&quot;Reconciliation pending&quot;],[&quot;tenant-gateway / TRACE-73A91F2C&quot;,&quot;1,842 retrying accounts&quot;,&quot;Edge Operations&quot;,&quot;Retry governor 0.82&quot;],[&quot;billing-webhook / INC-2026-0919-021&quot;,&quot;14 late callbacks&quot;,&quot;Payments SRE&quot;,&quot;Replay verified&quot;]]},&quot;element&quot;:&quot;Clean Table&quot;,&quot;engine&quot;:&quot;TableEngine&quot;,&quot;groupId&quot;:null,&quot;id&quot;:&quot;c6&quot;,&quot;locked&quot;:false,&quot;message_role&quot;:&quot;Primary Evidence&quot;,&quot;order&quot;:8,&quot;rows&quot;:[[&quot;edge-api / INC-2026-0918-447&quot;,&quot;96 min degraded&quot;,&quot;Platform Reliability&quot;,&quot;Reconciliation pending&quot;],[&quot;tenant-gateway / TRACE-73A91F2C&quot;,&quot;1,842 retrying accounts&quot;,&quot;Edge Operations&quot;,&quot;Retry governor 0.82&quot;],[&quot;billing-webhook / INC-2026-0919-021&quot;,&quot;14 late callbacks&quot;,&quot;Payments SRE&quot;,&quot;Replay verified&quot;]],&quot;section_id&quot;:&quot;evidence&quot;,&quot;section_title&quot;:&quot;Evidence&quot;,&quot;showTitle&quot;:false,&quot;textAlign&quot;:&quot;left&quot;,&quot;title&quot;:&quot;Clean Table&quot;,&quot;type&quot;:&quot;table&quot;,&quot;weight&quot;:1.55,&quot;z&quot;:6},{&quot;composition_role&quot;:&quot;decision_risk&quot;,&quot;detail&quot;:&quot;Core traffic recovered, but high-value customer retries exceeded the 90-minute objective. Do not convert observed recovery into causal proof.&quot;,&quot;element&quot;:&quot;Risk Callout&quot;,&quot;engine&quot;:&quot;DecisionCompositeEngine&quot;,&quot;groupId&quot;:null,&quot;id&quot;:&quot;c7&quot;,&quot;locked&quot;:false,&quot;message_role&quot;:&quot;Risk&quot;,&quot;order&quot;:10,&quot;section_id&quot;:&quot;decision&quot;,&quot;section_title&quot;:&quot;Decision&quot;,&quot;showTitle&quot;:false,&quot;statement&quot;:&quot;Keep production rollout gated on the matched-shard saturation probe&quot;,&quot;status&quot;:&quot;Monitor&quot;,&quot;textAlign&quot;:&quot;left&quot;,&quot;title&quot;:&quot;Risk Callout&quot;,&quot;type&quot;:&quot;decision&quot;,&quot;weight&quot;:1.15,&quot;z&quot;:7},{&quot;composition_role&quot;:&quot;causal_evidence&quot;,&quot;direction&quot;:&quot;right&quot;,&quot;edges&quot;:[[&quot;Scope tenant impact&quot;,&quot;Isolate retry queue&quot;],[&quot;Isolate retry queue&quot;,&quot;Replay delayed callbacks&quot;],[&quot;Replay delayed callbacks&quot;,&quot;Verify matched shard&quot;],[&quot;Verify matched shard&quot;,&quot;Reopen rollout gate&quot;]],&quot;element&quot;:&quot;Process Flow&quot;,&quot;engine&quot;:&quot;DiagramEngine&quot;,&quot;groupId&quot;:null,&quot;id&quot;:&quot;c8&quot;,&quot;locked&quot;:false,&quot;message_role&quot;:&quot;Primary Evidence&quot;,&quot;nodes&quot;:[&quot;Scope tenant impact&quot;,&quot;Isolate retry queue&quot;,&quot;Replay delayed callbacks&quot;,&quot;Verify matched shard&quot;,&quot;Reopen rollout gate&quot;],&quot;order&quot;:9,&quot;section_id&quot;:&quot;evidence&quot;,&quot;section_title&quot;:&quot;Evidence&quot;,&quot;showTitle&quot;:true,&quot;textAlign&quot;:&quot;left&quot;,&quot;title&quot;:&quot;Incident response and release gate&quot;,&quot;type&quot;:&quot;diagram&quot;,&quot;weight&quot;:1.5,&quot;z&quot;:8},{&quot;body&quot;:&quot;INC-2026-0918-447 restored core traffic, but a long-tail retry storm left high-value customers degraded for 96 minutes.&quot;,&quot;composition_role&quot;:&quot;report_headline&quot;,&quot;element&quot;:&quot;Hero Title&quot;,&quot;engine&quot;:&quot;TextEngine&quot;,&quot;groupId&quot;:null,&quot;id&quot;:&quot;c9&quot;,&quot;locked&quot;:false,&quot;message_role&quot;:&quot;Headline&quot;,&quot;order&quot;:0,&quot;section_id&quot;:&quot;opening&quot;,&quot;section_title&quot;:&quot;Overview&quot;,&quot;showTitle&quot;:false,&quot;text&quot;:&quot;INC-2026-0918-447 restored core traffic, but a long-tail retry storm left high-value customers degraded for 96 minutes.&quot;,&quot;textAlign&quot;:&quot;left&quot;,&quot;title&quot;:&quot;Hero Title&quot;,&quot;type&quot;:&quot;text&quot;,&quot;weight&quot;:1.1,&quot;z&quot;:9},{&quot;body&quot;:&quot;Edge API · us-central-2 / shard 17 · incident window 2026-09-18 14:06–15:42 UTC · 31,884 requests failed or retried · incident commander: Platform Reliability.&quot;,&quot;composition_role&quot;:&quot;context&quot;,&quot;element&quot;:&quot;Body Narrative&quot;,&quot;engine&quot;:&quot;TextEngine&quot;,&quot;groupId&quot;:null,&quot;id&quot;:&quot;c10&quot;,&quot;locked&quot;:false,&quot;message_role&quot;:&quot;Context&quot;,&quot;order&quot;:1,&quot;section_id&quot;:&quot;opening&quot;,&quot;section_title&quot;:&quot;Overview&quot;,&quot;showTitle&quot;:false,&quot;text&quot;:&quot;Edge API · us-central-2 / shard 17 · incident window 2026-09-18 14:06–15:42 UTC · 31,884 requests failed or retried · incident commander: Platform Reliability.&quot;,&quot;textAlign&quot;:&quot;left&quot;,&quot;title&quot;:&quot;Body Narrative&quot;,&quot;type&quot;:&quot;text&quot;,&quot;weight&quot;:1.1,&quot;z&quot;:10},{&quot;body&quot;:&quot;P1 tickets decline from 42 to 15 and customer impact from 136 to 22 hours across six weekly checks after queue isolation. The decline tracks the mitigated period; it does not prove the retry governor alone caused recovery. The next deploy must retain per-tenant queue ceilings and compare the matched traffic cohort.&quot;,&quot;composition_role&quot;:&quot;narrative_interpretation&quot;,&quot;element&quot;:&quot;Body Narrative&quot;,&quot;engine&quot;:&quot;TextEngine&quot;,&quot;groupId&quot;:null,&quot;id&quot;:&quot;c11&quot;,&quot;locked&quot;:false,&quot;message_role&quot;:&quot;Context&quot;,&quot;order&quot;:7,&quot;section_id&quot;:&quot;analysis&quot;,&quot;section_title&quot;:&quot;Analysis&quot;,&quot;showTitle&quot;:false,&quot;text&quot;:&quot;P1 tickets decline from 42 to 15 and customer impact from 136 to 22 hours across six weekly checks after queue isolation. The decline tracks the mitigated period; it does not prove the retry governor alone caused recovery. The next deploy must retain per-tenant queue ceilings and compare the matched traffic cohort.&quot;,&quot;textAlign&quot;:&quot;left&quot;,&quot;title&quot;:&quot;Body Narrative&quot;,&quot;type&quot;:&quot;text&quot;,&quot;weight&quot;:1.1,&quot;z&quot;:11},{&quot;body&quot;:&quot;Next step: keep the retry governor at 0.82, publish the customer reconciliation, and reopen rollout only after the matched shard passes the 30-minute saturation probe.&quot;,&quot;composition_role&quot;:&quot;conclusion&quot;,&quot;element&quot;:&quot;Key Takeaway&quot;,&quot;engine&quot;:&quot;TextEngine&quot;,&quot;groupId&quot;:null,&quot;id&quot;:&quot;c12&quot;,&quot;locked&quot;:false,&quot;message_role&quot;:&quot;Action&quot;,&quot;order&quot;:11,&quot;section_id&quot;:&quot;delivery&quot;,&quot;section_title&quot;:&quot;Next steps&quot;,&quot;showTitle&quot;:false,&quot;text&quot;:&quot;Next step: keep the retry governor at 0.82, publish the customer reconciliation, and reopen rollout only after the matched shard passes the 30-minute saturation probe.&quot;,&quot;textAlign&quot;:&quot;left&quot;,&quot;title&quot;:&quot;Key Takeaway&quot;,&quot;type&quot;:&quot;text&quot;,&quot;weight&quot;:1.1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Incident response and release gate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512064" y="384048"/>
            <a:ext cx="8979563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Incident response and release gate · Continued 1/1</a:t>
            </a:r>
          </a:p>
        </p:txBody>
      </p:sp>
      <p:sp>
        <p:nvSpPr>
          <p:cNvPr id="3" name="VIZ::Incident response and release gate::Scope tenant impact::node-1" descr="VisualizerDiagramNode:{&quot;item_id&quot;:&quot;c8&quot;,&quot;node_index&quot;:0,&quot;label&quot;:&quot;Scope tenant impact&quot;,&quot;page&quot;:1,&quot;page_count&quot;:1,&quot;direction&quot;:&quot;right&quot;}"/>
          <p:cNvSpPr/>
          <p:nvPr/>
        </p:nvSpPr>
        <p:spPr>
          <a:xfrm>
            <a:off x="512064" y="5967983"/>
            <a:ext cx="1634978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Scope tenant impact</a:t>
            </a:r>
          </a:p>
        </p:txBody>
      </p:sp>
      <p:sp>
        <p:nvSpPr>
          <p:cNvPr id="4" name="VIZ::Incident response and release gate::Isolate retry queue::node-2" descr="VisualizerDiagramNode:{&quot;item_id&quot;:&quot;c8&quot;,&quot;node_index&quot;:1,&quot;label&quot;:&quot;Isolate retry queue&quot;,&quot;page&quot;:1,&quot;page_count&quot;:1,&quot;direction&quot;:&quot;right&quot;}"/>
          <p:cNvSpPr/>
          <p:nvPr/>
        </p:nvSpPr>
        <p:spPr>
          <a:xfrm>
            <a:off x="2348210" y="5967983"/>
            <a:ext cx="1634978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Isolate retry queue</a:t>
            </a:r>
          </a:p>
        </p:txBody>
      </p:sp>
      <p:sp>
        <p:nvSpPr>
          <p:cNvPr id="5" name="VIZ::Incident response and release gate::Replay delayed callbacks::node-3" descr="VisualizerDiagramNode:{&quot;item_id&quot;:&quot;c8&quot;,&quot;node_index&quot;:2,&quot;label&quot;:&quot;Replay delayed callbacks&quot;,&quot;page&quot;:1,&quot;page_count&quot;:1,&quot;direction&quot;:&quot;right&quot;}"/>
          <p:cNvSpPr/>
          <p:nvPr/>
        </p:nvSpPr>
        <p:spPr>
          <a:xfrm>
            <a:off x="4184356" y="5967983"/>
            <a:ext cx="1634978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Replay delayed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callbacks</a:t>
            </a:r>
          </a:p>
        </p:txBody>
      </p:sp>
      <p:sp>
        <p:nvSpPr>
          <p:cNvPr id="6" name="VIZ::Incident response and release gate::Verify matched shard::node-4" descr="VisualizerDiagramNode:{&quot;item_id&quot;:&quot;c8&quot;,&quot;node_index&quot;:3,&quot;label&quot;:&quot;Verify matched shard&quot;,&quot;page&quot;:1,&quot;page_count&quot;:1,&quot;direction&quot;:&quot;right&quot;}"/>
          <p:cNvSpPr/>
          <p:nvPr/>
        </p:nvSpPr>
        <p:spPr>
          <a:xfrm>
            <a:off x="6020502" y="5967983"/>
            <a:ext cx="1634978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matched shard</a:t>
            </a:r>
          </a:p>
        </p:txBody>
      </p:sp>
      <p:sp>
        <p:nvSpPr>
          <p:cNvPr id="7" name="VIZ::Incident response and release gate::Reopen rollout gate::node-5" descr="VisualizerDiagramNode:{&quot;item_id&quot;:&quot;c8&quot;,&quot;node_index&quot;:4,&quot;label&quot;:&quot;Reopen rollout gate&quot;,&quot;page&quot;:1,&quot;page_count&quot;:1,&quot;direction&quot;:&quot;right&quot;}"/>
          <p:cNvSpPr/>
          <p:nvPr/>
        </p:nvSpPr>
        <p:spPr>
          <a:xfrm>
            <a:off x="7856648" y="5967983"/>
            <a:ext cx="1634978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Reopen rollout gate</a:t>
            </a:r>
          </a:p>
        </p:txBody>
      </p:sp>
      <p:cxnSp>
        <p:nvCxnSpPr>
          <p:cNvPr id="8" name="VIZ::DiagramEdge::Incident response and release gate::1" descr="VisualizerSemanticEdge:{&quot;item_id&quot;:&quot;c8&quot;,&quot;edge_index&quot;:0,&quot;source&quot;:&quot;Scope tenant impact&quot;,&quot;target&quot;:&quot;Isolate retry queue&quot;,&quot;continuation&quot;:false}"/>
          <p:cNvCxnSpPr/>
          <p:nvPr/>
        </p:nvCxnSpPr>
        <p:spPr>
          <a:xfrm>
            <a:off x="2151614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Incident response and release gate::2" descr="VisualizerSemanticEdge:{&quot;item_id&quot;:&quot;c8&quot;,&quot;edge_index&quot;:1,&quot;source&quot;:&quot;Isolate retry queue&quot;,&quot;target&quot;:&quot;Replay delayed callbacks&quot;,&quot;continuation&quot;:false}"/>
          <p:cNvCxnSpPr/>
          <p:nvPr/>
        </p:nvCxnSpPr>
        <p:spPr>
          <a:xfrm>
            <a:off x="3987760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VIZ::DiagramEdge::Incident response and release gate::3" descr="VisualizerSemanticEdge:{&quot;item_id&quot;:&quot;c8&quot;,&quot;edge_index&quot;:2,&quot;source&quot;:&quot;Replay delayed callbacks&quot;,&quot;target&quot;:&quot;Verify matched shard&quot;,&quot;continuation&quot;:false}"/>
          <p:cNvCxnSpPr/>
          <p:nvPr/>
        </p:nvCxnSpPr>
        <p:spPr>
          <a:xfrm>
            <a:off x="5823906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Z::DiagramEdge::Incident response and release gate::4" descr="VisualizerSemanticEdge:{&quot;item_id&quot;:&quot;c8&quot;,&quot;edge_index&quot;:3,&quot;source&quot;:&quot;Verify matched shard&quot;,&quot;target&quot;:&quot;Reopen rollout gate&quot;,&quot;continuation&quot;:false}"/>
          <p:cNvCxnSpPr/>
          <p:nvPr/>
        </p:nvCxnSpPr>
        <p:spPr>
          <a:xfrm>
            <a:off x="7660052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