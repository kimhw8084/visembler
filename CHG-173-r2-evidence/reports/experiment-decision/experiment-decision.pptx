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12191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Conversion by week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Conversion by week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W1</c:v>
                </c:pt>
                <c:pt idx="1">
                  <c:v>W1</c:v>
                </c:pt>
                <c:pt idx="2">
                  <c:v>W2</c:v>
                </c:pt>
                <c:pt idx="3">
                  <c:v>W2</c:v>
                </c:pt>
                <c:pt idx="4">
                  <c:v>W3</c:v>
                </c:pt>
                <c:pt idx="5">
                  <c:v>W3</c:v>
                </c:pt>
                <c:pt idx="6">
                  <c:v>W4</c:v>
                </c:pt>
                <c:pt idx="7">
                  <c:v>W4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21</c:v>
                </c:pt>
                <c:pt idx="1">
                  <c:v>21.1</c:v>
                </c:pt>
                <c:pt idx="2">
                  <c:v>21.3</c:v>
                </c:pt>
                <c:pt idx="3">
                  <c:v>22.4</c:v>
                </c:pt>
                <c:pt idx="4">
                  <c:v>21.6</c:v>
                </c:pt>
                <c:pt idx="5">
                  <c:v>23.5</c:v>
                </c:pt>
                <c:pt idx="6">
                  <c:v>21.8</c:v>
                </c:pt>
                <c:pt idx="7">
                  <c:v>24.8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Outcome distribution by cohort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Outcome distribution by cohort</c:v>
                </c:pt>
              </c:strCache>
            </c:strRef>
          </c:tx>
          <c:cat>
            <c:strRef>
              <c:f>Sheet1!$A$2:$A$13</c:f>
              <c:strCache>
                <c:ptCount val="12"/>
                <c:pt idx="0">
                  <c:v>Control</c:v>
                </c:pt>
                <c:pt idx="1">
                  <c:v>Control</c:v>
                </c:pt>
                <c:pt idx="2">
                  <c:v>Control</c:v>
                </c:pt>
                <c:pt idx="3">
                  <c:v>Control</c:v>
                </c:pt>
                <c:pt idx="4">
                  <c:v>Control</c:v>
                </c:pt>
                <c:pt idx="5">
                  <c:v>Control</c:v>
                </c:pt>
                <c:pt idx="6">
                  <c:v>Treatment</c:v>
                </c:pt>
                <c:pt idx="7">
                  <c:v>Treatment</c:v>
                </c:pt>
                <c:pt idx="8">
                  <c:v>Treatment</c:v>
                </c:pt>
                <c:pt idx="9">
                  <c:v>Treatment</c:v>
                </c:pt>
                <c:pt idx="10">
                  <c:v>Treatment</c:v>
                </c:pt>
                <c:pt idx="11">
                  <c:v>Treatment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20.3</c:v>
                </c:pt>
                <c:pt idx="1">
                  <c:v>20.9</c:v>
                </c:pt>
                <c:pt idx="2">
                  <c:v>21</c:v>
                </c:pt>
                <c:pt idx="3">
                  <c:v>21.8</c:v>
                </c:pt>
                <c:pt idx="4">
                  <c:v>22.1</c:v>
                </c:pt>
                <c:pt idx="5">
                  <c:v>21.3</c:v>
                </c:pt>
                <c:pt idx="6">
                  <c:v>21.1</c:v>
                </c:pt>
                <c:pt idx="7">
                  <c:v>22.4</c:v>
                </c:pt>
                <c:pt idx="8">
                  <c:v>23.5</c:v>
                </c:pt>
                <c:pt idx="9">
                  <c:v>24.8</c:v>
                </c:pt>
                <c:pt idx="10">
                  <c:v>24.1</c:v>
                </c:pt>
                <c:pt idx="11">
                  <c:v>23.6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Executive Statement" descr="VisualizerSemantic:{&quot;body&quot;:&quot;The reminder increased completion, although the week-four uplift is not enough to rule out a novelty effect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Experiment summary&quot;,&quot;text&quot;:&quot;The reminder increased completion, although the week-four uplift is not enough to rule out a novelty effect.&quot;,&quot;title&quot;:&quot;Executive Statement&quot;,&quot;type&quot;:&quot;text&quot;,&quot;weight&quot;:1,&quot;z&quot;:1,&quot;x&quot;:14.0,&quot;y&quot;:40.0,&quot;w&quot;:1059.44,&quot;h&quot;:109.76}"/>
          <p:cNvSpPr/>
          <p:nvPr/>
        </p:nvSpPr>
        <p:spPr>
          <a:xfrm>
            <a:off x="106679" y="304799"/>
            <a:ext cx="8072931" cy="836371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Executive Statement</a:t>
            </a:r>
          </a:p>
          <a:p>
            <a:pPr>
              <a:defRPr sz="1000"/>
            </a:pPr>
            <a:r>
              <a:t>The reminder increased completion, although the week-four uplift is not enough to rule out a novelty effect.</a:t>
            </a:r>
          </a:p>
        </p:txBody>
      </p:sp>
      <p:sp>
        <p:nvSpPr>
          <p:cNvPr id="3" name="VIZ::Hypothesis and context" descr="VisualizerSemantic:{&quot;body&quot;:&quot;Experiment E-26-041 · eligible new accounts · randomized 1:1 · four weeks · 12,804 assigned · conversion measured within 7 days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Experiment design&quot;,&quot;text&quot;:&quot;Experiment E-26-041 · eligible new accounts · randomized 1:1 · four weeks · 12,804 assigned · conversion measured within 7 days.&quot;,&quot;title&quot;:&quot;Hypothesis and context&quot;,&quot;type&quot;:&quot;text&quot;,&quot;weight&quot;:1,&quot;z&quot;:2,&quot;x&quot;:1087.44,&quot;y&quot;:58.88,&quot;w&quot;:498.56,&quot;h&quot;:72.0}"/>
          <p:cNvSpPr/>
          <p:nvPr/>
        </p:nvSpPr>
        <p:spPr>
          <a:xfrm>
            <a:off x="8286291" y="448665"/>
            <a:ext cx="3799026" cy="548639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Hypothesis and context</a:t>
            </a:r>
          </a:p>
          <a:p>
            <a:pPr>
              <a:defRPr sz="1000"/>
            </a:pPr>
            <a:r>
              <a:t>Experiment E-26-041 · eligible new accounts · randomized 1:1 · four weeks · 12,804 assigned · conversion measured within 7 days.</a:t>
            </a:r>
          </a:p>
        </p:txBody>
      </p:sp>
      <p:sp>
        <p:nvSpPr>
          <p:cNvPr id="4" name="VIZ::Treatment completion KPI" descr="VisualizerSemantic:{&quot;capability_overrides&quot;:{&quot;target&quot;:25},&quot;composition_role&quot;:&quot;hero_metric&quot;,&quot;delta&quot;:3.7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25,&quot;title&quot;:&quot;Treatment completion&quot;,&quot;type&quot;:&quot;metric&quot;,&quot;unit&quot;:&quot;%&quot;,&quot;value&quot;:24.8,&quot;weight&quot;:1,&quot;z&quot;:3,&quot;x&quot;:900.4800000000001,&quot;y&quot;:189.26,&quot;w&quot;:685.52,&quot;h&quot;:205.0}"/>
          <p:cNvSpPr/>
          <p:nvPr/>
        </p:nvSpPr>
        <p:spPr>
          <a:xfrm>
            <a:off x="6861656" y="1442161"/>
            <a:ext cx="5223661" cy="1562099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E6E73"/>
                </a:solidFill>
                <a:latin typeface="Arial"/>
              </a:defRPr>
            </a:pPr>
            <a:r>
              <a:t>Treatment completion</a:t>
            </a:r>
          </a:p>
          <a:p>
            <a:pPr>
              <a:defRPr b="1" sz="2400"/>
            </a:pPr>
            <a:r>
              <a:t>24.8%</a:t>
            </a:r>
          </a:p>
        </p:txBody>
      </p:sp>
      <p:sp>
        <p:nvSpPr>
          <p:cNvPr id="5" name="VIZ::Completion · control to treatment KPI" descr="VisualizerSemantic:{&quot;after&quot;:24.8,&quot;before&quot;:21.8,&quot;composition_role&quot;:&quot;hero_metric&quot;,&quot;element&quot;:&quot;Before/After KPI&quot;,&quot;engine&quot;:&quot;ComparisonEngine&quot;,&quot;groupId&quot;:null,&quot;id&quot;:&quot;c4&quot;,&quot;locked&quot;:false,&quot;message_role&quot;:&quot;Supporting Evidence&quot;,&quot;order&quot;:3,&quot;section_id&quot;:&quot;performance&quot;,&quot;section_title&quot;:&quot;Performance&quot;,&quot;showTitle&quot;:true,&quot;title&quot;:&quot;Completion · control to treatment&quot;,&quot;type&quot;:&quot;comparison&quot;,&quot;unit&quot;:&quot;%&quot;,&quot;weight&quot;:1,&quot;z&quot;:4,&quot;x&quot;:14.0,&quot;y&quot;:183.76,&quot;w&quot;:872.4800000000001,&quot;h&quot;:216.0}"/>
          <p:cNvSpPr/>
          <p:nvPr/>
        </p:nvSpPr>
        <p:spPr>
          <a:xfrm>
            <a:off x="106679" y="1400251"/>
            <a:ext cx="6648296" cy="1645919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E6E73"/>
                </a:solidFill>
                <a:latin typeface="Arial"/>
              </a:defRPr>
            </a:pPr>
            <a:r>
              <a:t>Completion · control to treatment</a:t>
            </a:r>
          </a:p>
          <a:p>
            <a:pPr>
              <a:defRPr b="1" sz="2400"/>
            </a:pPr>
            <a:r>
              <a:t>21.8 → 24.8</a:t>
            </a:r>
          </a:p>
          <a:p>
            <a:pPr>
              <a:defRPr sz="900"/>
            </a:pPr>
            <a:r>
              <a:t>%</a:t>
            </a:r>
          </a:p>
        </p:txBody>
      </p:sp>
      <p:graphicFrame>
        <p:nvGraphicFramePr>
          <p:cNvPr id="6" name="Chart 5" descr="VisualizerSemantic:{&quot;composition_role&quot;:&quot;primary_analysis&quot;,&quot;data&quot;:[[&quot;W1&quot;,21],[&quot;W1&quot;,21.1],[&quot;W2&quot;,21.3],[&quot;W2&quot;,22.4],[&quot;W3&quot;,21.6],[&quot;W3&quot;,23.5],[&quot;W4&quot;,21.8],[&quot;W4&quot;,24.8]],&quot;dataset_id&quot;:&quot;dataset-mufvhlz5-5cgkbu&quot;,&quot;element&quot;:&quot;Line Chart&quot;,&quot;engine&quot;:&quot;CoreChartEngine&quot;,&quot;groupId&quot;:null,&quot;id&quot;:&quot;c6&quot;,&quot;locked&quot;:false,&quot;mapping&quot;:{&quot;category&quot;:&quot;week_1&quot;,&quot;cohort&quot;:&quot;cohort_2&quot;,&quot;series&quot;:&quot;cohort_2&quot;,&quot;status&quot;:&quot;cohort_2&quot;,&quot;value&quot;:&quot;completion_3&quot;,&quot;x&quot;:&quot;week_1&quot;,&quot;y&quot;:&quot;completion_3&quot;},&quot;message_role&quot;:&quot;Primary Evidence&quot;,&quot;order&quot;:4,&quot;section_id&quot;:&quot;analysis&quot;,&quot;section_title&quot;:&quot;Analysis&quot;,&quot;showTitle&quot;:true,&quot;title&quot;:&quot;Conversion by week&quot;,&quot;type&quot;:&quot;chart&quot;,&quot;weight&quot;:1,&quot;z&quot;:6,&quot;rows&quot;:[{&quot;label&quot;:&quot;W1&quot;,&quot;value&quot;:21},{&quot;label&quot;:&quot;W1&quot;,&quot;value&quot;:21.1},{&quot;label&quot;:&quot;W2&quot;,&quot;value&quot;:21.3},{&quot;label&quot;:&quot;W2&quot;,&quot;value&quot;:22.4},{&quot;label&quot;:&quot;W3&quot;,&quot;value&quot;:21.6},{&quot;label&quot;:&quot;W3&quot;,&quot;value&quot;:23.5},{&quot;label&quot;:&quot;W4&quot;,&quot;value&quot;:21.8},{&quot;label&quot;:&quot;W4&quot;,&quot;value&quot;:24.8}],&quot;observations&quot;:[{&quot;label&quot;:&quot;W1&quot;,&quot;value&quot;:21},{&quot;label&quot;:&quot;W1&quot;,&quot;value&quot;:21.1},{&quot;label&quot;:&quot;W2&quot;,&quot;value&quot;:21.3},{&quot;label&quot;:&quot;W2&quot;,&quot;value&quot;:22.4},{&quot;label&quot;:&quot;W3&quot;,&quot;value&quot;:21.6},{&quot;label&quot;:&quot;W3&quot;,&quot;value&quot;:23.5},{&quot;label&quot;:&quot;W4&quot;,&quot;value&quot;:21.8},{&quot;label&quot;:&quot;W4&quot;,&quot;value&quot;:24.8}],&quot;x&quot;:811.6593939393938,&quot;y&quot;:433.76,&quot;w&quot;:738.5212121212122,&quot;h&quot;:358.40000000000003}"/>
          <p:cNvGraphicFramePr>
            <a:graphicFrameLocks noGrp="1"/>
          </p:cNvGraphicFramePr>
          <p:nvPr/>
        </p:nvGraphicFramePr>
        <p:xfrm>
          <a:off x="6184843" y="3305250"/>
          <a:ext cx="5627531" cy="2731007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Chart 6" descr="VisualizerSemantic:{&quot;composition_role&quot;:&quot;supporting_analysis&quot;,&quot;data&quot;:[[&quot;Control&quot;,20.3],[&quot;Control&quot;,20.9],[&quot;Control&quot;,21],[&quot;Control&quot;,21.8],[&quot;Control&quot;,22.1],[&quot;Control&quot;,21.3],[&quot;Treatment&quot;,21.1],[&quot;Treatment&quot;,22.4],[&quot;Treatment&quot;,23.5],[&quot;Treatment&quot;,24.8],[&quot;Treatment&quot;,24.1],[&quot;Treatment&quot;,23.6]],&quot;dataset_id&quot;:&quot;dataset-mufvho4o-2cmdjs&quot;,&quot;element&quot;:&quot;Box Plot&quot;,&quot;engine&quot;:&quot;CoreChartEngine&quot;,&quot;groupId&quot;:null,&quot;id&quot;:&quot;c5&quot;,&quot;locked&quot;:false,&quot;mapping&quot;:{&quot;category&quot;:&quot;cohort_1&quot;,&quot;cohort&quot;:&quot;cohort_1&quot;,&quot;status&quot;:&quot;cohort_1&quot;,&quot;value&quot;:&quot;completion_2&quot;,&quot;x&quot;:&quot;completion_2&quot;},&quot;message_role&quot;:&quot;Supporting Evidence&quot;,&quot;order&quot;:5,&quot;section_id&quot;:&quot;analysis&quot;,&quot;section_title&quot;:&quot;Analysis&quot;,&quot;showTitle&quot;:true,&quot;title&quot;:&quot;Outcome distribution by cohort&quot;,&quot;type&quot;:&quot;chart&quot;,&quot;weight&quot;:1,&quot;z&quot;:5,&quot;rows&quot;:[{&quot;label&quot;:&quot;Control&quot;,&quot;value&quot;:20.3},{&quot;label&quot;:&quot;Control&quot;,&quot;value&quot;:20.9},{&quot;label&quot;:&quot;Control&quot;,&quot;value&quot;:21},{&quot;label&quot;:&quot;Control&quot;,&quot;value&quot;:21.8},{&quot;label&quot;:&quot;Control&quot;,&quot;value&quot;:22.1},{&quot;label&quot;:&quot;Control&quot;,&quot;value&quot;:21.3},{&quot;label&quot;:&quot;Treatment&quot;,&quot;value&quot;:21.1},{&quot;label&quot;:&quot;Treatment&quot;,&quot;value&quot;:22.4},{&quot;label&quot;:&quot;Treatment&quot;,&quot;value&quot;:23.5},{&quot;label&quot;:&quot;Treatment&quot;,&quot;value&quot;:24.8},{&quot;label&quot;:&quot;Treatment&quot;,&quot;value&quot;:24.1},{&quot;label&quot;:&quot;Treatment&quot;,&quot;value&quot;:23.6}],&quot;observations&quot;:[{&quot;label&quot;:&quot;Control&quot;,&quot;value&quot;:20.3},{&quot;label&quot;:&quot;Control&quot;,&quot;value&quot;:20.9},{&quot;label&quot;:&quot;Control&quot;,&quot;value&quot;:21},{&quot;label&quot;:&quot;Control&quot;,&quot;value&quot;:21.8},{&quot;label&quot;:&quot;Control&quot;,&quot;value&quot;:22.1},{&quot;label&quot;:&quot;Control&quot;,&quot;value&quot;:21.3},{&quot;label&quot;:&quot;Treatment&quot;,&quot;value&quot;:21.1},{&quot;label&quot;:&quot;Treatment&quot;,&quot;value&quot;:22.4},{&quot;label&quot;:&quot;Treatment&quot;,&quot;value&quot;:23.5},{&quot;label&quot;:&quot;Treatment&quot;,&quot;value&quot;:24.8},{&quot;label&quot;:&quot;Treatment&quot;,&quot;value&quot;:24.1},{&quot;label&quot;:&quot;Treatment&quot;,&quot;value&quot;:23.6}],&quot;x&quot;:424.1454545454546,&quot;y&quot;:800.1600000000001,&quot;w&quot;:751.7090909090908,&quot;h&quot;:364.79999999999995}"/>
          <p:cNvGraphicFramePr>
            <a:graphicFrameLocks noGrp="1"/>
          </p:cNvGraphicFramePr>
          <p:nvPr/>
        </p:nvGraphicFramePr>
        <p:xfrm>
          <a:off x="3231988" y="6097218"/>
          <a:ext cx="5728022" cy="2779775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VIZ::Interpretation" descr="VisualizerSemantic:{&quot;body&quot;:&quot;Treatment completion rose from 21.1% to 24.8%; control moved from 21.0% to 21.8%. The observed separation is consistent across four weeks, while the support-contact guardrail moved by +0.08 points against a +0.15 limit. This descriptive comparison does not prove the effect will persist after the novelty period.&quot;,&quot;composition_role&quot;:&quot;narrative_interpretation&quot;,&quot;element&quot;:&quot;Body Narrative&quot;,&quot;engine&quot;:&quot;TextEngine&quot;,&quot;groupId&quot;:null,&quot;id&quot;:&quot;c8&quot;,&quot;locked&quot;:false,&quot;message_role&quot;:&quot;Context&quot;,&quot;order&quot;:6,&quot;section_id&quot;:&quot;analysis&quot;,&quot;section_title&quot;:&quot;Interpretation&quot;,&quot;text&quot;:&quot;Treatment completion rose from 21.1% to 24.8%; control moved from 21.0% to 21.8%. The observed separation is consistent across four weeks, while the support-contact guardrail moved by +0.08 points against a +0.15 limit. This descriptive comparison does not prove the effect will persist after the novelty period.&quot;,&quot;title&quot;:&quot;Interpretation&quot;,&quot;type&quot;:&quot;text&quot;,&quot;weight&quot;:1,&quot;z&quot;:8,&quot;x&quot;:49.819393939393876,&quot;y&quot;:554.96,&quot;w&quot;:747.8399999999999,&quot;h&quot;:116.0}"/>
          <p:cNvSpPr/>
          <p:nvPr/>
        </p:nvSpPr>
        <p:spPr>
          <a:xfrm>
            <a:off x="379623" y="4228794"/>
            <a:ext cx="5698540" cy="883919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Interpretation</a:t>
            </a:r>
          </a:p>
          <a:p>
            <a:pPr>
              <a:defRPr sz="1000"/>
            </a:pPr>
            <a:r>
              <a:t>Treatment completion rose from 21.1% to 24.8%; control moved from 21.0% to 21.8%. The observed separation is consistent across four weeks, while the support-contact guardrail moved by +0.08 points against a +0.15 limit. This descriptive comparison does not prove the effect will persist after the novelty period.</a:t>
            </a:r>
          </a:p>
        </p:txBody>
      </p:sp>
      <p:sp>
        <p:nvSpPr>
          <p:cNvPr id="10" name="VIZ::Recommendation" descr="VisualizerSemantic:{&quot;composition_role&quot;:&quot;decision_risk&quot;,&quot;detail&quot;:&quot;The four-week signal is promising but does not establish persistence. Stop if support-contact change exceeds +0.15 points.&quot;,&quot;element&quot;:&quot;Risk Callout&quot;,&quot;engine&quot;:&quot;DecisionCompositeEngine&quot;,&quot;groupId&quot;:null,&quot;id&quot;:&quot;c9&quot;,&quot;locked&quot;:false,&quot;message_role&quot;:&quot;Risk&quot;,&quot;order&quot;:8,&quot;section_id&quot;:&quot;decision&quot;,&quot;section_title&quot;:&quot;Recommendation&quot;,&quot;statement&quot;:&quot;Extend to 25% exposure with a support-contact stop&quot;,&quot;status&quot;:&quot;Limited rollout&quot;,&quot;title&quot;:&quot;Recommendation&quot;,&quot;type&quot;:&quot;decision&quot;,&quot;weight&quot;:1,&quot;z&quot;:9,&quot;x&quot;:14.0,&quot;y&quot;:1491.96,&quot;w&quot;:1572.0,&quot;h&quot;:94.0}"/>
          <p:cNvSpPr/>
          <p:nvPr/>
        </p:nvSpPr>
        <p:spPr>
          <a:xfrm>
            <a:off x="106679" y="11368734"/>
            <a:ext cx="11978638" cy="716279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Recommendation</a:t>
            </a:r>
          </a:p>
          <a:p>
            <a:pPr>
              <a:defRPr sz="1000"/>
            </a:pPr>
            <a:r>
              <a:t>Extend to 25% exposure with a support-contact stop</a:t>
            </a:r>
            <a:br/>
            <a:r>
              <a:t>The four-week signal is promising but does not establish persistence. Stop if support-contact change exceeds +0.15 points.</a:t>
            </a:r>
            <a:br/>
            <a:r>
              <a:t>Limited rollout</a:t>
            </a:r>
          </a:p>
        </p:txBody>
      </p:sp>
      <p:graphicFrame>
        <p:nvGraphicFramePr>
          <p:cNvPr id="11" name="VIZ::Assignment and guardrail evidence" descr="VisualizerSemantic:{&quot;composition_role&quot;:&quot;detailed_evidence&quot;,&quot;customTable&quot;:{&quot;headers&quot;:[&quot;Cohort&quot;,&quot;Assigned&quot;,&quot;Completion&quot;,&quot;Support-contact change&quot;],&quot;rows&quot;:[[&quot;Control&quot;,6402,&quot;21.8%&quot;,&quot;+0.00 pt&quot;],[&quot;Treatment&quot;,6402,&quot;24.8%&quot;,&quot;+0.08 pt&quot;],[&quot;Eligible holdout&quot;,1104,&quot;21.5%&quot;,&quot;No post-assignment exclusion&quot;]]},&quot;element&quot;:&quot;Clean Table&quot;,&quot;engine&quot;:&quot;TableEngine&quot;,&quot;groupId&quot;:null,&quot;id&quot;:&quot;c7&quot;,&quot;locked&quot;:false,&quot;message_role&quot;:&quot;Primary Evidence&quot;,&quot;order&quot;:7,&quot;rows&quot;:[[&quot;Control&quot;,6402,&quot;21.8%&quot;,&quot;+0.00 pt&quot;],[&quot;Treatment&quot;,6402,&quot;24.8%&quot;,&quot;+0.08 pt&quot;],[&quot;Eligible holdout&quot;,1104,&quot;21.5%&quot;,&quot;No post-assignment exclusion&quot;]],&quot;section_id&quot;:&quot;evidence&quot;,&quot;section_title&quot;:&quot;Experiment evidence&quot;,&quot;showTitle&quot;:true,&quot;title&quot;:&quot;Assignment and guardrail evidence&quot;,&quot;type&quot;:&quot;table&quot;,&quot;weight&quot;:1,&quot;z&quot;:7,&quot;x&quot;:14.0,&quot;y&quot;:1198.96,&quot;w&quot;:1572.0,&quot;h&quot;:259.0}"/>
          <p:cNvGraphicFramePr>
            <a:graphicFrameLocks noGrp="1"/>
          </p:cNvGraphicFramePr>
          <p:nvPr/>
        </p:nvGraphicFramePr>
        <p:xfrm>
          <a:off x="106679" y="9136074"/>
          <a:ext cx="11978638" cy="19735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4659"/>
                <a:gridCol w="2994659"/>
                <a:gridCol w="2994659"/>
                <a:gridCol w="2994661"/>
              </a:tblGrid>
              <a:tr h="493394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Cohort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Assigned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Completion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Support-contact change</a:t>
                      </a:r>
                    </a:p>
                  </a:txBody>
                  <a:tcPr/>
                </a:tc>
              </a:tr>
              <a:tr h="493394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6402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21.8%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+0.00 pt</a:t>
                      </a:r>
                    </a:p>
                  </a:txBody>
                  <a:tcPr/>
                </a:tc>
              </a:tr>
              <a:tr h="493394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Treatment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6402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24.8%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+0.08 pt</a:t>
                      </a:r>
                    </a:p>
                  </a:txBody>
                  <a:tcPr/>
                </a:tc>
              </a:tr>
              <a:tr h="493397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Eligible holdout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1104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21.5%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No post-assignment exclusion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2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week_1&quot;,&quot;name&quot;:&quot;Week&quot;,&quot;nullable&quot;:false,&quot;profile&quot;:{&quot;distinct&quot;:4,&quot;missing&quot;:0},&quot;semantic_tags&quot;:[],&quot;type&quot;:&quot;categorical&quot;},{&quot;id&quot;:&quot;cohort_2&quot;,&quot;name&quot;:&quot;Cohort&quot;,&quot;nullable&quot;:false,&quot;profile&quot;:{&quot;distinct&quot;:2,&quot;missing&quot;:0},&quot;semantic_tags&quot;:[&quot;cohort&quot;,&quot;status&quot;],&quot;type&quot;:&quot;categorical&quot;},{&quot;id&quot;:&quot;completion_3&quot;,&quot;name&quot;:&quot;Completion&quot;,&quot;nullable&quot;:false,&quot;profile&quot;:{&quot;distinct&quot;:8,&quot;missing&quot;:0},&quot;semantic_tags&quot;:[],&quot;type&quot;:&quot;number&quot;,&quot;unit&quot;:&quot;&quot;}],&quot;id&quot;:&quot;dataset-mufvhlz5-5cgkbu&quot;,&quot;metadata&quot;:{&quot;header&quot;:{&quot;confidence&quot;:0.8333333333333334,&quot;present&quot;:true,&quot;source_row&quot;:0}},&quot;name&quot;:&quot;Pasted data&quot;,&quot;revision&quot;:1,&quot;rows&quot;:[[&quot;W1&quot;,&quot;Control&quot;,21],[&quot;W1&quot;,&quot;Treatment&quot;,21.1],[&quot;W2&quot;,&quot;Control&quot;,21.3],[&quot;W2&quot;,&quot;Treatment&quot;,22.4],[&quot;W3&quot;,&quot;Control&quot;,21.6],[&quot;W3&quot;,&quot;Treatment&quot;,23.5],[&quot;W4&quot;,&quot;Control&quot;,21.8],[&quot;W4&quot;,&quot;Treatment&quot;,24.8]],&quot;source&quot;:{&quot;imported_at&quot;:&quot;2026-09-24T18:36:02.561Z&quot;,&quot;kind&quot;:&quot;clipboard&quot;,&quot;label&quot;:&quot;TSV&quot;},&quot;warnings&quot;:[]},{&quot;fields&quot;:[{&quot;id&quot;:&quot;cohort_1&quot;,&quot;name&quot;:&quot;Cohort&quot;,&quot;nullable&quot;:false,&quot;profile&quot;:{&quot;distinct&quot;:2,&quot;missing&quot;:0},&quot;semantic_tags&quot;:[&quot;cohort&quot;,&quot;status&quot;],&quot;type&quot;:&quot;categorical&quot;},{&quot;id&quot;:&quot;completion_2&quot;,&quot;name&quot;:&quot;Completion&quot;,&quot;nullable&quot;:false,&quot;profile&quot;:{&quot;distinct&quot;:12,&quot;missing&quot;:0},&quot;semantic_tags&quot;:[],&quot;type&quot;:&quot;number&quot;,&quot;unit&quot;:&quot;&quot;}],&quot;id&quot;:&quot;dataset-mufvho4o-2cmdjs&quot;,&quot;metadata&quot;:{&quot;header&quot;:{&quot;confidence&quot;:1,&quot;present&quot;:true,&quot;source_row&quot;:0}},&quot;name&quot;:&quot;Pasted data&quot;,&quot;revision&quot;:1,&quot;rows&quot;:[[&quot;Control&quot;,20.3],[&quot;Control&quot;,20.9],[&quot;Control&quot;,21],[&quot;Control&quot;,21.8],[&quot;Control&quot;,22.1],[&quot;Control&quot;,21.3],[&quot;Treatment&quot;,21.1],[&quot;Treatment&quot;,22.4],[&quot;Treatment&quot;,23.5],[&quot;Treatment&quot;,24.8],[&quot;Treatment&quot;,24.1],[&quot;Treatment&quot;,23.6]],&quot;source&quot;:{&quot;imported_at&quot;:&quot;2026-09-24T18:36:05.352Z&quot;,&quot;kind&quot;:&quot;clipboard&quot;,&quot;label&quot;:&quot;TSV&quot;},&quot;warnings&quot;:[]}],&quot;groups&quot;:{},&quot;items&quot;:[{&quot;body&quot;:&quot;The reminder increased completion, although the week-four uplift is not enough to rule out a novelty effect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Experiment summary&quot;,&quot;text&quot;:&quot;The reminder increased completion, although the week-four uplift is not enough to rule out a novelty effect.&quot;,&quot;title&quot;:&quot;Executive Statement&quot;,&quot;type&quot;:&quot;text&quot;,&quot;weight&quot;:1,&quot;z&quot;:1},{&quot;body&quot;:&quot;Experiment E-26-041 · eligible new accounts · randomized 1:1 · four weeks · 12,804 assigned · conversion measured within 7 days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Experiment design&quot;,&quot;text&quot;:&quot;Experiment E-26-041 · eligible new accounts · randomized 1:1 · four weeks · 12,804 assigned · conversion measured within 7 days.&quot;,&quot;title&quot;:&quot;Hypothesis and context&quot;,&quot;type&quot;:&quot;text&quot;,&quot;weight&quot;:1,&quot;z&quot;:2},{&quot;capability_overrides&quot;:{&quot;target&quot;:25},&quot;composition_role&quot;:&quot;hero_metric&quot;,&quot;delta&quot;:3.7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25,&quot;title&quot;:&quot;Treatment completion&quot;,&quot;type&quot;:&quot;metric&quot;,&quot;unit&quot;:&quot;%&quot;,&quot;value&quot;:24.8,&quot;weight&quot;:1,&quot;z&quot;:3},{&quot;after&quot;:24.8,&quot;before&quot;:21.8,&quot;composition_role&quot;:&quot;hero_metric&quot;,&quot;element&quot;:&quot;Before/After KPI&quot;,&quot;engine&quot;:&quot;ComparisonEngine&quot;,&quot;groupId&quot;:null,&quot;id&quot;:&quot;c4&quot;,&quot;locked&quot;:false,&quot;message_role&quot;:&quot;Supporting Evidence&quot;,&quot;order&quot;:3,&quot;section_id&quot;:&quot;performance&quot;,&quot;section_title&quot;:&quot;Performance&quot;,&quot;showTitle&quot;:true,&quot;title&quot;:&quot;Completion · control to treatment&quot;,&quot;type&quot;:&quot;comparison&quot;,&quot;unit&quot;:&quot;%&quot;,&quot;weight&quot;:1,&quot;z&quot;:4},{&quot;composition_role&quot;:&quot;supporting_analysis&quot;,&quot;data&quot;:[],&quot;dataset_id&quot;:&quot;dataset-mufvho4o-2cmdjs&quot;,&quot;element&quot;:&quot;Box Plot&quot;,&quot;engine&quot;:&quot;CoreChartEngine&quot;,&quot;groupId&quot;:null,&quot;id&quot;:&quot;c5&quot;,&quot;locked&quot;:false,&quot;mapping&quot;:{&quot;category&quot;:&quot;cohort_1&quot;,&quot;cohort&quot;:&quot;cohort_1&quot;,&quot;status&quot;:&quot;cohort_1&quot;,&quot;value&quot;:&quot;completion_2&quot;,&quot;x&quot;:&quot;completion_2&quot;},&quot;message_role&quot;:&quot;Supporting Evidence&quot;,&quot;order&quot;:5,&quot;section_id&quot;:&quot;analysis&quot;,&quot;section_title&quot;:&quot;Analysis&quot;,&quot;showTitle&quot;:true,&quot;title&quot;:&quot;Outcome distribution by cohort&quot;,&quot;type&quot;:&quot;chart&quot;,&quot;weight&quot;:1,&quot;z&quot;:5},{&quot;composition_role&quot;:&quot;primary_analysis&quot;,&quot;data&quot;:[],&quot;dataset_id&quot;:&quot;dataset-mufvhlz5-5cgkbu&quot;,&quot;element&quot;:&quot;Line Chart&quot;,&quot;engine&quot;:&quot;CoreChartEngine&quot;,&quot;groupId&quot;:null,&quot;id&quot;:&quot;c6&quot;,&quot;locked&quot;:false,&quot;mapping&quot;:{&quot;category&quot;:&quot;week_1&quot;,&quot;cohort&quot;:&quot;cohort_2&quot;,&quot;series&quot;:&quot;cohort_2&quot;,&quot;status&quot;:&quot;cohort_2&quot;,&quot;value&quot;:&quot;completion_3&quot;,&quot;x&quot;:&quot;week_1&quot;,&quot;y&quot;:&quot;completion_3&quot;},&quot;message_role&quot;:&quot;Primary Evidence&quot;,&quot;order&quot;:4,&quot;section_id&quot;:&quot;analysis&quot;,&quot;section_title&quot;:&quot;Analysis&quot;,&quot;showTitle&quot;:true,&quot;title&quot;:&quot;Conversion by week&quot;,&quot;type&quot;:&quot;chart&quot;,&quot;weight&quot;:1,&quot;z&quot;:6},{&quot;composition_role&quot;:&quot;detailed_evidence&quot;,&quot;customTable&quot;:{&quot;headers&quot;:[&quot;Cohort&quot;,&quot;Assigned&quot;,&quot;Completion&quot;,&quot;Support-contact change&quot;],&quot;rows&quot;:[[&quot;Control&quot;,6402,&quot;21.8%&quot;,&quot;+0.00 pt&quot;],[&quot;Treatment&quot;,6402,&quot;24.8%&quot;,&quot;+0.08 pt&quot;],[&quot;Eligible holdout&quot;,1104,&quot;21.5%&quot;,&quot;No post-assignment exclusion&quot;]]},&quot;element&quot;:&quot;Clean Table&quot;,&quot;engine&quot;:&quot;TableEngine&quot;,&quot;groupId&quot;:null,&quot;id&quot;:&quot;c7&quot;,&quot;locked&quot;:false,&quot;message_role&quot;:&quot;Primary Evidence&quot;,&quot;order&quot;:7,&quot;rows&quot;:[[&quot;Control&quot;,6402,&quot;21.8%&quot;,&quot;+0.00 pt&quot;],[&quot;Treatment&quot;,6402,&quot;24.8%&quot;,&quot;+0.08 pt&quot;],[&quot;Eligible holdout&quot;,1104,&quot;21.5%&quot;,&quot;No post-assignment exclusion&quot;]],&quot;section_id&quot;:&quot;evidence&quot;,&quot;section_title&quot;:&quot;Experiment evidence&quot;,&quot;showTitle&quot;:true,&quot;title&quot;:&quot;Assignment and guardrail evidence&quot;,&quot;type&quot;:&quot;table&quot;,&quot;weight&quot;:1,&quot;z&quot;:7},{&quot;body&quot;:&quot;Treatment completion rose from 21.1% to 24.8%; control moved from 21.0% to 21.8%. The observed separation is consistent across four weeks, while the support-contact guardrail moved by +0.08 points against a +0.15 limit. This descriptive comparison does not prove the effect will persist after the novelty period.&quot;,&quot;composition_role&quot;:&quot;narrative_interpretation&quot;,&quot;element&quot;:&quot;Body Narrative&quot;,&quot;engine&quot;:&quot;TextEngine&quot;,&quot;groupId&quot;:null,&quot;id&quot;:&quot;c8&quot;,&quot;locked&quot;:false,&quot;message_role&quot;:&quot;Context&quot;,&quot;order&quot;:6,&quot;section_id&quot;:&quot;analysis&quot;,&quot;section_title&quot;:&quot;Interpretation&quot;,&quot;text&quot;:&quot;Treatment completion rose from 21.1% to 24.8%; control moved from 21.0% to 21.8%. The observed separation is consistent across four weeks, while the support-contact guardrail moved by +0.08 points against a +0.15 limit. This descriptive comparison does not prove the effect will persist after the novelty period.&quot;,&quot;title&quot;:&quot;Interpretation&quot;,&quot;type&quot;:&quot;text&quot;,&quot;weight&quot;:1,&quot;z&quot;:8},{&quot;composition_role&quot;:&quot;decision_risk&quot;,&quot;detail&quot;:&quot;The four-week signal is promising but does not establish persistence. Stop if support-contact change exceeds +0.15 points.&quot;,&quot;element&quot;:&quot;Risk Callout&quot;,&quot;engine&quot;:&quot;DecisionCompositeEngine&quot;,&quot;groupId&quot;:null,&quot;id&quot;:&quot;c9&quot;,&quot;locked&quot;:false,&quot;message_role&quot;:&quot;Risk&quot;,&quot;order&quot;:8,&quot;section_id&quot;:&quot;decision&quot;,&quot;section_title&quot;:&quot;Recommendation&quot;,&quot;statement&quot;:&quot;Extend to 25% exposure with a support-contact stop&quot;,&quot;status&quot;:&quot;Limited rollout&quot;,&quot;title&quot;:&quot;Recommendation&quot;,&quot;type&quot;:&quot;decision&quot;,&quot;weight&quot;:1,&quot;z&quot;:9}],&quot;layoutPreset&quot;:&quot;comparison&quot;,&quot;mode&quot;:&quot;smart&quot;,&quot;nextId&quot;:10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