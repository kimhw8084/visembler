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54829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</c:v>
                </c:pt>
                <c:pt idx="1">
                  <c:v>95.2</c:v>
                </c:pt>
                <c:pt idx="2">
                  <c:v>96.2</c:v>
                </c:pt>
                <c:pt idx="3">
                  <c:v>95.8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95.1</c:v>
                </c:pt>
                <c:pt idx="1">
                  <c:v>95.4</c:v>
                </c:pt>
                <c:pt idx="2">
                  <c:v>95.3</c:v>
                </c:pt>
                <c:pt idx="3">
                  <c:v>95.7</c:v>
                </c:pt>
                <c:pt idx="4">
                  <c:v>94.4</c:v>
                </c:pt>
                <c:pt idx="5">
                  <c:v>95.8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Line 4 output recovered after maintenance, but two unresolved control checks still constrain the Friday capacity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Line 4 output recovered after maintenance, but two unresolved control checks still constrain the Friday capacity release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74797" y="213707"/>
            <a:ext cx="5660250" cy="58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Line 4 output recovered after maintenance, but two unresolved control checks still constrain the Friday capacity release.</a:t>
            </a:r>
          </a:p>
        </p:txBody>
      </p:sp>
      <p:sp>
        <p:nvSpPr>
          <p:cNvPr id="3" name="VIZ::Report context" descr="VisualizerSemantic:{&quot;body&quot;:&quot;Plant 6 · Line 4 · review window 2026-09-14 through 2026-09-20 · batches L4-260918-A-7741 / B-7742 · owner: Process Engineering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Plant 6 · Line 4 · review window 2026-09-14 through 2026-09-20 · batches L4-260918-A-7741 / B-7742 · owner: Process Engineering.&quot;,&quot;title&quot;:&quot;Report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5809845" y="314577"/>
            <a:ext cx="2663647" cy="3846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Report context</a:t>
            </a:r>
          </a:p>
          <a:p>
            <a:pPr>
              <a:defRPr sz="1000"/>
            </a:pPr>
            <a:r>
              <a:t>Plant 6 · Line 4 · review window 2026-09-14 through 2026-09-20 · batches L4-260918-A-7741 / B-7742 · owner: Process Engineering.</a:t>
            </a:r>
          </a:p>
        </p:txBody>
      </p:sp>
      <p:sp>
        <p:nvSpPr>
          <p:cNvPr id="4" name="VIZ::First-pass yield KPI" descr="VisualizerSemantic:{&quot;capability_overrides&quot;:{&quot;target&quot;:96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-pass yield&quot;,&quot;type&quot;:&quot;metric&quot;,&quot;unit&quot;:&quot;%&quot;,&quot;value&quot;:96.2,&quot;weight&quot;:1,&quot;z&quot;:3,&quot;x&quot;:14.0,&quot;y&quot;:183.76,&quot;w&quot;:872.4800000000001,&quot;h&quot;:206.0}"/>
          <p:cNvSpPr/>
          <p:nvPr/>
        </p:nvSpPr>
        <p:spPr>
          <a:xfrm>
            <a:off x="74797" y="981771"/>
            <a:ext cx="4661382" cy="110059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First-pass yield</a:t>
            </a:r>
          </a:p>
          <a:p>
            <a:pPr>
              <a:defRPr b="1" sz="2400"/>
            </a:pPr>
            <a:r>
              <a:t>96.2%</a:t>
            </a:r>
          </a:p>
        </p:txBody>
      </p:sp>
      <p:sp>
        <p:nvSpPr>
          <p:cNvPr id="5" name="VIZ::Unplanned downtime KPI" descr="VisualizerSemantic:{&quot;capability_overrides&quot;:{&quot;target&quot;:6},&quot;composition_role&quot;:&quot;hero_metric&quot;,&quot;delta&quot;:-2.1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7.4,&quot;weight&quot;:1,&quot;z&quot;:4,&quot;x&quot;:900.4800000000001,&quot;y&quot;:183.76,&quot;w&quot;:685.52,&quot;h&quot;:206.0}"/>
          <p:cNvSpPr/>
          <p:nvPr/>
        </p:nvSpPr>
        <p:spPr>
          <a:xfrm>
            <a:off x="4810977" y="981771"/>
            <a:ext cx="3662514" cy="110059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Unplanned downtime</a:t>
            </a:r>
          </a:p>
          <a:p>
            <a:pPr>
              <a:defRPr b="1" sz="2400"/>
            </a:pPr>
            <a:r>
              <a:t>7.4 h</a:t>
            </a:r>
          </a:p>
        </p:txBody>
      </p:sp>
      <p:graphicFrame>
        <p:nvGraphicFramePr>
          <p:cNvPr id="6" name="Chart 5" descr="VisualizerSemantic:{&quot;composition_role&quot;:&quot;supporting_analysis&quot;,&quot;data&quot;:[[&quot;A&quot;,94.6],[&quot;B&quot;,95.2],[&quot;C&quot;,96.2],[&quot;D&quot;,95.8]],&quot;dataset_id&quot;:&quot;dataset-mufvi0jt-176oc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Supporting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6},{&quot;label&quot;:&quot;B&quot;,&quot;value&quot;:95.2},{&quot;label&quot;:&quot;C&quot;,&quot;value&quot;:96.2},{&quot;label&quot;:&quot;D&quot;,&quot;value&quot;:95.8}],&quot;observations&quot;:[{&quot;label&quot;:&quot;A&quot;,&quot;value&quot;:94.6},{&quot;label&quot;:&quot;B&quot;,&quot;value&quot;:95.2},{&quot;label&quot;:&quot;C&quot;,&quot;value&quot;:96.2},{&quot;label&quot;:&quot;D&quot;,&quot;value&quot;:95.8}],&quot;x&quot;:450.5212121212121,&quot;y&quot;:824.9258823529412,&quot;w&quot;:698.9575757575758,&quot;h&quot;:339.20000000000005}"/>
          <p:cNvGraphicFramePr>
            <a:graphicFrameLocks noGrp="1"/>
          </p:cNvGraphicFramePr>
          <p:nvPr/>
        </p:nvGraphicFramePr>
        <p:xfrm>
          <a:off x="2406991" y="4407316"/>
          <a:ext cx="3734307" cy="18122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vi2oa-rngif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value&quot;:&quot;measurement_2&quot;,&quot;x&quot;:&quot;sample_1&quot;,&quot;y&quot;:&quot;measurement_2&quot;},&quot;message_role&quot;:&quot;Primary Evidence&quot;,&quot;observations&quot;:[{&quot;label&quot;:&quot;15&quot;,&quot;value&quot;:95.1},{&quot;label&quot;:&quot;16&quot;,&quot;value&quot;:95.4},{&quot;label&quot;:&quot;17&quot;,&quot;value&quot;:95.3},{&quot;label&quot;:&quot;18&quot;,&quot;value&quot;:95.7},{&quot;label&quot;:&quot;19&quot;,&quot;value&quot;:94.4},{&quot;label&quot;:&quot;20&quot;,&quot;value&quot;:95.8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5&quot;,95.1],[&quot;16&quot;,95.4],[&quot;17&quot;,95.3],[&quot;18&quot;,95.7],[&quot;19&quot;,94.4],[&quot;20&quot;,95.8]],&quot;rows&quot;:[{&quot;label&quot;:&quot;15&quot;,&quot;value&quot;:95.1},{&quot;label&quot;:&quot;16&quot;,&quot;value&quot;:95.4},{&quot;label&quot;:&quot;17&quot;,&quot;value&quot;:95.3},{&quot;label&quot;:&quot;18&quot;,&quot;value&quot;:95.7},{&quot;label&quot;:&quot;19&quot;,&quot;value&quot;:94.4},{&quot;label&quot;:&quot;20&quot;,&quot;value&quot;:95.8}],&quot;x&quot;:775.8399999999999,&quot;y&quot;:423.76,&quot;w&quot;:810.1600000000001,&quot;h&quot;:393.16588235294125}"/>
          <p:cNvGraphicFramePr>
            <a:graphicFrameLocks noGrp="1"/>
          </p:cNvGraphicFramePr>
          <p:nvPr/>
        </p:nvGraphicFramePr>
        <p:xfrm>
          <a:off x="4145065" y="2264014"/>
          <a:ext cx="4328426" cy="210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descr="VisualizerSemantic:{&quot;body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title&quot;:&quot;Body Narrative&quot;,&quot;type&quot;:&quot;text&quot;,&quot;weight&quot;:1,&quot;z&quot;:12,&quot;x&quot;:14.0,&quot;y&quot;:562.3429411764706,&quot;w&quot;:747.8399999999999,&quot;h&quot;:116.0}"/>
          <p:cNvSpPr/>
          <p:nvPr/>
        </p:nvSpPr>
        <p:spPr>
          <a:xfrm>
            <a:off x="74797" y="3004419"/>
            <a:ext cx="3995470" cy="6197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080226" y="6401204"/>
            <a:ext cx="4387837" cy="90825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694.5658823529413,&quot;w&quot;:1572.0,&quot;h&quot;:255.2}"/>
          <p:cNvSpPr/>
          <p:nvPr/>
        </p:nvSpPr>
        <p:spPr>
          <a:xfrm>
            <a:off x="74797" y="9053525"/>
            <a:ext cx="8398694" cy="136345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Evidence Card</a:t>
            </a:r>
          </a:p>
          <a:p>
            <a:pPr>
              <a:defRPr sz="1000"/>
            </a:pPr>
            <a:r>
              <a:t>Measurement system remains within the qualified reference range.</a:t>
            </a:r>
            <a:br/>
            <a:r>
              <a:t>Sample: 30 parts · method: inline metrology · source: shift B inspection.</a:t>
            </a:r>
            <a:br/>
            <a:r>
              <a:t>Verified</a:t>
            </a:r>
          </a:p>
        </p:txBody>
      </p:sp>
      <p:sp>
        <p:nvSpPr>
          <p:cNvPr id="12" name="VIZ::Risk Callout" descr="VisualizerSemantic:{&quot;composition_role&quot;:&quot;decision_risk&quot;,&quot;detail&quot;:&quot;Await pressure calibration, matched sample 20, and Quality sign-off. A point inside specifications can still warrant a control-chart investigation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Keep Friday capacity release conditional&quot;,&quot;status&quot;:&quot;Review&quot;,&quot;title&quot;:&quot;Risk Callout&quot;,&quot;type&quot;:&quot;decision&quot;,&quot;weight&quot;:1,&quot;z&quot;:10,&quot;x&quot;:14.0,&quot;y&quot;:1983.7658823529414,&quot;w&quot;:1572.0,&quot;h&quot;:94.0}"/>
          <p:cNvSpPr/>
          <p:nvPr/>
        </p:nvSpPr>
        <p:spPr>
          <a:xfrm>
            <a:off x="74797" y="10598628"/>
            <a:ext cx="8398694" cy="5022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Keep Friday capacity release conditional</a:t>
            </a:r>
            <a:br/>
            <a:r>
              <a:t>Await pressure calibration, matched sample 20, and Quality sign-off. A point inside specifications can still warrant a control-chart investigation.</a:t>
            </a:r>
            <a:br/>
            <a:r>
              <a:t>Review</a:t>
            </a:r>
          </a:p>
        </p:txBody>
      </p:sp>
      <p:sp>
        <p:nvSpPr>
          <p:cNvPr id="13" name="VIZ::Project Card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111.7658823529414,&quot;w&quot;:1572.0,&quot;h&quot;:156.0}"/>
          <p:cNvSpPr/>
          <p:nvPr/>
        </p:nvSpPr>
        <p:spPr>
          <a:xfrm>
            <a:off x="74797" y="11282492"/>
            <a:ext cx="8398694" cy="8334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Complete chamber verification and update the runbook.</a:t>
            </a:r>
            <a:br/>
            <a:r>
              <a:t>Owner: Equipment Engineering · due next shift · evidence: paired control lot.</a:t>
            </a:r>
            <a:br/>
            <a: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35090" y="6419492"/>
            <a:ext cx="427810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198.1258823529413,&quot;w&quot;:821.28,&quot;h&quot;:170.0}"/>
          <p:cNvSpPr/>
          <p:nvPr/>
        </p:nvSpPr>
        <p:spPr>
          <a:xfrm>
            <a:off x="2135090" y="6727315"/>
            <a:ext cx="91865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254909" y="6727315"/>
            <a:ext cx="91865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374728" y="6727315"/>
            <a:ext cx="91865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494547" y="6727315"/>
            <a:ext cx="91865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058313" y="697420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178132" y="697420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297951" y="6974203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Area / identifier&quot;,&quot;Status&quot;,&quot;Owner&quot;,&quot;Due&quot;,&quot;Evidence&quot;]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,&quot;section_id&quot;:&quot;evidence&quot;,&quot;section_title&quot;:&quot;Operating evidence&quot;,&quot;title&quot;:&quot;Clean Table&quot;,&quot;type&quot;:&quot;table&quot;,&quot;weight&quot;:1,&quot;z&quot;:7,&quot;x&quot;:14.0,&quot;y&quot;:1376.1258823529413,&quot;w&quot;:1572.0,&quot;h&quot;:300.44}"/>
          <p:cNvGraphicFramePr>
            <a:graphicFrameLocks noGrp="1"/>
          </p:cNvGraphicFramePr>
          <p:nvPr/>
        </p:nvGraphicFramePr>
        <p:xfrm>
          <a:off x="74797" y="7352202"/>
          <a:ext cx="8398694" cy="1605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738"/>
                <a:gridCol w="1679738"/>
                <a:gridCol w="1679738"/>
                <a:gridCol w="1679738"/>
                <a:gridCol w="1679742"/>
              </a:tblGrid>
              <a:tr h="40128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Area / 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</a:tr>
              <a:tr h="40128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ETCH-08-A / PM-44719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Calibration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offset +2.4 kPa</a:t>
                      </a:r>
                    </a:p>
                  </a:txBody>
                  <a:tcPr/>
                </a:tc>
              </a:tr>
              <a:tr h="40128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Line 4 / sample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Matched rerun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SPC sequence 15–20</a:t>
                      </a:r>
                    </a:p>
                  </a:txBody>
                  <a:tcPr/>
                </a:tc>
              </a:tr>
              <a:tr h="40129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Batch L4-260918-B-7742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Release 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09-26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Await sign-off; no capability claim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4,&quot;missing&quot;:0},&quot;semantic_tags&quot;:[],&quot;type&quot;:&quot;string&quot;},{&quot;id&quot;:&quot;yield_2&quot;,&quot;name&quot;:&quot;Yield&quot;,&quot;nullable&quot;:false,&quot;profile&quot;:{&quot;distinct&quot;:4,&quot;missing&quot;:0},&quot;semantic_tags&quot;:[&quot;value&quot;],&quot;type&quot;:&quot;number&quot;,&quot;unit&quot;:&quot;&quot;}],&quot;id&quot;:&quot;dataset-mufvi0jt-176oc3&quot;,&quot;metadata&quot;:{&quot;header&quot;:{&quot;confidence&quot;:1,&quot;present&quot;:true,&quot;source_row&quot;:0}},&quot;name&quot;:&quot;Pasted data&quot;,&quot;revision&quot;:1,&quot;rows&quot;:[[&quot;A&quot;,94.6],[&quot;B&quot;,95.2],[&quot;C&quot;,96.2],[&quot;D&quot;,95.8]],&quot;source&quot;:{&quot;imported_at&quot;:&quot;2026-09-24T18:36:21.449Z&quot;,&quot;kind&quot;:&quot;clipboard&quot;,&quot;label&quot;:&quot;TSV&quot;},&quot;warnings&quot;:[]},{&quot;fields&quot;:[{&quot;id&quot;:&quot;sample_1&quot;,&quot;name&quot;:&quot;Sample&quot;,&quot;nullable&quot;:false,&quot;profile&quot;:{&quot;distinct&quot;:6,&quot;missing&quot;:0},&quot;semantic_tags&quot;:[],&quot;type&quot;:&quot;integer&quot;,&quot;unit&quot;:&quot;&quot;},{&quot;id&quot;:&quot;measurement_2&quot;,&quot;name&quot;:&quot;Measurement&quot;,&quot;nullable&quot;:false,&quot;profile&quot;:{&quot;distinct&quot;:6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vi2oa-rngifm&quot;,&quot;metadata&quot;:{&quot;header&quot;:{&quot;confidence&quot;:1,&quot;present&quot;:true,&quot;source_row&quot;:0}},&quot;name&quot;:&quot;Pasted data&quot;,&quot;revision&quot;:1,&quot;rows&quot;:[[15,95.1,92,98],[16,95.4,92,98],[17,95.3,92,98],[18,95.7,92,98],[19,94.4,92,98],[20,95.8,92,98]],&quot;source&quot;:{&quot;imported_at&quot;:&quot;2026-09-24T18:36:24.202Z&quot;,&quot;kind&quot;:&quot;clipboard&quot;,&quot;label&quot;:&quot;TSV&quot;},&quot;warnings&quot;:[]}],&quot;groups&quot;:{},&quot;items&quot;:[{&quot;body&quot;:&quot;Line 4 output recovered after maintenance, but two unresolved control checks still constrain the Friday capacity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Line 4 output recovered after maintenance, but two unresolved control checks still constrain the Friday capacity release.&quot;,&quot;title&quot;:&quot;Executive Statement&quot;,&quot;type&quot;:&quot;text&quot;,&quot;weight&quot;:1,&quot;z&quot;:1},{&quot;body&quot;:&quot;Plant 6 · Line 4 · review window 2026-09-14 through 2026-09-20 · batches L4-260918-A-7741 / B-7742 · owner: Process Engineering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Plant 6 · Line 4 · review window 2026-09-14 through 2026-09-20 · batches L4-260918-A-7741 / B-7742 · owner: Process Engineering.&quot;,&quot;title&quot;:&quot;Report context&quot;,&quot;type&quot;:&quot;text&quot;,&quot;weight&quot;:1,&quot;z&quot;:2},{&quot;capability_overrides&quot;:{&quot;target&quot;:96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-pass yield&quot;,&quot;type&quot;:&quot;metric&quot;,&quot;unit&quot;:&quot;%&quot;,&quot;value&quot;:96.2,&quot;weight&quot;:1,&quot;z&quot;:3},{&quot;capability_overrides&quot;:{&quot;target&quot;:6},&quot;composition_role&quot;:&quot;hero_metric&quot;,&quot;delta&quot;:-2.1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7.4,&quot;weight&quot;:1,&quot;z&quot;:4},{&quot;composition_role&quot;:&quot;supporting_analysis&quot;,&quot;data&quot;:[],&quot;dataset_id&quot;:&quot;dataset-mufvi0jt-176oc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Supporting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vi2oa-rngifm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value&quot;:&quot;measurement_2&quot;,&quot;x&quot;:&quot;sampl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Area / identifier&quot;,&quot;Status&quot;,&quot;Owner&quot;,&quot;Due&quot;,&quot;Evidence&quot;]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-A / PM-44719&quot;,&quot;Calibration open&quot;,&quot;Equipment Eng.&quot;,&quot;09-25&quot;,&quot;Pressure offset +2.4 kPa&quot;],[&quot;Line 4 / sample 20&quot;,&quot;Matched rerun&quot;,&quot;Process Eng.&quot;,&quot;09-25&quot;,&quot;SPC sequence 15–20&quot;],[&quot;Batch L4-260918-B-7742&quot;,&quot;Release gated&quot;,&quot;Quality&quot;,&quot;09-26&quot;,&quot;Await sign-off; no capability claim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Await pressure calibration, matched sample 20, and Quality sign-off. A point inside specifications can still warrant a control-chart investigation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Keep Friday capacity release conditional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First-pass yield improved from 94.6% to 96.2% after the valve service. Downtime remains 7.4 hours, above the 6-hour limit. Sample 19 is outside the SPC centerline pattern but inside the product specification; treat this as a process signal for investigation, not a customer defect or capability claim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