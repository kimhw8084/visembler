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1117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retention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FY26 Q1</c:v>
                </c:pt>
                <c:pt idx="1">
                  <c:v>FY26 Q2</c:v>
                </c:pt>
                <c:pt idx="2">
                  <c:v>FY26 Q3</c:v>
                </c:pt>
                <c:pt idx="3">
                  <c:v>FY26 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88.3</c:v>
                </c:pt>
                <c:pt idx="1">
                  <c:v>90.1</c:v>
                </c:pt>
                <c:pt idx="2">
                  <c:v>91.7</c:v>
                </c:pt>
                <c:pt idx="3">
                  <c:v>92.9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Bookings by quarter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 by quarter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FY26 Q1</c:v>
                </c:pt>
                <c:pt idx="1">
                  <c:v>FY26 Q2</c:v>
                </c:pt>
                <c:pt idx="2">
                  <c:v>FY26 Q3</c:v>
                </c:pt>
                <c:pt idx="3">
                  <c:v>FY26 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11.1</c:v>
                </c:pt>
                <c:pt idx="1">
                  <c:v>11.7</c:v>
                </c:pt>
                <c:pt idx="2">
                  <c:v>12.9</c:v>
                </c:pt>
                <c:pt idx="3">
                  <c:v>14.1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Retention improved for a second quarter, but the public sector renewal gap still threatens FY26 expans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tention improved for a second quarter, but the public sector renewal gap still threatens FY26 expansion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80" y="304799"/>
            <a:ext cx="8072931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Retention improved for a second quarter, but the public sector renewal gap still threatens FY26 expansion.</a:t>
            </a:r>
          </a:p>
        </p:txBody>
      </p:sp>
      <p:sp>
        <p:nvSpPr>
          <p:cNvPr id="3" name="VIZ::Quarterly context" descr="VisualizerSemantic:{&quot;body&quot;:&quot;FY26 Q1–Q4 close · enterprise and public sector portfolios · constant-currency bookings · renewal cohort excludes acquired accounts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FY26 Q1–Q4 close · enterprise and public sector portfolios · constant-currency bookings · renewal cohort excludes acquired accounts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7"/>
            <a:ext cx="3799026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Quarterly context</a:t>
            </a:r>
          </a:p>
          <a:p>
            <a:pPr>
              <a:defRPr sz="1000"/>
            </a:pPr>
            <a:r>
              <a:t>FY26 Q1–Q4 close · enterprise and public sector portfolios · constant-currency bookings · renewal cohort excludes acquired accounts.</a:t>
            </a:r>
          </a:p>
        </p:txBody>
      </p:sp>
      <p:sp>
        <p:nvSpPr>
          <p:cNvPr id="4" name="VIZ::FY26 renewal rate KPI" descr="VisualizerSemantic:{&quot;capability_overrides&quot;:{&quot;target&quot;:91},&quot;composition_role&quot;:&quot;hero_metric&quot;,&quot;delta&quot;:5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1,&quot;title&quot;:&quot;FY26 renewal rate&quot;,&quot;type&quot;:&quot;metric&quot;,&quot;unit&quot;:&quot;%&quot;,&quot;value&quot;:92.9,&quot;weight&quot;:1,&quot;z&quot;:3,&quot;x&quot;:676.48,&quot;y&quot;:206.18240000000003,&quot;w&quot;:447.76,&quot;h&quot;:179.73760000000001}"/>
          <p:cNvSpPr/>
          <p:nvPr/>
        </p:nvSpPr>
        <p:spPr>
          <a:xfrm>
            <a:off x="5154777" y="1571109"/>
            <a:ext cx="3411930" cy="1369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FY26 renewal rate</a:t>
            </a:r>
          </a:p>
          <a:p>
            <a:pPr>
              <a:defRPr b="1" sz="2400"/>
            </a:pPr>
            <a:r>
              <a:t>92.9%</a:t>
            </a:r>
          </a:p>
        </p:txBody>
      </p:sp>
      <p:sp>
        <p:nvSpPr>
          <p:cNvPr id="5" name="VIZ::Constant-currency bookings KPI" descr="VisualizerSemantic:{&quot;capability_overrides&quot;:{&quot;target&quot;:14},&quot;composition_role&quot;:&quot;hero_metric&quot;,&quot;delta&quot;:3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$M&quot;},&quot;order&quot;:3,&quot;section_id&quot;:&quot;performance&quot;,&quot;section_title&quot;:&quot;Performance&quot;,&quot;showTitle&quot;:true,&quot;target&quot;:14,&quot;title&quot;:&quot;Constant-currency bookings&quot;,&quot;type&quot;:&quot;metric&quot;,&quot;unit&quot;:&quot;$M&quot;,&quot;value&quot;:14.1,&quot;weight&quot;:1,&quot;z&quot;:4,&quot;x&quot;:14.0,&quot;y&quot;:196.93120000000002,&quot;w&quot;:648.48,&quot;h&quot;:180.0}"/>
          <p:cNvSpPr/>
          <p:nvPr/>
        </p:nvSpPr>
        <p:spPr>
          <a:xfrm>
            <a:off x="106680" y="1500615"/>
            <a:ext cx="4941416" cy="13715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Constant-currency bookings</a:t>
            </a:r>
          </a:p>
          <a:p>
            <a:pPr>
              <a:defRPr b="1" sz="2400"/>
            </a:pPr>
            <a:r>
              <a:t>14.1 $M</a:t>
            </a:r>
          </a:p>
        </p:txBody>
      </p:sp>
      <p:sp>
        <p:nvSpPr>
          <p:cNvPr id="6" name="VIZ::Renewal rate · Q1 to Q4 KPI" descr="VisualizerSemantic:{&quot;after&quot;:92.9,&quot;before&quot;:87.9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Renewal rate · Q1 to Q4&quot;,&quot;type&quot;:&quot;comparison&quot;,&quot;unit&quot;:&quot;%&quot;,&quot;weight&quot;:1,&quot;z&quot;:5,&quot;x&quot;:1138.24,&quot;y&quot;:196.93120000000002,&quot;w&quot;:447.76,&quot;h&quot;:198.24}"/>
          <p:cNvSpPr/>
          <p:nvPr/>
        </p:nvSpPr>
        <p:spPr>
          <a:xfrm>
            <a:off x="8673387" y="1500615"/>
            <a:ext cx="3411930" cy="151058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Renewal rate · Q1 to Q4</a:t>
            </a:r>
          </a:p>
          <a:p>
            <a:pPr>
              <a:defRPr b="1" sz="2400"/>
            </a:pPr>
            <a:r>
              <a:t>87.9 → 92.9</a:t>
            </a:r>
          </a:p>
          <a:p>
            <a:pPr>
              <a:defRPr sz="900"/>
            </a:pPr>
            <a:r>
              <a:t>%</a:t>
            </a:r>
          </a:p>
        </p:txBody>
      </p:sp>
      <p:graphicFrame>
        <p:nvGraphicFramePr>
          <p:cNvPr id="7" name="Chart 6" descr="VisualizerSemantic:{&quot;composition_role&quot;:&quot;primary_analysis&quot;,&quot;data&quot;:[[&quot;FY26 Q1&quot;,88.3],[&quot;FY26 Q2&quot;,90.1],[&quot;FY26 Q3&quot;,91.7],[&quot;FY26 Q4&quot;,92.9]],&quot;dataset_id&quot;:&quot;dataset-mufvf4w9-e6qkvj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FY26 Q1&quot;,&quot;value&quot;:88.3},{&quot;label&quot;:&quot;FY26 Q2&quot;,&quot;value&quot;:90.1},{&quot;label&quot;:&quot;FY26 Q3&quot;,&quot;value&quot;:91.7},{&quot;label&quot;:&quot;FY26 Q4&quot;,&quot;value&quot;:92.9}],&quot;observations&quot;:[{&quot;label&quot;:&quot;FY26 Q1&quot;,&quot;value&quot;:88.3},{&quot;label&quot;:&quot;FY26 Q2&quot;,&quot;value&quot;:90.1},{&quot;label&quot;:&quot;FY26 Q3&quot;,&quot;value&quot;:91.7},{&quot;label&quot;:&quot;FY26 Q4&quot;,&quot;value&quot;:92.9}],&quot;x&quot;:182.8630303030303,&quot;y&quot;:429.1712,&quot;w&quot;:659.3939393939394,&quot;h&quot;:320.0}"/>
          <p:cNvGraphicFramePr>
            <a:graphicFrameLocks noGrp="1"/>
          </p:cNvGraphicFramePr>
          <p:nvPr/>
        </p:nvGraphicFramePr>
        <p:xfrm>
          <a:off x="1393416" y="3270284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Risk Callout" descr="VisualizerSemantic:{&quot;composition_role&quot;:&quot;decision_risk&quot;,&quot;detail&quot;:&quot;Two delayed procurement cycles remain unsigned. Keep the current enterprise plan and review those contracts at the next finance checkpoint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Hold public-sector expansion until the renewal gate clears&quot;,&quot;status&quot;:&quot;Watch&quot;,&quot;title&quot;:&quot;Risk Callout&quot;,&quot;type&quot;:&quot;decision&quot;,&quot;weight&quot;:1,&quot;z&quot;:8,&quot;x&quot;:14.0,&quot;y&quot;:1076.1712,&quot;w&quot;:1572.0,&quot;h&quot;:101.52000000000001}"/>
          <p:cNvSpPr/>
          <p:nvPr/>
        </p:nvSpPr>
        <p:spPr>
          <a:xfrm>
            <a:off x="106680" y="8200423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Hold public-sector expansion until the renewal gate clears</a:t>
            </a:r>
            <a:br/>
            <a:r>
              <a:t>Two delayed procurement cycles remain unsigned. Keep the current enterprise plan and review those contracts at the next finance checkpoint.</a:t>
            </a:r>
            <a:br/>
            <a:r>
              <a:t>Watch</a:t>
            </a:r>
          </a:p>
        </p:txBody>
      </p:sp>
      <p:sp>
        <p:nvSpPr>
          <p:cNvPr id="10" name="VIZ::Key Takeaway" descr="VisualizerSemantic:{&quot;body&quot;:&quot;Next step: keep the enterprise hiring plan, but release the public-sector expansion budget only after the named renewals are signed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keep the enterprise hiring plan, but release the public-sector expansion budget only after the named renewals are signed.&quot;,&quot;title&quot;:&quot;Key Takeaway&quot;,&quot;type&quot;:&quot;text&quot;,&quot;weight&quot;:1,&quot;z&quot;:9,&quot;x&quot;:14.0,&quot;y&quot;:1211.6912,&quot;w&quot;:1572.0,&quot;h&quot;:100.80000000000001}"/>
          <p:cNvSpPr/>
          <p:nvPr/>
        </p:nvSpPr>
        <p:spPr>
          <a:xfrm>
            <a:off x="106680" y="9233085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keep the enterprise hiring plan, but release the public-sector expansion budget only after the named renewals are signed.</a:t>
            </a:r>
          </a:p>
        </p:txBody>
      </p:sp>
      <p:graphicFrame>
        <p:nvGraphicFramePr>
          <p:cNvPr id="11" name="Chart 10" descr="VisualizerSemantic:{&quot;composition_role&quot;:&quot;primary_analysis&quot;,&quot;data&quot;:[[&quot;FY26 Q1&quot;,11.1],[&quot;FY26 Q2&quot;,11.7],[&quot;FY26 Q3&quot;,12.9],[&quot;FY26 Q4&quot;,14.1]],&quot;dataset_id&quot;:&quot;dataset-mufvf4w9-e6qkvj&quot;,&quot;element&quot;:&quot;Line Chart&quot;,&quot;engine&quot;:&quot;CoreChartEngine&quot;,&quot;groupId&quot;:null,&quot;id&quot;:&quot;c10&quot;,&quot;locked&quot;:false,&quot;mapping&quot;:{&quot;category&quot;:&quot;quarter_1&quot;,&quot;value&quot;:&quot;retention_2&quot;,&quot;x&quot;:&quot;quarter_1&quot;,&quot;y&quot;:&quot;bookings_3&quot;},&quot;message_role&quot;:&quot;Primary Evidence&quot;,&quot;order&quot;:9,&quot;section_id&quot;:&quot;analysis&quot;,&quot;section_title&quot;:&quot;Analysis&quot;,&quot;showTitle&quot;:true,&quot;title&quot;:&quot;Bookings by quarter&quot;,&quot;type&quot;:&quot;chart&quot;,&quot;weight&quot;:1,&quot;z&quot;:10,&quot;rows&quot;:[{&quot;label&quot;:&quot;FY26 Q1&quot;,&quot;value&quot;:11.1},{&quot;label&quot;:&quot;FY26 Q2&quot;,&quot;value&quot;:11.7},{&quot;label&quot;:&quot;FY26 Q3&quot;,&quot;value&quot;:12.9},{&quot;label&quot;:&quot;FY26 Q4&quot;,&quot;value&quot;:14.1}],&quot;observations&quot;:[{&quot;label&quot;:&quot;FY26 Q1&quot;,&quot;value&quot;:11.1},{&quot;label&quot;:&quot;FY26 Q2&quot;,&quot;value&quot;:11.7},{&quot;label&quot;:&quot;FY26 Q3&quot;,&quot;value&quot;:12.9},{&quot;label&quot;:&quot;FY26 Q4&quot;,&quot;value&quot;:14.1}],&quot;x&quot;:856.2569696969697,&quot;y&quot;:453.0753176470588,&quot;w&quot;:560.88,&quot;h&quot;:272.19176470588235}"/>
          <p:cNvGraphicFramePr>
            <a:graphicFrameLocks noGrp="1"/>
          </p:cNvGraphicFramePr>
          <p:nvPr/>
        </p:nvGraphicFramePr>
        <p:xfrm>
          <a:off x="6524677" y="3452433"/>
          <a:ext cx="4273905" cy="2074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VIZ::Clean Table" descr="VisualizerSemantic:{&quot;composition_role&quot;:&quot;detailed_evidence&quot;,&quot;customTable&quot;:{&quot;headers&quot;:[&quot;Portfolio&quot;,&quot;Renewals&quot;,&quot;Rate&quot;,&quot;Evidence / risk&quot;],&quot;rows&quot;:[[&quot;Enterprise North&quot;,1842,&quot;94.1%&quot;,&quot;Above 91% guardrail; stable cohort&quot;],[&quot;Public Sector West&quot;,684,&quot;84.7%&quot;,&quot;Two contracts delayed; budget gated&quot;],[&quot;Strategic Accounts&quot;,213,&quot;92.9%&quot;,&quot;FY26 Q4 close; largest renewals drive bookings&quot;]]},&quot;element&quot;:&quot;Clean Table&quot;,&quot;engine&quot;:&quot;TableEngine&quot;,&quot;groupId&quot;:null,&quot;id&quot;:&quot;c7&quot;,&quot;locked&quot;:false,&quot;message_role&quot;:&quot;Primary Evidence&quot;,&quot;order&quot;:6,&quot;rows&quot;:[[&quot;Enterprise North&quot;,1842,&quot;94.1%&quot;,&quot;Above 91% guardrail; stable cohort&quot;],[&quot;Public Sector West&quot;,684,&quot;84.7%&quot;,&quot;Two contracts delayed; budget gated&quot;],[&quot;Strategic Accounts&quot;,213,&quot;92.9%&quot;,&quot;FY26 Q4 close; largest renewals drive bookings&quot;]],&quot;section_id&quot;:&quot;evidence&quot;,&quot;section_title&quot;:&quot;Regional evidence&quot;,&quot;title&quot;:&quot;Clean Table&quot;,&quot;type&quot;:&quot;table&quot;,&quot;weight&quot;:1,&quot;z&quot;:7,&quot;x&quot;:14.0,&quot;y&quot;:783.1712,&quot;w&quot;:1572.0,&quot;h&quot;:259.0}"/>
          <p:cNvGraphicFramePr>
            <a:graphicFrameLocks noGrp="1"/>
          </p:cNvGraphicFramePr>
          <p:nvPr/>
        </p:nvGraphicFramePr>
        <p:xfrm>
          <a:off x="106680" y="5967763"/>
          <a:ext cx="11978638" cy="197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49339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Renewals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 / risk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Enterprise 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Above 91% guardrail; stable cohort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Public Sector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Two contracts delayed; budget gated</a:t>
                      </a:r>
                    </a:p>
                  </a:txBody>
                  <a:tcPr/>
                </a:tc>
              </a:tr>
              <a:tr h="4933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Strategic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FY26 Q4 close; largest renewals drive bookings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,{&quot;id&quot;:&quot;bookings_3&quot;,&quot;name&quot;:&quot;Bookings&quot;,&quot;nullable&quot;:false,&quot;profile&quot;:{&quot;distinct&quot;:4,&quot;missing&quot;:0},&quot;semantic_tags&quot;:[],&quot;type&quot;:&quot;number&quot;,&quot;unit&quot;:&quot;&quot;}],&quot;id&quot;:&quot;dataset-mufvf4w9-e6qkvj&quot;,&quot;metadata&quot;:{&quot;header&quot;:{&quot;confidence&quot;:0.8333333333333334,&quot;present&quot;:true,&quot;source_row&quot;:0},&quot;refresh&quot;:{&quot;count&quot;:1,&quot;new_row_count&quot;:4,&quot;previous_revision&quot;:2,&quot;previous_row_count&quot;:4,&quot;schema_signature&quot;:&quot;bookings|quarter|retention&quot;}},&quot;name&quot;:&quot;Pasted data&quot;,&quot;revision&quot;:3,&quot;rows&quot;:[[&quot;FY26 Q1&quot;,88.3,11.1],[&quot;FY26 Q2&quot;,90.1,11.7],[&quot;FY26 Q3&quot;,91.7,12.9],[&quot;FY26 Q4&quot;,92.9,14.1]],&quot;source&quot;:{&quot;imported_at&quot;:&quot;2026-09-24T18:34:16.656Z&quot;,&quot;kind&quot;:&quot;clipboard&quot;,&quot;label&quot;:&quot;TSV&quot;},&quot;warnings&quot;:[]}],&quot;groups&quot;:{},&quot;items&quot;:[{&quot;body&quot;:&quot;Retention improved for a second quarter, but the public sector renewal gap still threatens FY26 expans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tention improved for a second quarter, but the public sector renewal gap still threatens FY26 expansion.&quot;,&quot;title&quot;:&quot;Executive Statement&quot;,&quot;type&quot;:&quot;text&quot;,&quot;weight&quot;:1,&quot;z&quot;:1},{&quot;body&quot;:&quot;FY26 Q1–Q4 close · enterprise and public sector portfolios · constant-currency bookings · renewal cohort excludes acquired accounts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FY26 Q1–Q4 close · enterprise and public sector portfolios · constant-currency bookings · renewal cohort excludes acquired accounts.&quot;,&quot;title&quot;:&quot;Quarterly context&quot;,&quot;type&quot;:&quot;text&quot;,&quot;weight&quot;:1,&quot;z&quot;:2},{&quot;capability_overrides&quot;:{&quot;target&quot;:91},&quot;composition_role&quot;:&quot;hero_metric&quot;,&quot;delta&quot;:5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1,&quot;title&quot;:&quot;FY26 renewal rate&quot;,&quot;type&quot;:&quot;metric&quot;,&quot;unit&quot;:&quot;%&quot;,&quot;value&quot;:92.9,&quot;weight&quot;:1,&quot;z&quot;:3},{&quot;capability_overrides&quot;:{&quot;target&quot;:14},&quot;composition_role&quot;:&quot;hero_metric&quot;,&quot;delta&quot;:3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$M&quot;},&quot;order&quot;:3,&quot;section_id&quot;:&quot;performance&quot;,&quot;section_title&quot;:&quot;Performance&quot;,&quot;showTitle&quot;:true,&quot;target&quot;:14,&quot;title&quot;:&quot;Constant-currency bookings&quot;,&quot;type&quot;:&quot;metric&quot;,&quot;unit&quot;:&quot;$M&quot;,&quot;value&quot;:14.1,&quot;weight&quot;:1,&quot;z&quot;:4},{&quot;after&quot;:92.9,&quot;before&quot;:87.9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Renewal rate · Q1 to Q4&quot;,&quot;type&quot;:&quot;comparison&quot;,&quot;unit&quot;:&quot;%&quot;,&quot;weight&quot;:1,&quot;z&quot;:5},{&quot;composition_role&quot;:&quot;primary_analysis&quot;,&quot;data&quot;:[],&quot;dataset_id&quot;:&quot;dataset-mufvf4w9-e6qkvj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Portfolio&quot;,&quot;Renewals&quot;,&quot;Rate&quot;,&quot;Evidence / risk&quot;],&quot;rows&quot;:[[&quot;Enterprise North&quot;,1842,&quot;94.1%&quot;,&quot;Above 91% guardrail; stable cohort&quot;],[&quot;Public Sector West&quot;,684,&quot;84.7%&quot;,&quot;Two contracts delayed; budget gated&quot;],[&quot;Strategic Accounts&quot;,213,&quot;92.9%&quot;,&quot;FY26 Q4 close; largest renewals drive bookings&quot;]]},&quot;element&quot;:&quot;Clean Table&quot;,&quot;engine&quot;:&quot;TableEngine&quot;,&quot;groupId&quot;:null,&quot;id&quot;:&quot;c7&quot;,&quot;locked&quot;:false,&quot;message_role&quot;:&quot;Primary Evidence&quot;,&quot;order&quot;:6,&quot;rows&quot;:[[&quot;Enterprise North&quot;,1842,&quot;94.1%&quot;,&quot;Above 91% guardrail; stable cohort&quot;],[&quot;Public Sector West&quot;,684,&quot;84.7%&quot;,&quot;Two contracts delayed; budget gated&quot;],[&quot;Strategic Accounts&quot;,213,&quot;92.9%&quot;,&quot;FY26 Q4 close; largest renewals drive bookings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Two delayed procurement cycles remain unsigned. Keep the current enterprise plan and review those contracts at the next finance checkpoint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Hold public-sector expansion until the renewal gate clears&quot;,&quot;status&quot;:&quot;Watch&quot;,&quot;title&quot;:&quot;Risk Callout&quot;,&quot;type&quot;:&quot;decision&quot;,&quot;weight&quot;:1,&quot;z&quot;:8},{&quot;body&quot;:&quot;Next step: keep the enterprise hiring plan, but release the public-sector expansion budget only after the named renewals are signed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keep the enterprise hiring plan, but release the public-sector expansion budget only after the named renewals are signed.&quot;,&quot;title&quot;:&quot;Key Takeaway&quot;,&quot;type&quot;:&quot;text&quot;,&quot;weight&quot;:1,&quot;z&quot;:9},{&quot;composition_role&quot;:&quot;primary_analysis&quot;,&quot;data&quot;:[],&quot;dataset_id&quot;:&quot;dataset-mufvf4w9-e6qkvj&quot;,&quot;element&quot;:&quot;Line Chart&quot;,&quot;engine&quot;:&quot;CoreChartEngine&quot;,&quot;groupId&quot;:null,&quot;id&quot;:&quot;c10&quot;,&quot;locked&quot;:false,&quot;mapping&quot;:{&quot;category&quot;:&quot;quarter_1&quot;,&quot;value&quot;:&quot;retention_2&quot;,&quot;x&quot;:&quot;quarter_1&quot;,&quot;y&quot;:&quot;bookings_3&quot;},&quot;message_role&quot;:&quot;Primary Evidence&quot;,&quot;order&quot;:9,&quot;section_id&quot;:&quot;analysis&quot;,&quot;section_title&quot;:&quot;Analysis&quot;,&quot;showTitle&quot;:true,&quot;title&quot;:&quot;Bookings by quarter&quot;,&quot;type&quot;:&quot;chart&quot;,&quot;weight&quot;:1,&quot;z&quot;:10}],&quot;layoutPreset&quot;:&quot;executive&quot;,&quot;mode&quot;:&quot;smart&quot;,&quot;nextId&quot;:1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