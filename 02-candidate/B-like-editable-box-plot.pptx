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723119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VIZ::c6::box-plot-title" descr="VisualizerSemantic:{&quot;composition_role&quot;:&quot;primary_analysis&quot;,&quot;data&quot;:[[&quot;Reference&quot;,98.8],[&quot;Reference&quot;,98.5],[&quot;Reference&quot;,98.6],[&quot;Affected&quot;,94.1],[&quot;Affected&quot;,94.6],[&quot;Affected&quot;,93.8]],&quot;dataset_id&quot;:&quot;dataset-muit84yp-19l9gu&quot;,&quot;element&quot;:&quot;Box Plot&quot;,&quot;engine&quot;:&quot;CoreChartEngine&quot;,&quot;groupId&quot;:null,&quot;id&quot;:&quot;c6&quot;,&quot;locked&quot;:false,&quot;mapping&quot;:{&quot;category&quot;:&quot;population_1&quot;,&quot;cohort&quot;:&quot;population_1&quot;,&quot;value&quot;:&quot;yield_2&quot;,&quot;x&quot;:&quot;yield_2&quot;,&quot;y&quot;:&quot;yield_2&quot;},&quot;message_role&quot;:&quot;Primary Evidence&quot;,&quot;order&quot;:6,&quot;section_id&quot;:&quot;analysis&quot;,&quot;section_title&quot;:&quot;Analysis&quot;,&quot;showTitle&quot;:true,&quot;title&quot;:&quot;Control versus affected distribution&quot;,&quot;type&quot;:&quot;chart&quot;,&quot;weight&quot;:1,&quot;z&quot;:6,&quot;rows&quot;:[{&quot;label&quot;:&quot;Reference&quot;,&quot;value&quot;:98.8},{&quot;label&quot;:&quot;Reference&quot;,&quot;value&quot;:98.5},{&quot;label&quot;:&quot;Reference&quot;,&quot;value&quot;:98.6},{&quot;label&quot;:&quot;Affected&quot;,&quot;value&quot;:94.1},{&quot;label&quot;:&quot;Affected&quot;,&quot;value&quot;:94.6},{&quot;label&quot;:&quot;Affected&quot;,&quot;value&quot;:93.8}],&quot;observations&quot;:[{&quot;label&quot;:&quot;Reference&quot;,&quot;value&quot;:98.8},{&quot;label&quot;:&quot;Reference&quot;,&quot;value&quot;:98.5},{&quot;label&quot;:&quot;Reference&quot;,&quot;value&quot;:98.6},{&quot;label&quot;:&quot;Affected&quot;,&quot;value&quot;:94.1},{&quot;label&quot;:&quot;Affected&quot;,&quot;value&quot;:94.6},{&quot;label&quot;:&quot;Affected&quot;,&quot;value&quot;:93.8}],&quot;x&quot;:803.5609823098341,&quot;y&quot;:982.0218653233158,&quot;w&quot;:344.77496550520027,&quot;h&quot;:175.38584115697515}"/>
          <p:cNvSpPr txBox="1"/>
          <p:nvPr/>
        </p:nvSpPr>
        <p:spPr>
          <a:xfrm>
            <a:off x="6228220" y="7503051"/>
            <a:ext cx="2417010" cy="205681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defRPr sz="978" b="1">
                <a:latin typeface="Arial"/>
              </a:defRPr>
            </a:pPr>
            <a:r>
              <a:t>Control versus affected distribution</a:t>
            </a:r>
          </a:p>
        </p:txBody>
      </p:sp>
      <p:cxnSp>
        <p:nvCxnSpPr>
          <p:cNvPr id="4" name="VIZ::c6::box-plot-grid-0"/>
          <p:cNvCxnSpPr/>
          <p:nvPr/>
        </p:nvCxnSpPr>
        <p:spPr>
          <a:xfrm>
            <a:off x="6567780" y="8485335"/>
            <a:ext cx="2103722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VIZ::c6::box-plot-axis-0"/>
          <p:cNvSpPr txBox="1"/>
          <p:nvPr/>
        </p:nvSpPr>
        <p:spPr>
          <a:xfrm>
            <a:off x="6123133" y="8421835"/>
            <a:ext cx="378968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93.55</a:t>
            </a:r>
          </a:p>
        </p:txBody>
      </p:sp>
      <p:cxnSp>
        <p:nvCxnSpPr>
          <p:cNvPr id="6" name="VIZ::c6::box-plot-grid-1"/>
          <p:cNvCxnSpPr/>
          <p:nvPr/>
        </p:nvCxnSpPr>
        <p:spPr>
          <a:xfrm>
            <a:off x="6567780" y="8316584"/>
            <a:ext cx="2103722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VIZ::c6::box-plot-axis-1"/>
          <p:cNvSpPr txBox="1"/>
          <p:nvPr/>
        </p:nvSpPr>
        <p:spPr>
          <a:xfrm>
            <a:off x="6123133" y="8253084"/>
            <a:ext cx="378968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94.925</a:t>
            </a:r>
          </a:p>
        </p:txBody>
      </p:sp>
      <p:cxnSp>
        <p:nvCxnSpPr>
          <p:cNvPr id="8" name="VIZ::c6::box-plot-grid-2"/>
          <p:cNvCxnSpPr/>
          <p:nvPr/>
        </p:nvCxnSpPr>
        <p:spPr>
          <a:xfrm>
            <a:off x="6567780" y="8147833"/>
            <a:ext cx="2103722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VIZ::c6::box-plot-axis-2"/>
          <p:cNvSpPr txBox="1"/>
          <p:nvPr/>
        </p:nvSpPr>
        <p:spPr>
          <a:xfrm>
            <a:off x="6123133" y="8084333"/>
            <a:ext cx="378968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96.3</a:t>
            </a:r>
          </a:p>
        </p:txBody>
      </p:sp>
      <p:cxnSp>
        <p:nvCxnSpPr>
          <p:cNvPr id="10" name="VIZ::c6::box-plot-grid-3"/>
          <p:cNvCxnSpPr/>
          <p:nvPr/>
        </p:nvCxnSpPr>
        <p:spPr>
          <a:xfrm>
            <a:off x="6567780" y="7979083"/>
            <a:ext cx="2103722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VIZ::c6::box-plot-axis-3"/>
          <p:cNvSpPr txBox="1"/>
          <p:nvPr/>
        </p:nvSpPr>
        <p:spPr>
          <a:xfrm>
            <a:off x="6123133" y="7915583"/>
            <a:ext cx="378968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97.675</a:t>
            </a:r>
          </a:p>
        </p:txBody>
      </p:sp>
      <p:cxnSp>
        <p:nvCxnSpPr>
          <p:cNvPr id="12" name="VIZ::c6::box-plot-grid-4"/>
          <p:cNvCxnSpPr/>
          <p:nvPr/>
        </p:nvCxnSpPr>
        <p:spPr>
          <a:xfrm>
            <a:off x="6567780" y="7810332"/>
            <a:ext cx="2103722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VIZ::c6::box-plot-axis-4"/>
          <p:cNvSpPr txBox="1"/>
          <p:nvPr/>
        </p:nvSpPr>
        <p:spPr>
          <a:xfrm>
            <a:off x="6123133" y="7746832"/>
            <a:ext cx="378968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99.05</a:t>
            </a:r>
          </a:p>
        </p:txBody>
      </p:sp>
      <p:cxnSp>
        <p:nvCxnSpPr>
          <p:cNvPr id="14" name="VIZ::c6::box-plot-0-whisker"/>
          <p:cNvCxnSpPr/>
          <p:nvPr/>
        </p:nvCxnSpPr>
        <p:spPr>
          <a:xfrm>
            <a:off x="7093710.5" y="7841014"/>
            <a:ext cx="0.0" cy="36818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VIZ::c6::box-plot-0-whisker-cap-0"/>
          <p:cNvCxnSpPr/>
          <p:nvPr/>
        </p:nvCxnSpPr>
        <p:spPr>
          <a:xfrm>
            <a:off x="6883338.5" y="7877832"/>
            <a:ext cx="420744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VIZ::c6::box-plot-0-whisker-cap-1"/>
          <p:cNvCxnSpPr/>
          <p:nvPr/>
        </p:nvCxnSpPr>
        <p:spPr>
          <a:xfrm>
            <a:off x="6883338.5" y="7841014"/>
            <a:ext cx="420744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VIZ::c6::box-plot-0-quartiles"/>
          <p:cNvSpPr/>
          <p:nvPr/>
        </p:nvSpPr>
        <p:spPr>
          <a:xfrm>
            <a:off x="6883338" y="7853287"/>
            <a:ext cx="420744" cy="18409"/>
          </a:xfrm>
          <a:prstGeom prst="rect">
            <a:avLst/>
          </a:prstGeom>
          <a:solidFill>
            <a:srgbClr val="1769D1"/>
          </a:solidFill>
          <a:ln w="15240">
            <a:solidFill>
              <a:srgbClr val="176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VIZ::c6::box-plot-0-median"/>
          <p:cNvCxnSpPr/>
          <p:nvPr/>
        </p:nvCxnSpPr>
        <p:spPr>
          <a:xfrm>
            <a:off x="6883338.5" y="7865560"/>
            <a:ext cx="420744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VIZ::c6::box-plot-0-category" title="{&quot;category&quot;:&quot;Reference&quot;,&quot;quartiles&quot;:{&quot;n&quot;:3,&quot;min&quot;:98.5,&quot;q1&quot;:98.55,&quot;median&quot;:98.6,&quot;q3&quot;:98.69999999999999,&quot;max&quot;:98.8}}"/>
          <p:cNvSpPr txBox="1"/>
          <p:nvPr/>
        </p:nvSpPr>
        <p:spPr>
          <a:xfrm>
            <a:off x="6545070" y="8545474"/>
            <a:ext cx="1097280" cy="173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Reference</a:t>
            </a:r>
          </a:p>
        </p:txBody>
      </p:sp>
      <p:cxnSp>
        <p:nvCxnSpPr>
          <p:cNvPr id="20" name="VIZ::c6::box-plot-1-whisker"/>
          <p:cNvCxnSpPr/>
          <p:nvPr/>
        </p:nvCxnSpPr>
        <p:spPr>
          <a:xfrm>
            <a:off x="8145571.5" y="8356471"/>
            <a:ext cx="0.0" cy="98182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VIZ::c6::box-plot-1-whisker-cap-0"/>
          <p:cNvCxnSpPr/>
          <p:nvPr/>
        </p:nvCxnSpPr>
        <p:spPr>
          <a:xfrm>
            <a:off x="7935199.5" y="8454653"/>
            <a:ext cx="420744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VIZ::c6::box-plot-1-whisker-cap-1"/>
          <p:cNvCxnSpPr/>
          <p:nvPr/>
        </p:nvCxnSpPr>
        <p:spPr>
          <a:xfrm>
            <a:off x="7935199.5" y="8356471"/>
            <a:ext cx="420744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VIZ::c6::box-plot-1-quartiles"/>
          <p:cNvSpPr/>
          <p:nvPr/>
        </p:nvSpPr>
        <p:spPr>
          <a:xfrm>
            <a:off x="7935199" y="8387153"/>
            <a:ext cx="420744" cy="49091"/>
          </a:xfrm>
          <a:prstGeom prst="rect">
            <a:avLst/>
          </a:prstGeom>
          <a:solidFill>
            <a:srgbClr val="2E8B72"/>
          </a:solidFill>
          <a:ln w="15240">
            <a:solidFill>
              <a:srgbClr val="2E8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VIZ::c6::box-plot-1-median"/>
          <p:cNvCxnSpPr/>
          <p:nvPr/>
        </p:nvCxnSpPr>
        <p:spPr>
          <a:xfrm>
            <a:off x="7935199.5" y="8417835"/>
            <a:ext cx="420744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VIZ::c6::box-plot-1-category" title="{&quot;category&quot;:&quot;Affected&quot;,&quot;quartiles&quot;:{&quot;n&quot;:3,&quot;min&quot;:93.8,&quot;q1&quot;:93.94999999999999,&quot;median&quot;:94.1,&quot;q3&quot;:94.35,&quot;max&quot;:94.6}}"/>
          <p:cNvSpPr txBox="1"/>
          <p:nvPr/>
        </p:nvSpPr>
        <p:spPr>
          <a:xfrm>
            <a:off x="7596931" y="8545474"/>
            <a:ext cx="1097280" cy="173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Affected</a:t>
            </a:r>
          </a:p>
        </p:txBody>
      </p:sp>
      <p:sp>
        <p:nvSpPr>
          <p:cNvPr id="26" name="VIZ::SemanticReport" descr="VisualizerSemanticReport:{&quot;authoring_schema&quot;:&quot;authoring-p0-v1&quot;,&quot;canvas&quot;:{&quot;height&quot;:900,&quot;width&quot;:1600},&quot;crossFilter&quot;:null,&quot;datasets&quot;:[{&quot;fields&quot;:[{&quot;id&quot;:&quot;population_1&quot;,&quot;name&quot;:&quot;Population&quot;,&quot;nullable&quot;:false,&quot;profile&quot;:{&quot;distinct&quot;:2,&quot;missing&quot;:0},&quot;semantic_tags&quot;:[&quot;cohort&quot;],&quot;type&quot;:&quot;categorical&quot;},{&quot;id&quot;:&quot;yield_2&quot;,&quot;name&quot;:&quot;Yield&quot;,&quot;nullable&quot;:false,&quot;profile&quot;:{&quot;distinct&quot;:6,&quot;missing&quot;:0},&quot;semantic_tags&quot;:[&quot;value&quot;],&quot;type&quot;:&quot;number&quot;,&quot;unit&quot;:&quot;&quot;}],&quot;id&quot;:&quot;dataset-muit84yp-19l9gu&quot;,&quot;metadata&quot;:{&quot;header&quot;:{&quot;confidence&quot;:1,&quot;present&quot;:true,&quot;source_row&quot;:0}},&quot;name&quot;:&quot;Pasted data&quot;,&quot;revision&quot;:1,&quot;rows&quot;:[[&quot;Reference&quot;,98.8],[&quot;Reference&quot;,98.5],[&quot;Reference&quot;,98.6],[&quot;Affected&quot;,94.1],[&quot;Affected&quot;,94.6],[&quot;Affected&quot;,93.8]],&quot;source&quot;:{&quot;imported_at&quot;:&quot;2026-09-26T19:55:59.905Z&quot;,&quot;kind&quot;:&quot;clipboard&quot;,&quot;label&quot;:&quot;TSV&quot;},&quot;warnings&quot;:[]}],&quot;groups&quot;:{},&quot;items&quot;:[{&quot;composition_role&quot;:&quot;primary_analysis&quot;,&quot;data&quot;:[],&quot;dataset_id&quot;:&quot;dataset-muit84yp-19l9gu&quot;,&quot;element&quot;:&quot;Box Plot&quot;,&quot;engine&quot;:&quot;CoreChartEngine&quot;,&quot;groupId&quot;:null,&quot;id&quot;:&quot;c6&quot;,&quot;locked&quot;:false,&quot;mapping&quot;:{&quot;category&quot;:&quot;population_1&quot;,&quot;cohort&quot;:&quot;population_1&quot;,&quot;value&quot;:&quot;yield_2&quot;,&quot;x&quot;:&quot;yield_2&quot;,&quot;y&quot;:&quot;yield_2&quot;},&quot;message_role&quot;:&quot;Primary Evidence&quot;,&quot;order&quot;:6,&quot;section_id&quot;:&quot;analysis&quot;,&quot;section_title&quot;:&quot;Analysis&quot;,&quot;showTitle&quot;:true,&quot;title&quot;:&quot;Control versus affected distribution&quot;,&quot;type&quot;:&quot;chart&quot;,&quot;weight&quot;:1,&quot;z&quot;:6}],&quot;layoutPreset&quot;:&quot;editorial&quot;,&quot;mode&quot;:&quot;guided&quot;,&quot;nextId&quot;:13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