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4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27432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200">
                <a:latin typeface="Arial"/>
              </a:defRPr>
            </a:pPr>
            <a:r>
              <a:t>Regional revenue by area copy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1769D1"/>
            </a:solidFill>
          </c:spPr>
          <c:cat>
            <c:strRef>
              <c:f>Sheet1!$A$2:$A$3</c:f>
              <c:strCache>
                <c:ptCount val="2"/>
                <c:pt idx="0">
                  <c:v>East</c:v>
                </c:pt>
                <c:pt idx="1">
                  <c:v>West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280.0</c:v>
                </c:pt>
                <c:pt idx="1">
                  <c:v>305.0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306.25"/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200">
                <a:latin typeface="Arial"/>
              </a:defRPr>
            </a:pPr>
            <a:r>
              <a:t>Regional revenue comparison copy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1769D1"/>
            </a:solidFill>
          </c:spPr>
          <c:cat>
            <c:strRef>
              <c:f>Sheet1!$A$2:$A$3</c:f>
              <c:strCache>
                <c:ptCount val="2"/>
                <c:pt idx="0">
                  <c:v>East</c:v>
                </c:pt>
                <c:pt idx="1">
                  <c:v>West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280.0</c:v>
                </c:pt>
                <c:pt idx="1">
                  <c:v>305.0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306.25"/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200">
                <a:latin typeface="Arial"/>
              </a:defRPr>
            </a:pPr>
            <a:r>
              <a:t>Vertical Bar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1769D1"/>
            </a:solidFill>
          </c:spPr>
          <c:cat>
            <c:strRef>
              <c:f>Sheet1!$A$2:$A$3</c:f>
              <c:strCache>
                <c:ptCount val="2"/>
                <c:pt idx="0">
                  <c:v>East</c:v>
                </c:pt>
                <c:pt idx="1">
                  <c:v>West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280.0</c:v>
                </c:pt>
                <c:pt idx="1">
                  <c:v>305.0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306.25"/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Relationship Id="rId5" Type="http://schemas.openxmlformats.org/officeDocument/2006/relationships/chart" Target="../charts/chart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5" name="VIZ::Vertical Bar" descr="VisualizerSemantic:{&quot;brush&quot;:[0,4],&quot;cross&quot;:null,&quot;data&quot;:[[&quot;East&quot;,280],[&quot;West&quot;,305]],&quot;dataset_id&quot;:&quot;dataset-mum2u4ct-ey0qj7&quot;,&quot;drill&quot;:null,&quot;element&quot;:&quot;Vertical Bar&quot;,&quot;engine&quot;:&quot;CoreChartEngine&quot;,&quot;groupId&quot;:null,&quot;id&quot;:&quot;c1&quot;,&quot;locked&quot;:false,&quot;mapping&quot;:{&quot;category&quot;:&quot;region_1&quot;,&quot;value&quot;:&quot;revenue_2&quot;,&quot;x&quot;:&quot;revenue_2&quot;},&quot;message_role&quot;:&quot;Supporting Evidence&quot;,&quot;order&quot;:0,&quot;revealed&quot;:true,&quot;rows&quot;:[{&quot;label&quot;:&quot;East&quot;,&quot;value&quot;:280},{&quot;label&quot;:&quot;West&quot;,&quot;value&quot;:305}],&quot;showTitle&quot;:false,&quot;textAlign&quot;:&quot;left&quot;,&quot;title&quot;:&quot;Vertical Bar&quot;,&quot;type&quot;:&quot;chart&quot;,&quot;variant&quot;:&quot;line&quot;,&quot;view_type&quot;:&quot;bar&quot;,&quot;weight&quot;:1.8,&quot;z&quot;:1,&quot;observations&quot;:[{&quot;label&quot;:&quot;East&quot;,&quot;value&quot;:280},{&quot;label&quot;:&quot;West&quot;,&quot;value&quot;:305}],&quot;x&quot;:14.0,&quot;y&quot;:40.0,&quot;w&quot;:602.16,&quot;h&quot;:292.2247058823529}"/>
          <p:cNvGraphicFramePr>
            <a:graphicFrameLocks noGrp="1"/>
          </p:cNvGraphicFramePr>
          <p:nvPr/>
        </p:nvGraphicFramePr>
        <p:xfrm>
          <a:off x="106679" y="304800"/>
          <a:ext cx="4588458" cy="2226752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graphicFrame>
        <p:nvGraphicFramePr>
          <p:cNvPr id="6" name="VIZ::Regional revenue by area copy" descr="VisualizerSemantic:{&quot;brush&quot;:[0,4],&quot;composition_role&quot;:&quot;supporting_analysis&quot;,&quot;cross&quot;:null,&quot;dataset_id&quot;:&quot;dataset-mum2u4ct-ey0qj7&quot;,&quot;drill&quot;:null,&quot;element&quot;:&quot;Vertical Bar&quot;,&quot;engine&quot;:&quot;CoreChartEngine&quot;,&quot;groupId&quot;:null,&quot;id&quot;:&quot;c2&quot;,&quot;locked&quot;:false,&quot;mapping&quot;:{&quot;category&quot;:&quot;region_1&quot;,&quot;value&quot;:&quot;revenue_2&quot;,&quot;x&quot;:&quot;revenue_2&quot;},&quot;message_role&quot;:&quot;Supporting Evidence&quot;,&quot;order&quot;:1,&quot;revealed&quot;:true,&quot;section_id&quot;:&quot;analysis&quot;,&quot;section_title&quot;:&quot;Analysis&quot;,&quot;showTitle&quot;:true,&quot;textAlign&quot;:&quot;left&quot;,&quot;title&quot;:&quot;Regional revenue by area copy&quot;,&quot;type&quot;:&quot;chart&quot;,&quot;variant&quot;:&quot;line&quot;,&quot;view_type&quot;:&quot;bar&quot;,&quot;weight&quot;:1.8,&quot;z&quot;:2,&quot;data&quot;:[[&quot;East&quot;,280],[&quot;West&quot;,305]],&quot;rows&quot;:[{&quot;label&quot;:&quot;East&quot;,&quot;value&quot;:280},{&quot;label&quot;:&quot;West&quot;,&quot;value&quot;:305}],&quot;observations&quot;:[{&quot;label&quot;:&quot;East&quot;,&quot;value&quot;:280},{&quot;label&quot;:&quot;West&quot;,&quot;value&quot;:305}],&quot;x&quot;:630.16,&quot;y&quot;:62.47882352941174,&quot;w&quot;:509.52000000000004,&quot;h&quot;:247.26705882352942}"/>
          <p:cNvGraphicFramePr>
            <a:graphicFrameLocks noGrp="1"/>
          </p:cNvGraphicFramePr>
          <p:nvPr/>
        </p:nvGraphicFramePr>
        <p:xfrm>
          <a:off x="4801818" y="476088"/>
          <a:ext cx="3882542" cy="188417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7" name="VIZ::Regional revenue comparison copy" descr="VisualizerSemantic:{&quot;brush&quot;:[0,4],&quot;composition_role&quot;:&quot;supporting_analysis&quot;,&quot;cross&quot;:null,&quot;dataset_id&quot;:&quot;dataset-mum2u4ct-ey0qj7&quot;,&quot;drill&quot;:null,&quot;element&quot;:&quot;Vertical Bar&quot;,&quot;engine&quot;:&quot;CoreChartEngine&quot;,&quot;groupId&quot;:null,&quot;id&quot;:&quot;c3&quot;,&quot;locked&quot;:false,&quot;mapping&quot;:{&quot;category&quot;:&quot;region_1&quot;,&quot;value&quot;:&quot;revenue_2&quot;,&quot;x&quot;:&quot;revenue_2&quot;},&quot;message_role&quot;:&quot;Supporting Evidence&quot;,&quot;order&quot;:2,&quot;revealed&quot;:true,&quot;section_id&quot;:&quot;analysis&quot;,&quot;section_title&quot;:&quot;Analysis&quot;,&quot;showTitle&quot;:true,&quot;textAlign&quot;:&quot;left&quot;,&quot;title&quot;:&quot;Regional revenue comparison copy&quot;,&quot;type&quot;:&quot;chart&quot;,&quot;variant&quot;:&quot;line&quot;,&quot;view_type&quot;:&quot;bar&quot;,&quot;weight&quot;:1.8,&quot;z&quot;:3,&quot;data&quot;:[[&quot;East&quot;,280],[&quot;West&quot;,305]],&quot;rows&quot;:[{&quot;label&quot;:&quot;East&quot;,&quot;value&quot;:280},{&quot;label&quot;:&quot;West&quot;,&quot;value&quot;:305}],&quot;observations&quot;:[{&quot;label&quot;:&quot;East&quot;,&quot;value&quot;:280},{&quot;label&quot;:&quot;West&quot;,&quot;value&quot;:305}],&quot;x&quot;:1153.6799999999998,&quot;y&quot;:76.11235294117645,&quot;w&quot;:432.32000000000005,&quot;h&quot;:220.0}"/>
          <p:cNvGraphicFramePr>
            <a:graphicFrameLocks noGrp="1"/>
          </p:cNvGraphicFramePr>
          <p:nvPr/>
        </p:nvGraphicFramePr>
        <p:xfrm>
          <a:off x="8791040" y="579976"/>
          <a:ext cx="3294278" cy="16764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8" name="VIZ::SemanticReport" descr="VisualizerSemanticReport:{&quot;authoring_schema&quot;:&quot;authoring-p0-v1&quot;,&quot;canvas&quot;:{&quot;height&quot;:900,&quot;width&quot;:1600},&quot;crossFilter&quot;:null,&quot;crossFilters&quot;:[],&quot;datasets&quot;:[{&quot;fields&quot;:[{&quot;id&quot;:&quot;region_1&quot;,&quot;name&quot;:&quot;Region&quot;,&quot;nullable&quot;:false,&quot;profile&quot;:{&quot;distinct&quot;:2,&quot;missing&quot;:0},&quot;semantic_tags&quot;:[],&quot;type&quot;:&quot;categorical&quot;},{&quot;id&quot;:&quot;revenue_2&quot;,&quot;name&quot;:&quot;Revenue&quot;,&quot;nullable&quot;:false,&quot;profile&quot;:{&quot;distinct&quot;:2,&quot;missing&quot;:0},&quot;semantic_tags&quot;:[],&quot;type&quot;:&quot;integer&quot;,&quot;unit&quot;:&quot;&quot;}],&quot;id&quot;:&quot;dataset-mum2u4ct-ey0qj7&quot;,&quot;metadata&quot;:{&quot;header&quot;:{&quot;confidence&quot;:0.75,&quot;present&quot;:true,&quot;source_row&quot;:0}},&quot;name&quot;:&quot;Pasted data&quot;,&quot;revision&quot;:1,&quot;rows&quot;:[[&quot;East&quot;,280],[&quot;West&quot;,305]],&quot;source&quot;:{&quot;imported_at&quot;:&quot;2026-09-29T02:48:20.621Z&quot;,&quot;kind&quot;:&quot;clipboard&quot;,&quot;label&quot;:&quot;TSV&quot;},&quot;warnings&quot;:[]}],&quot;groups&quot;:{},&quot;items&quot;:[{&quot;brush&quot;:[0,4],&quot;cross&quot;:null,&quot;data&quot;:[[&quot;Baseline&quot;,72],[&quot;Pilot&quot;,78],[&quot;Validation&quot;,84],[&quot;Release&quot;,91],[&quot;Sustain&quot;,94]],&quot;dataset_id&quot;:&quot;dataset-mum2u4ct-ey0qj7&quot;,&quot;drill&quot;:null,&quot;element&quot;:&quot;Vertical Bar&quot;,&quot;engine&quot;:&quot;CoreChartEngine&quot;,&quot;groupId&quot;:null,&quot;id&quot;:&quot;c1&quot;,&quot;locked&quot;:false,&quot;mapping&quot;:{&quot;category&quot;:&quot;region_1&quot;,&quot;value&quot;:&quot;revenue_2&quot;,&quot;x&quot;:&quot;revenue_2&quot;},&quot;message_role&quot;:&quot;Supporting Evidence&quot;,&quot;order&quot;:0,&quot;revealed&quot;:true,&quot;rows&quot;:[{&quot;label&quot;:&quot;Baseline&quot;,&quot;value&quot;:72},{&quot;label&quot;:&quot;Pilot&quot;,&quot;value&quot;:78},{&quot;label&quot;:&quot;Validation&quot;,&quot;value&quot;:84},{&quot;label&quot;:&quot;Release&quot;,&quot;value&quot;:91},{&quot;label&quot;:&quot;Sustain&quot;,&quot;value&quot;:94}],&quot;showTitle&quot;:false,&quot;textAlign&quot;:&quot;left&quot;,&quot;title&quot;:&quot;Vertical Bar&quot;,&quot;type&quot;:&quot;chart&quot;,&quot;variant&quot;:&quot;line&quot;,&quot;view_type&quot;:&quot;bar&quot;,&quot;weight&quot;:1.8,&quot;z&quot;:1},{&quot;brush&quot;:[0,4],&quot;composition_role&quot;:&quot;supporting_analysis&quot;,&quot;cross&quot;:null,&quot;dataset_id&quot;:&quot;dataset-mum2u4ct-ey0qj7&quot;,&quot;drill&quot;:null,&quot;element&quot;:&quot;Vertical Bar&quot;,&quot;engine&quot;:&quot;CoreChartEngine&quot;,&quot;groupId&quot;:null,&quot;id&quot;:&quot;c2&quot;,&quot;locked&quot;:false,&quot;mapping&quot;:{&quot;category&quot;:&quot;region_1&quot;,&quot;value&quot;:&quot;revenue_2&quot;,&quot;x&quot;:&quot;revenue_2&quot;},&quot;message_role&quot;:&quot;Supporting Evidence&quot;,&quot;order&quot;:1,&quot;revealed&quot;:true,&quot;section_id&quot;:&quot;analysis&quot;,&quot;section_title&quot;:&quot;Analysis&quot;,&quot;showTitle&quot;:true,&quot;textAlign&quot;:&quot;left&quot;,&quot;title&quot;:&quot;Regional revenue by area copy&quot;,&quot;type&quot;:&quot;chart&quot;,&quot;variant&quot;:&quot;line&quot;,&quot;view_type&quot;:&quot;bar&quot;,&quot;weight&quot;:1.8,&quot;z&quot;:2},{&quot;brush&quot;:[0,4],&quot;composition_role&quot;:&quot;supporting_analysis&quot;,&quot;cross&quot;:null,&quot;dataset_id&quot;:&quot;dataset-mum2u4ct-ey0qj7&quot;,&quot;drill&quot;:null,&quot;element&quot;:&quot;Vertical Bar&quot;,&quot;engine&quot;:&quot;CoreChartEngine&quot;,&quot;groupId&quot;:null,&quot;id&quot;:&quot;c3&quot;,&quot;locked&quot;:false,&quot;mapping&quot;:{&quot;category&quot;:&quot;region_1&quot;,&quot;value&quot;:&quot;revenue_2&quot;,&quot;x&quot;:&quot;revenue_2&quot;},&quot;message_role&quot;:&quot;Supporting Evidence&quot;,&quot;order&quot;:2,&quot;revealed&quot;:true,&quot;section_id&quot;:&quot;analysis&quot;,&quot;section_title&quot;:&quot;Analysis&quot;,&quot;showTitle&quot;:true,&quot;textAlign&quot;:&quot;left&quot;,&quot;title&quot;:&quot;Regional revenue comparison copy&quot;,&quot;type&quot;:&quot;chart&quot;,&quot;variant&quot;:&quot;line&quot;,&quot;view_type&quot;:&quot;bar&quot;,&quot;weight&quot;:1.8,&quot;z&quot;:3}],&quot;layoutPreset&quot;:&quot;editorial&quot;,&quot;mode&quot;:&quot;smart&quot;,&quot;nextId&quot;:4,&quot;schema_version&quot;:1}"/>
          <p:cNvSpPr txBox="1"/>
          <p:nvPr/>
        </p:nvSpPr>
        <p:spPr>
          <a:xfrm>
            <a:off x="0" y="0"/>
            <a:ext cx="1" cy="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